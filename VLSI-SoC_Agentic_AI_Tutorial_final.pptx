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webextensions/webextension1.xml" ContentType="application/vnd.ms-office.webextension+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webextensions/webextension2.xml" ContentType="application/vnd.ms-office.webextension+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webextensions/webextension3.xml" ContentType="application/vnd.ms-office.webextension+xml"/>
  <Override PartName="/ppt/notesSlides/notesSlide51.xml" ContentType="application/vnd.openxmlformats-officedocument.presentationml.notesSlide+xml"/>
  <Override PartName="/ppt/webextensions/webextension4.xml" ContentType="application/vnd.ms-office.webextension+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webextensions/webextension5.xml" ContentType="application/vnd.ms-office.webextension+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webextensions/webextension6.xml" ContentType="application/vnd.ms-office.webextension+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webextensions/webextension7.xml" ContentType="application/vnd.ms-office.webextension+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webextensions/webextension8.xml" ContentType="application/vnd.ms-office.webextension+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webextensions/webextension9.xml" ContentType="application/vnd.ms-office.webextension+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7"/>
  </p:notesMasterIdLst>
  <p:sldIdLst>
    <p:sldId id="256" r:id="rId2"/>
    <p:sldId id="347" r:id="rId3"/>
    <p:sldId id="292" r:id="rId4"/>
    <p:sldId id="279" r:id="rId5"/>
    <p:sldId id="356" r:id="rId6"/>
    <p:sldId id="283" r:id="rId7"/>
    <p:sldId id="280" r:id="rId8"/>
    <p:sldId id="314" r:id="rId9"/>
    <p:sldId id="357" r:id="rId10"/>
    <p:sldId id="281" r:id="rId11"/>
    <p:sldId id="375" r:id="rId12"/>
    <p:sldId id="348" r:id="rId13"/>
    <p:sldId id="305" r:id="rId14"/>
    <p:sldId id="351" r:id="rId15"/>
    <p:sldId id="358" r:id="rId16"/>
    <p:sldId id="349" r:id="rId17"/>
    <p:sldId id="350" r:id="rId18"/>
    <p:sldId id="291" r:id="rId19"/>
    <p:sldId id="359" r:id="rId20"/>
    <p:sldId id="341" r:id="rId21"/>
    <p:sldId id="290" r:id="rId22"/>
    <p:sldId id="304" r:id="rId23"/>
    <p:sldId id="307" r:id="rId24"/>
    <p:sldId id="308" r:id="rId25"/>
    <p:sldId id="342" r:id="rId26"/>
    <p:sldId id="360" r:id="rId27"/>
    <p:sldId id="385" r:id="rId28"/>
    <p:sldId id="303" r:id="rId29"/>
    <p:sldId id="286" r:id="rId30"/>
    <p:sldId id="337" r:id="rId31"/>
    <p:sldId id="336" r:id="rId32"/>
    <p:sldId id="361" r:id="rId33"/>
    <p:sldId id="369" r:id="rId34"/>
    <p:sldId id="312" r:id="rId35"/>
    <p:sldId id="374" r:id="rId36"/>
    <p:sldId id="339" r:id="rId37"/>
    <p:sldId id="311" r:id="rId38"/>
    <p:sldId id="376" r:id="rId39"/>
    <p:sldId id="362" r:id="rId40"/>
    <p:sldId id="363" r:id="rId41"/>
    <p:sldId id="293" r:id="rId42"/>
    <p:sldId id="313" r:id="rId43"/>
    <p:sldId id="284" r:id="rId44"/>
    <p:sldId id="285" r:id="rId45"/>
    <p:sldId id="316" r:id="rId46"/>
    <p:sldId id="315" r:id="rId47"/>
    <p:sldId id="343" r:id="rId48"/>
    <p:sldId id="295" r:id="rId49"/>
    <p:sldId id="370" r:id="rId50"/>
    <p:sldId id="352" r:id="rId51"/>
    <p:sldId id="298" r:id="rId52"/>
    <p:sldId id="371" r:id="rId53"/>
    <p:sldId id="378" r:id="rId54"/>
    <p:sldId id="377" r:id="rId55"/>
    <p:sldId id="387" r:id="rId56"/>
    <p:sldId id="317" r:id="rId57"/>
    <p:sldId id="365" r:id="rId58"/>
    <p:sldId id="364" r:id="rId59"/>
    <p:sldId id="366" r:id="rId60"/>
    <p:sldId id="388" r:id="rId61"/>
    <p:sldId id="379" r:id="rId62"/>
    <p:sldId id="380" r:id="rId63"/>
    <p:sldId id="389" r:id="rId64"/>
    <p:sldId id="381" r:id="rId65"/>
    <p:sldId id="382" r:id="rId66"/>
    <p:sldId id="355" r:id="rId67"/>
    <p:sldId id="297" r:id="rId68"/>
    <p:sldId id="322" r:id="rId69"/>
    <p:sldId id="325" r:id="rId70"/>
    <p:sldId id="323" r:id="rId71"/>
    <p:sldId id="324" r:id="rId72"/>
    <p:sldId id="334" r:id="rId73"/>
    <p:sldId id="310" r:id="rId74"/>
    <p:sldId id="296" r:id="rId75"/>
    <p:sldId id="354" r:id="rId76"/>
    <p:sldId id="372" r:id="rId77"/>
    <p:sldId id="344" r:id="rId78"/>
    <p:sldId id="383" r:id="rId79"/>
    <p:sldId id="367" r:id="rId80"/>
    <p:sldId id="301" r:id="rId81"/>
    <p:sldId id="327" r:id="rId82"/>
    <p:sldId id="326" r:id="rId83"/>
    <p:sldId id="328" r:id="rId84"/>
    <p:sldId id="345" r:id="rId85"/>
    <p:sldId id="384" r:id="rId86"/>
    <p:sldId id="368" r:id="rId87"/>
    <p:sldId id="330" r:id="rId88"/>
    <p:sldId id="331" r:id="rId89"/>
    <p:sldId id="332" r:id="rId90"/>
    <p:sldId id="346" r:id="rId91"/>
    <p:sldId id="373" r:id="rId92"/>
    <p:sldId id="302" r:id="rId93"/>
    <p:sldId id="386" r:id="rId94"/>
    <p:sldId id="333" r:id="rId95"/>
    <p:sldId id="270" r:id="rId96"/>
  </p:sldIdLst>
  <p:sldSz cx="9144000" cy="6858000" type="screen4x3"/>
  <p:notesSz cx="6858000" cy="9144000"/>
  <p:defaultText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08" autoAdjust="0"/>
  </p:normalViewPr>
  <p:slideViewPr>
    <p:cSldViewPr snapToGrid="0">
      <p:cViewPr varScale="1">
        <p:scale>
          <a:sx n="77" d="100"/>
          <a:sy n="77" d="100"/>
        </p:scale>
        <p:origin x="161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to the Agentic AI tutorial.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program for the morning: 9:00 to 12:00, two blocks of 80 minutes with a 20-minute break at 10:20.</a:t>
            </a:r>
          </a:p>
          <a:p>
            <a:r>
              <a:rPr lang="en-US"/>
              <a:t>- 9:00-9:15 welcome and setup: the setup slides of Part 1 (Docker image, API keys, regression check). Part 1 has many slides, most of them setup, so they get their own slot.</a:t>
            </a:r>
          </a:p>
          <a:p>
            <a:r>
              <a:rPr lang="en-US"/>
              <a:t>- 9:15-9:50 Part 1 content: what an agent is, the sentiment agent (DSPy optimization) and the testbench agent.</a:t>
            </a:r>
          </a:p>
          <a:p>
            <a:r>
              <a:rPr lang="en-US"/>
              <a:t>- 9:50-10:20 Part 2 Spec2Tapeout: single agent vs decomposed agents, the scoring against our golden run, the knobs, check_designs.</a:t>
            </a:r>
          </a:p>
          <a:p>
            <a:r>
              <a:rPr lang="en-US"/>
              <a:t>- Break 10:20-10:40: good moment to help anyone whose setup is still broken.</a:t>
            </a:r>
          </a:p>
          <a:p>
            <a:r>
              <a:rPr lang="en-US"/>
              <a:t>- Block 2, 10:40-12:00: Part 3 feedback loops (FPU retiming), Part 4 the orchestrator, Part 5 open challenges and questions.</a:t>
            </a:r>
          </a:p>
          <a:p>
            <a:r>
              <a:rPr lang="en-US"/>
              <a:t>- Every hands-on follows the same pattern: run the flow with the minimal prompt, improve the Agent.md, run again, compare with the golden run (score) AND the tokens.</a:t>
            </a:r>
          </a:p>
          <a:p>
            <a:r>
              <a:rPr lang="en-US"/>
              <a:t>- Long runs (Parts 2-4 run real OpenROAD flows): start them as soon as we reach the follow-along slide, then explain while they run.</a:t>
            </a:r>
          </a:p>
          <a:p>
            <a:r>
              <a:rPr lang="en-US"/>
              <a:t>- If we fall behind: skip the Gemini key screenshots (people can follow them on their own), and show the Part 3 run from the recorded rescue run; Part 4 is the highlight.</a:t>
            </a:r>
          </a:p>
          <a:p>
            <a:r>
              <a:rPr lang="en-US"/>
              <a:t>- Instructor: every run shown today is recorded in advance (scripts/rescue). If a live run fails, replay it: python3 show_rescue.py replay &lt;run&gt;.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63E62-32E0-EDFC-35E5-08DC55DF0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A3972-36B4-FAB2-6017-109CB810E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3B852-E97C-6F67-2CFC-209681DCBCFD}"/>
              </a:ext>
            </a:extLst>
          </p:cNvPr>
          <p:cNvSpPr>
            <a:spLocks noGrp="1"/>
          </p:cNvSpPr>
          <p:nvPr>
            <p:ph type="body" idx="1"/>
          </p:nvPr>
        </p:nvSpPr>
        <p:spPr/>
        <p:txBody>
          <a:bodyPr/>
          <a:lstStyle/>
          <a:p>
            <a:r>
              <a:rPr lang="en-US"/>
              <a:t>Foundations for the tutorial</a:t>
            </a:r>
          </a:p>
          <a:p>
            <a:endParaRPr lang="en-US"/>
          </a:p>
          <a:p>
            <a:pPr marL="171450" indent="-171450">
              <a:buFont typeface="Arial" panose="020B0604020202020204" pitchFamily="34" charset="0"/>
              <a:buChar char="•"/>
            </a:pPr>
            <a:r>
              <a:rPr lang="en-US"/>
              <a:t>Basic Agentic AI Theory and current state</a:t>
            </a:r>
          </a:p>
          <a:p>
            <a:pPr marL="171450" indent="-171450">
              <a:buFont typeface="Arial" panose="020B0604020202020204" pitchFamily="34" charset="0"/>
              <a:buChar char="•"/>
            </a:pPr>
            <a:r>
              <a:rPr lang="en-US"/>
              <a:t>Environment Setup and how the tutorial will work</a:t>
            </a:r>
          </a:p>
        </p:txBody>
      </p:sp>
      <p:sp>
        <p:nvSpPr>
          <p:cNvPr id="4" name="Slide Number Placeholder 3">
            <a:extLst>
              <a:ext uri="{FF2B5EF4-FFF2-40B4-BE49-F238E27FC236}">
                <a16:creationId xmlns:a16="http://schemas.microsoft.com/office/drawing/2014/main" id="{F64871E1-60EE-8068-603B-D03B0BBCDD0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9273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B8DA-4F35-9C4E-33F0-0DD427B15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1DA1D-9515-F3A6-FC25-266684313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AF369-3FBD-F022-3ABD-3CA426CCE6E8}"/>
              </a:ext>
            </a:extLst>
          </p:cNvPr>
          <p:cNvSpPr>
            <a:spLocks noGrp="1"/>
          </p:cNvSpPr>
          <p:nvPr>
            <p:ph type="body" idx="1"/>
          </p:nvPr>
        </p:nvSpPr>
        <p:spPr/>
        <p:txBody>
          <a:bodyPr/>
          <a:lstStyle/>
          <a:p>
            <a:r>
              <a:rPr lang="en-US"/>
              <a:t>What is Agentic AI?</a:t>
            </a:r>
            <a:br>
              <a:rPr lang="en-US"/>
            </a:br>
            <a:br>
              <a:rPr lang="en-US"/>
            </a:br>
            <a:r>
              <a:rPr lang="en-US"/>
              <a:t>What makes an AI Workflow Agentic? (AI that runs tools, takes charge and is optimizes the workflow</a:t>
            </a:r>
          </a:p>
          <a:p>
            <a:endParaRPr lang="en-US"/>
          </a:p>
          <a:p>
            <a:r>
              <a:rPr lang="en-US"/>
              <a:t>Towards </a:t>
            </a:r>
            <a:r>
              <a:rPr lang="en-US" err="1"/>
              <a:t>mutli</a:t>
            </a:r>
            <a:r>
              <a:rPr lang="en-US"/>
              <a:t>-agent flows: agents that communicate and optimize further</a:t>
            </a:r>
          </a:p>
        </p:txBody>
      </p:sp>
      <p:sp>
        <p:nvSpPr>
          <p:cNvPr id="4" name="Slide Number Placeholder 3">
            <a:extLst>
              <a:ext uri="{FF2B5EF4-FFF2-40B4-BE49-F238E27FC236}">
                <a16:creationId xmlns:a16="http://schemas.microsoft.com/office/drawing/2014/main" id="{776FCB6E-99E5-0EEC-11DC-11460D6B8DE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00865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Basic Vocabulary of the tutorial</a:t>
            </a:r>
          </a:p>
          <a:p>
            <a:endParaRPr lang="en-US"/>
          </a:p>
          <a:p>
            <a:r>
              <a:rPr lang="en-US"/>
              <a:t>Highlight:</a:t>
            </a:r>
          </a:p>
          <a:p>
            <a:endParaRPr lang="en-US"/>
          </a:p>
          <a:p>
            <a:pPr marL="171450" indent="-171450">
              <a:buFont typeface="Arial" panose="020B0604020202020204" pitchFamily="34" charset="0"/>
              <a:buChar char="•"/>
            </a:pPr>
            <a:r>
              <a:rPr lang="en-US"/>
              <a:t>LLM vs SLM</a:t>
            </a:r>
          </a:p>
          <a:p>
            <a:pPr marL="171450" indent="-171450">
              <a:buFont typeface="Arial" panose="020B0604020202020204" pitchFamily="34" charset="0"/>
              <a:buChar char="•"/>
            </a:pPr>
            <a:r>
              <a:rPr lang="en-US"/>
              <a:t>Prompting as the way to “train” the agent. Actually the process of training is called </a:t>
            </a:r>
            <a:r>
              <a:rPr lang="en-US" b="1"/>
              <a:t>Prompt Refinement</a:t>
            </a:r>
          </a:p>
          <a:p>
            <a:pPr marL="171450" indent="-171450">
              <a:buFont typeface="Arial" panose="020B0604020202020204" pitchFamily="34" charset="0"/>
              <a:buChar char="•"/>
            </a:pPr>
            <a:r>
              <a:rPr lang="en-US" b="0"/>
              <a:t>Tokens are the metrics to see how expensive the agent is. Note that SLMs are run locally so they don’t consume money. We use tokens in SLMs as a metric in SLMs rather than monetary value.</a:t>
            </a:r>
          </a:p>
          <a:p>
            <a:pPr marL="171450" indent="-171450">
              <a:buFont typeface="Arial" panose="020B0604020202020204" pitchFamily="34" charset="0"/>
              <a:buChar char="•"/>
            </a:pPr>
            <a:r>
              <a:rPr lang="en-US" b="0" err="1"/>
              <a:t>Ollama</a:t>
            </a:r>
            <a:r>
              <a:rPr lang="en-US" b="0"/>
              <a:t> is the program that we will run the models on. Should be installed already through the docker</a:t>
            </a:r>
          </a:p>
          <a:p>
            <a:pPr marL="171450" indent="-171450">
              <a:buFont typeface="Arial" panose="020B0604020202020204" pitchFamily="34" charset="0"/>
              <a:buChar char="•"/>
            </a:pPr>
            <a:r>
              <a:rPr lang="en-US" b="0" err="1"/>
              <a:t>DSPy</a:t>
            </a:r>
            <a:r>
              <a:rPr lang="en-US" b="0"/>
              <a:t> is just the python library that lets us run the agents (</a:t>
            </a:r>
            <a:r>
              <a:rPr lang="en-US" b="0" err="1"/>
              <a:t>Agent.md</a:t>
            </a:r>
            <a:r>
              <a:rPr lang="en-US" b="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705B-940D-66ED-0CC3-231D0560D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DCB61-0BD3-5899-0D9A-B889D0C29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E08D9-EAAC-4E04-8523-4EF9D40D5AED}"/>
              </a:ext>
            </a:extLst>
          </p:cNvPr>
          <p:cNvSpPr>
            <a:spLocks noGrp="1"/>
          </p:cNvSpPr>
          <p:nvPr>
            <p:ph type="body" idx="1"/>
          </p:nvPr>
        </p:nvSpPr>
        <p:spPr/>
        <p:txBody>
          <a:bodyPr/>
          <a:lstStyle/>
          <a:p>
            <a:r>
              <a:rPr lang="en-US"/>
              <a:t>We will continue here with more theory on SLMs vs LLMs</a:t>
            </a:r>
          </a:p>
          <a:p>
            <a:endParaRPr lang="en-US"/>
          </a:p>
          <a:p>
            <a:r>
              <a:rPr lang="en-US"/>
              <a:t>In general, we will provide the theory first and then apply it to optimizations.</a:t>
            </a:r>
          </a:p>
        </p:txBody>
      </p:sp>
      <p:sp>
        <p:nvSpPr>
          <p:cNvPr id="4" name="Slide Number Placeholder 3">
            <a:extLst>
              <a:ext uri="{FF2B5EF4-FFF2-40B4-BE49-F238E27FC236}">
                <a16:creationId xmlns:a16="http://schemas.microsoft.com/office/drawing/2014/main" id="{9F859466-33F5-C630-F64E-E47ECE841D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54548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9770E-8460-4B36-B0B0-E3666400E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363AB-66CA-5548-91DF-4A9958289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71B27-B45C-F178-E711-7E39F1182103}"/>
              </a:ext>
            </a:extLst>
          </p:cNvPr>
          <p:cNvSpPr>
            <a:spLocks noGrp="1"/>
          </p:cNvSpPr>
          <p:nvPr>
            <p:ph type="body" idx="1"/>
          </p:nvPr>
        </p:nvSpPr>
        <p:spPr/>
        <p:txBody>
          <a:bodyPr/>
          <a:lstStyle/>
          <a:p>
            <a:r>
              <a:rPr lang="en-US"/>
              <a:t>We can highlight here that Qualcomm told us not to remove the human from the flow.</a:t>
            </a:r>
          </a:p>
          <a:p>
            <a:r>
              <a:rPr lang="en-US"/>
              <a:t>Maybe we don’t want the fully autonomous era</a:t>
            </a:r>
          </a:p>
        </p:txBody>
      </p:sp>
      <p:sp>
        <p:nvSpPr>
          <p:cNvPr id="4" name="Slide Number Placeholder 3">
            <a:extLst>
              <a:ext uri="{FF2B5EF4-FFF2-40B4-BE49-F238E27FC236}">
                <a16:creationId xmlns:a16="http://schemas.microsoft.com/office/drawing/2014/main" id="{B2BA1741-5159-06A5-4714-2AD9D476424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8445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993B-5EC0-65B5-96F5-95745F6F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BFCA4-44AE-FAE4-1538-D47219499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D578-99A9-9C49-6DF7-2801BDF8AD0A}"/>
              </a:ext>
            </a:extLst>
          </p:cNvPr>
          <p:cNvSpPr>
            <a:spLocks noGrp="1"/>
          </p:cNvSpPr>
          <p:nvPr>
            <p:ph type="body" idx="1"/>
          </p:nvPr>
        </p:nvSpPr>
        <p:spPr/>
        <p:txBody>
          <a:bodyPr/>
          <a:lstStyle/>
          <a:p>
            <a:r>
              <a:rPr lang="en-US"/>
              <a:t>Basic architecture of an EDA flow using decomposed tasks.</a:t>
            </a:r>
          </a:p>
          <a:p>
            <a:endParaRPr lang="en-US"/>
          </a:p>
          <a:p>
            <a:r>
              <a:rPr lang="en-US"/>
              <a:t>We have a design specification that we want to get through the EDA flow.</a:t>
            </a:r>
          </a:p>
          <a:p>
            <a:endParaRPr lang="en-US"/>
          </a:p>
          <a:p>
            <a:r>
              <a:rPr lang="en-US"/>
              <a:t>We </a:t>
            </a:r>
            <a:r>
              <a:rPr lang="en-US" b="1"/>
              <a:t>plan</a:t>
            </a:r>
            <a:r>
              <a:rPr lang="en-US"/>
              <a:t> how we should decompose the tasks and the </a:t>
            </a:r>
            <a:r>
              <a:rPr lang="en-US" b="1"/>
              <a:t>task contracts </a:t>
            </a:r>
            <a:r>
              <a:rPr lang="en-US"/>
              <a:t>(“agreement” between the user and the agent specifying what it should do)</a:t>
            </a:r>
          </a:p>
          <a:p>
            <a:endParaRPr lang="en-US"/>
          </a:p>
          <a:p>
            <a:r>
              <a:rPr lang="en-US"/>
              <a:t>Different parts of the flow get different agents.</a:t>
            </a:r>
          </a:p>
          <a:p>
            <a:endParaRPr lang="en-US"/>
          </a:p>
          <a:p>
            <a:r>
              <a:rPr lang="en-US"/>
              <a:t>Afterwards we have to validate what it did.</a:t>
            </a:r>
          </a:p>
          <a:p>
            <a:endParaRPr lang="en-US"/>
          </a:p>
          <a:p>
            <a:r>
              <a:rPr lang="en-US"/>
              <a:t>(still </a:t>
            </a:r>
            <a:r>
              <a:rPr lang="en-US">
                <a:solidFill>
                  <a:schemeClr val="tx2">
                    <a:lumMod val="60000"/>
                    <a:lumOff val="40000"/>
                  </a:schemeClr>
                </a:solidFill>
              </a:rPr>
              <a:t>blue=agent</a:t>
            </a:r>
            <a:r>
              <a:rPr lang="en-US"/>
              <a:t>, red=human)</a:t>
            </a:r>
          </a:p>
        </p:txBody>
      </p:sp>
      <p:sp>
        <p:nvSpPr>
          <p:cNvPr id="4" name="Slide Number Placeholder 3">
            <a:extLst>
              <a:ext uri="{FF2B5EF4-FFF2-40B4-BE49-F238E27FC236}">
                <a16:creationId xmlns:a16="http://schemas.microsoft.com/office/drawing/2014/main" id="{D434F9F8-489D-16EE-4843-CE637F85CD7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49277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Basic EDA flow -&gt; just a quick recap, we can skip quickly</a:t>
            </a:r>
          </a:p>
          <a:p>
            <a:endParaRPr lang="en-US"/>
          </a:p>
          <a:p>
            <a:r>
              <a:rPr lang="en-US"/>
              <a:t>(Under the EDA Flow part, there is the tool we use today </a:t>
            </a:r>
            <a:r>
              <a:rPr lang="en-US" err="1"/>
              <a:t>eg</a:t>
            </a:r>
            <a:r>
              <a:rPr lang="en-US"/>
              <a:t> Placement -&gt; </a:t>
            </a:r>
            <a:r>
              <a:rPr lang="en-US" err="1"/>
              <a:t>OpenRoad</a:t>
            </a:r>
            <a:r>
              <a:rPr lang="en-US"/>
              <a:t>)</a:t>
            </a:r>
          </a:p>
          <a:p>
            <a:r>
              <a:rPr lang="en-US"/>
              <a:t>We can ask where agentic AI can fit in all of these</a:t>
            </a:r>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FB946-69AC-7E32-27B5-289FFC061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62A7F-BD8E-D106-9576-7B9640441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4FD64-C0F3-8E46-0320-01A739D13A0D}"/>
              </a:ext>
            </a:extLst>
          </p:cNvPr>
          <p:cNvSpPr>
            <a:spLocks noGrp="1"/>
          </p:cNvSpPr>
          <p:nvPr>
            <p:ph type="body" idx="1"/>
          </p:nvPr>
        </p:nvSpPr>
        <p:spPr/>
        <p:txBody>
          <a:bodyPr/>
          <a:lstStyle/>
          <a:p>
            <a:r>
              <a:rPr lang="en-US"/>
              <a:t>We highlight here that the best agentic flow is iterative;</a:t>
            </a:r>
          </a:p>
          <a:p>
            <a:endParaRPr lang="en-US"/>
          </a:p>
          <a:p>
            <a:r>
              <a:rPr lang="en-US"/>
              <a:t>Running the loop many times usually (not always) achieves better results</a:t>
            </a:r>
          </a:p>
        </p:txBody>
      </p:sp>
      <p:sp>
        <p:nvSpPr>
          <p:cNvPr id="4" name="Slide Number Placeholder 3">
            <a:extLst>
              <a:ext uri="{FF2B5EF4-FFF2-40B4-BE49-F238E27FC236}">
                <a16:creationId xmlns:a16="http://schemas.microsoft.com/office/drawing/2014/main" id="{C2260952-D55A-468A-2226-7B3E0F62DE4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98349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Everyone should be caught up until here -&gt; if not we fix it</a:t>
            </a:r>
          </a:p>
          <a:p>
            <a:endParaRPr lang="en-US"/>
          </a:p>
          <a:p>
            <a:r>
              <a:rPr lang="en-US"/>
              <a:t>Should highlight the directory structure:</a:t>
            </a:r>
            <a:br>
              <a:rPr lang="en-US"/>
            </a:br>
            <a:br>
              <a:rPr lang="en-US"/>
            </a:br>
            <a:r>
              <a:rPr lang="en-US"/>
              <a:t>Inside the scripts folder that we will work on, we have the individual parts.</a:t>
            </a:r>
          </a:p>
          <a:p>
            <a:endParaRPr lang="en-US"/>
          </a:p>
          <a:p>
            <a:r>
              <a:rPr lang="en-US"/>
              <a:t>Inside each part we have the </a:t>
            </a:r>
            <a:r>
              <a:rPr lang="en-US" b="1"/>
              <a:t>problem </a:t>
            </a:r>
            <a:r>
              <a:rPr lang="en-US" b="0"/>
              <a:t>folder that we will write on in the tutorial and </a:t>
            </a:r>
          </a:p>
          <a:p>
            <a:r>
              <a:rPr lang="en-US" b="0"/>
              <a:t>the </a:t>
            </a:r>
            <a:r>
              <a:rPr lang="en-US" b="1"/>
              <a:t>solution </a:t>
            </a:r>
            <a:r>
              <a:rPr lang="en-US" b="0"/>
              <a:t>folder that has our solution (not definitive) and the attendants can look at to get ideas on how to solve the problem</a:t>
            </a:r>
          </a:p>
          <a:p>
            <a:endParaRPr lang="en-US" b="0"/>
          </a:p>
          <a:p>
            <a:r>
              <a:rPr lang="en-US" b="0"/>
              <a:t>Also we can highlight that the repo is free online and they can play with it at home as well</a:t>
            </a:r>
            <a:endParaRPr lang="en-US"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9108-556B-D061-B724-2E4FD0AA0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94D60-7679-7313-D6D2-3EC6719F1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F00DB-0136-9822-66A4-B6B9E54FA3D4}"/>
              </a:ext>
            </a:extLst>
          </p:cNvPr>
          <p:cNvSpPr>
            <a:spLocks noGrp="1"/>
          </p:cNvSpPr>
          <p:nvPr>
            <p:ph type="body" idx="1"/>
          </p:nvPr>
        </p:nvSpPr>
        <p:spPr/>
        <p:txBody>
          <a:bodyPr/>
          <a:lstStyle/>
          <a:p>
            <a:r>
              <a:rPr lang="en-US"/>
              <a:t>In case something is missing these are the steps.</a:t>
            </a:r>
          </a:p>
          <a:p>
            <a:endParaRPr lang="en-US"/>
          </a:p>
          <a:p>
            <a:r>
              <a:rPr lang="en-US"/>
              <a:t>The best and easier way is to pull the docker image (first command). It is 3.45 GB and on </a:t>
            </a:r>
            <a:r>
              <a:rPr lang="en-US" err="1"/>
              <a:t>caslabwifi</a:t>
            </a:r>
            <a:r>
              <a:rPr lang="en-US"/>
              <a:t> it takes ~10 minutes.</a:t>
            </a:r>
          </a:p>
          <a:p>
            <a:endParaRPr lang="en-US"/>
          </a:p>
          <a:p>
            <a:r>
              <a:rPr lang="en-US"/>
              <a:t>Alternative there is the manual installation (verified it works on ubuntu and x86) on the next slide</a:t>
            </a:r>
          </a:p>
          <a:p>
            <a:endParaRPr lang="en-US"/>
          </a:p>
          <a:p>
            <a:r>
              <a:rPr lang="en-US"/>
              <a:t>Will add here ARM instructions as well.</a:t>
            </a:r>
          </a:p>
        </p:txBody>
      </p:sp>
      <p:sp>
        <p:nvSpPr>
          <p:cNvPr id="4" name="Slide Number Placeholder 3">
            <a:extLst>
              <a:ext uri="{FF2B5EF4-FFF2-40B4-BE49-F238E27FC236}">
                <a16:creationId xmlns:a16="http://schemas.microsoft.com/office/drawing/2014/main" id="{D83295E3-1964-03E4-26F5-F543E4091C4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82878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If we have issues with the docker we go here</a:t>
            </a:r>
          </a:p>
          <a:p>
            <a:endParaRPr lang="en-US"/>
          </a:p>
          <a:p>
            <a:r>
              <a:rPr lang="en-US"/>
              <a:t>They can replicate that at home if they want everything locally.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too trivial.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 much detail we can skip.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someone feels that the installation is complete, we run this simple regression </a:t>
            </a:r>
            <a:r>
              <a:rPr lang="en-US" err="1"/>
              <a:t>tesk</a:t>
            </a:r>
            <a:r>
              <a:rPr lang="en-US"/>
              <a:t> to verify.</a:t>
            </a:r>
          </a:p>
          <a:p>
            <a:endParaRPr lang="en-US"/>
          </a:p>
          <a:p>
            <a:r>
              <a:rPr lang="en-US"/>
              <a:t>--quick option makes a basic check that everything works. </a:t>
            </a:r>
          </a:p>
          <a:p>
            <a:endParaRPr lang="en-US"/>
          </a:p>
          <a:p>
            <a:r>
              <a:rPr lang="en-US"/>
              <a:t>We can do without but it is not necessary.</a:t>
            </a:r>
          </a:p>
          <a:p>
            <a:endParaRPr lang="en-US"/>
          </a:p>
          <a:p>
            <a:r>
              <a:rPr lang="en-US"/>
              <a:t>At this point we should have figured out all the bugs.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D7F2D-7591-A18E-53B7-32766762F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C7855-4A64-22BF-1040-2DE6E7993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A64B9-13D3-D3CA-F0C6-765A328824AD}"/>
              </a:ext>
            </a:extLst>
          </p:cNvPr>
          <p:cNvSpPr>
            <a:spLocks noGrp="1"/>
          </p:cNvSpPr>
          <p:nvPr>
            <p:ph type="body" idx="1"/>
          </p:nvPr>
        </p:nvSpPr>
        <p:spPr/>
        <p:txBody>
          <a:bodyPr/>
          <a:lstStyle/>
          <a:p>
            <a:r>
              <a:rPr lang="en-US"/>
              <a:t>We have to highlight the following:</a:t>
            </a:r>
            <a:br>
              <a:rPr lang="en-US"/>
            </a:br>
            <a:endParaRPr lang="en-US"/>
          </a:p>
          <a:p>
            <a:pPr marL="171450" indent="-171450">
              <a:buFont typeface="Arial" panose="020B0604020202020204" pitchFamily="34" charset="0"/>
              <a:buChar char="•"/>
            </a:pPr>
            <a:r>
              <a:rPr lang="en-US"/>
              <a:t>This is the </a:t>
            </a:r>
            <a:r>
              <a:rPr lang="en-US" b="1" err="1"/>
              <a:t>config.yaml</a:t>
            </a:r>
            <a:r>
              <a:rPr lang="en-US" b="1"/>
              <a:t> </a:t>
            </a:r>
            <a:r>
              <a:rPr lang="en-US"/>
              <a:t>file</a:t>
            </a:r>
          </a:p>
          <a:p>
            <a:pPr marL="171450" indent="-171450">
              <a:buFont typeface="Arial" panose="020B0604020202020204" pitchFamily="34" charset="0"/>
              <a:buChar char="•"/>
            </a:pPr>
            <a:r>
              <a:rPr lang="en-US"/>
              <a:t>It exists in every </a:t>
            </a:r>
            <a:r>
              <a:rPr lang="en-US" i="1"/>
              <a:t>part*/problem </a:t>
            </a:r>
            <a:r>
              <a:rPr lang="en-US"/>
              <a:t>or </a:t>
            </a:r>
            <a:r>
              <a:rPr lang="en-US" i="1"/>
              <a:t>part*/solution </a:t>
            </a:r>
            <a:r>
              <a:rPr lang="en-US"/>
              <a:t>directory </a:t>
            </a:r>
          </a:p>
          <a:p>
            <a:pPr marL="171450" indent="-171450">
              <a:buFont typeface="Arial" panose="020B0604020202020204" pitchFamily="34" charset="0"/>
              <a:buChar char="•"/>
            </a:pPr>
            <a:r>
              <a:rPr lang="en-US"/>
              <a:t>The </a:t>
            </a:r>
            <a:r>
              <a:rPr lang="en-US" b="1" err="1"/>
              <a:t>active_profile</a:t>
            </a:r>
            <a:r>
              <a:rPr lang="en-US" b="1"/>
              <a:t> </a:t>
            </a:r>
            <a:r>
              <a:rPr lang="en-US"/>
              <a:t>on top decides which model to run.</a:t>
            </a:r>
          </a:p>
          <a:p>
            <a:pPr marL="171450" indent="-171450">
              <a:buFont typeface="Arial" panose="020B0604020202020204" pitchFamily="34" charset="0"/>
              <a:buChar char="•"/>
            </a:pPr>
            <a:r>
              <a:rPr lang="en-US"/>
              <a:t>We decided to make this per part*/problem directory so that we can easily have different models for different tasks.</a:t>
            </a:r>
          </a:p>
          <a:p>
            <a:pPr marL="171450" indent="-171450">
              <a:buFont typeface="Arial" panose="020B0604020202020204" pitchFamily="34" charset="0"/>
              <a:buChar char="•"/>
            </a:pPr>
            <a:r>
              <a:rPr lang="en-US"/>
              <a:t>Highlight the models we use in this slide as well</a:t>
            </a:r>
          </a:p>
          <a:p>
            <a:pPr marL="171450" indent="-171450">
              <a:buFont typeface="Arial" panose="020B0604020202020204" pitchFamily="34" charset="0"/>
              <a:buChar char="•"/>
            </a:pPr>
            <a:r>
              <a:rPr lang="en-US"/>
              <a:t>If they brought their own model we can set it up as well. (Maybe ask here if someone has their own?)</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A bit of “wisdom” here can be that when we set </a:t>
            </a:r>
            <a:r>
              <a:rPr lang="en-US" b="1"/>
              <a:t>temperature = 0.0</a:t>
            </a:r>
            <a:r>
              <a:rPr lang="en-US"/>
              <a:t>, we make the models </a:t>
            </a:r>
            <a:r>
              <a:rPr lang="en-US" b="1"/>
              <a:t>deterministic</a:t>
            </a:r>
            <a:r>
              <a:rPr lang="en-US"/>
              <a:t>. (Not every model supports that)</a:t>
            </a:r>
          </a:p>
          <a:p>
            <a:endParaRPr lang="en-US"/>
          </a:p>
        </p:txBody>
      </p:sp>
      <p:sp>
        <p:nvSpPr>
          <p:cNvPr id="4" name="Slide Number Placeholder 3">
            <a:extLst>
              <a:ext uri="{FF2B5EF4-FFF2-40B4-BE49-F238E27FC236}">
                <a16:creationId xmlns:a16="http://schemas.microsoft.com/office/drawing/2014/main" id="{D43C268F-65AB-1743-2692-71AB322F8B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30001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 complicated, we skip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E71CB-A0B1-065E-5D5D-09A4C0C10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7C3ED-FAF5-A097-3BF4-A8F9900D7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B308F-3572-82D4-3E91-BD101415C487}"/>
              </a:ext>
            </a:extLst>
          </p:cNvPr>
          <p:cNvSpPr>
            <a:spLocks noGrp="1"/>
          </p:cNvSpPr>
          <p:nvPr>
            <p:ph type="body" idx="1"/>
          </p:nvPr>
        </p:nvSpPr>
        <p:spPr/>
        <p:txBody>
          <a:bodyPr/>
          <a:lstStyle/>
          <a:p>
            <a:r>
              <a:rPr lang="en-US"/>
              <a:t>Local models with </a:t>
            </a:r>
            <a:r>
              <a:rPr lang="en-US" err="1"/>
              <a:t>Ollama</a:t>
            </a:r>
            <a:r>
              <a:rPr lang="en-US"/>
              <a:t>. </a:t>
            </a:r>
          </a:p>
          <a:p>
            <a:br>
              <a:rPr lang="en-US"/>
            </a:br>
            <a:r>
              <a:rPr lang="en-US"/>
              <a:t>In general we can use the </a:t>
            </a:r>
            <a:r>
              <a:rPr lang="en-US" err="1"/>
              <a:t>gemini</a:t>
            </a:r>
            <a:r>
              <a:rPr lang="en-US"/>
              <a:t> </a:t>
            </a:r>
            <a:r>
              <a:rPr lang="en-US" err="1"/>
              <a:t>llm</a:t>
            </a:r>
            <a:r>
              <a:rPr lang="en-US"/>
              <a:t> but it is nice to have to run locally and see LLM vs SLM</a:t>
            </a:r>
          </a:p>
          <a:p>
            <a:endParaRPr lang="en-US"/>
          </a:p>
          <a:p>
            <a:r>
              <a:rPr lang="en-US"/>
              <a:t>Performance highly depends on computer -&gt; We may need to allocate RAM in the docker in case it doesn’t work.</a:t>
            </a:r>
          </a:p>
        </p:txBody>
      </p:sp>
      <p:sp>
        <p:nvSpPr>
          <p:cNvPr id="4" name="Slide Number Placeholder 3">
            <a:extLst>
              <a:ext uri="{FF2B5EF4-FFF2-40B4-BE49-F238E27FC236}">
                <a16:creationId xmlns:a16="http://schemas.microsoft.com/office/drawing/2014/main" id="{330563AA-FB2C-C2CC-4F11-AA4975AF48B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64703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822DA-7243-0A57-03CF-D5809757D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BCB45-7567-C43E-EA1B-3912936F6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64E7A-EDA7-7D6C-EBFE-957CF2CF1948}"/>
              </a:ext>
            </a:extLst>
          </p:cNvPr>
          <p:cNvSpPr>
            <a:spLocks noGrp="1"/>
          </p:cNvSpPr>
          <p:nvPr>
            <p:ph type="body" idx="1"/>
          </p:nvPr>
        </p:nvSpPr>
        <p:spPr/>
        <p:txBody>
          <a:bodyPr/>
          <a:lstStyle/>
          <a:p>
            <a:r>
              <a:rPr lang="en-US"/>
              <a:t>This is a mini tutorial on how to get free Gemini API key, so that we can use LLMs in the tutorial.</a:t>
            </a:r>
          </a:p>
          <a:p>
            <a:endParaRPr lang="en-US"/>
          </a:p>
          <a:p>
            <a:r>
              <a:rPr lang="en-US"/>
              <a:t>The attendants should follow the instructions on screen.</a:t>
            </a:r>
          </a:p>
          <a:p>
            <a:endParaRPr lang="en-US"/>
          </a:p>
          <a:p>
            <a:r>
              <a:rPr lang="en-US"/>
              <a:t>First instruction:</a:t>
            </a:r>
            <a:br>
              <a:rPr lang="en-US"/>
            </a:br>
            <a:br>
              <a:rPr lang="en-US"/>
            </a:br>
            <a:r>
              <a:rPr lang="en-US"/>
              <a:t>Visit the website shown here.</a:t>
            </a:r>
          </a:p>
          <a:p>
            <a:endParaRPr lang="en-US"/>
          </a:p>
          <a:p>
            <a:r>
              <a:rPr lang="en-US"/>
              <a:t>Copy-Paste from slides (provided in the </a:t>
            </a:r>
            <a:r>
              <a:rPr lang="en-US" err="1"/>
              <a:t>gitbub</a:t>
            </a:r>
            <a:r>
              <a:rPr lang="en-US"/>
              <a:t>)</a:t>
            </a:r>
            <a:br>
              <a:rPr lang="en-US"/>
            </a:br>
            <a:r>
              <a:rPr lang="en-US"/>
              <a:t>or just google ”Google AI Studio API key”</a:t>
            </a:r>
          </a:p>
        </p:txBody>
      </p:sp>
      <p:sp>
        <p:nvSpPr>
          <p:cNvPr id="4" name="Slide Number Placeholder 3">
            <a:extLst>
              <a:ext uri="{FF2B5EF4-FFF2-40B4-BE49-F238E27FC236}">
                <a16:creationId xmlns:a16="http://schemas.microsoft.com/office/drawing/2014/main" id="{9747C18A-5104-77EC-E12B-7506FEB2258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403441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A4207-0CF1-DA06-7FAF-858A431CC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2B970-56ED-E677-4A11-521788D67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1495E-9466-3ADA-0EC1-7FD0A0456239}"/>
              </a:ext>
            </a:extLst>
          </p:cNvPr>
          <p:cNvSpPr>
            <a:spLocks noGrp="1"/>
          </p:cNvSpPr>
          <p:nvPr>
            <p:ph type="body" idx="1"/>
          </p:nvPr>
        </p:nvSpPr>
        <p:spPr/>
        <p:txBody>
          <a:bodyPr/>
          <a:lstStyle/>
          <a:p>
            <a:r>
              <a:rPr lang="en-US"/>
              <a:t>Click 'Create API key’ on the top right</a:t>
            </a:r>
          </a:p>
        </p:txBody>
      </p:sp>
      <p:sp>
        <p:nvSpPr>
          <p:cNvPr id="4" name="Slide Number Placeholder 3">
            <a:extLst>
              <a:ext uri="{FF2B5EF4-FFF2-40B4-BE49-F238E27FC236}">
                <a16:creationId xmlns:a16="http://schemas.microsoft.com/office/drawing/2014/main" id="{D6F13AC2-D8CC-1883-7A86-E469D82A7D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81154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51A38-5ACD-C1B1-064F-C11648033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8DEC9-73A6-F5D9-6502-E5FBD996C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AB126-3EF0-A1F7-AE63-2B7656505831}"/>
              </a:ext>
            </a:extLst>
          </p:cNvPr>
          <p:cNvSpPr>
            <a:spLocks noGrp="1"/>
          </p:cNvSpPr>
          <p:nvPr>
            <p:ph type="body" idx="1"/>
          </p:nvPr>
        </p:nvSpPr>
        <p:spPr/>
        <p:txBody>
          <a:bodyPr/>
          <a:lstStyle/>
          <a:p>
            <a:r>
              <a:rPr lang="en-US"/>
              <a:t>Confirm 'Create key' in the pop-up. Can leave everything else on default</a:t>
            </a:r>
          </a:p>
        </p:txBody>
      </p:sp>
      <p:sp>
        <p:nvSpPr>
          <p:cNvPr id="4" name="Slide Number Placeholder 3">
            <a:extLst>
              <a:ext uri="{FF2B5EF4-FFF2-40B4-BE49-F238E27FC236}">
                <a16:creationId xmlns:a16="http://schemas.microsoft.com/office/drawing/2014/main" id="{CBCFE993-5EF1-7017-C7C1-E0912826B55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585588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6AB5-1515-AC89-A210-030C36ADF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8EF2B-7EE3-B4B4-681A-5E71203722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FE653-3A5A-4864-C9E4-F473457F607C}"/>
              </a:ext>
            </a:extLst>
          </p:cNvPr>
          <p:cNvSpPr>
            <a:spLocks noGrp="1"/>
          </p:cNvSpPr>
          <p:nvPr>
            <p:ph type="body" idx="1"/>
          </p:nvPr>
        </p:nvSpPr>
        <p:spPr/>
        <p:txBody>
          <a:bodyPr/>
          <a:lstStyle/>
          <a:p>
            <a:r>
              <a:rPr lang="en-US"/>
              <a:t>The key is created: copy it.</a:t>
            </a:r>
          </a:p>
        </p:txBody>
      </p:sp>
      <p:sp>
        <p:nvSpPr>
          <p:cNvPr id="4" name="Slide Number Placeholder 3">
            <a:extLst>
              <a:ext uri="{FF2B5EF4-FFF2-40B4-BE49-F238E27FC236}">
                <a16:creationId xmlns:a16="http://schemas.microsoft.com/office/drawing/2014/main" id="{4050BDFE-4288-F500-B6B4-4CC618886F3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14725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 need to put the Gemini API Key we copied into the bash file.</a:t>
            </a:r>
          </a:p>
          <a:p>
            <a:endParaRPr lang="en-US"/>
          </a:p>
          <a:p>
            <a:r>
              <a:rPr lang="en-US"/>
              <a:t>We will do it on screen in parallel in case someone gets confused.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central idea on how we work in this tutorial.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tasks of Part 1. From here on the theory is over and the hands-on starts.</a:t>
            </a:r>
          </a:p>
          <a:p>
            <a:r>
              <a:t>- Task 1.1: improve an agent with examples. DSPy refines the prompt from the labeled sentences the attendees write.</a:t>
            </a:r>
          </a:p>
          <a:p>
            <a:r>
              <a:t>- Task 1.2: improve an agent with rules. The attendees fill the Agent.md of an agent that writes a testbench.</a:t>
            </a:r>
          </a:p>
          <a:p>
            <a:r>
              <a:t>- Every task has the same two slides: our golden run (solution/), then your turn (problem/).</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90E1A-E5EB-ECE9-0D59-A54D33DCD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8F1A3-793F-6932-813C-AE305562F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DA1D6-5120-8798-D1DA-A08B4F5D05D2}"/>
              </a:ext>
            </a:extLst>
          </p:cNvPr>
          <p:cNvSpPr>
            <a:spLocks noGrp="1"/>
          </p:cNvSpPr>
          <p:nvPr>
            <p:ph type="body" idx="1"/>
          </p:nvPr>
        </p:nvSpPr>
        <p:spPr/>
        <p:txBody>
          <a:bodyPr/>
          <a:lstStyle/>
          <a:p>
            <a:r>
              <a:rPr lang="en-US"/>
              <a:t>Explain what sentiment analysis is</a:t>
            </a:r>
          </a:p>
          <a:p>
            <a:endParaRPr lang="en-US"/>
          </a:p>
          <a:p>
            <a:r>
              <a:rPr lang="en-US"/>
              <a:t>Give the example of the sentences to make everyone understand what we are trying to accomplish</a:t>
            </a:r>
          </a:p>
        </p:txBody>
      </p:sp>
      <p:sp>
        <p:nvSpPr>
          <p:cNvPr id="4" name="Slide Number Placeholder 3">
            <a:extLst>
              <a:ext uri="{FF2B5EF4-FFF2-40B4-BE49-F238E27FC236}">
                <a16:creationId xmlns:a16="http://schemas.microsoft.com/office/drawing/2014/main" id="{E8B3AAD0-7CFF-7969-B6E0-202695EB6A8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53721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ADCCF-4ACB-827E-84C8-AE945D74D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14441-0522-F91E-A308-02AB0393C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F47CB-BB1C-FCC5-D408-4F451A1B4229}"/>
              </a:ext>
            </a:extLst>
          </p:cNvPr>
          <p:cNvSpPr>
            <a:spLocks noGrp="1"/>
          </p:cNvSpPr>
          <p:nvPr>
            <p:ph type="body" idx="1"/>
          </p:nvPr>
        </p:nvSpPr>
        <p:spPr/>
        <p:txBody>
          <a:bodyPr/>
          <a:lstStyle/>
          <a:p>
            <a:r>
              <a:rPr lang="en-US"/>
              <a:t>We will open the </a:t>
            </a:r>
            <a:r>
              <a:rPr lang="en-US" err="1"/>
              <a:t>Agent.md</a:t>
            </a:r>
            <a:r>
              <a:rPr lang="en-US"/>
              <a:t> file on screen (on the part1 directory)</a:t>
            </a:r>
          </a:p>
          <a:p>
            <a:endParaRPr lang="en-US"/>
          </a:p>
          <a:p>
            <a:r>
              <a:rPr lang="en-US"/>
              <a:t>We will go through each step quickly here and showcase on our laptop as well.</a:t>
            </a:r>
          </a:p>
          <a:p>
            <a:endParaRPr lang="en-US"/>
          </a:p>
          <a:p>
            <a:r>
              <a:rPr lang="en-US"/>
              <a:t>They have to </a:t>
            </a:r>
            <a:r>
              <a:rPr lang="en-US" err="1"/>
              <a:t>undertstand</a:t>
            </a:r>
            <a:r>
              <a:rPr lang="en-US"/>
              <a:t> the main idea so that they can replicate it/create there own afterwards.</a:t>
            </a:r>
          </a:p>
        </p:txBody>
      </p:sp>
      <p:sp>
        <p:nvSpPr>
          <p:cNvPr id="4" name="Slide Number Placeholder 3">
            <a:extLst>
              <a:ext uri="{FF2B5EF4-FFF2-40B4-BE49-F238E27FC236}">
                <a16:creationId xmlns:a16="http://schemas.microsoft.com/office/drawing/2014/main" id="{C2A3316A-BFCB-953A-8A45-274BCE4D232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032242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6CA4C-0256-625D-682E-097FD4B82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F64A2-808E-B07B-2F24-1FF12494B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602C2-7AB2-F3AC-F979-38D476C93EA9}"/>
              </a:ext>
            </a:extLst>
          </p:cNvPr>
          <p:cNvSpPr>
            <a:spLocks noGrp="1"/>
          </p:cNvSpPr>
          <p:nvPr>
            <p:ph type="body" idx="1"/>
          </p:nvPr>
        </p:nvSpPr>
        <p:spPr/>
        <p:txBody>
          <a:bodyPr/>
          <a:lstStyle/>
          <a:p>
            <a:r>
              <a:rPr lang="en-US"/>
              <a:t>Explain what we do in this task.</a:t>
            </a:r>
          </a:p>
          <a:p>
            <a:endParaRPr lang="en-US"/>
          </a:p>
          <a:p>
            <a:r>
              <a:rPr lang="en-US"/>
              <a:t>We want to predict the </a:t>
            </a:r>
            <a:r>
              <a:rPr lang="en-US" b="1"/>
              <a:t>test dataset </a:t>
            </a:r>
            <a:r>
              <a:rPr lang="en-US"/>
              <a:t>(left side) by typing the </a:t>
            </a:r>
            <a:r>
              <a:rPr lang="en-US" b="1"/>
              <a:t>train dataset </a:t>
            </a:r>
            <a:r>
              <a:rPr lang="en-US"/>
              <a:t>(right side) on our own.</a:t>
            </a:r>
          </a:p>
          <a:p>
            <a:r>
              <a:rPr lang="en-US"/>
              <a:t>We should emphasize that we are not training the models actually (meaning changing the weights inside),</a:t>
            </a:r>
          </a:p>
          <a:p>
            <a:r>
              <a:rPr lang="en-US"/>
              <a:t>but merely doing </a:t>
            </a:r>
            <a:r>
              <a:rPr lang="en-US" b="1"/>
              <a:t>prompt refinement</a:t>
            </a:r>
            <a:r>
              <a:rPr lang="en-US"/>
              <a:t>; explaining what we want our model to learn basically</a:t>
            </a:r>
          </a:p>
          <a:p>
            <a:endParaRPr lang="en-US"/>
          </a:p>
          <a:p>
            <a:r>
              <a:rPr lang="en-US"/>
              <a:t>Remind everyone that they can copy the files from the solutions folder as well if needed.</a:t>
            </a:r>
          </a:p>
          <a:p>
            <a:endParaRPr lang="en-US"/>
          </a:p>
          <a:p>
            <a:r>
              <a:rPr lang="en-US"/>
              <a:t>Showcase that on screen as well.</a:t>
            </a:r>
          </a:p>
        </p:txBody>
      </p:sp>
      <p:sp>
        <p:nvSpPr>
          <p:cNvPr id="4" name="Slide Number Placeholder 3">
            <a:extLst>
              <a:ext uri="{FF2B5EF4-FFF2-40B4-BE49-F238E27FC236}">
                <a16:creationId xmlns:a16="http://schemas.microsoft.com/office/drawing/2014/main" id="{B03C2F7A-8ED6-AE10-106E-1BC448FCAE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21823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0116-9396-E83F-8F35-E23A9EEEF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DDA75-52B8-73F8-77AB-D7ACCD070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EF031-5246-E466-69D9-8162A29FCFCE}"/>
              </a:ext>
            </a:extLst>
          </p:cNvPr>
          <p:cNvSpPr>
            <a:spLocks noGrp="1"/>
          </p:cNvSpPr>
          <p:nvPr>
            <p:ph type="body" idx="1"/>
          </p:nvPr>
        </p:nvSpPr>
        <p:spPr/>
        <p:txBody>
          <a:bodyPr/>
          <a:lstStyle/>
          <a:p>
            <a:r>
              <a:t>Define what we will do: run python3 main.py to solve the sentiment analysis problem.</a:t>
            </a:r>
          </a:p>
          <a:p>
            <a:r>
              <a:t>This runs the sentiment analysis with our own agent and our own training set (trainset.json).</a:t>
            </a:r>
          </a:p>
          <a:p>
            <a:r>
              <a:t>IMPORTANT: there is NO feedback loop here. The agent does not retry or correct itself after a wrong answer.</a:t>
            </a:r>
          </a:p>
          <a:p>
            <a:r>
              <a:t>- This small example uses the DSPy optimizer as a black box: it takes the labeled examples of trainset.json and compiles them into the agent's prompt once (few-shot examples). Then every test sentence is answered one time.</a:t>
            </a:r>
          </a:p>
          <a:p>
            <a:r>
              <a:t>- So the only thing you change is the training set: better examples, a better prompt, a higher accuracy.</a:t>
            </a:r>
          </a:p>
          <a:p>
            <a:r>
              <a:t>- Feedback loops (an agent that reads a tool report and tries again) come next, with the testbench agent, and then in Parts 2-4.</a:t>
            </a:r>
          </a:p>
        </p:txBody>
      </p:sp>
      <p:sp>
        <p:nvSpPr>
          <p:cNvPr id="4" name="Slide Number Placeholder 3">
            <a:extLst>
              <a:ext uri="{FF2B5EF4-FFF2-40B4-BE49-F238E27FC236}">
                <a16:creationId xmlns:a16="http://schemas.microsoft.com/office/drawing/2014/main" id="{2F992E33-741E-467B-C0A9-E132017DEE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85442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by step guide for the sentiment analysis problem. We also do it on screen, step by step.</a:t>
            </a:r>
          </a:p>
          <a:p>
            <a:r>
              <a:rPr lang="en-US"/>
              <a:t>- Step 2 gives the Untrained Baseline Accuracy: the agent WITHOUT optimization, only its Agent.md.</a:t>
            </a:r>
          </a:p>
          <a:p>
            <a:r>
              <a:rPr lang="en-US"/>
              <a:t>- Step 4 gives the DSPy Compiled Accuracy: the SAME agent after DSPy optimized its prompt with your training examples.</a:t>
            </a:r>
          </a:p>
          <a:p>
            <a:r>
              <a:rPr lang="en-US"/>
              <a:t>- Both are measured on the same test set, so the difference is exactly what the optimization bought you: optimized vs un-optimized agent.</a:t>
            </a:r>
          </a:p>
          <a:p>
            <a:r>
              <a:rPr lang="en-US"/>
              <a:t>- Step 5: run our solution with our training set and compare.</a:t>
            </a:r>
          </a:p>
          <a:p>
            <a:r>
              <a:rPr lang="en-US"/>
              <a:t>TIME: 8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F3D6-C012-E90F-A833-BF2A93F08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20363-CFE9-7A29-DFF0-5A5BBC432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51755-E654-08EA-E702-67FB4294A384}"/>
              </a:ext>
            </a:extLst>
          </p:cNvPr>
          <p:cNvSpPr>
            <a:spLocks noGrp="1"/>
          </p:cNvSpPr>
          <p:nvPr>
            <p:ph type="body" idx="1"/>
          </p:nvPr>
        </p:nvSpPr>
        <p:spPr/>
        <p:txBody>
          <a:bodyPr/>
          <a:lstStyle/>
          <a:p>
            <a:r>
              <a:rPr lang="en-US"/>
              <a:t>SAY: The second Part 1 exercise comes from a real competition: a hackathon problem by Google at ICLAD 2025, the conference on LLM-aided design.</a:t>
            </a:r>
          </a:p>
          <a:p>
            <a:r>
              <a:rPr lang="en-US"/>
              <a:t>- The question: can an AI agent write a testbench from a specification written in plain English?</a:t>
            </a:r>
          </a:p>
          <a:p>
            <a:r>
              <a:rPr lang="en-US"/>
              <a:t>- What the agent gets: the specification (specification.md) and 31 implementations of the module, called mutants. Exactly one is correct; the other 30 each have a small bug.</a:t>
            </a:r>
          </a:p>
          <a:p>
            <a:r>
              <a:rPr lang="en-US"/>
              <a:t>- What it must produce: one testbench (tb.v) that passes the correct implementation and fails all 30 buggy ones.</a:t>
            </a:r>
          </a:p>
          <a:p>
            <a:r>
              <a:rPr lang="en-US"/>
              <a:t>- The difficulty: the agent never knows which implementation is the correct one. It only learns how many passed its testbench. 1 = perfect; more than 1 = the testbench misses bugs; 0 = the testbench itself is wrong or too strict.</a:t>
            </a:r>
          </a:p>
          <a:p>
            <a:r>
              <a:rPr lang="en-US"/>
              <a:t>- There are 10 designs, from a simple binary-to-Gray encoder to a FIFO with credit-based flow control. enc_bin2gray is the one we use on screen.</a:t>
            </a:r>
          </a:p>
          <a:p>
            <a:r>
              <a:rPr lang="en-US"/>
              <a:t>- Why it matters: verification is most of the effort in real chip projects, and a testbench that misses bugs is worse than no testbench - it gives false confidence.</a:t>
            </a:r>
          </a:p>
          <a:p>
            <a:r>
              <a:rPr lang="en-US"/>
              <a:t>TIME: 2 minutes.</a:t>
            </a:r>
          </a:p>
        </p:txBody>
      </p:sp>
      <p:sp>
        <p:nvSpPr>
          <p:cNvPr id="4" name="Slide Number Placeholder 3">
            <a:extLst>
              <a:ext uri="{FF2B5EF4-FFF2-40B4-BE49-F238E27FC236}">
                <a16:creationId xmlns:a16="http://schemas.microsoft.com/office/drawing/2014/main" id="{1EF83838-40A2-0A50-FDEE-6276A33C04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85085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B599-FEE6-64C0-CE31-69CEFFFF2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41755-4572-2555-CA5E-02AF76153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A7167-427A-5C2A-5AED-B4C90C44B7C7}"/>
              </a:ext>
            </a:extLst>
          </p:cNvPr>
          <p:cNvSpPr>
            <a:spLocks noGrp="1"/>
          </p:cNvSpPr>
          <p:nvPr>
            <p:ph type="body" idx="1"/>
          </p:nvPr>
        </p:nvSpPr>
        <p:spPr/>
        <p:txBody>
          <a:bodyPr/>
          <a:lstStyle/>
          <a:p>
            <a:r>
              <a:rPr lang="en-US"/>
              <a:t>Explain what we do at this point.</a:t>
            </a:r>
          </a:p>
          <a:p>
            <a:endParaRPr lang="en-US"/>
          </a:p>
          <a:p>
            <a:r>
              <a:rPr lang="en-US"/>
              <a:t>The agent gets the </a:t>
            </a:r>
            <a:r>
              <a:rPr lang="en-US" err="1"/>
              <a:t>RTL+specs</a:t>
            </a:r>
            <a:r>
              <a:rPr lang="en-US"/>
              <a:t> and drafts the TB (the blue)</a:t>
            </a:r>
          </a:p>
          <a:p>
            <a:r>
              <a:rPr lang="en-US"/>
              <a:t>While human does the rest (red)</a:t>
            </a:r>
          </a:p>
          <a:p>
            <a:endParaRPr lang="en-US"/>
          </a:p>
          <a:p>
            <a:endParaRPr lang="en-US"/>
          </a:p>
        </p:txBody>
      </p:sp>
      <p:sp>
        <p:nvSpPr>
          <p:cNvPr id="4" name="Slide Number Placeholder 3">
            <a:extLst>
              <a:ext uri="{FF2B5EF4-FFF2-40B4-BE49-F238E27FC236}">
                <a16:creationId xmlns:a16="http://schemas.microsoft.com/office/drawing/2014/main" id="{DDADE451-22B4-A620-ADF1-807301464B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51531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9325-7689-AA27-4365-EB9181A69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3CEF6-4A2F-1BA3-6106-E7158C352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B5EA8-7831-BEBC-7ADD-B0AD50715347}"/>
              </a:ext>
            </a:extLst>
          </p:cNvPr>
          <p:cNvSpPr>
            <a:spLocks noGrp="1"/>
          </p:cNvSpPr>
          <p:nvPr>
            <p:ph type="body" idx="1"/>
          </p:nvPr>
        </p:nvSpPr>
        <p:spPr/>
        <p:txBody>
          <a:bodyPr/>
          <a:lstStyle/>
          <a:p>
            <a:r>
              <a:rPr lang="en-US"/>
              <a:t>We will open the </a:t>
            </a:r>
            <a:r>
              <a:rPr lang="en-US" err="1"/>
              <a:t>Agent.md</a:t>
            </a:r>
            <a:r>
              <a:rPr lang="en-US"/>
              <a:t> file on screen (on the part1 directory)</a:t>
            </a:r>
          </a:p>
          <a:p>
            <a:endParaRPr lang="en-US"/>
          </a:p>
          <a:p>
            <a:r>
              <a:rPr lang="en-US"/>
              <a:t>We will go through each step quickly here and showcase on our laptop as well.</a:t>
            </a:r>
          </a:p>
          <a:p>
            <a:endParaRPr lang="en-US"/>
          </a:p>
          <a:p>
            <a:r>
              <a:rPr lang="en-US"/>
              <a:t>They have to </a:t>
            </a:r>
            <a:r>
              <a:rPr lang="en-US" err="1"/>
              <a:t>undertstand</a:t>
            </a:r>
            <a:r>
              <a:rPr lang="en-US"/>
              <a:t> the main idea so that they can replicate it/create there own afterwards.</a:t>
            </a:r>
          </a:p>
        </p:txBody>
      </p:sp>
      <p:sp>
        <p:nvSpPr>
          <p:cNvPr id="4" name="Slide Number Placeholder 3">
            <a:extLst>
              <a:ext uri="{FF2B5EF4-FFF2-40B4-BE49-F238E27FC236}">
                <a16:creationId xmlns:a16="http://schemas.microsoft.com/office/drawing/2014/main" id="{A520934F-0720-3C60-6028-3D6B1EE340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871916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8739D-8227-1E80-81C9-425FA4D0F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AB669-3DC1-D867-6295-BF179662A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7858E-095A-8353-180F-59446B70F8D3}"/>
              </a:ext>
            </a:extLst>
          </p:cNvPr>
          <p:cNvSpPr>
            <a:spLocks noGrp="1"/>
          </p:cNvSpPr>
          <p:nvPr>
            <p:ph type="body" idx="1"/>
          </p:nvPr>
        </p:nvSpPr>
        <p:spPr/>
        <p:txBody>
          <a:bodyPr/>
          <a:lstStyle/>
          <a:p>
            <a:r>
              <a:t>Once the agent is completed, just type:</a:t>
            </a:r>
            <a:br/>
            <a:endParaRPr/>
          </a:p>
          <a:p>
            <a:r>
              <a:t>python3 single_pass &lt;folder_name&gt;</a:t>
            </a:r>
          </a:p>
          <a:p>
            <a:endParaRPr/>
          </a:p>
          <a:p>
            <a:r>
              <a:t>Where each folder represents a different RTL.</a:t>
            </a:r>
          </a:p>
          <a:p>
            <a:endParaRPr/>
          </a:p>
          <a:p>
            <a:r>
              <a:t>Enc_bin2gray is supposedly an easy RTL.</a:t>
            </a:r>
          </a:p>
          <a:p>
            <a:r>
              <a:t>Counter more difficult</a:t>
            </a:r>
          </a:p>
          <a:p>
            <a:endParaRPr/>
          </a:p>
          <a:p>
            <a:r>
              <a:t>We will show bin2gray on screen. </a:t>
            </a:r>
          </a:p>
          <a:p>
            <a:r>
              <a:t>With the current Agent.md, enc_bin2gray usually works in one pass (Mutants Passed: 1), even on Gemini Flash Lite.</a:t>
            </a:r>
          </a:p>
          <a:p>
            <a:r>
              <a:t>A harder design (shift_right, counter) usually does not: several mutants pass. The next slides add the loop, where the tool results go back to the agent.</a:t>
            </a:r>
          </a:p>
        </p:txBody>
      </p:sp>
      <p:sp>
        <p:nvSpPr>
          <p:cNvPr id="4" name="Slide Number Placeholder 3">
            <a:extLst>
              <a:ext uri="{FF2B5EF4-FFF2-40B4-BE49-F238E27FC236}">
                <a16:creationId xmlns:a16="http://schemas.microsoft.com/office/drawing/2014/main" id="{49F769BC-3A44-B817-14DF-E15A998F4A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996126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ADCCF-4ACB-827E-84C8-AE945D74D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14441-0522-F91E-A308-02AB0393C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F47CB-BB1C-FCC5-D408-4F451A1B4229}"/>
              </a:ext>
            </a:extLst>
          </p:cNvPr>
          <p:cNvSpPr>
            <a:spLocks noGrp="1"/>
          </p:cNvSpPr>
          <p:nvPr>
            <p:ph type="body" idx="1"/>
          </p:nvPr>
        </p:nvSpPr>
        <p:spPr/>
        <p:txBody>
          <a:bodyPr/>
          <a:lstStyle/>
          <a:p>
            <a:r>
              <a:rPr lang="en-US"/>
              <a:t>This is a different, more “agentic” flow.</a:t>
            </a:r>
          </a:p>
          <a:p>
            <a:r>
              <a:rPr lang="en-US"/>
              <a:t>Because now the agent is responsible for running the tools and reading the logs (jobs that the human did before) </a:t>
            </a:r>
          </a:p>
          <a:p>
            <a:r>
              <a:rPr lang="en-US"/>
              <a:t>And it will correct itself through the logs.</a:t>
            </a:r>
          </a:p>
          <a:p>
            <a:endParaRPr lang="en-US"/>
          </a:p>
          <a:p>
            <a:r>
              <a:rPr lang="en-US"/>
              <a:t>Still the human is responsible for validating.</a:t>
            </a:r>
          </a:p>
          <a:p>
            <a:endParaRPr lang="en-US"/>
          </a:p>
          <a:p>
            <a:r>
              <a:rPr lang="en-US"/>
              <a:t>Time: 6 minutes</a:t>
            </a:r>
          </a:p>
        </p:txBody>
      </p:sp>
      <p:sp>
        <p:nvSpPr>
          <p:cNvPr id="4" name="Slide Number Placeholder 3">
            <a:extLst>
              <a:ext uri="{FF2B5EF4-FFF2-40B4-BE49-F238E27FC236}">
                <a16:creationId xmlns:a16="http://schemas.microsoft.com/office/drawing/2014/main" id="{C2A3316A-BFCB-953A-8A45-274BCE4D232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03224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F4C46-B158-0006-2C0D-2F883E972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DAD46-FC43-515D-2A96-000B45AB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22A04-939C-10F8-E5CC-85B4F4ED7EFB}"/>
              </a:ext>
            </a:extLst>
          </p:cNvPr>
          <p:cNvSpPr>
            <a:spLocks noGrp="1"/>
          </p:cNvSpPr>
          <p:nvPr>
            <p:ph type="body" idx="1"/>
          </p:nvPr>
        </p:nvSpPr>
        <p:spPr/>
        <p:txBody>
          <a:bodyPr/>
          <a:lstStyle/>
          <a:p>
            <a:r>
              <a:t>The same exercise with the closed loop of the previous slide:</a:t>
            </a:r>
          </a:p>
          <a:p>
            <a:r>
              <a:t>python3 iterative.py &lt;folder_name&gt;</a:t>
            </a:r>
          </a:p>
          <a:p>
            <a:endParaRPr/>
          </a:p>
          <a:p>
            <a:r>
              <a:t>After every testbench the evaluator runs all 31 mutants and the result goes back to the agent: how many passed, or the compile error.</a:t>
            </a:r>
          </a:p>
          <a:p>
            <a:r>
              <a:t>The agent corrects its testbench, up to 10 iterations, and stops when exactly 1 mutant passes.</a:t>
            </a:r>
          </a:p>
          <a:p>
            <a:endParaRPr/>
          </a:p>
          <a:p>
            <a:r>
              <a:t>Compare with the single pass of two slides ago: same Agent.md, same model, but now the agent sees the tool results.</a:t>
            </a:r>
          </a:p>
        </p:txBody>
      </p:sp>
      <p:sp>
        <p:nvSpPr>
          <p:cNvPr id="4" name="Slide Number Placeholder 3">
            <a:extLst>
              <a:ext uri="{FF2B5EF4-FFF2-40B4-BE49-F238E27FC236}">
                <a16:creationId xmlns:a16="http://schemas.microsoft.com/office/drawing/2014/main" id="{2E9EA30B-151A-5C85-D4B7-452E309EEE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833893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by step instructions for everyone to follow.</a:t>
            </a:r>
          </a:p>
          <a:p>
            <a:r>
              <a:rPr lang="en-US"/>
              <a:t>Will also do it on screen.</a:t>
            </a:r>
          </a:p>
          <a:p>
            <a:r>
              <a:rPr lang="en-US"/>
              <a:t>TIME: 12 minutes (slides 30-35 together: about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quick fixes for us and the attendants.</a:t>
            </a:r>
          </a:p>
          <a:p>
            <a:endParaRPr lang="en-US"/>
          </a:p>
          <a:p>
            <a:r>
              <a:rPr lang="en-US"/>
              <a:t>Reminder for us to ask if everyone is able to do it and come help those that struggle.</a:t>
            </a:r>
          </a:p>
          <a:p>
            <a:endParaRPr lang="en-US"/>
          </a:p>
          <a:p>
            <a:r>
              <a:rPr lang="en-US"/>
              <a:t>Should make sure everyone follows along.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7B56B-DA77-7022-51D8-9EBC3217F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40A95-555A-3F91-86B0-35AB2AEF0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D6436-CAF2-F8B0-EE5C-E493E807BBA2}"/>
              </a:ext>
            </a:extLst>
          </p:cNvPr>
          <p:cNvSpPr>
            <a:spLocks noGrp="1"/>
          </p:cNvSpPr>
          <p:nvPr>
            <p:ph type="body" idx="1"/>
          </p:nvPr>
        </p:nvSpPr>
        <p:spPr/>
        <p:txBody>
          <a:bodyPr/>
          <a:lstStyle/>
          <a:p>
            <a:r>
              <a:rPr lang="en-US"/>
              <a:t>The main idea of part 2 is that:</a:t>
            </a:r>
          </a:p>
          <a:p>
            <a:endParaRPr lang="en-US"/>
          </a:p>
          <a:p>
            <a:pPr marL="171450" indent="-171450">
              <a:buFont typeface="Arial" panose="020B0604020202020204" pitchFamily="34" charset="0"/>
              <a:buChar char="•"/>
            </a:pPr>
            <a:r>
              <a:rPr lang="en-US"/>
              <a:t>Use the agents for EDA flow (ASU Spec2Tapeout)</a:t>
            </a:r>
          </a:p>
          <a:p>
            <a:pPr marL="171450" indent="-171450">
              <a:buFont typeface="Arial" panose="020B0604020202020204" pitchFamily="34" charset="0"/>
              <a:buChar char="•"/>
            </a:pPr>
            <a:r>
              <a:rPr lang="en-US"/>
              <a:t>We can optimize the agents in several ways (</a:t>
            </a:r>
            <a:r>
              <a:rPr lang="en-US" err="1"/>
              <a:t>eg</a:t>
            </a:r>
            <a:r>
              <a:rPr lang="en-US"/>
              <a:t> Task decomposition (breaking down the problem), Iterative loops, SLM-LLM hybrid approach) each optimization serves a different purpose (reduce tokens, increase performance </a:t>
            </a:r>
            <a:r>
              <a:rPr lang="en-US" err="1"/>
              <a:t>etc</a:t>
            </a:r>
            <a:r>
              <a:rPr lang="en-US"/>
              <a:t>) </a:t>
            </a:r>
          </a:p>
          <a:p>
            <a:pPr marL="171450" indent="-171450">
              <a:buFont typeface="Arial" panose="020B0604020202020204" pitchFamily="34" charset="0"/>
              <a:buChar char="•"/>
            </a:pPr>
            <a:r>
              <a:rPr lang="en-US"/>
              <a:t>Also talk about LLM as a validation concept</a:t>
            </a:r>
          </a:p>
        </p:txBody>
      </p:sp>
      <p:sp>
        <p:nvSpPr>
          <p:cNvPr id="4" name="Slide Number Placeholder 3">
            <a:extLst>
              <a:ext uri="{FF2B5EF4-FFF2-40B4-BE49-F238E27FC236}">
                <a16:creationId xmlns:a16="http://schemas.microsoft.com/office/drawing/2014/main" id="{46DA7022-1E2E-8BAB-1C1D-BD42059239B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70170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993B-5EC0-65B5-96F5-95745F6F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BFCA4-44AE-FAE4-1538-D47219499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D578-99A9-9C49-6DF7-2801BDF8AD0A}"/>
              </a:ext>
            </a:extLst>
          </p:cNvPr>
          <p:cNvSpPr>
            <a:spLocks noGrp="1"/>
          </p:cNvSpPr>
          <p:nvPr>
            <p:ph type="body" idx="1"/>
          </p:nvPr>
        </p:nvSpPr>
        <p:spPr/>
        <p:txBody>
          <a:bodyPr/>
          <a:lstStyle/>
          <a:p>
            <a:r>
              <a:rPr lang="en-US"/>
              <a:t>Why decompose? Context is a very important metric.</a:t>
            </a:r>
          </a:p>
          <a:p>
            <a:r>
              <a:rPr lang="en-US"/>
              <a:t>- Single agent: one agent gets the whole task. Given enough context, it can understand the whole task BETTER than smaller decomposed agents, so it can be more accurate. The price: a huge prompt on every call, more tokens, more time, and a failure means re-checking every output.</a:t>
            </a:r>
          </a:p>
          <a:p>
            <a:r>
              <a:rPr lang="en-US"/>
              <a:t>- Decomposed agents: each agent gets a small task and only the context it needs. In terms of execution time and tokens they win: smaller input prompts and rules, faster and cheaper calls, and a failed task is fixed on its own.</a:t>
            </a:r>
          </a:p>
          <a:p>
            <a:r>
              <a:rPr lang="en-US"/>
              <a:t>- So it is a trade-off: accuracy (whole picture) vs efficiency (tokens, time). Excessive or irrelevant context can also reduce reasoning accuracy, which is why decomposition often wins on accuracy too for big tasks.</a:t>
            </a:r>
          </a:p>
          <a:p>
            <a:r>
              <a:rPr lang="en-US"/>
              <a:t>We will see in the next slides how to optimize task decomposition.</a:t>
            </a:r>
          </a:p>
        </p:txBody>
      </p:sp>
      <p:sp>
        <p:nvSpPr>
          <p:cNvPr id="4" name="Slide Number Placeholder 3">
            <a:extLst>
              <a:ext uri="{FF2B5EF4-FFF2-40B4-BE49-F238E27FC236}">
                <a16:creationId xmlns:a16="http://schemas.microsoft.com/office/drawing/2014/main" id="{D434F9F8-489D-16EE-4843-CE637F85CD7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492771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37FD4-A160-B1E5-A30B-5CB313C3C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2623F-DD7E-8702-4B0D-763072CF3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5AC2A-468F-5B28-789D-8237DC139F1B}"/>
              </a:ext>
            </a:extLst>
          </p:cNvPr>
          <p:cNvSpPr>
            <a:spLocks noGrp="1"/>
          </p:cNvSpPr>
          <p:nvPr>
            <p:ph type="body" idx="1"/>
          </p:nvPr>
        </p:nvSpPr>
        <p:spPr/>
        <p:txBody>
          <a:bodyPr/>
          <a:lstStyle/>
          <a:p>
            <a:r>
              <a:rPr lang="en-US"/>
              <a:t>Why LLMs and SLMs hybrid approach is an optimization.</a:t>
            </a:r>
          </a:p>
          <a:p>
            <a:endParaRPr lang="en-US"/>
          </a:p>
          <a:p>
            <a:r>
              <a:rPr lang="en-US"/>
              <a:t>The headline is that “they are different tools, so they should be used for different tasks”</a:t>
            </a:r>
          </a:p>
        </p:txBody>
      </p:sp>
      <p:sp>
        <p:nvSpPr>
          <p:cNvPr id="4" name="Slide Number Placeholder 3">
            <a:extLst>
              <a:ext uri="{FF2B5EF4-FFF2-40B4-BE49-F238E27FC236}">
                <a16:creationId xmlns:a16="http://schemas.microsoft.com/office/drawing/2014/main" id="{3A1DFB7C-A755-0AAF-0A5B-22E52DB197E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595146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6DE08-78F5-FDC9-5D6A-04AE11A41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66FFB-B8F3-EC81-1CD9-6C3341B9D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E29CF-FAC6-F043-8674-CAD12169E537}"/>
              </a:ext>
            </a:extLst>
          </p:cNvPr>
          <p:cNvSpPr>
            <a:spLocks noGrp="1"/>
          </p:cNvSpPr>
          <p:nvPr>
            <p:ph type="body" idx="1"/>
          </p:nvPr>
        </p:nvSpPr>
        <p:spPr/>
        <p:txBody>
          <a:bodyPr/>
          <a:lstStyle/>
          <a:p>
            <a:r>
              <a:rPr lang="en-US"/>
              <a:t>These are the ways we can exploit LLMs and SLMs</a:t>
            </a:r>
          </a:p>
        </p:txBody>
      </p:sp>
      <p:sp>
        <p:nvSpPr>
          <p:cNvPr id="4" name="Slide Number Placeholder 3">
            <a:extLst>
              <a:ext uri="{FF2B5EF4-FFF2-40B4-BE49-F238E27FC236}">
                <a16:creationId xmlns:a16="http://schemas.microsoft.com/office/drawing/2014/main" id="{81875196-F579-C492-A003-885F44F4604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516323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804D-10A1-3823-560A-C27FC3A59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49E70-DB6C-A768-19FC-D00BAF4F6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FA376-B859-3C2F-F049-141D4AE3BED5}"/>
              </a:ext>
            </a:extLst>
          </p:cNvPr>
          <p:cNvSpPr>
            <a:spLocks noGrp="1"/>
          </p:cNvSpPr>
          <p:nvPr>
            <p:ph type="body" idx="1"/>
          </p:nvPr>
        </p:nvSpPr>
        <p:spPr/>
        <p:txBody>
          <a:bodyPr/>
          <a:lstStyle/>
          <a:p>
            <a:r>
              <a:rPr lang="en-US"/>
              <a:t>At this point we remind everyone of the current approach of task composition.</a:t>
            </a:r>
          </a:p>
          <a:p>
            <a:endParaRPr lang="en-US"/>
          </a:p>
          <a:p>
            <a:r>
              <a:rPr lang="en-US"/>
              <a:t>(In the next slide we show how LLMs and SLMs are utilized)</a:t>
            </a:r>
          </a:p>
        </p:txBody>
      </p:sp>
      <p:sp>
        <p:nvSpPr>
          <p:cNvPr id="4" name="Slide Number Placeholder 3">
            <a:extLst>
              <a:ext uri="{FF2B5EF4-FFF2-40B4-BE49-F238E27FC236}">
                <a16:creationId xmlns:a16="http://schemas.microsoft.com/office/drawing/2014/main" id="{8D76CA50-5699-6C15-96BF-0DEEAC7F0FD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410439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49659-94F1-1F49-58AD-DD9958953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E01E9-4A5A-48A8-6780-02ECF4653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81F0B-9EBA-01D3-04AE-4FF04157226B}"/>
              </a:ext>
            </a:extLst>
          </p:cNvPr>
          <p:cNvSpPr>
            <a:spLocks noGrp="1"/>
          </p:cNvSpPr>
          <p:nvPr>
            <p:ph type="body" idx="1"/>
          </p:nvPr>
        </p:nvSpPr>
        <p:spPr/>
        <p:txBody>
          <a:bodyPr/>
          <a:lstStyle/>
          <a:p>
            <a:r>
              <a:rPr lang="en-US"/>
              <a:t>As we stated before:</a:t>
            </a:r>
            <a:br>
              <a:rPr lang="en-US"/>
            </a:br>
            <a:br>
              <a:rPr lang="en-US"/>
            </a:br>
            <a:r>
              <a:rPr lang="en-US"/>
              <a:t>LLMs -&gt; Reasoning -&gt; so we apply them to reasoning based tasks such as RTL and TB design </a:t>
            </a:r>
          </a:p>
          <a:p>
            <a:r>
              <a:rPr lang="en-US"/>
              <a:t>SLMs -&gt; Templated-based -&gt; so we use it for SDC and </a:t>
            </a:r>
            <a:r>
              <a:rPr lang="en-US" err="1"/>
              <a:t>PnR</a:t>
            </a:r>
            <a:r>
              <a:rPr lang="en-US"/>
              <a:t> </a:t>
            </a:r>
          </a:p>
          <a:p>
            <a:endParaRPr lang="en-US"/>
          </a:p>
          <a:p>
            <a:r>
              <a:rPr lang="en-US"/>
              <a:t>The exact split is an example. We will showcase later on how to do it more optimally.</a:t>
            </a:r>
          </a:p>
        </p:txBody>
      </p:sp>
      <p:sp>
        <p:nvSpPr>
          <p:cNvPr id="4" name="Slide Number Placeholder 3">
            <a:extLst>
              <a:ext uri="{FF2B5EF4-FFF2-40B4-BE49-F238E27FC236}">
                <a16:creationId xmlns:a16="http://schemas.microsoft.com/office/drawing/2014/main" id="{1469DB3D-21BA-2F80-18AB-BE4881CDE1F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107692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These are the 4 kind of hands-on experiments we will conduct.</a:t>
            </a:r>
          </a:p>
          <a:p>
            <a:endParaRPr lang="en-US"/>
          </a:p>
          <a:p>
            <a:r>
              <a:rPr lang="en-US"/>
              <a:t>This slide can be skipped in session, but it is nice at least for us to know what to expect.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9220B-5722-8178-B0D3-5515001E4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6225A-4777-8961-ED34-09E5C0EA2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2C792-0A00-DED0-AFD6-56A32FD4EA9F}"/>
              </a:ext>
            </a:extLst>
          </p:cNvPr>
          <p:cNvSpPr>
            <a:spLocks noGrp="1"/>
          </p:cNvSpPr>
          <p:nvPr>
            <p:ph type="body" idx="1"/>
          </p:nvPr>
        </p:nvSpPr>
        <p:spPr/>
        <p:txBody>
          <a:bodyPr/>
          <a:lstStyle/>
          <a:p>
            <a:r>
              <a:rPr lang="en-US"/>
              <a:t>The ASU Spec2Tapeout problem: </a:t>
            </a:r>
          </a:p>
          <a:p>
            <a:endParaRPr lang="en-US"/>
          </a:p>
          <a:p>
            <a:r>
              <a:rPr lang="en-US"/>
              <a:t>from a YAML specification to RTL, SDC and a final layout (ODB), s</a:t>
            </a:r>
          </a:p>
          <a:p>
            <a:r>
              <a:rPr lang="en-US"/>
              <a:t>scored for power, performance and area.</a:t>
            </a:r>
          </a:p>
          <a:p>
            <a:endParaRPr lang="en-US"/>
          </a:p>
          <a:p>
            <a:r>
              <a:rPr lang="en-US"/>
              <a:t> Each spec now has a 'timing' section: the latency contract between the testbench and the RTL.</a:t>
            </a:r>
          </a:p>
          <a:p>
            <a:r>
              <a:rPr lang="en-US"/>
              <a:t> Tools in the loop: Icarus Verilog, Yosys, OpenROAD flow scripts, and a PPA evaluation script.</a:t>
            </a:r>
          </a:p>
          <a:p>
            <a:endParaRPr lang="en-US"/>
          </a:p>
          <a:p>
            <a:r>
              <a:rPr lang="en-US"/>
              <a:t>In plain words: the input is a written specification, the output is a chip layout with a score. The agents do every step in between.</a:t>
            </a:r>
          </a:p>
        </p:txBody>
      </p:sp>
      <p:sp>
        <p:nvSpPr>
          <p:cNvPr id="4" name="Slide Number Placeholder 3">
            <a:extLst>
              <a:ext uri="{FF2B5EF4-FFF2-40B4-BE49-F238E27FC236}">
                <a16:creationId xmlns:a16="http://schemas.microsoft.com/office/drawing/2014/main" id="{8BB8E44B-5778-4CDE-09EA-A53444955A4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690434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the PPA score works. Every hands-on in Parts 2-4 ends with this number, so make sure everyone understands it.</a:t>
            </a:r>
          </a:p>
          <a:p>
            <a:r>
              <a:rPr lang="en-US"/>
              <a:t>- The golden run: a run we did ourselves with the reference RTL and a simple config.mk. It is NOT optimized on purpose, so the agents can beat it. Its OpenROAD metrics are stored in evaluation/visible/pN/pN.json.</a:t>
            </a:r>
          </a:p>
          <a:p>
            <a:r>
              <a:rPr lang="en-US"/>
              <a:t>- evaluate_openroad.py loads the agent's final layout (6_final.odb) and the SDC into OpenROAD, measures WNS, TNS, power and area, and compares each one with the golden values.</a:t>
            </a:r>
          </a:p>
          <a:p>
            <a:r>
              <a:rPr lang="en-US"/>
              <a:t>- WNS (40 points): 30 if equal to golden; +/-40 points per ns of difference, capped at +/-10. So 0.25 ns more slack than golden gives the full 40.</a:t>
            </a:r>
          </a:p>
          <a:p>
            <a:r>
              <a:rPr lang="en-US"/>
              <a:t>- TNS (20 points): 15 plus up to +/-5 for the relative change. When the golden TNS is 0 (most designs): 20 if the agent has no violations, 10 if it has any.</a:t>
            </a:r>
          </a:p>
          <a:p>
            <a:r>
              <a:rPr lang="en-US"/>
              <a:t>- Power and area (20 each): 15 if equal; +/-20 points times the relative change, capped at +/-5. 20% less power or area gives the full 20.</a:t>
            </a:r>
          </a:p>
          <a:p>
            <a:r>
              <a:rPr lang="en-US"/>
              <a:t>- The golden layout itself scores 80 (WNS 30 + TNS 20 + 15 + 15). For p9 and p13 the golden run has negative slack, so it scores 75 there.</a:t>
            </a:r>
          </a:p>
          <a:p>
            <a:r>
              <a:rPr lang="en-US"/>
              <a:t>- Negative slack is the warning sign: the timing points drop, and the score report sent to the agent shows it. Below -0.5 ns the flow prints a severe timing violation and Part 3 sends the RTL agent back (resynthesis).</a:t>
            </a:r>
          </a:p>
          <a:p>
            <a:r>
              <a:rPr lang="en-US"/>
              <a:t>- Part 3 keeps optimizing until the score reaches score_threshold (92 in our run config).</a:t>
            </a:r>
          </a:p>
          <a:p>
            <a:r>
              <a:rPr lang="en-US"/>
              <a:t>TIME: 3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Eleven designs, from the simplest to the hardest.</a:t>
            </a:r>
          </a:p>
          <a:p>
            <a:r>
              <a:rPr lang="en-US"/>
              <a:t>- Every design has a golden run, so every layout gets a score against it (previous slide).</a:t>
            </a:r>
          </a:p>
          <a:p>
            <a:r>
              <a:rPr lang="en-US"/>
              <a:t>- Start with p11 (the counter): it runs in a few minutes. p8 (the FP16 multiplier) is the default of the run configs and the hardest.</a:t>
            </a:r>
          </a:p>
          <a:p>
            <a:r>
              <a:rPr lang="en-US"/>
              <a:t>- The timing section in every spec is the latency contract that the testbench agent and the RTL agent both read.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993B-5EC0-65B5-96F5-95745F6F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BFCA4-44AE-FAE4-1538-D47219499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D578-99A9-9C49-6DF7-2801BDF8AD0A}"/>
              </a:ext>
            </a:extLst>
          </p:cNvPr>
          <p:cNvSpPr>
            <a:spLocks noGrp="1"/>
          </p:cNvSpPr>
          <p:nvPr>
            <p:ph type="body" idx="1"/>
          </p:nvPr>
        </p:nvSpPr>
        <p:spPr/>
        <p:txBody>
          <a:bodyPr/>
          <a:lstStyle/>
          <a:p>
            <a:r>
              <a:rPr lang="en-US"/>
              <a:t>Run 2a: one agent, one prompt, all four files in one answer.</a:t>
            </a:r>
          </a:p>
          <a:p>
            <a:r>
              <a:rPr lang="en-US"/>
              <a:t>(The original approach which is also the ‘brute force’ approach -&gt; very inefficient. (we could ask the audience why to generate a conversation -&gt; context)</a:t>
            </a:r>
          </a:p>
          <a:p>
            <a:r>
              <a:rPr lang="en-US"/>
              <a:t>- Its prompt contains every rule (testbench, RTL, SDC, config.mk).</a:t>
            </a:r>
          </a:p>
          <a:p>
            <a:r>
              <a:rPr lang="en-US"/>
              <a:t>The checks run in order; the first one that fails stops the iteration and its report goes back to the same agent, which must fix it without breaking the other three files.</a:t>
            </a:r>
          </a:p>
          <a:p>
            <a:r>
              <a:rPr lang="en-US"/>
              <a:t>What to observe: </a:t>
            </a:r>
          </a:p>
          <a:p>
            <a:r>
              <a:rPr lang="en-US"/>
              <a:t>which stage fails first, </a:t>
            </a:r>
          </a:p>
          <a:p>
            <a:r>
              <a:rPr lang="en-US"/>
              <a:t>how many iterations, </a:t>
            </a:r>
          </a:p>
          <a:p>
            <a:r>
              <a:rPr lang="en-US"/>
              <a:t>how big the prompt is (token summary at the end).</a:t>
            </a:r>
          </a:p>
          <a:p>
            <a:r>
              <a:rPr lang="en-US"/>
              <a:t>- Typical result: works for simple designs, struggles as the design grows. A good motivation for decomposition.</a:t>
            </a:r>
          </a:p>
          <a:p>
            <a:r>
              <a:rPr lang="en-US"/>
              <a:t>In plain words: one agent writes all four files at once; any failing check sends everything back to it.</a:t>
            </a:r>
          </a:p>
          <a:p>
            <a:r>
              <a:rPr lang="en-US"/>
              <a:t>Note: this is the SINGLE-AGENT run (2a), not single shot - it still iterates up to the limit; one agent does everything.</a:t>
            </a:r>
          </a:p>
          <a:p>
            <a:r>
              <a:rPr lang="en-US"/>
              <a:t>TIME: 3 minutes (part of the 12 minutes of Part 2 concepts).</a:t>
            </a:r>
          </a:p>
        </p:txBody>
      </p:sp>
      <p:sp>
        <p:nvSpPr>
          <p:cNvPr id="4" name="Slide Number Placeholder 3">
            <a:extLst>
              <a:ext uri="{FF2B5EF4-FFF2-40B4-BE49-F238E27FC236}">
                <a16:creationId xmlns:a16="http://schemas.microsoft.com/office/drawing/2014/main" id="{D434F9F8-489D-16EE-4843-CE637F85CD7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492771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hyperparameters. We keep them off the run slide (2a) to keep it simple, and show them here once, because they are the same for every run.</a:t>
            </a:r>
          </a:p>
          <a:p>
            <a:r>
              <a:rPr lang="en-US"/>
              <a:t>- config.mk is the only file with real tuning knobs. The config.mk agent fills in the eight placeholders of the template and, in Part 3, keeps tuning them.</a:t>
            </a:r>
          </a:p>
          <a:p>
            <a:r>
              <a:rPr lang="en-US"/>
              <a:t>- CORE_UTILIZATION and PLACE_DENSITY are the most important: higher values give a smaller chip (better area score) until routing fails with congestion.</a:t>
            </a:r>
          </a:p>
          <a:p>
            <a:r>
              <a:rPr lang="en-US"/>
              <a:t>- Small designs start at 20% utilization: a very small core is too narrow for the power straps (error PDN-0185).</a:t>
            </a:r>
          </a:p>
          <a:p>
            <a:r>
              <a:rPr lang="en-US"/>
              <a:t>- The golden Agent.md of the config.mk agent (part2/solution/configs/config_mk_generator/Agent.md) explains every knob, its start value and how to change it for each OpenROAD error. That file is a good example of expert knowledge written down for an agent.</a:t>
            </a:r>
          </a:p>
          <a:p>
            <a:r>
              <a:rPr lang="en-US"/>
              <a:t>- Run settings: which model each agent uses (profile and temperature in configs/&lt;agent&gt;/config.yaml) and the iteration limits in run_configs/*.yaml.</a:t>
            </a:r>
          </a:p>
          <a:p>
            <a:r>
              <a:rPr lang="en-US"/>
              <a:t>- Yosys has no knobs in our flow: it runs with fixed settings. The only requirement is that the synthesized netlist still passes simulation (post-synthesis check, verification_mode: BOTH).</a:t>
            </a:r>
          </a:p>
          <a:p>
            <a:r>
              <a:rPr lang="en-US"/>
              <a:t>TIME: 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we run in solution/ for Task 2.1 and what the result looks like.</a:t>
            </a:r>
          </a:p>
          <a:p>
            <a:r>
              <a:t>- One agent writes the testbench, the RTL, the SDC and the config.mk.</a:t>
            </a:r>
          </a:p>
          <a:p>
            <a:r>
              <a:t>- Result: Final Score 91.3/100, above our golden layout (80). 2.1 minutes, 27k tokens, 3 model calls, one OpenROAD run.</a:t>
            </a:r>
          </a:p>
          <a:p>
            <a:r>
              <a:t>- The numbers on the slide come from our recorded rescue run of this run config (scripts/rescue/runs, design p1).</a:t>
            </a:r>
          </a:p>
          <a:p>
            <a:r>
              <a:t>- The next slide is the attendees' turn.</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the attendees change things for run 2a (single agent), with our golden answers.</a:t>
            </a:r>
          </a:p>
          <a:p>
            <a:r>
              <a:t>- In problem/ the single agent's prompt (configs/single_agent/Agent.md) has blanks marked &lt;Fill here&gt;. &lt;Add more if you want&gt; is optional.</a:t>
            </a:r>
          </a:p>
          <a:p>
            <a:r>
              <a:t>- Step 2: the role and what the agent is given (golden: an expert ASIC design engineer, the YAML specification).</a:t>
            </a:r>
          </a:p>
          <a:p>
            <a:r>
              <a:t>- Step 3: testbench rule 2, clock and reset (golden: a clock with the spec's clock_period; assert the reset port).</a:t>
            </a:r>
          </a:p>
          <a:p>
            <a:r>
              <a:t>- Step 4: the config.mk start values, the knobs of the previous slide (golden: CORE_UTILIZATION 20 for small designs and 50 otherwise, PLACE_DENSITY 0.55, CORE_ASPECT_RATIO 1.0, CORE_MARGIN 1.0).</a:t>
            </a:r>
          </a:p>
          <a:p>
            <a:r>
              <a:t>- Step 5: run 2a on p11 and compare with the golden prompt in solution/. The golden run config also allows 20 iterations instead of 10 (max_single_agent_iters).</a:t>
            </a:r>
          </a:p>
          <a:p>
            <a:r>
              <a:t>- Run 2d works the same way: the role blanks in configs/tb_validator/Agent.md and configs/rtl_validator/Agent.md (golden: Design Verification Engineer; senior RTL verification lead, YAML specification).</a:t>
            </a:r>
          </a:p>
          <a:p>
            <a:r>
              <a:t>DO: open the problem and the solution Agent.md side by side on the projector.</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we are in Task 2: the highlighted row, Task 2.2, is next.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8CE61-2318-8BB7-5734-989B0514F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D0F74-9AA6-AF68-BF02-39AF921CA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AB428-9294-75CD-1EC9-75186CA301D1}"/>
              </a:ext>
            </a:extLst>
          </p:cNvPr>
          <p:cNvSpPr>
            <a:spLocks noGrp="1"/>
          </p:cNvSpPr>
          <p:nvPr>
            <p:ph type="body" idx="1"/>
          </p:nvPr>
        </p:nvSpPr>
        <p:spPr/>
        <p:txBody>
          <a:bodyPr/>
          <a:lstStyle/>
          <a:p>
            <a:r>
              <a:rPr lang="en-US"/>
              <a:t>We did before the single-agent approach (2a).</a:t>
            </a:r>
          </a:p>
          <a:p>
            <a:r>
              <a:rPr lang="en-US"/>
              <a:t>Now we are trying task decomposition with the LLM (multi-agent)</a:t>
            </a:r>
          </a:p>
          <a:p>
            <a:r>
              <a:rPr lang="en-US"/>
              <a:t>After that, we are trying the hybrid approach with LLMs and SLMs</a:t>
            </a:r>
          </a:p>
          <a:p>
            <a:r>
              <a:rPr lang="en-US"/>
              <a:t>And we are closing with the validator LLM that reviews the RTL and TB generated before Runs 2b to 2d: one agent per step, each with its own model and prompt.</a:t>
            </a:r>
          </a:p>
          <a:p>
            <a:r>
              <a:rPr lang="en-US"/>
              <a:t>- 2b: all four agents on Gemini Flash Lite.</a:t>
            </a:r>
          </a:p>
          <a:p>
            <a:r>
              <a:rPr lang="en-US"/>
              <a:t>- 2c: TB and RTL on the cloud LLM, SDC and config.mk on local llama3.1. Run 'ollama pull llama3.1' first.</a:t>
            </a:r>
          </a:p>
          <a:p>
            <a:r>
              <a:rPr lang="en-US"/>
              <a:t>- 2d: as 2c plus a TB validator and an RTL validator that review the work before/after the simulator.</a:t>
            </a:r>
          </a:p>
          <a:p>
            <a:r>
              <a:rPr lang="en-US"/>
              <a:t>- Compare the token summaries: where do the tokens go? Does the local model cope with the template tasks? Do validators catch bugs earlier?</a:t>
            </a:r>
          </a:p>
          <a:p>
            <a:r>
              <a:rPr lang="en-US"/>
              <a:t>In plain words: four specialists instead of one generalist, each with the model that suits its task.</a:t>
            </a:r>
          </a:p>
          <a:p>
            <a:r>
              <a:rPr lang="en-US"/>
              <a:t>Slide summary: 2b = multi-agent, every agent on Gemini Flash Lite. 2c = the same agents, hybrid: TB and RTL on the cloud LLM, SDC and config.mk on local llama3.1. The models drawn on the slide are those of 2c; the validators are the optional run 2d.</a:t>
            </a:r>
          </a:p>
          <a:p>
            <a:r>
              <a:rPr lang="en-US"/>
              <a:t>TIME: 3 minutes.</a:t>
            </a:r>
          </a:p>
        </p:txBody>
      </p:sp>
      <p:sp>
        <p:nvSpPr>
          <p:cNvPr id="4" name="Slide Number Placeholder 3">
            <a:extLst>
              <a:ext uri="{FF2B5EF4-FFF2-40B4-BE49-F238E27FC236}">
                <a16:creationId xmlns:a16="http://schemas.microsoft.com/office/drawing/2014/main" id="{C429C820-3897-80DC-986C-49C34DC51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050741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guide on how to evaluate the flow’s output.</a:t>
            </a:r>
          </a:p>
          <a:p>
            <a:endParaRPr lang="en-US"/>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 run in solution/ for Task 2.2 and what the result looks like.</a:t>
            </a:r>
          </a:p>
          <a:p>
            <a:r>
              <a:t>- Four agents, one per file, all on Gemini Flash Lite.</a:t>
            </a:r>
          </a:p>
          <a:p>
            <a:r>
              <a:t>- Result: Final Score 90.2/100. 81 seconds and 16k tokens: about the same score as the single agent of Task 2.1 with fewer tokens, because every agent gets a small prompt.</a:t>
            </a:r>
          </a:p>
          <a:p>
            <a:r>
              <a:t>- The numbers on the slide come from our recorded rescue run of this run config (scripts/rescue/runs, design p1).</a:t>
            </a:r>
          </a:p>
          <a:p>
            <a:r>
              <a:t>TIME: 10 minutes - start the run first, explain while it runs.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very interesting hands-on experiment, and the core skill of the tutorial.</a:t>
            </a:r>
          </a:p>
          <a:p>
            <a:r>
              <a:rPr lang="en-US"/>
              <a:t>- The idea: if there is something in the log that YOU can understand by hand and that would make the agent better, write it into the Agent.md, rerun and compare with the golden run.</a:t>
            </a:r>
          </a:p>
          <a:p>
            <a:r>
              <a:rPr lang="en-US"/>
              <a:t>- Step 1: read the log like an engineer. Which message repeats? What would you fix by hand?</a:t>
            </a:r>
          </a:p>
          <a:p>
            <a:r>
              <a:rPr lang="en-US"/>
              <a:t>- Step 3: write that knowledge as a rule (# Mandatory Rules) or as a hint in the feedback message (# Feedback).</a:t>
            </a:r>
          </a:p>
          <a:p>
            <a:r>
              <a:rPr lang="en-US"/>
              <a:t>- Step 4: rerun and compare: the score (80 = as good as our golden run), the number of iterations and the tokens.</a:t>
            </a:r>
          </a:p>
          <a:p>
            <a:r>
              <a:rPr lang="en-US"/>
              <a:t>- Step 5: the flow only tells us that the agent's design passed the agent's OWN testbench. check_designs.py re-checks it with OUR testbench (next slide).</a:t>
            </a:r>
          </a:p>
          <a:p>
            <a:r>
              <a:rPr lang="en-US"/>
              <a:t>TIME: 13 minutes (until the break at 10:20).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we are in Task 2: the highlighted row, Task 2.3, is next.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we run in solution/ for Task 2.3 and what to look at.</a:t>
            </a:r>
          </a:p>
          <a:p>
            <a:r>
              <a:t>- Run config 2c: the testbench and RTL agents stay on the cloud model (Gemini Flash Lite); the SDC and config.mk agents, which only fill in a template, move to the local llama3.1.</a:t>
            </a:r>
          </a:p>
          <a:p>
            <a:r>
              <a:t>- What to look at: the time and tokens per agent in the summary and in token_usage.json. The local model costs no tokens, but one SDC answer took about a minute in our recorded run (58 s for 1641 tokens).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attendees' turn for Task 2.3. Nothing to fill in here: the change is in the run config.</a:t>
            </a:r>
          </a:p>
          <a:p>
            <a:r>
              <a:t>- Step 3: every agent has a profile line in the run config. 2c puts the SDC and config.mk agents on local llama3.1.</a:t>
            </a:r>
          </a:p>
          <a:p>
            <a:r>
              <a:t>- Step 5: change one profile line (for example the RTL agent to the local model), run again and compare time and tokens per agent in token_usage.json.</a:t>
            </a:r>
          </a:p>
          <a:p>
            <a:r>
              <a:t>WATCH OUT: the local model is slow on a laptop without a GPU.</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we are in Task 2: the highlighted row, Task 2.4, is next.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we run in solution/ for Task 2.4 and what to look at.</a:t>
            </a:r>
          </a:p>
          <a:p>
            <a:r>
              <a:t>- Run config 2d adds two validator agents: one audits every testbench, one audits every RTL, against the spec and a checklist.</a:t>
            </a:r>
          </a:p>
          <a:p>
            <a:r>
              <a:t>- What to look at: the validators' messages in the log and their rows in the token table. Validators add many model calls, so this is the most expensive of the four Part 2 tasks.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attendees' turn for Task 2.4: the role blanks of the two validator prompts, with our golden answers.</a:t>
            </a:r>
          </a:p>
          <a:p>
            <a:r>
              <a:t>- TB validator: 'You are an expert Design Verification Engineer.'</a:t>
            </a:r>
          </a:p>
          <a:p>
            <a:r>
              <a:t>- RTL validator: 'You are a senior RTL verification lead. Audit the generated Verilog-2001 RTL against the YAML specification and the Mandatory Validation Checklist.'</a:t>
            </a:r>
          </a:p>
          <a:p>
            <a:r>
              <a:t>WATCH OUT: validators multiply the model calls. On the free Gemini tier a run can stop with a quota error; wait a minute and rerun.</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The flow says PASS - but who checked the checker?</a:t>
            </a:r>
          </a:p>
          <a:p>
            <a:r>
              <a:rPr lang="en-US"/>
              <a:t>- The order in the flow: first the agent writes the testbench from the spec, then the RTL agent works until its RTL passes THAT testbench.</a:t>
            </a:r>
          </a:p>
          <a:p>
            <a:r>
              <a:rPr lang="en-US"/>
              <a:t>- What if the testbench is wrong? Agents can hallucinate. Then a correct RTL fails forever, or a wrong RTL passes. Our own p8 run: the testbench expected -3 x 4 = -10, and the agent kept 'fixing' a multiplier that was right.</a:t>
            </a:r>
          </a:p>
          <a:p>
            <a:r>
              <a:rPr lang="en-US"/>
              <a:t>- So we check with files the agents never wrote. For every design we have a correct RTL and a thorough testbench, written and verified by us (scripts/reference).</a:t>
            </a:r>
          </a:p>
          <a:p>
            <a:r>
              <a:rPr lang="en-US"/>
              <a:t>- Check the RTL (--rtl): runs OUR testbench on the AGENT's RTL. PASS means the design really meets the spec.</a:t>
            </a:r>
          </a:p>
          <a:p>
            <a:r>
              <a:rPr lang="en-US"/>
              <a:t>- Check the testbench (--tb): runs the AGENT's testbench on OUR correct RTL (must pass) and on copies with a small planted bug (must fail). Result e.g. 2 of 3 bugs caught.</a:t>
            </a:r>
          </a:p>
          <a:p>
            <a:r>
              <a:rPr lang="en-US"/>
              <a:t>DO: if time allows, run the RTL check live on the p11 design from Follow along 2.1.</a:t>
            </a:r>
          </a:p>
          <a:p>
            <a:r>
              <a:rPr lang="en-US"/>
              <a:t>TIME: 3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3EA0F-683F-2EC7-7273-22E7B1B07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BFE6C-08DC-0C75-ECF1-8EB70584B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FABC8-7810-F430-186F-C04B6414D8A1}"/>
              </a:ext>
            </a:extLst>
          </p:cNvPr>
          <p:cNvSpPr>
            <a:spLocks noGrp="1"/>
          </p:cNvSpPr>
          <p:nvPr>
            <p:ph type="body" idx="1"/>
          </p:nvPr>
        </p:nvSpPr>
        <p:spPr/>
        <p:txBody>
          <a:bodyPr/>
          <a:lstStyle/>
          <a:p>
            <a:r>
              <a:rPr lang="en-US"/>
              <a:t>Part 3: agents that talk to each other in feedback loops, with the EDA tools in the loop.</a:t>
            </a:r>
          </a:p>
        </p:txBody>
      </p:sp>
      <p:sp>
        <p:nvSpPr>
          <p:cNvPr id="4" name="Slide Number Placeholder 3">
            <a:extLst>
              <a:ext uri="{FF2B5EF4-FFF2-40B4-BE49-F238E27FC236}">
                <a16:creationId xmlns:a16="http://schemas.microsoft.com/office/drawing/2014/main" id="{73B4F90D-1F7C-2B81-221C-D085CA8D2B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5803011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AA63-D734-00A9-DBC3-A09FC1885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40AC0-273A-CDDF-F370-A5C766B7D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A732A-7224-B6AD-034A-C800771189B6}"/>
              </a:ext>
            </a:extLst>
          </p:cNvPr>
          <p:cNvSpPr>
            <a:spLocks noGrp="1"/>
          </p:cNvSpPr>
          <p:nvPr>
            <p:ph type="body" idx="1"/>
          </p:nvPr>
        </p:nvSpPr>
        <p:spPr/>
        <p:txBody>
          <a:bodyPr/>
          <a:lstStyle/>
          <a:p>
            <a:r>
              <a:rPr lang="en-US"/>
              <a:t>This is established Agentic AI flow. </a:t>
            </a:r>
            <a:br>
              <a:rPr lang="en-US"/>
            </a:br>
            <a:br>
              <a:rPr lang="en-US"/>
            </a:br>
            <a:r>
              <a:rPr lang="en-US"/>
              <a:t>First we run the RTL, once we are satisfied we move on. Then the TB and so on.</a:t>
            </a:r>
          </a:p>
        </p:txBody>
      </p:sp>
      <p:sp>
        <p:nvSpPr>
          <p:cNvPr id="4" name="Slide Number Placeholder 3">
            <a:extLst>
              <a:ext uri="{FF2B5EF4-FFF2-40B4-BE49-F238E27FC236}">
                <a16:creationId xmlns:a16="http://schemas.microsoft.com/office/drawing/2014/main" id="{69012594-4CF1-677E-2A13-498D9D3C3D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552276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0AB9-4A4C-75CE-6977-C81524DA1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26F5B-5B10-D201-041F-379AF8173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A648B-0C7A-FB80-B168-E4C91066BA81}"/>
              </a:ext>
            </a:extLst>
          </p:cNvPr>
          <p:cNvSpPr>
            <a:spLocks noGrp="1"/>
          </p:cNvSpPr>
          <p:nvPr>
            <p:ph type="body" idx="1"/>
          </p:nvPr>
        </p:nvSpPr>
        <p:spPr/>
        <p:txBody>
          <a:bodyPr/>
          <a:lstStyle/>
          <a:p>
            <a:r>
              <a:rPr lang="en-US"/>
              <a:t>What if we are satisfied with each step but the </a:t>
            </a:r>
            <a:r>
              <a:rPr lang="en-US" err="1"/>
              <a:t>PnR</a:t>
            </a:r>
            <a:r>
              <a:rPr lang="en-US"/>
              <a:t> agent fails?</a:t>
            </a:r>
          </a:p>
        </p:txBody>
      </p:sp>
      <p:sp>
        <p:nvSpPr>
          <p:cNvPr id="4" name="Slide Number Placeholder 3">
            <a:extLst>
              <a:ext uri="{FF2B5EF4-FFF2-40B4-BE49-F238E27FC236}">
                <a16:creationId xmlns:a16="http://schemas.microsoft.com/office/drawing/2014/main" id="{24EF8B83-38E4-3D37-3B02-C098CCC0303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833054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91770-427E-3C99-6144-5A69C0B98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1DDDB-D1AD-EC3D-C8AF-12C1AAD57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2D463-A3C2-20F3-A273-D5B06B51CC83}"/>
              </a:ext>
            </a:extLst>
          </p:cNvPr>
          <p:cNvSpPr>
            <a:spLocks noGrp="1"/>
          </p:cNvSpPr>
          <p:nvPr>
            <p:ph type="body" idx="1"/>
          </p:nvPr>
        </p:nvSpPr>
        <p:spPr/>
        <p:txBody>
          <a:bodyPr/>
          <a:lstStyle/>
          <a:p>
            <a:r>
              <a:rPr lang="en-US"/>
              <a:t>The answer is that the human reads the log and they modify the parameters so that the </a:t>
            </a:r>
            <a:r>
              <a:rPr lang="en-US" err="1"/>
              <a:t>PnR</a:t>
            </a:r>
            <a:r>
              <a:rPr lang="en-US"/>
              <a:t> works. </a:t>
            </a:r>
          </a:p>
          <a:p>
            <a:endParaRPr lang="en-US"/>
          </a:p>
          <a:p>
            <a:r>
              <a:rPr lang="en-US"/>
              <a:t>If the human is convinced that the </a:t>
            </a:r>
            <a:r>
              <a:rPr lang="en-US" err="1"/>
              <a:t>PnR</a:t>
            </a:r>
            <a:r>
              <a:rPr lang="en-US"/>
              <a:t> will not work with the current RTL, they change it.</a:t>
            </a:r>
          </a:p>
          <a:p>
            <a:endParaRPr lang="en-US"/>
          </a:p>
          <a:p>
            <a:r>
              <a:rPr lang="en-US"/>
              <a:t>How do they decide that?</a:t>
            </a:r>
          </a:p>
          <a:p>
            <a:endParaRPr lang="en-US"/>
          </a:p>
          <a:p>
            <a:r>
              <a:rPr lang="en-US"/>
              <a:t>They read the logs.</a:t>
            </a:r>
          </a:p>
          <a:p>
            <a:endParaRPr lang="en-US"/>
          </a:p>
          <a:p>
            <a:r>
              <a:rPr lang="en-US"/>
              <a:t>What if the agents read the logs and decided for themselves?</a:t>
            </a:r>
          </a:p>
        </p:txBody>
      </p:sp>
      <p:sp>
        <p:nvSpPr>
          <p:cNvPr id="4" name="Slide Number Placeholder 3">
            <a:extLst>
              <a:ext uri="{FF2B5EF4-FFF2-40B4-BE49-F238E27FC236}">
                <a16:creationId xmlns:a16="http://schemas.microsoft.com/office/drawing/2014/main" id="{A1EE405E-A064-CF42-E639-E71A4CC3437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395779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980E-9D46-FFE7-B531-F351CB1A0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3C427-F56C-C75B-99F7-5CF385600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22879-8427-FCA3-AA1A-677836174257}"/>
              </a:ext>
            </a:extLst>
          </p:cNvPr>
          <p:cNvSpPr>
            <a:spLocks noGrp="1"/>
          </p:cNvSpPr>
          <p:nvPr>
            <p:ph type="body" idx="1"/>
          </p:nvPr>
        </p:nvSpPr>
        <p:spPr/>
        <p:txBody>
          <a:bodyPr/>
          <a:lstStyle/>
          <a:p>
            <a:r>
              <a:rPr lang="en-US"/>
              <a:t>In a multi-agent flow, the agents do this themselves.</a:t>
            </a:r>
          </a:p>
          <a:p>
            <a:r>
              <a:rPr lang="en-US"/>
              <a:t>- The config.mk agent reads the PnR log and changes the parameters.</a:t>
            </a:r>
          </a:p>
          <a:p>
            <a:r>
              <a:rPr lang="en-US"/>
              <a:t>- If timing fails by far, the flow sends the RTL agent back to restructure the design.</a:t>
            </a:r>
          </a:p>
          <a:p>
            <a:r>
              <a:rPr lang="en-US"/>
              <a:t>- All automated; the human only sets the goal (the spec and a score threshold).</a:t>
            </a:r>
          </a:p>
        </p:txBody>
      </p:sp>
      <p:sp>
        <p:nvSpPr>
          <p:cNvPr id="4" name="Slide Number Placeholder 3">
            <a:extLst>
              <a:ext uri="{FF2B5EF4-FFF2-40B4-BE49-F238E27FC236}">
                <a16:creationId xmlns:a16="http://schemas.microsoft.com/office/drawing/2014/main" id="{3A9E457B-0ADD-4BF3-D21A-0F653DB1177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010537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173A-3B25-DF54-DEA5-557B0E157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AC457-C81A-1F1C-4966-29ACD58A1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04F80-80CC-98D8-1A0D-C010C30AD42E}"/>
              </a:ext>
            </a:extLst>
          </p:cNvPr>
          <p:cNvSpPr>
            <a:spLocks noGrp="1"/>
          </p:cNvSpPr>
          <p:nvPr>
            <p:ph type="body" idx="1"/>
          </p:nvPr>
        </p:nvSpPr>
        <p:spPr/>
        <p:txBody>
          <a:bodyPr/>
          <a:lstStyle/>
          <a:p>
            <a:r>
              <a:rPr lang="en-US"/>
              <a:t>Agents collaborate to meet the user's specification.</a:t>
            </a:r>
          </a:p>
        </p:txBody>
      </p:sp>
      <p:sp>
        <p:nvSpPr>
          <p:cNvPr id="4" name="Slide Number Placeholder 3">
            <a:extLst>
              <a:ext uri="{FF2B5EF4-FFF2-40B4-BE49-F238E27FC236}">
                <a16:creationId xmlns:a16="http://schemas.microsoft.com/office/drawing/2014/main" id="{B86E2C70-9F1B-BEEC-993A-4D975E78EE7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443944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Case study: the timing feedback loop for an FPU datapath.</a:t>
            </a:r>
          </a:p>
          <a:p>
            <a:r>
              <a:rPr lang="en-US"/>
              <a:t>- When does the loop start? More or less in two cases: negative slack, or a score requirement that cannot be met by changing the PnR settings.</a:t>
            </a:r>
          </a:p>
          <a:p>
            <a:r>
              <a:rPr lang="en-US"/>
              <a:t>- Synthesis + PnR produce reports (slack, congestion); the RTL agent retimes or changes the topology.</a:t>
            </a:r>
          </a:p>
          <a:p>
            <a:r>
              <a:rPr lang="en-US"/>
              <a:t>- Any extra pipeline stage changes the latency, so the TB and the latency contract must be updated, and the function rechecked.</a:t>
            </a:r>
          </a:p>
          <a:p>
            <a:r>
              <a:rPr lang="en-US"/>
              <a:t>- Rerun with the same corner and constraints before comparing PPA. This is what 'resynthesis' does in Part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1C8F-6565-1574-13C8-73CE6EF72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11865-E92E-638C-C48B-5A94C5E42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636CC-E641-BBA6-FF0B-5D31376010E0}"/>
              </a:ext>
            </a:extLst>
          </p:cNvPr>
          <p:cNvSpPr>
            <a:spLocks noGrp="1"/>
          </p:cNvSpPr>
          <p:nvPr>
            <p:ph type="body" idx="1"/>
          </p:nvPr>
        </p:nvSpPr>
        <p:spPr/>
        <p:txBody>
          <a:bodyPr/>
          <a:lstStyle/>
          <a:p>
            <a:r>
              <a:rPr lang="en-US"/>
              <a:t>Agents communicate through logs, so the quality of the logs decides the quality of the agents.</a:t>
            </a:r>
          </a:p>
          <a:p>
            <a:endParaRPr lang="en-US"/>
          </a:p>
          <a:p>
            <a:r>
              <a:rPr lang="en-US"/>
              <a:t>- Left: a real </a:t>
            </a:r>
            <a:r>
              <a:rPr lang="en-US" err="1"/>
              <a:t>OpenROAD</a:t>
            </a:r>
            <a:r>
              <a:rPr lang="en-US"/>
              <a:t> error the agent had to interpret. Right: the same information as a structured report, with the measured values and a fix hint.</a:t>
            </a:r>
          </a:p>
          <a:p>
            <a:r>
              <a:rPr lang="en-US"/>
              <a:t>- Real story from building this tutorial (p11): from the raw log the agent kept increasing CORE_MARGIN, all the way to 50, and the error never went away. The real fix was a lower CORE_UTILIZATION (a wider core).</a:t>
            </a:r>
          </a:p>
          <a:p>
            <a:endParaRPr lang="en-US"/>
          </a:p>
          <a:p>
            <a:r>
              <a:rPr lang="en-US"/>
              <a:t>- A custom EDA tool that reports structured, actionable results makes the agent faster, cheaper and more reliable.</a:t>
            </a:r>
          </a:p>
          <a:p>
            <a:endParaRPr lang="en-US"/>
          </a:p>
          <a:p>
            <a:r>
              <a:rPr lang="en-US"/>
              <a:t>In plain words: agents are only as good as the error messages they read. Clear, structured tool output makes them much better.</a:t>
            </a:r>
          </a:p>
        </p:txBody>
      </p:sp>
      <p:sp>
        <p:nvSpPr>
          <p:cNvPr id="4" name="Slide Number Placeholder 3">
            <a:extLst>
              <a:ext uri="{FF2B5EF4-FFF2-40B4-BE49-F238E27FC236}">
                <a16:creationId xmlns:a16="http://schemas.microsoft.com/office/drawing/2014/main" id="{0D874255-AEA5-8EE9-9308-8C8C9C38FD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8907680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3 adds two loops to the Part 2 pipeline.</a:t>
            </a:r>
          </a:p>
          <a:p>
            <a:r>
              <a:rPr lang="en-US"/>
              <a:t>- Loop 1 (green) comes first: after the PPA evaluation, if the score is below the threshold (92), the config.mk agent gets the score report and tunes the physical parameters again.</a:t>
            </a:r>
          </a:p>
          <a:p>
            <a:r>
              <a:rPr lang="en-US"/>
              <a:t>- Loop 2 (red) is for what the knobs cannot fix: if timing fails badly (WNS below -0.5 ns), the flow sends the RTL agent back to pipeline the design. The timing_reminder keeps the latency contract, so the testbench still applies. Then loop 1 starts again on the new RTL.</a:t>
            </a:r>
          </a:p>
          <a:p>
            <a:r>
              <a:rPr lang="en-US"/>
              <a:t>- Every loop has an iteration limit: an agent loop must always end (we come back to this in Part 4: guarantees).</a:t>
            </a:r>
          </a:p>
          <a:p>
            <a:r>
              <a:rPr lang="en-US"/>
              <a:t>- The next slide shows where both loops are switched on and limited in the scripts.</a:t>
            </a:r>
          </a:p>
          <a:p>
            <a:r>
              <a:rPr lang="en-US"/>
              <a:t>TIME: 2 minutes before starting the Part 3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the two loops map to the scripts - what to change when you want a different behaviour.</a:t>
            </a:r>
          </a:p>
          <a:p>
            <a:r>
              <a:rPr lang="en-US"/>
              <a:t>- The run config (run_configs/3_multi_agent_collaboration.yaml) decides IF a loop runs and HOW LONG: iterative_optimization and score_threshold for loop 1, enable_resynthesis and max_resynthesis_attempts for loop 2, max_physical_iters for the number of OpenROAD runs.</a:t>
            </a:r>
          </a:p>
          <a:p>
            <a:r>
              <a:rPr lang="en-US"/>
              <a:t>- After every OpenROAD run, asic_autonomous_flow.py: (1) scores the layout with evaluate_openroad.py against the golden run, (2) if WNS &lt; -0.5 ns, returns to the RTL agent with the timing_resynthesis message (loop 2), (3) if the score reaches the threshold, stops and keeps the best layout, (4) otherwise sends the score report to the config.mk agent (loop 1).</a:t>
            </a:r>
          </a:p>
          <a:p>
            <a:r>
              <a:rPr lang="en-US"/>
              <a:t>- Note: a low score alone never triggers resynthesis; only a severe timing violation does. If the iterations run out below the threshold, the flow keeps the best layout it found.</a:t>
            </a:r>
          </a:p>
          <a:p>
            <a:r>
              <a:rPr lang="en-US"/>
              <a:t>- The Agent.md decides WHAT the agent is told: the ## sections score_report, optimize_further, severe_timing_warning (config.mk agent) and timing_resynthesis (RTL agent).</a:t>
            </a:r>
          </a:p>
          <a:p>
            <a:r>
              <a:rPr lang="en-US"/>
              <a:t>- With enable_resynthesis: false the RTL is kept, and a severe violation only adds severe_timing_warning to the config.mk agent's feedback.</a:t>
            </a:r>
          </a:p>
          <a:p>
            <a:r>
              <a:rPr lang="en-US"/>
              <a:t>TIME: 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Hands-on Part 3, from part3/problem. This slide shows both loops in the order they run.</a:t>
            </a:r>
          </a:p>
          <a:p>
            <a:r>
              <a:rPr lang="en-US"/>
              <a:t>- First the green loop, iterative optimization: keep improving the PPA score with the config.mk knobs until 92/100 or the iteration limit.</a:t>
            </a:r>
          </a:p>
          <a:p>
            <a:r>
              <a:rPr lang="en-US"/>
              <a:t>- Then, only if the knobs cannot make the timing work (WNS below -0.5 ns), the red loop: resynthesis sends the RTL agent back to pipeline the design, and the green loop starts again on the new RTL.</a:t>
            </a:r>
          </a:p>
          <a:p>
            <a:r>
              <a:rPr lang="en-US"/>
              <a:t>- Focus on the feedback messages between agents in the Agent.md files: score_report, optimize_further, timing_resynthesis, timing_reminder.</a:t>
            </a:r>
          </a:p>
          <a:p>
            <a:r>
              <a:rPr lang="en-US"/>
              <a:t>- Watch the score per iteration and the token summary at the end: what does each extra point cost?</a:t>
            </a:r>
          </a:p>
          <a:p>
            <a:r>
              <a:rPr lang="en-US"/>
              <a:t>- Good designs to see resynthesis: p5, p7 (pipelined) and p8.</a:t>
            </a:r>
          </a:p>
          <a:p>
            <a:r>
              <a:rPr lang="en-US"/>
              <a:t>TIME: about 20-25 minutes for the room (several OpenROAD runs). The follow-along slide comes next.</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we run in solution/ for Task 3 and what to look at.</a:t>
            </a:r>
          </a:p>
          <a:p>
            <a:r>
              <a:t>- The golden run config has both loops switched on: iterative optimization (the config.mk agent keeps tuning until the score reaches 92) and resynthesis (WNS below -0.5 ns sends the RTL agent back).</a:t>
            </a:r>
          </a:p>
          <a:p>
            <a:r>
              <a:t>- What to look at: the Final Score after every OpenROAD run, which loop fires, and the tokens every extra point costs.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start the baseline run first (loops off), then explain the loops while it runs.</a:t>
            </a:r>
          </a:p>
          <a:p>
            <a:r>
              <a:t>- In problem/ the run config has iterative_optimization: false and enable_resynthesis: false, so the first run is one pass, like Part 2. Its score is the baseline.</a:t>
            </a:r>
          </a:p>
          <a:p>
            <a:r>
              <a:t>- Step 3 is the only change needed to run Part 3: set both to true in run_configs/3_multi_agent_collaboration.yaml (the golden run config in solution/ has both true).</a:t>
            </a:r>
          </a:p>
          <a:p>
            <a:r>
              <a:t>- Step 4: now the result goes back to the agents. Below 92/100, the config.mk agent gets the score report and tries again. If timing fails badly (WNS below -0.5 ns), the RTL agent is sent back to re-design the RTL (resynthesis). It takes longer than Part 2: several OpenROAD runs.</a:t>
            </a:r>
          </a:p>
          <a:p>
            <a:r>
              <a:t>- Step 5: the run config decides if and how long a loop runs (score_threshold, max_resynthesis_attempts, the iteration limits). The feedback messages are the ## sections of the Agent.md file: rewriting them changes how the agent reacts to a score.</a:t>
            </a:r>
          </a:p>
          <a:p>
            <a:r>
              <a:t>- Discussion: each extra point costs tokens and time. When is it worth it?</a:t>
            </a:r>
          </a:p>
          <a:p>
            <a:r>
              <a:t>TIME: 18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1AFC-486C-B417-9AF7-60B07C111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BBE16-604D-972E-9E1F-06560BA39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23A4C-E3D3-EB22-861B-8CF98BA32965}"/>
              </a:ext>
            </a:extLst>
          </p:cNvPr>
          <p:cNvSpPr>
            <a:spLocks noGrp="1"/>
          </p:cNvSpPr>
          <p:nvPr>
            <p:ph type="body" idx="1"/>
          </p:nvPr>
        </p:nvSpPr>
        <p:spPr/>
        <p:txBody>
          <a:bodyPr/>
          <a:lstStyle/>
          <a:p>
            <a:r>
              <a:rPr lang="en-US"/>
              <a:t>Part 4: the master hybrid LLM-SLM architecture.</a:t>
            </a:r>
          </a:p>
          <a:p>
            <a:r>
              <a:rPr lang="en-US"/>
              <a:t>- System orchestration: a big model that plans and manages small models.</a:t>
            </a:r>
          </a:p>
          <a:p>
            <a:r>
              <a:rPr lang="en-US"/>
              <a:t>- Guarantees and reliability: what can go wrong and how to bound it.</a:t>
            </a:r>
          </a:p>
        </p:txBody>
      </p:sp>
      <p:sp>
        <p:nvSpPr>
          <p:cNvPr id="4" name="Slide Number Placeholder 3">
            <a:extLst>
              <a:ext uri="{FF2B5EF4-FFF2-40B4-BE49-F238E27FC236}">
                <a16:creationId xmlns:a16="http://schemas.microsoft.com/office/drawing/2014/main" id="{3C0A52F4-9BDC-F128-A0DC-1810E4C963F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9810361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6C05-72BA-F9E8-C7CA-543D89AFE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93903-D7EA-5AAB-797B-0DFA0E213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B0883-3F53-656E-F56B-1E185CA8E8C3}"/>
              </a:ext>
            </a:extLst>
          </p:cNvPr>
          <p:cNvSpPr>
            <a:spLocks noGrp="1"/>
          </p:cNvSpPr>
          <p:nvPr>
            <p:ph type="body" idx="1"/>
          </p:nvPr>
        </p:nvSpPr>
        <p:spPr/>
        <p:txBody>
          <a:bodyPr/>
          <a:lstStyle/>
          <a:p>
            <a:r>
              <a:rPr lang="en-US"/>
              <a:t>Same planner picture as before. So far, WE did the planning: we wrote every agent's prompt by hand in Parts 2 and 3.</a:t>
            </a:r>
          </a:p>
          <a:p>
            <a:r>
              <a:rPr lang="en-US"/>
              <a:t>In plain words: so far the humans did the planning and wrote every prompt. Next: let a model do that.</a:t>
            </a:r>
          </a:p>
        </p:txBody>
      </p:sp>
      <p:sp>
        <p:nvSpPr>
          <p:cNvPr id="4" name="Slide Number Placeholder 3">
            <a:extLst>
              <a:ext uri="{FF2B5EF4-FFF2-40B4-BE49-F238E27FC236}">
                <a16:creationId xmlns:a16="http://schemas.microsoft.com/office/drawing/2014/main" id="{FF3EE2A7-B162-59AB-50B1-87CAB9A28B1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66638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ACCB3-C8D1-FEC2-25D6-7922BC50B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944F2-21B1-488B-0F36-6D099831F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9A37A-E684-898A-084D-F9A4C2B2767C}"/>
              </a:ext>
            </a:extLst>
          </p:cNvPr>
          <p:cNvSpPr>
            <a:spLocks noGrp="1"/>
          </p:cNvSpPr>
          <p:nvPr>
            <p:ph type="body" idx="1"/>
          </p:nvPr>
        </p:nvSpPr>
        <p:spPr/>
        <p:txBody>
          <a:bodyPr/>
          <a:lstStyle/>
          <a:p>
            <a:r>
              <a:rPr lang="en-US"/>
              <a:t>So who does the planning? Could a model do it, and write the prompts for the other models?</a:t>
            </a:r>
          </a:p>
        </p:txBody>
      </p:sp>
      <p:sp>
        <p:nvSpPr>
          <p:cNvPr id="4" name="Slide Number Placeholder 3">
            <a:extLst>
              <a:ext uri="{FF2B5EF4-FFF2-40B4-BE49-F238E27FC236}">
                <a16:creationId xmlns:a16="http://schemas.microsoft.com/office/drawing/2014/main" id="{28941331-57B6-1853-3471-4848F8F4F2D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166742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7C604-D820-83D2-7A46-210711A80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DDD83-49B8-C56B-5B46-D16252306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A12AE-CEFF-9760-58EF-A17B4DD4812A}"/>
              </a:ext>
            </a:extLst>
          </p:cNvPr>
          <p:cNvSpPr>
            <a:spLocks noGrp="1"/>
          </p:cNvSpPr>
          <p:nvPr>
            <p:ph type="body" idx="1"/>
          </p:nvPr>
        </p:nvSpPr>
        <p:spPr/>
        <p:txBody>
          <a:bodyPr/>
          <a:lstStyle/>
          <a:p>
            <a:r>
              <a:rPr lang="en-US"/>
              <a:t>Yes: the orchestrator. A big LLM does the task decomposition, which is a reasoning task.</a:t>
            </a:r>
          </a:p>
          <a:p>
            <a:r>
              <a:rPr lang="en-US"/>
              <a:t>- Plan: it splits the fixed pipeline (testbench, SDC, RTL, config.mk + OpenROAD) into subtasks. The plan (plan.json) says how many small agents work on each stage, and for every subtask it writes an Agent.md.</a:t>
            </a:r>
          </a:p>
          <a:p>
            <a:r>
              <a:rPr lang="en-US"/>
              <a:t>- Execute: small models run the subtasks; the same EDA checks as Parts 2 and 3 verify every file.</a:t>
            </a:r>
          </a:p>
          <a:p>
            <a:r>
              <a:rPr lang="en-US"/>
              <a:t>- Step in: when a worker keeps failing, the orchestrator reads the logs and rewrites the prompt, gives guidance, or sends the flow back to an earlier subtask.</a:t>
            </a:r>
          </a:p>
          <a:p>
            <a:r>
              <a:rPr lang="en-US"/>
              <a:t>- Default team (4a): Claude Sonnet as orchestrator, Claude Haiku as workers. 4b uses Gemini. Needs ANTHROPIC_API_KEY.</a:t>
            </a:r>
          </a:p>
          <a:p>
            <a:r>
              <a:rPr lang="en-US"/>
              <a:t>In plain words: a manager model that does not do the work itself: it plans, writes instructions for small models, and steps in when they fail.</a:t>
            </a:r>
          </a:p>
          <a:p>
            <a:r>
              <a:rPr lang="en-US"/>
              <a:t>TIME: 3 minutes.</a:t>
            </a:r>
          </a:p>
        </p:txBody>
      </p:sp>
      <p:sp>
        <p:nvSpPr>
          <p:cNvPr id="4" name="Slide Number Placeholder 3">
            <a:extLst>
              <a:ext uri="{FF2B5EF4-FFF2-40B4-BE49-F238E27FC236}">
                <a16:creationId xmlns:a16="http://schemas.microsoft.com/office/drawing/2014/main" id="{21116F7E-8E60-C6D0-A6B0-652B21FD07A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3284352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What to look at after a Part 4 run (runs/&lt;run&gt;/&lt;design&gt;/).</a:t>
            </a:r>
          </a:p>
          <a:p>
            <a:r>
              <a:rPr lang="en-US"/>
              <a:t>- Rule: the orchestrator should always be a model with strong reasoning and a big context window. It reads the spec, every log and every prompt, and it plans. The workers do small tasks, so they can be small models.</a:t>
            </a:r>
          </a:p>
          <a:p>
            <a:r>
              <a:rPr lang="en-US"/>
              <a:t>- plan.json: how the orchestrator split the work (did it add a test-plan or an architecture analysis step?).</a:t>
            </a:r>
          </a:p>
          <a:p>
            <a:r>
              <a:rPr lang="en-US"/>
              <a:t>- agents/&lt;subtask&gt;/Agent_v1.md, v2...: every prompt it wrote. A v2 means it stepped in and rewrote the prompt: compare v1 and v2.</a:t>
            </a:r>
          </a:p>
          <a:p>
            <a:r>
              <a:rPr lang="en-US"/>
              <a:t>- token_usage.json: big-model vs small-model tokens. Is planning + correcting cheaper than letting the big model do every step?</a:t>
            </a:r>
          </a:p>
          <a:p>
            <a:r>
              <a:rPr lang="en-US"/>
              <a:t>- Hands-on: attendees write only the orchestrator's Agent.md (planning, prompting small models, when to step in). The golden one is in part4/solution.</a:t>
            </a:r>
          </a:p>
          <a:p>
            <a:r>
              <a:rPr lang="en-US"/>
              <a:t>TIME: about 20 minutes for the room. The follow-along slide comes next.</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Claude run for Task 4. SAY: you do not need to run this one yourselves.</a:t>
            </a:r>
          </a:p>
          <a:p>
            <a:r>
              <a:t>- Run config 4a: Claude Sonnet is the orchestrator, Claude Haiku the workers. It needs a paid ANTHROPIC_API_KEY, so we show our result instead.</a:t>
            </a:r>
          </a:p>
          <a:p>
            <a:r>
              <a:t>- Result: Final Score 91.3/100, 3.2 minutes, 41k tokens. The orchestrator never had to step in (0 interventions, 0 replans).</a:t>
            </a:r>
          </a:p>
          <a:p>
            <a:r>
              <a:t>- The numbers on the slide come from our recorded rescue run of this run config (scripts/rescue/runs, design p1).</a:t>
            </a:r>
          </a:p>
          <a:p>
            <a:r>
              <a:t>- The next slide is the attendees' turn, with the free Gemini team (4b).</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start the run, then open plan.json and an Agent_v1.md on the projector while it runs.</a:t>
            </a:r>
          </a:p>
          <a:p>
            <a:r>
              <a:t>- The run configs use the default design p8 (the FP16 multiplier). The command on the slide is 4b: Gemini preview as the orchestrator, Gemini Lite as the workers, so the free Gemini key is enough.</a:t>
            </a:r>
          </a:p>
          <a:p>
            <a:r>
              <a:t>- Here nobody writes the worker prompts by hand: the orchestrator (a big model) writes an Agent.md for each subtask and the workers (small models) follow them.</a:t>
            </a:r>
          </a:p>
          <a:p>
            <a:r>
              <a:t>- Step 3: the generated prompts are the most interesting output of the day. Ask: would you pass the task with this prompt?</a:t>
            </a:r>
          </a:p>
          <a:p>
            <a:r>
              <a:t>- Step 4: the orchestrator's prompt (configs/orchestrator/Agent.md) is given complete in problem/. The attendees change it: how to split the work, what a good prompt for a small model looks like, when to step in.</a:t>
            </a:r>
          </a:p>
          <a:p>
            <a:r>
              <a:t>- Step 5: compare worker attempts, orchestrator interventions, and the big-model vs small-model rows of the token table.</a:t>
            </a:r>
          </a:p>
          <a:p>
            <a:r>
              <a:t>WATCH OUT: 4a needs ANTHROPIC_API_KEY. Without it, use 4b (Gemini).</a:t>
            </a:r>
          </a:p>
          <a:p>
            <a:r>
              <a:t>TIME: 20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E5167-6063-EB80-1F5D-BA611F2E7B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08666-847A-2EF5-9513-90EC5B309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0FC0A-CD9A-69C0-215D-0FC12B916B61}"/>
              </a:ext>
            </a:extLst>
          </p:cNvPr>
          <p:cNvSpPr>
            <a:spLocks noGrp="1"/>
          </p:cNvSpPr>
          <p:nvPr>
            <p:ph type="body" idx="1"/>
          </p:nvPr>
        </p:nvSpPr>
        <p:spPr/>
        <p:txBody>
          <a:bodyPr/>
          <a:lstStyle/>
          <a:p>
            <a:r>
              <a:rPr lang="en-US"/>
              <a:t>Guarantees and production reliability: what problems might we encounter when agents run on their own?</a:t>
            </a:r>
          </a:p>
          <a:p>
            <a:r>
              <a:rPr lang="en-US"/>
              <a:t>In plain words: what can go wrong when agents run on their own? Ask the room before showing the next slide.</a:t>
            </a:r>
          </a:p>
        </p:txBody>
      </p:sp>
      <p:sp>
        <p:nvSpPr>
          <p:cNvPr id="4" name="Slide Number Placeholder 3">
            <a:extLst>
              <a:ext uri="{FF2B5EF4-FFF2-40B4-BE49-F238E27FC236}">
                <a16:creationId xmlns:a16="http://schemas.microsoft.com/office/drawing/2014/main" id="{008F40AF-E8B1-ADEC-8151-A6EEC109F98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152448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8F57A-31CC-B92F-5507-07BEE1D80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65A93-6422-0AAD-FB7F-231D246D5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16A16-AD27-D9EF-EFA6-7E0F8E6FAB7E}"/>
              </a:ext>
            </a:extLst>
          </p:cNvPr>
          <p:cNvSpPr>
            <a:spLocks noGrp="1"/>
          </p:cNvSpPr>
          <p:nvPr>
            <p:ph type="body" idx="1"/>
          </p:nvPr>
        </p:nvSpPr>
        <p:spPr/>
        <p:txBody>
          <a:bodyPr/>
          <a:lstStyle/>
          <a:p>
            <a:r>
              <a:rPr lang="en-US"/>
              <a:t>Three classic failure modes.</a:t>
            </a:r>
          </a:p>
          <a:p>
            <a:r>
              <a:rPr lang="en-US"/>
              <a:t>- Infinite execution: the agent keeps trying and never converges.</a:t>
            </a:r>
          </a:p>
          <a:p>
            <a:r>
              <a:rPr lang="en-US"/>
              <a:t>- Hallucination: confident but wrong code, rules or numbers.</a:t>
            </a:r>
          </a:p>
          <a:p>
            <a:r>
              <a:rPr lang="en-US"/>
              <a:t>- High runtime and resource cost: many iterations of a big model are expensive.</a:t>
            </a:r>
          </a:p>
        </p:txBody>
      </p:sp>
      <p:sp>
        <p:nvSpPr>
          <p:cNvPr id="4" name="Slide Number Placeholder 3">
            <a:extLst>
              <a:ext uri="{FF2B5EF4-FFF2-40B4-BE49-F238E27FC236}">
                <a16:creationId xmlns:a16="http://schemas.microsoft.com/office/drawing/2014/main" id="{B44F7987-964D-D9BD-073E-2701D5604DA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914830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1A3C3-D522-6E36-1BC6-AD04C0849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F0E70-9942-1A34-5ACF-5D2858485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693E5-1A6B-B1A7-FE17-A207F4FAE642}"/>
              </a:ext>
            </a:extLst>
          </p:cNvPr>
          <p:cNvSpPr>
            <a:spLocks noGrp="1"/>
          </p:cNvSpPr>
          <p:nvPr>
            <p:ph type="body" idx="1"/>
          </p:nvPr>
        </p:nvSpPr>
        <p:spPr/>
        <p:txBody>
          <a:bodyPr/>
          <a:lstStyle/>
          <a:p>
            <a:r>
              <a:rPr lang="en-US"/>
              <a:t>And the mitigations we use in the tutorial code.</a:t>
            </a:r>
          </a:p>
          <a:p>
            <a:r>
              <a:rPr lang="en-US"/>
              <a:t>- Iteration limits on every loop (and on orchestrator interventions and replans).</a:t>
            </a:r>
          </a:p>
          <a:p>
            <a:r>
              <a:rPr lang="en-US"/>
              <a:t>- Validator agents (Part 2d) and tool checks on every artifact: never trust an output that no tool has checked.</a:t>
            </a:r>
          </a:p>
          <a:p>
            <a:r>
              <a:rPr lang="en-US"/>
              <a:t>- The LLM-SLM hybrid to keep the cost down, plus token tracking to measure it.</a:t>
            </a:r>
          </a:p>
          <a:p>
            <a:r>
              <a:rPr lang="en-US"/>
              <a:t>- Also: automatic retries with backoff for API errors (rate limits, overloaded models).</a:t>
            </a:r>
          </a:p>
        </p:txBody>
      </p:sp>
      <p:sp>
        <p:nvSpPr>
          <p:cNvPr id="4" name="Slide Number Placeholder 3">
            <a:extLst>
              <a:ext uri="{FF2B5EF4-FFF2-40B4-BE49-F238E27FC236}">
                <a16:creationId xmlns:a16="http://schemas.microsoft.com/office/drawing/2014/main" id="{27D8EE63-3F82-9A24-F8A1-5C4B30A685C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580871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Let's look at real problems we hit while preparing this tutorial. Every one of them looked like an 'agent' problem, and none of them was the model's fault.</a:t>
            </a:r>
          </a:p>
          <a:p>
            <a:r>
              <a:rPr lang="en-US"/>
              <a:t>Real failures from our own runs. The common thread: the agent faithfully amplified a problem in its inputs.</a:t>
            </a:r>
          </a:p>
          <a:p>
            <a:r>
              <a:rPr lang="en-US"/>
              <a:t>- Off-by-one testbench (p1): the TB checked the output 0.1 ns after the clock edge, so every expected value was one cycle early. A correct FSM failed 10 RTL iterations: the RTL agent could never fix a TB problem it could not see.</a:t>
            </a:r>
          </a:p>
          <a:p>
            <a:r>
              <a:rPr lang="en-US"/>
              <a:t>- Wrong rule (p11): our own rule said 'raise CORE_MARGIN' for that error; the agent obeyed up to 50.</a:t>
            </a:r>
          </a:p>
          <a:p>
            <a:r>
              <a:rPr lang="en-US"/>
              <a:t>- Silent spec corruption (p8): YAML parsed [15:0] as the number 900 (base-60!), so every prompt contained garbage widths.</a:t>
            </a:r>
          </a:p>
          <a:p>
            <a:r>
              <a:rPr lang="en-US"/>
              <a:t>- Provider outage: a 503 'model overloaded' killed the run on the first call, until we added retries.</a:t>
            </a:r>
          </a:p>
          <a:p>
            <a:r>
              <a:rPr lang="en-US"/>
              <a:t>- Contradicting rules: a generic FSM rule forbade a self-loop that a 0011 detector needs.</a:t>
            </a:r>
          </a:p>
          <a:p>
            <a:r>
              <a:rPr lang="en-US"/>
              <a:t>- The fix in every case was in the spec, the rules or the logs, not in the model. That is exactly the hands-on skill of this tutorial.</a:t>
            </a:r>
          </a:p>
          <a:p>
            <a:r>
              <a:rPr lang="en-US"/>
              <a:t>TIME: 3 minutes. Every one of these looked like a model problem and was actually a problem in our spec, rules or logs.</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lessons of the morning.</a:t>
            </a:r>
          </a:p>
          <a:p>
            <a:r>
              <a:rPr lang="en-US"/>
              <a:t>- 1. Prompt refinement is more important than reasoning capability for smaller tasks. A well-written Agent.md on a small model often beats a bigger model with a vague prompt.</a:t>
            </a:r>
          </a:p>
          <a:p>
            <a:r>
              <a:rPr lang="en-US"/>
              <a:t>- 2. Task decomposition is important for big tasks: less context per agent, a check after every step, fewer tokens.</a:t>
            </a:r>
          </a:p>
          <a:p>
            <a:r>
              <a:rPr lang="en-US"/>
              <a:t>- 3. To create a good Agent.md you need prior experience: an expert who knows which OpenROAD error means what and which knob fixes it. The agent amplifies that knowledge; it does not replace it.</a:t>
            </a:r>
          </a:p>
          <a:p>
            <a:r>
              <a:rPr lang="en-US"/>
              <a:t>- The hands-on of today in one line: read the log, write the rule, rerun, compare with the golden run.</a:t>
            </a:r>
          </a:p>
          <a:p>
            <a:r>
              <a:rPr lang="en-US"/>
              <a:t>TIME: 2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33AB5-FF39-0D27-95C3-8D06F86FB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FF9BC-E470-0FBD-FCFE-D5CA26AD2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CA729-5360-76C2-E426-F12C8A3A292F}"/>
              </a:ext>
            </a:extLst>
          </p:cNvPr>
          <p:cNvSpPr>
            <a:spLocks noGrp="1"/>
          </p:cNvSpPr>
          <p:nvPr>
            <p:ph type="body" idx="1"/>
          </p:nvPr>
        </p:nvSpPr>
        <p:spPr/>
        <p:txBody>
          <a:bodyPr/>
          <a:lstStyle/>
          <a:p>
            <a:r>
              <a:rPr lang="en-US"/>
              <a:t>Part 5: future perspectives and open discussion.</a:t>
            </a:r>
          </a:p>
        </p:txBody>
      </p:sp>
      <p:sp>
        <p:nvSpPr>
          <p:cNvPr id="4" name="Slide Number Placeholder 3">
            <a:extLst>
              <a:ext uri="{FF2B5EF4-FFF2-40B4-BE49-F238E27FC236}">
                <a16:creationId xmlns:a16="http://schemas.microsoft.com/office/drawing/2014/main" id="{20171B35-D4BA-F341-9A81-9398C3F35B5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414435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communicate through logs, so the quality of the logs decides the quality of the agents.</a:t>
            </a:r>
          </a:p>
          <a:p>
            <a:endParaRPr/>
          </a:p>
          <a:p>
            <a:r>
              <a:t>- Left: a real OpenROAD error the agent had to interpret. Right: the same information as a structured report, with the measured values and a fix hint.</a:t>
            </a:r>
          </a:p>
          <a:p>
            <a:r>
              <a:t>- Real story from building this tutorial (p11): from the raw log the agent kept increasing CORE_MARGIN, all the way to 50, and the error never went away. The real fix was a lower CORE_UTILIZATION (a wider core).</a:t>
            </a:r>
          </a:p>
          <a:p>
            <a:endParaRPr/>
          </a:p>
          <a:p>
            <a:r>
              <a:t>- A custom EDA tool that reports structured, actionable results makes the agent faster, cheaper and more reliable.</a:t>
            </a:r>
          </a:p>
          <a:p>
            <a:endParaRPr/>
          </a:p>
          <a:p>
            <a:r>
              <a:t>In plain words: agents are only as good as the error messages they read. Clear, structured tool output makes them much better.</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284B-4B8D-1E56-3BFC-1B94A07C0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02079-83C1-A129-E4DC-EFE9B18E7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CCA8-62EC-B4FB-6EF0-A7B09933A6CE}"/>
              </a:ext>
            </a:extLst>
          </p:cNvPr>
          <p:cNvSpPr>
            <a:spLocks noGrp="1"/>
          </p:cNvSpPr>
          <p:nvPr>
            <p:ph type="body" idx="1"/>
          </p:nvPr>
        </p:nvSpPr>
        <p:spPr/>
        <p:txBody>
          <a:bodyPr/>
          <a:lstStyle/>
          <a:p>
            <a:r>
              <a:rPr lang="en-US"/>
              <a:t>Open challenges, as discussion starters. One minute each, then ask the room.</a:t>
            </a:r>
          </a:p>
          <a:p>
            <a:r>
              <a:rPr lang="en-US"/>
              <a:t>- IP privacy: specs and RTL are a company's most valuable data, and PDK data is under NDA with the foundry. Can they go to a cloud model? Who stores the prompts and the logs? This pushes towards local models.</a:t>
            </a:r>
          </a:p>
          <a:p>
            <a:r>
              <a:rPr lang="en-US"/>
              <a:t>- Enterprise integration: real flows use licensed tools, compute farms (LSF, Slurm), version control and sign-off flows. Agents must fit in with permissions, reproducibility and an audit trail of what they changed.</a:t>
            </a:r>
          </a:p>
          <a:p>
            <a:r>
              <a:rPr lang="en-US"/>
              <a:t>- Air-gapped SLM deployment: small models on-premise, with no internet. They are weaker, so they need sharp prompts and decomposed tasks - exactly what we practised in Parts 2-4 (the hybrid run 2c).</a:t>
            </a:r>
          </a:p>
          <a:p>
            <a:r>
              <a:rPr lang="en-US"/>
              <a:t>- Code Evolve: evolutionary search with LLMs. Generate many variants of RTL, scripts or prompts, score each one automatically (like our PPA score) and keep the best. Works only when the score is reliable.</a:t>
            </a:r>
          </a:p>
          <a:p>
            <a:r>
              <a:rPr lang="en-US"/>
              <a:t>- Verification completeness: an agent-written testbench can pass a wrong design (p1, p8 today). How do we measure coverage and trust the checker: mutants, formal checks, reference models?</a:t>
            </a:r>
          </a:p>
          <a:p>
            <a:r>
              <a:rPr lang="en-US"/>
              <a:t>- ODE4EC agentic API: ODE4EC is the EU 'Open Design Environment for European Chips' effort for open-source EDA. An agentic API means tools that return structured reports agents can use directly, instead of raw logs (slide 'custom EDA tools').</a:t>
            </a:r>
          </a:p>
          <a:p>
            <a:r>
              <a:rPr lang="en-US"/>
              <a:t>- Ask the room for more.</a:t>
            </a:r>
          </a:p>
          <a:p>
            <a:r>
              <a:rPr lang="en-US"/>
              <a:t>TIME: 5-10 minutes of discussion; take questions from the room.</a:t>
            </a:r>
          </a:p>
        </p:txBody>
      </p:sp>
      <p:sp>
        <p:nvSpPr>
          <p:cNvPr id="4" name="Slide Number Placeholder 3">
            <a:extLst>
              <a:ext uri="{FF2B5EF4-FFF2-40B4-BE49-F238E27FC236}">
                <a16:creationId xmlns:a16="http://schemas.microsoft.com/office/drawing/2014/main" id="{C35499AF-0F7E-9601-14BF-CAF54BF7ABB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211693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Questions?</a:t>
            </a:r>
          </a:p>
          <a:p>
            <a:r>
              <a:rPr lang="en-US"/>
              <a:t>- Everything is in the repository: problem and solution folders for every part, README files and the Docker setup.</a:t>
            </a:r>
          </a:p>
          <a:p>
            <a:r>
              <a:rPr lang="en-US"/>
              <a:t>- Invite attendees to keep experimenting: different designs, different models, their own Agent.md files.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8A2A8-A4F4-4E47-AF92-847FC4697A40}"/>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B3E0A267-69EB-40F9-BC95-186595A4113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58D98AD-CE18-4D78-9261-68FA5D37D452}"/>
              </a:ext>
            </a:extLst>
          </p:cNvPr>
          <p:cNvSpPr>
            <a:spLocks noGrp="1"/>
          </p:cNvSpPr>
          <p:nvPr>
            <p:ph type="dt" idx="10"/>
          </p:nvPr>
        </p:nvSpPr>
        <p:spPr/>
        <p:txBody>
          <a:body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85B9CF5E-85C3-46D1-90AE-00C27D4D899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F4F2DC9-0987-4036-AD01-6BC5B452548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1F0FF-628A-49F0-B49C-228853D9589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A012E56-84BC-4FCC-87E1-6E17F04BADC5}"/>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CB9102E-6676-4D00-BD83-94408A1FADE5}"/>
              </a:ext>
            </a:extLst>
          </p:cNvPr>
          <p:cNvSpPr>
            <a:spLocks noGrp="1"/>
          </p:cNvSpPr>
          <p:nvPr>
            <p:ph type="dt" idx="10"/>
          </p:nvPr>
        </p:nvSpPr>
        <p:spPr/>
        <p:txBody>
          <a:body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F299C1EA-E238-4EA0-BF3F-921C64D374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B865D33-ECA1-4ECB-AF85-9FCC8A975C2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392E-C4EF-4262-971A-A6E904B5D5D9}"/>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20132D7A-C1B5-4A4F-B2C3-D74FA4E4474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C990638-807A-481A-9A06-8837FDC46B0B}"/>
              </a:ext>
            </a:extLst>
          </p:cNvPr>
          <p:cNvSpPr>
            <a:spLocks noGrp="1"/>
          </p:cNvSpPr>
          <p:nvPr>
            <p:ph type="dt" idx="10"/>
          </p:nvPr>
        </p:nvSpPr>
        <p:spPr/>
        <p:txBody>
          <a:body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DD83ACBE-258E-4201-AA3D-6987E0051D6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723FEC0-4E52-435C-B6DB-4A7B3D7442E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CE4C-6AB2-45C3-8AA6-B6841F20E79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0A6C0A5-67DB-415C-BB14-666D5B065B8D}"/>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78DDB46-6190-42EC-AD7C-8F30A7D303F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8C9E9CE-D403-4DD7-BBF6-883B23C160B2}"/>
              </a:ext>
            </a:extLst>
          </p:cNvPr>
          <p:cNvSpPr>
            <a:spLocks noGrp="1"/>
          </p:cNvSpPr>
          <p:nvPr>
            <p:ph type="dt" idx="10"/>
          </p:nvPr>
        </p:nvSpPr>
        <p:spPr/>
        <p:txBody>
          <a:bodyPr/>
          <a:lstStyle/>
          <a:p>
            <a:fld id="{5BCAD085-E8A6-8845-BD4E-CB4CCA059FC4}" type="datetimeFigureOut">
              <a:t>10/12/2026</a:t>
            </a:fld>
            <a:endParaRPr/>
          </a:p>
        </p:txBody>
      </p:sp>
      <p:sp>
        <p:nvSpPr>
          <p:cNvPr id="6" name="Footer Placeholder 5">
            <a:extLst>
              <a:ext uri="{FF2B5EF4-FFF2-40B4-BE49-F238E27FC236}">
                <a16:creationId xmlns:a16="http://schemas.microsoft.com/office/drawing/2014/main" id="{F4882D63-BAEE-4FE2-82BF-0D294A134B8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F76C39E-4A82-49AC-867F-9CA90B425F7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6AD2-5B08-46E2-A079-987B4FF18D3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DE1980C9-3326-434C-A80E-FD26624C402B}"/>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B24AAF9D-0273-41A6-93D0-4C82D2904EAC}"/>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B6E836C-CE05-4936-BBF0-0746D7C04070}"/>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20CE77AD-5037-4857-B2C8-975CBBEEE486}"/>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3A8E119A-6924-49F3-AB5D-3EA681FA969C}"/>
              </a:ext>
            </a:extLst>
          </p:cNvPr>
          <p:cNvSpPr>
            <a:spLocks noGrp="1"/>
          </p:cNvSpPr>
          <p:nvPr>
            <p:ph type="dt" idx="10"/>
          </p:nvPr>
        </p:nvSpPr>
        <p:spPr/>
        <p:txBody>
          <a:bodyPr/>
          <a:lstStyle/>
          <a:p>
            <a:fld id="{5BCAD085-E8A6-8845-BD4E-CB4CCA059FC4}" type="datetimeFigureOut">
              <a:t>10/12/2026</a:t>
            </a:fld>
            <a:endParaRPr/>
          </a:p>
        </p:txBody>
      </p:sp>
      <p:sp>
        <p:nvSpPr>
          <p:cNvPr id="8" name="Footer Placeholder 7">
            <a:extLst>
              <a:ext uri="{FF2B5EF4-FFF2-40B4-BE49-F238E27FC236}">
                <a16:creationId xmlns:a16="http://schemas.microsoft.com/office/drawing/2014/main" id="{496263EC-43A6-4AEC-8C36-2C529A66C603}"/>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B1EF8776-F7AA-4FAF-9D21-6F84BEE0286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A1E9A-6D78-4FED-A9BE-1B895A9C8F5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5093C0A-6F88-4A53-9E02-6816399C78AB}"/>
              </a:ext>
            </a:extLst>
          </p:cNvPr>
          <p:cNvSpPr>
            <a:spLocks noGrp="1"/>
          </p:cNvSpPr>
          <p:nvPr>
            <p:ph type="dt" idx="10"/>
          </p:nvPr>
        </p:nvSpPr>
        <p:spPr/>
        <p:txBody>
          <a:bodyPr/>
          <a:lstStyle/>
          <a:p>
            <a:fld id="{5BCAD085-E8A6-8845-BD4E-CB4CCA059FC4}" type="datetimeFigureOut">
              <a:t>10/12/2026</a:t>
            </a:fld>
            <a:endParaRPr/>
          </a:p>
        </p:txBody>
      </p:sp>
      <p:sp>
        <p:nvSpPr>
          <p:cNvPr id="4" name="Footer Placeholder 3">
            <a:extLst>
              <a:ext uri="{FF2B5EF4-FFF2-40B4-BE49-F238E27FC236}">
                <a16:creationId xmlns:a16="http://schemas.microsoft.com/office/drawing/2014/main" id="{3F707D4E-EA13-427E-A1D1-52400512CCB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2B5C990-8975-4E48-BC4B-F74837811ED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982BCC-92EF-4CF0-8520-B55009CE9F55}"/>
              </a:ext>
            </a:extLst>
          </p:cNvPr>
          <p:cNvSpPr>
            <a:spLocks noGrp="1"/>
          </p:cNvSpPr>
          <p:nvPr>
            <p:ph type="dt" idx="10"/>
          </p:nvPr>
        </p:nvSpPr>
        <p:spPr/>
        <p:txBody>
          <a:bodyPr/>
          <a:lstStyle/>
          <a:p>
            <a:fld id="{5BCAD085-E8A6-8845-BD4E-CB4CCA059FC4}" type="datetimeFigureOut">
              <a:t>10/12/2026</a:t>
            </a:fld>
            <a:endParaRPr/>
          </a:p>
        </p:txBody>
      </p:sp>
      <p:sp>
        <p:nvSpPr>
          <p:cNvPr id="3" name="Footer Placeholder 2">
            <a:extLst>
              <a:ext uri="{FF2B5EF4-FFF2-40B4-BE49-F238E27FC236}">
                <a16:creationId xmlns:a16="http://schemas.microsoft.com/office/drawing/2014/main" id="{2A48788B-6E9D-4A6D-AA67-DA7B4D1DB833}"/>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1F7DF286-AF64-46A9-B9E8-79D50100C34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B498-C2F4-4514-9D34-95F988C8AD5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40E7F069-C8C8-48FF-8E73-77914127E3F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D9926856-C73C-4776-AB15-14D58C9795B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0E128177-3EE6-4A2C-A6FF-C40ECC6C3B53}"/>
              </a:ext>
            </a:extLst>
          </p:cNvPr>
          <p:cNvSpPr>
            <a:spLocks noGrp="1"/>
          </p:cNvSpPr>
          <p:nvPr>
            <p:ph type="dt" idx="10"/>
          </p:nvPr>
        </p:nvSpPr>
        <p:spPr/>
        <p:txBody>
          <a:bodyPr/>
          <a:lstStyle/>
          <a:p>
            <a:fld id="{5BCAD085-E8A6-8845-BD4E-CB4CCA059FC4}" type="datetimeFigureOut">
              <a:t>10/12/2026</a:t>
            </a:fld>
            <a:endParaRPr/>
          </a:p>
        </p:txBody>
      </p:sp>
      <p:sp>
        <p:nvSpPr>
          <p:cNvPr id="6" name="Footer Placeholder 5">
            <a:extLst>
              <a:ext uri="{FF2B5EF4-FFF2-40B4-BE49-F238E27FC236}">
                <a16:creationId xmlns:a16="http://schemas.microsoft.com/office/drawing/2014/main" id="{368D9EF7-4B66-4C88-B508-6EBE522EB20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DBCB433-8ED0-4F50-BF0E-A51E9A513A0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43676-1C5B-44C4-B8D8-EC3B10960375}"/>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0469CCFD-51FA-4E60-BE8B-9FBD95682E0B}"/>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82B2FE1-A5B7-4AD2-8945-8BAF21E5247D}"/>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6149535-8AEF-43D3-AFB2-D7CA05CFB2E5}"/>
              </a:ext>
            </a:extLst>
          </p:cNvPr>
          <p:cNvSpPr>
            <a:spLocks noGrp="1"/>
          </p:cNvSpPr>
          <p:nvPr>
            <p:ph type="dt" idx="10"/>
          </p:nvPr>
        </p:nvSpPr>
        <p:spPr/>
        <p:txBody>
          <a:bodyPr/>
          <a:lstStyle/>
          <a:p>
            <a:fld id="{5BCAD085-E8A6-8845-BD4E-CB4CCA059FC4}" type="datetimeFigureOut">
              <a:t>10/12/2026</a:t>
            </a:fld>
            <a:endParaRPr/>
          </a:p>
        </p:txBody>
      </p:sp>
      <p:sp>
        <p:nvSpPr>
          <p:cNvPr id="6" name="Footer Placeholder 5">
            <a:extLst>
              <a:ext uri="{FF2B5EF4-FFF2-40B4-BE49-F238E27FC236}">
                <a16:creationId xmlns:a16="http://schemas.microsoft.com/office/drawing/2014/main" id="{1918A03C-8489-4026-B7CC-02D2967E698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5E9F14D-3CFD-4688-929C-7B28A8FC1F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7C65F-076A-4B48-8959-C7683170B4AB}"/>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0045933-2791-4F15-9C61-2835894914E5}"/>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846A6B8-F684-47C7-9D97-FA0861105AC5}"/>
              </a:ext>
            </a:extLst>
          </p:cNvPr>
          <p:cNvSpPr>
            <a:spLocks noGrp="1"/>
          </p:cNvSpPr>
          <p:nvPr>
            <p:ph type="dt" idx="10"/>
          </p:nvPr>
        </p:nvSpPr>
        <p:spPr/>
        <p:txBody>
          <a:body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F30C0711-BA3C-4869-A1A1-A0BD1CED1C1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57661EF-842B-4BC3-BD6E-9E92446C4E6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8DEE35-2BF4-4CC4-A4B8-AD19D86A018F}"/>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4B71F22-92A8-4ADB-87EB-0F9AA97154BA}"/>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3C96DD0-7BDA-4182-9EF4-11AF325A27A0}"/>
              </a:ext>
            </a:extLst>
          </p:cNvPr>
          <p:cNvSpPr>
            <a:spLocks noGrp="1"/>
          </p:cNvSpPr>
          <p:nvPr>
            <p:ph type="dt" idx="10"/>
          </p:nvPr>
        </p:nvSpPr>
        <p:spPr/>
        <p:txBody>
          <a:body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AF84B36C-31FF-48C1-BA4C-E2F465E6A0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89EAA42-9FE9-4533-9C66-D2823B0A129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3E600E-8E05-48D6-8617-EB54EE07A346}"/>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89F0087-C969-453B-A05F-8D3FAFB297C9}"/>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A76B700-1989-485E-98E7-2BF57193EB8F}"/>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10/12/2026</a:t>
            </a:fld>
            <a:endParaRPr/>
          </a:p>
        </p:txBody>
      </p:sp>
      <p:sp>
        <p:nvSpPr>
          <p:cNvPr id="5" name="Footer Placeholder 4">
            <a:extLst>
              <a:ext uri="{FF2B5EF4-FFF2-40B4-BE49-F238E27FC236}">
                <a16:creationId xmlns:a16="http://schemas.microsoft.com/office/drawing/2014/main" id="{F27C3C11-D584-47C5-A618-8F5AE8A59CA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40E3048-6F7C-400F-B45A-1804E97390F8}"/>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61.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2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microsoft.com/office/2011/relationships/webextension" Target="../webextensions/webextension7.xml"/><Relationship Id="rId2" Type="http://schemas.openxmlformats.org/officeDocument/2006/relationships/notesSlide" Target="../notesSlides/notesSlide64.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2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microsoft.com/office/2011/relationships/webextension" Target="../webextensions/webextension8.xml"/><Relationship Id="rId2" Type="http://schemas.openxmlformats.org/officeDocument/2006/relationships/notesSlide" Target="../notesSlides/notesSlide78.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2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microsoft.com/office/2011/relationships/webextension" Target="../webextensions/webextension9.xml"/><Relationship Id="rId2" Type="http://schemas.openxmlformats.org/officeDocument/2006/relationships/notesSlide" Target="../notesSlides/notesSlide83.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2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86FA39-4EFD-40D0-A8CC-A4907DE2846D}"/>
              </a:ext>
            </a:extLst>
          </p:cNvPr>
          <p:cNvSpPr>
            <a:spLocks noGrp="1"/>
          </p:cNvSpPr>
          <p:nvPr/>
        </p:nvSpPr>
        <p:spPr>
          <a:xfrm>
            <a:off x="0" y="0"/>
            <a:ext cx="9144000" cy="1143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D05A9284-1A8E-4222-8A65-02A760F216EE}"/>
              </a:ext>
            </a:extLst>
          </p:cNvPr>
          <p:cNvSpPr>
            <a:spLocks noGrp="1"/>
          </p:cNvSpPr>
          <p:nvPr/>
        </p:nvSpPr>
        <p:spPr>
          <a:xfrm>
            <a:off x="0" y="6629400"/>
            <a:ext cx="9144000" cy="228600"/>
          </a:xfrm>
          <a:prstGeom prst="rect">
            <a:avLst/>
          </a:prstGeom>
          <a:solidFill>
            <a:srgbClr val="B21F2D"/>
          </a:solidFill>
          <a:ln w="0">
            <a:noFill/>
          </a:ln>
        </p:spPr>
        <p:txBody>
          <a:bodyPr/>
          <a:lstStyle/>
          <a:p>
            <a:endParaRPr lang="en-GR"/>
          </a:p>
        </p:txBody>
      </p:sp>
      <p:sp>
        <p:nvSpPr>
          <p:cNvPr id="4" name="Rectangle 3">
            <a:extLst>
              <a:ext uri="{FF2B5EF4-FFF2-40B4-BE49-F238E27FC236}">
                <a16:creationId xmlns:a16="http://schemas.microsoft.com/office/drawing/2014/main" id="{7A3358E5-F43C-4557-8FD3-F23A26659BBD}"/>
              </a:ext>
            </a:extLst>
          </p:cNvPr>
          <p:cNvSpPr>
            <a:spLocks noGrp="1"/>
          </p:cNvSpPr>
          <p:nvPr/>
        </p:nvSpPr>
        <p:spPr>
          <a:xfrm>
            <a:off x="552450" y="1219200"/>
            <a:ext cx="7524750" cy="1809750"/>
          </a:xfrm>
          <a:prstGeom prst="rect">
            <a:avLst/>
          </a:prstGeom>
          <a:noFill/>
          <a:ln w="0">
            <a:noFill/>
          </a:ln>
        </p:spPr>
        <p:txBody>
          <a:bodyPr lIns="91440" tIns="45720" rIns="91440" bIns="45720" anchor="ctr">
            <a:normAutofit/>
          </a:bodyPr>
          <a:lstStyle/>
          <a:p>
            <a:pPr>
              <a:defRPr sz="2850" b="1">
                <a:solidFill>
                  <a:srgbClr val="0E2745"/>
                </a:solidFill>
                <a:latin typeface="Calibri"/>
                <a:ea typeface="Calibri"/>
                <a:cs typeface="Calibri"/>
              </a:defRPr>
            </a:pPr>
            <a:r>
              <a:rPr lang="en-US" sz="2850" b="1">
                <a:solidFill>
                  <a:srgbClr val="0E2745"/>
                </a:solidFill>
                <a:latin typeface="Calibri"/>
                <a:ea typeface="Calibri"/>
                <a:cs typeface="Calibri"/>
              </a:rPr>
              <a:t>Agentic AI Tutorial</a:t>
            </a:r>
          </a:p>
        </p:txBody>
      </p:sp>
      <p:sp>
        <p:nvSpPr>
          <p:cNvPr id="5" name="Rectangle 4">
            <a:extLst>
              <a:ext uri="{FF2B5EF4-FFF2-40B4-BE49-F238E27FC236}">
                <a16:creationId xmlns:a16="http://schemas.microsoft.com/office/drawing/2014/main" id="{CC4E70AA-D466-42E7-9840-7B86815E0F95}"/>
              </a:ext>
            </a:extLst>
          </p:cNvPr>
          <p:cNvSpPr>
            <a:spLocks noGrp="1"/>
          </p:cNvSpPr>
          <p:nvPr/>
        </p:nvSpPr>
        <p:spPr>
          <a:xfrm>
            <a:off x="552450" y="3362325"/>
            <a:ext cx="1190625" cy="47625"/>
          </a:xfrm>
          <a:prstGeom prst="rect">
            <a:avLst/>
          </a:prstGeom>
          <a:solidFill>
            <a:srgbClr val="B21F2D"/>
          </a:solidFill>
          <a:ln w="0">
            <a:noFill/>
          </a:ln>
        </p:spPr>
        <p:txBody>
          <a:bodyPr/>
          <a:lstStyle/>
          <a:p>
            <a:endParaRPr lang="en-GR"/>
          </a:p>
        </p:txBody>
      </p:sp>
      <p:sp>
        <p:nvSpPr>
          <p:cNvPr id="6" name="Rectangle 5">
            <a:extLst>
              <a:ext uri="{FF2B5EF4-FFF2-40B4-BE49-F238E27FC236}">
                <a16:creationId xmlns:a16="http://schemas.microsoft.com/office/drawing/2014/main" id="{95488989-74A1-4BFC-82BF-45E78F37261E}"/>
              </a:ext>
            </a:extLst>
          </p:cNvPr>
          <p:cNvSpPr>
            <a:spLocks noGrp="1"/>
          </p:cNvSpPr>
          <p:nvPr/>
        </p:nvSpPr>
        <p:spPr>
          <a:xfrm>
            <a:off x="512826" y="3488069"/>
            <a:ext cx="7603998" cy="1112506"/>
          </a:xfrm>
          <a:prstGeom prst="rect">
            <a:avLst/>
          </a:prstGeom>
          <a:noFill/>
          <a:ln w="0">
            <a:noFill/>
          </a:ln>
        </p:spPr>
        <p:txBody>
          <a:bodyPr lIns="91440" tIns="45720" rIns="91440" bIns="45720" anchor="ctr">
            <a:normAutofit/>
          </a:bodyPr>
          <a:lstStyle/>
          <a:p>
            <a:pPr algn="l">
              <a:defRPr sz="1275" b="1">
                <a:solidFill>
                  <a:srgbClr val="1F2937"/>
                </a:solidFill>
                <a:latin typeface="Calibri"/>
                <a:ea typeface="Calibri"/>
                <a:cs typeface="Calibri"/>
              </a:defRPr>
            </a:pPr>
            <a:r>
              <a:rPr lang="en-US" sz="1275" b="1" dirty="0">
                <a:solidFill>
                  <a:srgbClr val="1F2937"/>
                </a:solidFill>
                <a:latin typeface="Calibri"/>
                <a:ea typeface="Calibri"/>
                <a:cs typeface="Calibri"/>
              </a:rPr>
              <a:t>Prof. Christos Sotiriou</a:t>
            </a:r>
            <a:endParaRPr lang="el-GR" sz="1275" b="1" dirty="0">
              <a:solidFill>
                <a:srgbClr val="1F2937"/>
              </a:solidFill>
              <a:latin typeface="Calibri"/>
              <a:ea typeface="Calibri"/>
              <a:cs typeface="Calibri"/>
            </a:endParaRPr>
          </a:p>
          <a:p>
            <a:pPr>
              <a:defRPr sz="1275" b="1">
                <a:solidFill>
                  <a:srgbClr val="1F2937"/>
                </a:solidFill>
                <a:latin typeface="Calibri"/>
                <a:ea typeface="Calibri"/>
                <a:cs typeface="Calibri"/>
              </a:defRPr>
            </a:pPr>
            <a:r>
              <a:rPr lang="el-GR" sz="1400" b="1" dirty="0">
                <a:solidFill>
                  <a:srgbClr val="1F2937"/>
                </a:solidFill>
                <a:latin typeface="Calibri"/>
                <a:ea typeface="Calibri"/>
                <a:cs typeface="Calibri"/>
              </a:rPr>
              <a:t>C</a:t>
            </a:r>
            <a:r>
              <a:rPr lang="en-US" sz="1400" b="1" dirty="0" err="1">
                <a:solidFill>
                  <a:srgbClr val="1F2937"/>
                </a:solidFill>
                <a:latin typeface="Calibri"/>
                <a:ea typeface="Calibri"/>
                <a:cs typeface="Calibri"/>
              </a:rPr>
              <a:t>ontributors</a:t>
            </a:r>
            <a:r>
              <a:rPr lang="en-US" sz="1400" b="1" dirty="0">
                <a:solidFill>
                  <a:srgbClr val="1F2937"/>
                </a:solidFill>
                <a:latin typeface="Calibri"/>
                <a:ea typeface="Calibri"/>
                <a:cs typeface="Calibri"/>
              </a:rPr>
              <a:t>: </a:t>
            </a:r>
            <a:r>
              <a:rPr lang="en-US" sz="1400" dirty="0">
                <a:solidFill>
                  <a:srgbClr val="1F2937"/>
                </a:solidFill>
                <a:latin typeface="Calibri"/>
                <a:ea typeface="Calibri"/>
                <a:cs typeface="Calibri"/>
              </a:rPr>
              <a:t>Nikolaos </a:t>
            </a:r>
            <a:r>
              <a:rPr lang="en-US" sz="1400" dirty="0" err="1">
                <a:solidFill>
                  <a:srgbClr val="1F2937"/>
                </a:solidFill>
                <a:latin typeface="Calibri"/>
                <a:ea typeface="Calibri"/>
                <a:cs typeface="Calibri"/>
              </a:rPr>
              <a:t>Zazatis</a:t>
            </a:r>
            <a:r>
              <a:rPr lang="en-US" sz="1400" dirty="0">
                <a:solidFill>
                  <a:srgbClr val="1F2937"/>
                </a:solidFill>
                <a:latin typeface="Calibri"/>
                <a:ea typeface="Calibri"/>
                <a:cs typeface="Calibri"/>
              </a:rPr>
              <a:t>, Konstantinos </a:t>
            </a:r>
            <a:r>
              <a:rPr lang="en-US" sz="1400" dirty="0" err="1">
                <a:solidFill>
                  <a:srgbClr val="1F2937"/>
                </a:solidFill>
                <a:latin typeface="Calibri"/>
                <a:ea typeface="Calibri"/>
                <a:cs typeface="Calibri"/>
              </a:rPr>
              <a:t>Varakliotis</a:t>
            </a:r>
            <a:r>
              <a:rPr lang="en-US" sz="1400" dirty="0">
                <a:solidFill>
                  <a:srgbClr val="1F2937"/>
                </a:solidFill>
                <a:latin typeface="Calibri"/>
                <a:ea typeface="Calibri"/>
                <a:cs typeface="Calibri"/>
              </a:rPr>
              <a:t>, Stavros </a:t>
            </a:r>
            <a:r>
              <a:rPr lang="en-US" sz="1400" dirty="0" err="1">
                <a:solidFill>
                  <a:srgbClr val="1F2937"/>
                </a:solidFill>
                <a:latin typeface="Calibri"/>
                <a:ea typeface="Calibri"/>
                <a:cs typeface="Calibri"/>
              </a:rPr>
              <a:t>Stathoudakis</a:t>
            </a:r>
            <a:r>
              <a:rPr lang="en-US" sz="1400" dirty="0">
                <a:solidFill>
                  <a:srgbClr val="1F2937"/>
                </a:solidFill>
                <a:latin typeface="Calibri"/>
                <a:ea typeface="Calibri"/>
                <a:cs typeface="Calibri"/>
              </a:rPr>
              <a:t>, Dimitris </a:t>
            </a:r>
            <a:r>
              <a:rPr lang="en-US" sz="1400" dirty="0" err="1">
                <a:solidFill>
                  <a:srgbClr val="1F2937"/>
                </a:solidFill>
                <a:latin typeface="Calibri"/>
                <a:ea typeface="Calibri"/>
                <a:cs typeface="Calibri"/>
              </a:rPr>
              <a:t>Tsalapatas</a:t>
            </a:r>
            <a:r>
              <a:rPr lang="en-US" sz="1400" dirty="0">
                <a:solidFill>
                  <a:srgbClr val="1F2937"/>
                </a:solidFill>
                <a:latin typeface="Calibri"/>
                <a:ea typeface="Calibri"/>
                <a:cs typeface="Calibri"/>
              </a:rPr>
              <a:t>, </a:t>
            </a:r>
            <a:r>
              <a:rPr lang="en-US" sz="1400" dirty="0" err="1">
                <a:solidFill>
                  <a:srgbClr val="1F2937"/>
                </a:solidFill>
                <a:latin typeface="Calibri"/>
                <a:ea typeface="Calibri"/>
                <a:cs typeface="Calibri"/>
              </a:rPr>
              <a:t>Iordana</a:t>
            </a:r>
            <a:r>
              <a:rPr lang="en-US" sz="1400" dirty="0">
                <a:solidFill>
                  <a:srgbClr val="1F2937"/>
                </a:solidFill>
                <a:latin typeface="Calibri"/>
                <a:ea typeface="Calibri"/>
                <a:cs typeface="Calibri"/>
              </a:rPr>
              <a:t> </a:t>
            </a:r>
            <a:r>
              <a:rPr lang="en-US" sz="1400" dirty="0" err="1">
                <a:solidFill>
                  <a:srgbClr val="1F2937"/>
                </a:solidFill>
                <a:latin typeface="Calibri"/>
                <a:ea typeface="Calibri"/>
                <a:cs typeface="Calibri"/>
              </a:rPr>
              <a:t>Gaisidou</a:t>
            </a:r>
            <a:r>
              <a:rPr lang="en-US" sz="1400" dirty="0">
                <a:solidFill>
                  <a:srgbClr val="1F2937"/>
                </a:solidFill>
                <a:latin typeface="Calibri"/>
                <a:ea typeface="Calibri"/>
                <a:cs typeface="Calibri"/>
              </a:rPr>
              <a:t> and Alexandra Karageorgou</a:t>
            </a:r>
            <a:endParaRPr lang="en-US" sz="1250" dirty="0">
              <a:solidFill>
                <a:srgbClr val="1F2937"/>
              </a:solidFill>
              <a:latin typeface="Calibri"/>
              <a:ea typeface="Calibri"/>
              <a:cs typeface="Calibri"/>
            </a:endParaRPr>
          </a:p>
        </p:txBody>
      </p:sp>
      <p:sp>
        <p:nvSpPr>
          <p:cNvPr id="7" name="Rectangle 6">
            <a:extLst>
              <a:ext uri="{FF2B5EF4-FFF2-40B4-BE49-F238E27FC236}">
                <a16:creationId xmlns:a16="http://schemas.microsoft.com/office/drawing/2014/main" id="{6ABF5D66-DF68-4D20-826B-93AC4F97CDA1}"/>
              </a:ext>
            </a:extLst>
          </p:cNvPr>
          <p:cNvSpPr>
            <a:spLocks noGrp="1"/>
          </p:cNvSpPr>
          <p:nvPr/>
        </p:nvSpPr>
        <p:spPr>
          <a:xfrm>
            <a:off x="512826" y="4267200"/>
            <a:ext cx="5810250" cy="666750"/>
          </a:xfrm>
          <a:prstGeom prst="rect">
            <a:avLst/>
          </a:prstGeom>
          <a:noFill/>
          <a:ln w="0">
            <a:noFill/>
          </a:ln>
        </p:spPr>
        <p:txBody>
          <a:bodyPr anchor="ctr">
            <a:normAutofit/>
          </a:bodyPr>
          <a:lstStyle/>
          <a:p>
            <a:pPr algn="l">
              <a:defRPr sz="1200" b="0">
                <a:solidFill>
                  <a:srgbClr val="5B6573"/>
                </a:solidFill>
                <a:latin typeface="Calibri"/>
                <a:ea typeface="Calibri"/>
                <a:cs typeface="Calibri"/>
              </a:defRPr>
            </a:pPr>
            <a:r>
              <a:rPr sz="1200" b="0">
                <a:solidFill>
                  <a:srgbClr val="5B6573"/>
                </a:solidFill>
                <a:latin typeface="Calibri"/>
                <a:ea typeface="Calibri"/>
                <a:cs typeface="Calibri"/>
              </a:rPr>
              <a:t>University of Thessaly, Greece</a:t>
            </a:r>
          </a:p>
        </p:txBody>
      </p:sp>
      <p:pic>
        <p:nvPicPr>
          <p:cNvPr id="14" name="Picture 13">
            <a:extLst>
              <a:ext uri="{FF2B5EF4-FFF2-40B4-BE49-F238E27FC236}">
                <a16:creationId xmlns:a16="http://schemas.microsoft.com/office/drawing/2014/main" id="{8B554741-E53C-9C03-D4C6-2262890166A5}"/>
              </a:ext>
            </a:extLst>
          </p:cNvPr>
          <p:cNvPicPr>
            <a:picLocks noChangeAspect="1"/>
          </p:cNvPicPr>
          <p:nvPr/>
        </p:nvPicPr>
        <p:blipFill>
          <a:blip r:embed="rId3" cstate="print"/>
          <a:srcRect l="27904" r="28072" b="35521"/>
          <a:stretch>
            <a:fillRect/>
          </a:stretch>
        </p:blipFill>
        <p:spPr>
          <a:xfrm>
            <a:off x="6312123" y="268618"/>
            <a:ext cx="1125363" cy="1112507"/>
          </a:xfrm>
          <a:prstGeom prst="rect">
            <a:avLst/>
          </a:prstGeom>
          <a:noFill/>
        </p:spPr>
      </p:pic>
      <p:pic>
        <p:nvPicPr>
          <p:cNvPr id="3" name="Picture 2">
            <a:extLst>
              <a:ext uri="{FF2B5EF4-FFF2-40B4-BE49-F238E27FC236}">
                <a16:creationId xmlns:a16="http://schemas.microsoft.com/office/drawing/2014/main" id="{FDCB9A74-E21E-4CF2-3904-75DCE050BBE4}"/>
              </a:ext>
            </a:extLst>
          </p:cNvPr>
          <p:cNvPicPr>
            <a:picLocks noChangeAspect="1"/>
          </p:cNvPicPr>
          <p:nvPr/>
        </p:nvPicPr>
        <p:blipFill>
          <a:blip r:embed="rId4"/>
          <a:stretch>
            <a:fillRect/>
          </a:stretch>
        </p:blipFill>
        <p:spPr>
          <a:xfrm>
            <a:off x="200248" y="356704"/>
            <a:ext cx="1401725" cy="728897"/>
          </a:xfrm>
          <a:prstGeom prst="rect">
            <a:avLst/>
          </a:prstGeom>
        </p:spPr>
      </p:pic>
      <p:pic>
        <p:nvPicPr>
          <p:cNvPr id="8" name="Google Shape;146;p1" descr="CasLab_log">
            <a:extLst>
              <a:ext uri="{FF2B5EF4-FFF2-40B4-BE49-F238E27FC236}">
                <a16:creationId xmlns:a16="http://schemas.microsoft.com/office/drawing/2014/main" id="{E93B349A-6A0C-0A54-4DE0-6C140DA5EAD4}"/>
              </a:ext>
            </a:extLst>
          </p:cNvPr>
          <p:cNvPicPr preferRelativeResize="0"/>
          <p:nvPr/>
        </p:nvPicPr>
        <p:blipFill rotWithShape="1">
          <a:blip r:embed="rId5">
            <a:alphaModFix/>
          </a:blip>
          <a:srcRect/>
          <a:stretch/>
        </p:blipFill>
        <p:spPr>
          <a:xfrm>
            <a:off x="7759499" y="268618"/>
            <a:ext cx="1125363" cy="1112507"/>
          </a:xfrm>
          <a:prstGeom prst="rect">
            <a:avLst/>
          </a:prstGeom>
          <a:noFill/>
          <a:ln>
            <a:noFill/>
          </a:ln>
        </p:spPr>
      </p:pic>
    </p:spTree>
    <p:extLst>
      <p:ext uri="{BB962C8B-B14F-4D97-AF65-F5344CB8AC3E}">
        <p14:creationId xmlns:p14="http://schemas.microsoft.com/office/powerpoint/2010/main" val="2357745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dirty="0"/>
              <a:t>Tutorial Program: 9:00 – 12:00, two blocks and a break</a:t>
            </a:r>
            <a:endParaRPr sz="2400" b="1" dirty="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OVERVIEW</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a:t>
            </a:fld>
            <a:endParaRPr sz="750" b="0">
              <a:solidFill>
                <a:srgbClr val="5B6573"/>
              </a:solidFill>
              <a:latin typeface="Calibri"/>
              <a:ea typeface="Calibri"/>
              <a:cs typeface="Calibri"/>
            </a:endParaRPr>
          </a:p>
        </p:txBody>
      </p:sp>
      <p:sp>
        <p:nvSpPr>
          <p:cNvPr id="1001" name="text 1001"/>
          <p:cNvSpPr txBox="1"/>
          <p:nvPr/>
        </p:nvSpPr>
        <p:spPr>
          <a:xfrm>
            <a:off x="411480" y="1024128"/>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9:00</a:t>
            </a:r>
          </a:p>
          <a:p>
            <a:pPr algn="l">
              <a:spcBef>
                <a:spcPts val="0"/>
              </a:spcBef>
              <a:spcAft>
                <a:spcPts val="0"/>
              </a:spcAft>
              <a:buNone/>
            </a:pPr>
            <a:r>
              <a:rPr lang="en-US" sz="900" b="0" i="0">
                <a:solidFill>
                  <a:srgbClr val="5D6C7B"/>
                </a:solidFill>
                <a:latin typeface="Calibri"/>
                <a:ea typeface="Calibri"/>
                <a:cs typeface="Calibri"/>
              </a:rPr>
              <a:t>to 9:15</a:t>
            </a:r>
          </a:p>
        </p:txBody>
      </p:sp>
      <p:sp>
        <p:nvSpPr>
          <p:cNvPr id="1002" name="shape 1002"/>
          <p:cNvSpPr/>
          <p:nvPr/>
        </p:nvSpPr>
        <p:spPr>
          <a:xfrm>
            <a:off x="1417320" y="1024128"/>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03" name="shape 1003"/>
          <p:cNvSpPr/>
          <p:nvPr/>
        </p:nvSpPr>
        <p:spPr>
          <a:xfrm>
            <a:off x="1536192" y="1133856"/>
            <a:ext cx="384048" cy="384048"/>
          </a:xfrm>
          <a:prstGeom prst="ellipse">
            <a:avLst/>
          </a:prstGeom>
          <a:solidFill>
            <a:srgbClr val="5D6C7B"/>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0</a:t>
            </a:r>
          </a:p>
        </p:txBody>
      </p:sp>
      <p:sp>
        <p:nvSpPr>
          <p:cNvPr id="1004" name="text 1004"/>
          <p:cNvSpPr txBox="1"/>
          <p:nvPr/>
        </p:nvSpPr>
        <p:spPr>
          <a:xfrm>
            <a:off x="2029968" y="1060704"/>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Welcome + setup</a:t>
            </a:r>
          </a:p>
          <a:p>
            <a:pPr algn="l">
              <a:spcBef>
                <a:spcPts val="0"/>
              </a:spcBef>
              <a:spcAft>
                <a:spcPts val="0"/>
              </a:spcAft>
              <a:buNone/>
            </a:pPr>
            <a:r>
              <a:rPr lang="en-US" sz="1000" b="0" i="0">
                <a:solidFill>
                  <a:srgbClr val="5D6C7B"/>
                </a:solidFill>
                <a:latin typeface="Calibri"/>
                <a:ea typeface="Calibri"/>
                <a:cs typeface="Calibri"/>
              </a:rPr>
              <a:t>Docker image, API keys, regression check (Part 1 setup slides)</a:t>
            </a:r>
          </a:p>
        </p:txBody>
      </p:sp>
      <p:sp>
        <p:nvSpPr>
          <p:cNvPr id="1005" name="text 1005"/>
          <p:cNvSpPr txBox="1"/>
          <p:nvPr/>
        </p:nvSpPr>
        <p:spPr>
          <a:xfrm>
            <a:off x="411480" y="1719072"/>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9:15</a:t>
            </a:r>
          </a:p>
          <a:p>
            <a:pPr algn="l">
              <a:spcBef>
                <a:spcPts val="0"/>
              </a:spcBef>
              <a:spcAft>
                <a:spcPts val="0"/>
              </a:spcAft>
              <a:buNone/>
            </a:pPr>
            <a:r>
              <a:rPr lang="en-US" sz="900" b="0" i="0">
                <a:solidFill>
                  <a:srgbClr val="5D6C7B"/>
                </a:solidFill>
                <a:latin typeface="Calibri"/>
                <a:ea typeface="Calibri"/>
                <a:cs typeface="Calibri"/>
              </a:rPr>
              <a:t>to 9:50</a:t>
            </a:r>
          </a:p>
        </p:txBody>
      </p:sp>
      <p:sp>
        <p:nvSpPr>
          <p:cNvPr id="1006" name="shape 1006"/>
          <p:cNvSpPr/>
          <p:nvPr/>
        </p:nvSpPr>
        <p:spPr>
          <a:xfrm>
            <a:off x="1417320" y="1719072"/>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07" name="shape 1007"/>
          <p:cNvSpPr/>
          <p:nvPr/>
        </p:nvSpPr>
        <p:spPr>
          <a:xfrm>
            <a:off x="1536192" y="1828800"/>
            <a:ext cx="384048" cy="384048"/>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1</a:t>
            </a:r>
          </a:p>
        </p:txBody>
      </p:sp>
      <p:sp>
        <p:nvSpPr>
          <p:cNvPr id="1008" name="text 1008"/>
          <p:cNvSpPr txBox="1"/>
          <p:nvPr/>
        </p:nvSpPr>
        <p:spPr>
          <a:xfrm>
            <a:off x="2029968" y="1755648"/>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Part 1  Foundations</a:t>
            </a:r>
          </a:p>
          <a:p>
            <a:pPr algn="l">
              <a:spcBef>
                <a:spcPts val="0"/>
              </a:spcBef>
              <a:spcAft>
                <a:spcPts val="0"/>
              </a:spcAft>
              <a:buNone/>
            </a:pPr>
            <a:r>
              <a:rPr lang="en-US" sz="1000" b="0" i="0">
                <a:solidFill>
                  <a:srgbClr val="5D6C7B"/>
                </a:solidFill>
                <a:latin typeface="Calibri"/>
                <a:ea typeface="Calibri"/>
                <a:cs typeface="Calibri"/>
              </a:rPr>
              <a:t>Agents, DSPy optimization, a testbench agent</a:t>
            </a:r>
          </a:p>
        </p:txBody>
      </p:sp>
      <p:sp>
        <p:nvSpPr>
          <p:cNvPr id="1009" name="shape 1009"/>
          <p:cNvSpPr/>
          <p:nvPr/>
        </p:nvSpPr>
        <p:spPr>
          <a:xfrm>
            <a:off x="6035040" y="1847088"/>
            <a:ext cx="2468880" cy="347472"/>
          </a:xfrm>
          <a:prstGeom prst="roundRect">
            <a:avLst>
              <a:gd name="adj" fmla="val 50000"/>
            </a:avLst>
          </a:prstGeom>
          <a:solidFill>
            <a:srgbClr val="FBE9EB"/>
          </a:solidFill>
          <a:ln>
            <a:no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alibri"/>
                <a:ea typeface="Calibri"/>
                <a:cs typeface="Calibri"/>
              </a:rPr>
              <a:t>HANDS-ON  </a:t>
            </a:r>
            <a:r>
              <a:rPr lang="en-US" sz="950" b="1" i="0">
                <a:solidFill>
                  <a:srgbClr val="0E2745"/>
                </a:solidFill>
                <a:latin typeface="Calibri"/>
                <a:ea typeface="Calibri"/>
                <a:cs typeface="Calibri"/>
              </a:rPr>
              <a:t>Sentiment agent + TB agent</a:t>
            </a:r>
          </a:p>
        </p:txBody>
      </p:sp>
      <p:sp>
        <p:nvSpPr>
          <p:cNvPr id="1010" name="text 1010"/>
          <p:cNvSpPr txBox="1"/>
          <p:nvPr/>
        </p:nvSpPr>
        <p:spPr>
          <a:xfrm>
            <a:off x="411480" y="2414016"/>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9:50</a:t>
            </a:r>
          </a:p>
          <a:p>
            <a:pPr algn="l">
              <a:spcBef>
                <a:spcPts val="0"/>
              </a:spcBef>
              <a:spcAft>
                <a:spcPts val="0"/>
              </a:spcAft>
              <a:buNone/>
            </a:pPr>
            <a:r>
              <a:rPr lang="en-US" sz="900" b="0" i="0">
                <a:solidFill>
                  <a:srgbClr val="5D6C7B"/>
                </a:solidFill>
                <a:latin typeface="Calibri"/>
                <a:ea typeface="Calibri"/>
                <a:cs typeface="Calibri"/>
              </a:rPr>
              <a:t>to 10:20</a:t>
            </a:r>
          </a:p>
        </p:txBody>
      </p:sp>
      <p:sp>
        <p:nvSpPr>
          <p:cNvPr id="1011" name="shape 1011"/>
          <p:cNvSpPr/>
          <p:nvPr/>
        </p:nvSpPr>
        <p:spPr>
          <a:xfrm>
            <a:off x="1417320" y="2414016"/>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12" name="shape 1012"/>
          <p:cNvSpPr/>
          <p:nvPr/>
        </p:nvSpPr>
        <p:spPr>
          <a:xfrm>
            <a:off x="1536192" y="2523744"/>
            <a:ext cx="384048" cy="384048"/>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2</a:t>
            </a:r>
          </a:p>
        </p:txBody>
      </p:sp>
      <p:sp>
        <p:nvSpPr>
          <p:cNvPr id="1013" name="text 1013"/>
          <p:cNvSpPr txBox="1"/>
          <p:nvPr/>
        </p:nvSpPr>
        <p:spPr>
          <a:xfrm>
            <a:off x="2029968" y="2450592"/>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Part 2  Spec → GDS with decomposed agents</a:t>
            </a:r>
          </a:p>
          <a:p>
            <a:pPr algn="l">
              <a:spcBef>
                <a:spcPts val="0"/>
              </a:spcBef>
              <a:spcAft>
                <a:spcPts val="0"/>
              </a:spcAft>
              <a:buNone/>
            </a:pPr>
            <a:r>
              <a:rPr lang="en-US" sz="1000" b="0" i="0">
                <a:solidFill>
                  <a:srgbClr val="5D6C7B"/>
                </a:solidFill>
                <a:latin typeface="Calibri"/>
                <a:ea typeface="Calibri"/>
                <a:cs typeface="Calibri"/>
              </a:rPr>
              <a:t>Single agent vs multi-agent, scoring vs a golden run</a:t>
            </a:r>
          </a:p>
        </p:txBody>
      </p:sp>
      <p:sp>
        <p:nvSpPr>
          <p:cNvPr id="1014" name="shape 1014"/>
          <p:cNvSpPr/>
          <p:nvPr/>
        </p:nvSpPr>
        <p:spPr>
          <a:xfrm>
            <a:off x="6035040" y="2542032"/>
            <a:ext cx="2468880" cy="347472"/>
          </a:xfrm>
          <a:prstGeom prst="roundRect">
            <a:avLst>
              <a:gd name="adj" fmla="val 50000"/>
            </a:avLst>
          </a:prstGeom>
          <a:solidFill>
            <a:srgbClr val="FBE9EB"/>
          </a:solidFill>
          <a:ln>
            <a:no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alibri"/>
                <a:ea typeface="Calibri"/>
                <a:cs typeface="Calibri"/>
              </a:rPr>
              <a:t>HANDS-ON  </a:t>
            </a:r>
            <a:r>
              <a:rPr lang="en-US" sz="950" b="1" i="0">
                <a:solidFill>
                  <a:srgbClr val="0E2745"/>
                </a:solidFill>
                <a:latin typeface="Calibri"/>
                <a:ea typeface="Calibri"/>
                <a:cs typeface="Calibri"/>
              </a:rPr>
              <a:t>Spec2Tapeout</a:t>
            </a:r>
          </a:p>
        </p:txBody>
      </p:sp>
      <p:sp>
        <p:nvSpPr>
          <p:cNvPr id="1015" name="shape 1015"/>
          <p:cNvSpPr/>
          <p:nvPr/>
        </p:nvSpPr>
        <p:spPr>
          <a:xfrm>
            <a:off x="1417320" y="3200400"/>
            <a:ext cx="7223760" cy="384048"/>
          </a:xfrm>
          <a:prstGeom prst="roundRect">
            <a:avLst>
              <a:gd name="adj" fmla="val 50000"/>
            </a:avLst>
          </a:prstGeom>
          <a:solidFill>
            <a:srgbClr val="F3F6FA"/>
          </a:solidFill>
          <a:ln>
            <a:noFill/>
          </a:ln>
        </p:spPr>
        <p:txBody>
          <a:bodyPr wrap="square" lIns="73152" tIns="73152" rIns="73152" bIns="73152" anchor="ctr">
            <a:noAutofit/>
          </a:bodyPr>
          <a:lstStyle/>
          <a:p>
            <a:pPr algn="ctr">
              <a:spcBef>
                <a:spcPts val="0"/>
              </a:spcBef>
              <a:spcAft>
                <a:spcPts val="0"/>
              </a:spcAft>
              <a:buNone/>
            </a:pPr>
            <a:r>
              <a:rPr lang="en-US" sz="1200" b="1" i="0">
                <a:solidFill>
                  <a:srgbClr val="5D6C7B"/>
                </a:solidFill>
                <a:latin typeface="Calibri"/>
                <a:ea typeface="Calibri"/>
                <a:cs typeface="Calibri"/>
              </a:rPr>
              <a:t>☕  Break  ·  20 min</a:t>
            </a:r>
          </a:p>
        </p:txBody>
      </p:sp>
      <p:sp>
        <p:nvSpPr>
          <p:cNvPr id="1016" name="text 1016"/>
          <p:cNvSpPr txBox="1"/>
          <p:nvPr/>
        </p:nvSpPr>
        <p:spPr>
          <a:xfrm>
            <a:off x="411480" y="3200400"/>
            <a:ext cx="960120" cy="38404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5D6C7B"/>
                </a:solidFill>
                <a:latin typeface="Calibri"/>
                <a:ea typeface="Calibri"/>
                <a:cs typeface="Calibri"/>
              </a:rPr>
              <a:t>10:20–10:40</a:t>
            </a:r>
          </a:p>
        </p:txBody>
      </p:sp>
      <p:sp>
        <p:nvSpPr>
          <p:cNvPr id="1017" name="text 1017"/>
          <p:cNvSpPr txBox="1"/>
          <p:nvPr/>
        </p:nvSpPr>
        <p:spPr>
          <a:xfrm>
            <a:off x="411480" y="3712464"/>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10:40</a:t>
            </a:r>
          </a:p>
          <a:p>
            <a:pPr algn="l">
              <a:spcBef>
                <a:spcPts val="0"/>
              </a:spcBef>
              <a:spcAft>
                <a:spcPts val="0"/>
              </a:spcAft>
              <a:buNone/>
            </a:pPr>
            <a:r>
              <a:rPr lang="en-US" sz="900" b="0" i="0">
                <a:solidFill>
                  <a:srgbClr val="5D6C7B"/>
                </a:solidFill>
                <a:latin typeface="Calibri"/>
                <a:ea typeface="Calibri"/>
                <a:cs typeface="Calibri"/>
              </a:rPr>
              <a:t>to 11:10</a:t>
            </a:r>
          </a:p>
        </p:txBody>
      </p:sp>
      <p:sp>
        <p:nvSpPr>
          <p:cNvPr id="1018" name="shape 1018"/>
          <p:cNvSpPr/>
          <p:nvPr/>
        </p:nvSpPr>
        <p:spPr>
          <a:xfrm>
            <a:off x="1417320" y="3712464"/>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19" name="shape 1019"/>
          <p:cNvSpPr/>
          <p:nvPr/>
        </p:nvSpPr>
        <p:spPr>
          <a:xfrm>
            <a:off x="1536192" y="3822192"/>
            <a:ext cx="384048" cy="384048"/>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3</a:t>
            </a:r>
          </a:p>
        </p:txBody>
      </p:sp>
      <p:sp>
        <p:nvSpPr>
          <p:cNvPr id="1020" name="text 1020"/>
          <p:cNvSpPr txBox="1"/>
          <p:nvPr/>
        </p:nvSpPr>
        <p:spPr>
          <a:xfrm>
            <a:off x="2029968" y="3749040"/>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Part 3  Agents in feedback loops</a:t>
            </a:r>
          </a:p>
          <a:p>
            <a:pPr algn="l">
              <a:spcBef>
                <a:spcPts val="0"/>
              </a:spcBef>
              <a:spcAft>
                <a:spcPts val="0"/>
              </a:spcAft>
              <a:buNone/>
            </a:pPr>
            <a:r>
              <a:rPr lang="en-US" sz="1000" b="0" i="0">
                <a:solidFill>
                  <a:srgbClr val="5D6C7B"/>
                </a:solidFill>
                <a:latin typeface="Calibri"/>
                <a:ea typeface="Calibri"/>
                <a:cs typeface="Calibri"/>
              </a:rPr>
              <a:t>PPA optimization + resynthesis</a:t>
            </a:r>
          </a:p>
        </p:txBody>
      </p:sp>
      <p:sp>
        <p:nvSpPr>
          <p:cNvPr id="1021" name="shape 1021"/>
          <p:cNvSpPr/>
          <p:nvPr/>
        </p:nvSpPr>
        <p:spPr>
          <a:xfrm>
            <a:off x="6035040" y="3840480"/>
            <a:ext cx="2468880" cy="347472"/>
          </a:xfrm>
          <a:prstGeom prst="roundRect">
            <a:avLst>
              <a:gd name="adj" fmla="val 50000"/>
            </a:avLst>
          </a:prstGeom>
          <a:solidFill>
            <a:srgbClr val="FBE9EB"/>
          </a:solidFill>
          <a:ln>
            <a:no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alibri"/>
                <a:ea typeface="Calibri"/>
                <a:cs typeface="Calibri"/>
              </a:rPr>
              <a:t>HANDS-ON  </a:t>
            </a:r>
            <a:r>
              <a:rPr lang="en-US" sz="950" b="1" i="0">
                <a:solidFill>
                  <a:srgbClr val="0E2745"/>
                </a:solidFill>
                <a:latin typeface="Calibri"/>
                <a:ea typeface="Calibri"/>
                <a:cs typeface="Calibri"/>
              </a:rPr>
              <a:t>FPU Retiming Problem</a:t>
            </a:r>
          </a:p>
        </p:txBody>
      </p:sp>
      <p:sp>
        <p:nvSpPr>
          <p:cNvPr id="1022" name="text 1022"/>
          <p:cNvSpPr txBox="1"/>
          <p:nvPr/>
        </p:nvSpPr>
        <p:spPr>
          <a:xfrm>
            <a:off x="411480" y="4407408"/>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11:10</a:t>
            </a:r>
          </a:p>
          <a:p>
            <a:pPr algn="l">
              <a:spcBef>
                <a:spcPts val="0"/>
              </a:spcBef>
              <a:spcAft>
                <a:spcPts val="0"/>
              </a:spcAft>
              <a:buNone/>
            </a:pPr>
            <a:r>
              <a:rPr lang="en-US" sz="900" b="0" i="0">
                <a:solidFill>
                  <a:srgbClr val="5D6C7B"/>
                </a:solidFill>
                <a:latin typeface="Calibri"/>
                <a:ea typeface="Calibri"/>
                <a:cs typeface="Calibri"/>
              </a:rPr>
              <a:t>to 11:45</a:t>
            </a:r>
          </a:p>
        </p:txBody>
      </p:sp>
      <p:sp>
        <p:nvSpPr>
          <p:cNvPr id="1023" name="shape 1023"/>
          <p:cNvSpPr/>
          <p:nvPr/>
        </p:nvSpPr>
        <p:spPr>
          <a:xfrm>
            <a:off x="1417320" y="4407408"/>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24" name="shape 1024"/>
          <p:cNvSpPr/>
          <p:nvPr/>
        </p:nvSpPr>
        <p:spPr>
          <a:xfrm>
            <a:off x="1536192" y="4517136"/>
            <a:ext cx="384048" cy="384048"/>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4</a:t>
            </a:r>
          </a:p>
        </p:txBody>
      </p:sp>
      <p:sp>
        <p:nvSpPr>
          <p:cNvPr id="1025" name="text 1025"/>
          <p:cNvSpPr txBox="1"/>
          <p:nvPr/>
        </p:nvSpPr>
        <p:spPr>
          <a:xfrm>
            <a:off x="2029968" y="4443984"/>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Part 4  A big model orchestrating small ones</a:t>
            </a:r>
          </a:p>
          <a:p>
            <a:pPr algn="l">
              <a:spcBef>
                <a:spcPts val="0"/>
              </a:spcBef>
              <a:spcAft>
                <a:spcPts val="0"/>
              </a:spcAft>
              <a:buNone/>
            </a:pPr>
            <a:r>
              <a:rPr lang="en-US" sz="1000" b="0" i="0">
                <a:solidFill>
                  <a:srgbClr val="5D6C7B"/>
                </a:solidFill>
                <a:latin typeface="Calibri"/>
                <a:ea typeface="Calibri"/>
                <a:cs typeface="Calibri"/>
              </a:rPr>
              <a:t>Planning, generated prompts, stepping in</a:t>
            </a:r>
          </a:p>
        </p:txBody>
      </p:sp>
      <p:sp>
        <p:nvSpPr>
          <p:cNvPr id="1026" name="shape 1026"/>
          <p:cNvSpPr/>
          <p:nvPr/>
        </p:nvSpPr>
        <p:spPr>
          <a:xfrm>
            <a:off x="6035040" y="4535424"/>
            <a:ext cx="2468880" cy="347472"/>
          </a:xfrm>
          <a:prstGeom prst="roundRect">
            <a:avLst>
              <a:gd name="adj" fmla="val 50000"/>
            </a:avLst>
          </a:prstGeom>
          <a:solidFill>
            <a:srgbClr val="FBE9EB"/>
          </a:solidFill>
          <a:ln>
            <a:no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alibri"/>
                <a:ea typeface="Calibri"/>
                <a:cs typeface="Calibri"/>
              </a:rPr>
              <a:t>HANDS-ON  </a:t>
            </a:r>
            <a:r>
              <a:rPr lang="en-US" sz="950" b="1" i="0">
                <a:solidFill>
                  <a:srgbClr val="0E2745"/>
                </a:solidFill>
                <a:latin typeface="Calibri"/>
                <a:ea typeface="Calibri"/>
                <a:cs typeface="Calibri"/>
              </a:rPr>
              <a:t>LLM as the Orchestrator</a:t>
            </a:r>
          </a:p>
        </p:txBody>
      </p:sp>
      <p:sp>
        <p:nvSpPr>
          <p:cNvPr id="1027" name="text 1027"/>
          <p:cNvSpPr txBox="1"/>
          <p:nvPr/>
        </p:nvSpPr>
        <p:spPr>
          <a:xfrm>
            <a:off x="411480" y="5102352"/>
            <a:ext cx="960120" cy="60350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300" b="1" i="0">
                <a:solidFill>
                  <a:srgbClr val="17365D"/>
                </a:solidFill>
                <a:latin typeface="Calibri"/>
                <a:ea typeface="Calibri"/>
                <a:cs typeface="Calibri"/>
              </a:rPr>
              <a:t>11:45</a:t>
            </a:r>
          </a:p>
          <a:p>
            <a:pPr algn="l">
              <a:spcBef>
                <a:spcPts val="0"/>
              </a:spcBef>
              <a:spcAft>
                <a:spcPts val="0"/>
              </a:spcAft>
              <a:buNone/>
            </a:pPr>
            <a:r>
              <a:rPr lang="en-US" sz="900" b="0" i="0">
                <a:solidFill>
                  <a:srgbClr val="5D6C7B"/>
                </a:solidFill>
                <a:latin typeface="Calibri"/>
                <a:ea typeface="Calibri"/>
                <a:cs typeface="Calibri"/>
              </a:rPr>
              <a:t>to 12:00</a:t>
            </a:r>
          </a:p>
        </p:txBody>
      </p:sp>
      <p:sp>
        <p:nvSpPr>
          <p:cNvPr id="1028" name="shape 1028"/>
          <p:cNvSpPr/>
          <p:nvPr/>
        </p:nvSpPr>
        <p:spPr>
          <a:xfrm>
            <a:off x="1417320" y="5102352"/>
            <a:ext cx="7223760" cy="603504"/>
          </a:xfrm>
          <a:prstGeom prst="roundRect">
            <a:avLst>
              <a:gd name="adj" fmla="val 12000"/>
            </a:avLst>
          </a:prstGeom>
          <a:solidFill>
            <a:srgbClr val="FFFFFF"/>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29" name="shape 1029"/>
          <p:cNvSpPr/>
          <p:nvPr/>
        </p:nvSpPr>
        <p:spPr>
          <a:xfrm>
            <a:off x="1536192" y="5212080"/>
            <a:ext cx="384048" cy="384048"/>
          </a:xfrm>
          <a:prstGeom prst="ellipse">
            <a:avLst/>
          </a:prstGeom>
          <a:solidFill>
            <a:srgbClr val="B91F2D"/>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5</a:t>
            </a:r>
          </a:p>
        </p:txBody>
      </p:sp>
      <p:sp>
        <p:nvSpPr>
          <p:cNvPr id="1030" name="text 1030"/>
          <p:cNvSpPr txBox="1"/>
          <p:nvPr/>
        </p:nvSpPr>
        <p:spPr>
          <a:xfrm>
            <a:off x="2029968" y="5138928"/>
            <a:ext cx="393192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50" b="1" i="0">
                <a:solidFill>
                  <a:srgbClr val="0E2745"/>
                </a:solidFill>
                <a:latin typeface="Calibri"/>
                <a:ea typeface="Calibri"/>
                <a:cs typeface="Calibri"/>
              </a:rPr>
              <a:t>Part 5  Open challenges + Q&amp;A</a:t>
            </a:r>
          </a:p>
        </p:txBody>
      </p:sp>
      <p:sp>
        <p:nvSpPr>
          <p:cNvPr id="1031" name="text 1031"/>
          <p:cNvSpPr txBox="1"/>
          <p:nvPr/>
        </p:nvSpPr>
        <p:spPr>
          <a:xfrm>
            <a:off x="457200" y="6035040"/>
            <a:ext cx="8229600" cy="32004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50" b="0" i="1">
                <a:solidFill>
                  <a:srgbClr val="5D6C7B"/>
                </a:solidFill>
                <a:latin typeface="Calibri"/>
                <a:ea typeface="Calibri"/>
                <a:cs typeface="Calibri"/>
              </a:rPr>
              <a:t>Every part: short concepts → run the flow → improve an Agent.md → compare with the golden run</a:t>
            </a:r>
          </a:p>
        </p:txBody>
      </p:sp>
    </p:spTree>
    <p:extLst>
      <p:ext uri="{BB962C8B-B14F-4D97-AF65-F5344CB8AC3E}">
        <p14:creationId xmlns:p14="http://schemas.microsoft.com/office/powerpoint/2010/main" val="49644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a:extLst>
            <a:ext uri="{FF2B5EF4-FFF2-40B4-BE49-F238E27FC236}">
              <a16:creationId xmlns:a16="http://schemas.microsoft.com/office/drawing/2014/main" id="{A60DD5AB-767C-6448-8551-F89C3B588A2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DDB27EA-9DE7-C69E-E523-A60043EEBC15}"/>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4F1A9F90-46F3-99DA-D0AB-1CF4A63669F3}"/>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D6D38BB1-8F53-54B4-4FFF-53714E337126}"/>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Part 1</a:t>
            </a:r>
            <a:endParaRPr sz="2325" b="1">
              <a:solidFill>
                <a:srgbClr val="FFFFFF"/>
              </a:solidFill>
              <a:latin typeface="Calibri"/>
              <a:ea typeface="Calibri"/>
              <a:cs typeface="Calibri"/>
            </a:endParaRPr>
          </a:p>
        </p:txBody>
      </p:sp>
      <p:sp>
        <p:nvSpPr>
          <p:cNvPr id="4" name="Rectangle 3">
            <a:extLst>
              <a:ext uri="{FF2B5EF4-FFF2-40B4-BE49-F238E27FC236}">
                <a16:creationId xmlns:a16="http://schemas.microsoft.com/office/drawing/2014/main" id="{6EDF50B7-253C-8BAE-267F-B0F7D882A141}"/>
              </a:ext>
            </a:extLst>
          </p:cNvPr>
          <p:cNvSpPr>
            <a:spLocks noGrp="1"/>
          </p:cNvSpPr>
          <p:nvPr/>
        </p:nvSpPr>
        <p:spPr>
          <a:xfrm>
            <a:off x="523876" y="1200150"/>
            <a:ext cx="6698138" cy="1047750"/>
          </a:xfrm>
          <a:prstGeom prst="rect">
            <a:avLst/>
          </a:prstGeom>
          <a:noFill/>
          <a:ln w="0">
            <a:noFill/>
          </a:ln>
        </p:spPr>
        <p:txBody>
          <a:bodyPr anchor="ctr">
            <a:normAutofit/>
          </a:bodyPr>
          <a:lstStyle/>
          <a:p>
            <a:pPr>
              <a:defRPr sz="2550" b="1">
                <a:solidFill>
                  <a:srgbClr val="FFFFFF"/>
                </a:solidFill>
                <a:latin typeface="Calibri"/>
                <a:ea typeface="Calibri"/>
                <a:cs typeface="Calibri"/>
              </a:defRPr>
            </a:pPr>
            <a:r>
              <a:rPr lang="en-GR" sz="2550" i="1">
                <a:solidFill>
                  <a:srgbClr val="FFFFFF"/>
                </a:solidFill>
                <a:latin typeface="Calibri"/>
              </a:rPr>
              <a:t>Foundations – Agentic AI </a:t>
            </a:r>
            <a:r>
              <a:rPr lang="en-US" sz="2550" i="1">
                <a:solidFill>
                  <a:srgbClr val="FFFFFF"/>
                </a:solidFill>
                <a:latin typeface="Calibri"/>
              </a:rPr>
              <a:t>and</a:t>
            </a:r>
            <a:r>
              <a:rPr lang="en-GR" sz="2550" i="1">
                <a:solidFill>
                  <a:srgbClr val="FFFFFF"/>
                </a:solidFill>
                <a:latin typeface="Calibri"/>
              </a:rPr>
              <a:t> Hybrid Model Paradigms - Environment Setup</a:t>
            </a:r>
            <a:endParaRPr sz="2550" b="1">
              <a:solidFill>
                <a:srgbClr val="FFFFFF"/>
              </a:solidFill>
              <a:latin typeface="Calibri"/>
              <a:ea typeface="Calibri"/>
              <a:cs typeface="Calibri"/>
            </a:endParaRPr>
          </a:p>
        </p:txBody>
      </p:sp>
      <p:sp>
        <p:nvSpPr>
          <p:cNvPr id="12" name="Rectangle 11">
            <a:extLst>
              <a:ext uri="{FF2B5EF4-FFF2-40B4-BE49-F238E27FC236}">
                <a16:creationId xmlns:a16="http://schemas.microsoft.com/office/drawing/2014/main" id="{4BA8EFF6-7964-AB68-B36D-229ABC29203C}"/>
              </a:ext>
            </a:extLst>
          </p:cNvPr>
          <p:cNvSpPr>
            <a:spLocks noGrp="1"/>
          </p:cNvSpPr>
          <p:nvPr/>
        </p:nvSpPr>
        <p:spPr>
          <a:xfrm>
            <a:off x="559732" y="1724025"/>
            <a:ext cx="6238875" cy="3961000"/>
          </a:xfrm>
          <a:prstGeom prst="rect">
            <a:avLst/>
          </a:prstGeom>
          <a:noFill/>
          <a:ln w="0">
            <a:noFill/>
          </a:ln>
        </p:spPr>
        <p:txBody>
          <a:bodyPr lIns="91440" tIns="45720" rIns="91440" bIns="45720" anchor="ctr">
            <a:normAutofit/>
          </a:bodyPr>
          <a:lstStyle/>
          <a:p>
            <a:pPr marL="285750" indent="-285750" algn="l">
              <a:buFont typeface="Wingdings" pitchFamily="2" charset="2"/>
              <a:buChar char="Ø"/>
              <a:defRPr sz="1650" b="1">
                <a:solidFill>
                  <a:srgbClr val="DCE6F1"/>
                </a:solidFill>
                <a:latin typeface="Calibri"/>
                <a:ea typeface="Calibri"/>
                <a:cs typeface="Calibri"/>
              </a:defRPr>
            </a:pPr>
            <a:r>
              <a:rPr lang="en-US" sz="1650" b="1">
                <a:solidFill>
                  <a:srgbClr val="DCE6F1"/>
                </a:solidFill>
                <a:latin typeface="Calibri"/>
                <a:ea typeface="Calibri"/>
                <a:cs typeface="Calibri"/>
              </a:rPr>
              <a:t>Introduction to Agentic AI and current landscape</a:t>
            </a:r>
          </a:p>
          <a:p>
            <a:pPr marL="285750" indent="-285750" algn="l">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lgn="l">
              <a:buFont typeface="Wingdings" pitchFamily="2" charset="2"/>
              <a:buChar char="Ø"/>
              <a:defRPr sz="1650" b="1">
                <a:solidFill>
                  <a:srgbClr val="DCE6F1"/>
                </a:solidFill>
                <a:latin typeface="Calibri"/>
                <a:ea typeface="Calibri"/>
                <a:cs typeface="Calibri"/>
              </a:defRPr>
            </a:pPr>
            <a:r>
              <a:rPr lang="en-US" sz="1650" b="1">
                <a:solidFill>
                  <a:srgbClr val="DCE6F1"/>
                </a:solidFill>
                <a:latin typeface="Calibri"/>
                <a:ea typeface="Calibri"/>
                <a:cs typeface="Calibri"/>
              </a:rPr>
              <a:t>LLMs vs SLMs in Hardware Design</a:t>
            </a:r>
          </a:p>
          <a:p>
            <a:pPr marL="285750" indent="-285750" algn="l">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lgn="l">
              <a:buFont typeface="Wingdings" pitchFamily="2" charset="2"/>
              <a:buChar char="Ø"/>
              <a:defRPr sz="1650" b="1">
                <a:solidFill>
                  <a:srgbClr val="DCE6F1"/>
                </a:solidFill>
                <a:latin typeface="Calibri"/>
                <a:ea typeface="Calibri"/>
                <a:cs typeface="Calibri"/>
              </a:defRPr>
            </a:pPr>
            <a:r>
              <a:rPr lang="en-US" sz="1650" b="1">
                <a:solidFill>
                  <a:srgbClr val="DCE6F1"/>
                </a:solidFill>
                <a:latin typeface="Calibri"/>
                <a:ea typeface="Calibri"/>
                <a:cs typeface="Calibri"/>
              </a:rPr>
              <a:t>Task Decomposition</a:t>
            </a:r>
          </a:p>
          <a:p>
            <a:pPr marL="285750" indent="-285750" algn="l">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US" sz="1650" b="1">
                <a:solidFill>
                  <a:srgbClr val="DCE6F1"/>
                </a:solidFill>
                <a:latin typeface="Calibri"/>
                <a:ea typeface="Calibri"/>
                <a:cs typeface="Calibri"/>
              </a:rPr>
              <a:t>Limitations</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lgn="l">
              <a:buFont typeface="Wingdings" pitchFamily="2" charset="2"/>
              <a:buChar char="Ø"/>
              <a:defRPr sz="1650" b="1">
                <a:solidFill>
                  <a:srgbClr val="DCE6F1"/>
                </a:solidFill>
                <a:latin typeface="Calibri"/>
                <a:ea typeface="Calibri"/>
                <a:cs typeface="Calibri"/>
              </a:defRPr>
            </a:pPr>
            <a:r>
              <a:rPr lang="en-US" sz="1650" b="1">
                <a:solidFill>
                  <a:srgbClr val="DCE6F1"/>
                </a:solidFill>
                <a:latin typeface="Calibri"/>
                <a:ea typeface="Calibri"/>
                <a:cs typeface="Calibri"/>
              </a:rPr>
              <a:t>Environment Setup</a:t>
            </a:r>
          </a:p>
        </p:txBody>
      </p:sp>
      <p:sp>
        <p:nvSpPr>
          <p:cNvPr id="18" name="Rectangle 17">
            <a:extLst>
              <a:ext uri="{FF2B5EF4-FFF2-40B4-BE49-F238E27FC236}">
                <a16:creationId xmlns:a16="http://schemas.microsoft.com/office/drawing/2014/main" id="{F99619BC-28E6-4718-0197-F8E2A30BCCCE}"/>
              </a:ext>
            </a:extLst>
          </p:cNvPr>
          <p:cNvSpPr>
            <a:spLocks noGrp="1"/>
          </p:cNvSpPr>
          <p:nvPr/>
        </p:nvSpPr>
        <p:spPr>
          <a:xfrm>
            <a:off x="523873" y="3009900"/>
            <a:ext cx="6238875" cy="685800"/>
          </a:xfrm>
          <a:prstGeom prst="rect">
            <a:avLst/>
          </a:prstGeom>
          <a:noFill/>
          <a:ln w="0">
            <a:noFill/>
          </a:ln>
        </p:spPr>
        <p:txBody>
          <a:bodyPr anchor="ctr">
            <a:normAutofit/>
          </a:bodyPr>
          <a:lstStyle/>
          <a:p>
            <a:pPr algn="l">
              <a:defRPr sz="1650" b="1">
                <a:solidFill>
                  <a:srgbClr val="DCE6F1"/>
                </a:solidFill>
                <a:latin typeface="Calibri"/>
                <a:ea typeface="Calibri"/>
                <a:cs typeface="Calibri"/>
              </a:defRPr>
            </a:pPr>
            <a:endParaRPr sz="1650" b="1">
              <a:solidFill>
                <a:srgbClr val="DCE6F1"/>
              </a:solidFill>
              <a:latin typeface="Calibri"/>
              <a:ea typeface="Calibri"/>
              <a:cs typeface="Calibri"/>
            </a:endParaRPr>
          </a:p>
        </p:txBody>
      </p:sp>
    </p:spTree>
    <p:extLst>
      <p:ext uri="{BB962C8B-B14F-4D97-AF65-F5344CB8AC3E}">
        <p14:creationId xmlns:p14="http://schemas.microsoft.com/office/powerpoint/2010/main" val="4031313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5A1C-6E0A-A305-561D-F1B79F4D28DA}"/>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89562C64-CCB8-AB70-B56D-D95CA545958C}"/>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277DEE2C-D40B-C32F-9B85-DB9026A2D588}"/>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79FE216D-C6F2-E9E8-3E24-2AFA333E0494}"/>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Introduction to Agentic AI</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86A75E5-BA41-6CE4-F322-E83ED5C2DB49}"/>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DC85328-F84F-711D-925C-F40AD3CBF4D1}"/>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a:t>
            </a:fld>
            <a:endParaRPr sz="750" b="0">
              <a:solidFill>
                <a:srgbClr val="5B6573"/>
              </a:solidFill>
              <a:latin typeface="Calibri"/>
              <a:ea typeface="Calibri"/>
              <a:cs typeface="Calibri"/>
            </a:endParaRPr>
          </a:p>
        </p:txBody>
      </p:sp>
      <p:pic>
        <p:nvPicPr>
          <p:cNvPr id="5" name="Google Shape;183;g3d64ca710eb_5_33">
            <a:extLst>
              <a:ext uri="{FF2B5EF4-FFF2-40B4-BE49-F238E27FC236}">
                <a16:creationId xmlns:a16="http://schemas.microsoft.com/office/drawing/2014/main" id="{7606015B-91E8-ABF0-2101-DFDC0762E014}"/>
              </a:ext>
            </a:extLst>
          </p:cNvPr>
          <p:cNvPicPr preferRelativeResize="0"/>
          <p:nvPr/>
        </p:nvPicPr>
        <p:blipFill rotWithShape="1">
          <a:blip r:embed="rId3">
            <a:alphaModFix/>
          </a:blip>
          <a:srcRect r="3670"/>
          <a:stretch/>
        </p:blipFill>
        <p:spPr>
          <a:xfrm>
            <a:off x="314799" y="1283051"/>
            <a:ext cx="8514401" cy="4622449"/>
          </a:xfrm>
          <a:prstGeom prst="rect">
            <a:avLst/>
          </a:prstGeom>
          <a:noFill/>
          <a:ln>
            <a:noFill/>
          </a:ln>
        </p:spPr>
      </p:pic>
    </p:spTree>
    <p:extLst>
      <p:ext uri="{BB962C8B-B14F-4D97-AF65-F5344CB8AC3E}">
        <p14:creationId xmlns:p14="http://schemas.microsoft.com/office/powerpoint/2010/main" val="1365409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dirty="0"/>
              <a:t>Words you will hear today (in plain speak)</a:t>
            </a:r>
            <a:endParaRPr sz="2400" b="1" dirty="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a:t>
            </a:fld>
            <a:endParaRPr sz="750" b="0">
              <a:solidFill>
                <a:srgbClr val="5B6573"/>
              </a:solidFill>
              <a:latin typeface="Calibri"/>
              <a:ea typeface="Calibri"/>
              <a:cs typeface="Calibri"/>
            </a:endParaRPr>
          </a:p>
        </p:txBody>
      </p:sp>
      <p:sp>
        <p:nvSpPr>
          <p:cNvPr id="1273" name="shape 1273"/>
          <p:cNvSpPr/>
          <p:nvPr/>
        </p:nvSpPr>
        <p:spPr>
          <a:xfrm>
            <a:off x="457200" y="102412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74" name="text 1274"/>
          <p:cNvSpPr txBox="1"/>
          <p:nvPr/>
        </p:nvSpPr>
        <p:spPr>
          <a:xfrm>
            <a:off x="621792" y="109728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B91F2D"/>
                </a:solidFill>
                <a:latin typeface="Calibri"/>
                <a:ea typeface="Calibri"/>
                <a:cs typeface="Calibri"/>
              </a:rPr>
              <a:t>LLM</a:t>
            </a:r>
          </a:p>
          <a:p>
            <a:pPr algn="l">
              <a:spcBef>
                <a:spcPts val="0"/>
              </a:spcBef>
              <a:spcAft>
                <a:spcPts val="0"/>
              </a:spcAft>
              <a:buNone/>
            </a:pPr>
            <a:r>
              <a:rPr lang="en-US" sz="1050" b="0" i="0">
                <a:solidFill>
                  <a:srgbClr val="0E2745"/>
                </a:solidFill>
                <a:latin typeface="Calibri"/>
                <a:ea typeface="Calibri"/>
                <a:cs typeface="Calibri"/>
              </a:rPr>
              <a:t>Large Language Model: a big AI model in the cloud (Gemini, Claude). Strong, but every word costs money.</a:t>
            </a:r>
          </a:p>
        </p:txBody>
      </p:sp>
      <p:sp>
        <p:nvSpPr>
          <p:cNvPr id="1275" name="shape 1275"/>
          <p:cNvSpPr/>
          <p:nvPr/>
        </p:nvSpPr>
        <p:spPr>
          <a:xfrm>
            <a:off x="4617720" y="102412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76" name="text 1276"/>
          <p:cNvSpPr txBox="1"/>
          <p:nvPr/>
        </p:nvSpPr>
        <p:spPr>
          <a:xfrm>
            <a:off x="4782312" y="109728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B91F2D"/>
                </a:solidFill>
                <a:latin typeface="Calibri"/>
                <a:ea typeface="Calibri"/>
                <a:cs typeface="Calibri"/>
              </a:rPr>
              <a:t>SLM</a:t>
            </a:r>
          </a:p>
          <a:p>
            <a:pPr algn="l">
              <a:spcBef>
                <a:spcPts val="0"/>
              </a:spcBef>
              <a:spcAft>
                <a:spcPts val="0"/>
              </a:spcAft>
              <a:buNone/>
            </a:pPr>
            <a:r>
              <a:rPr lang="en-US" sz="1050" b="0" i="0">
                <a:solidFill>
                  <a:srgbClr val="0E2745"/>
                </a:solidFill>
                <a:latin typeface="Calibri"/>
                <a:ea typeface="Calibri"/>
                <a:cs typeface="Calibri"/>
              </a:rPr>
              <a:t>Small Language Model: runs on your own laptop (llama3.1 with Ollama). Free and private, but weaker.</a:t>
            </a:r>
          </a:p>
        </p:txBody>
      </p:sp>
      <p:sp>
        <p:nvSpPr>
          <p:cNvPr id="1277" name="shape 1277"/>
          <p:cNvSpPr/>
          <p:nvPr/>
        </p:nvSpPr>
        <p:spPr>
          <a:xfrm>
            <a:off x="457200" y="221284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78" name="text 1278"/>
          <p:cNvSpPr txBox="1"/>
          <p:nvPr/>
        </p:nvSpPr>
        <p:spPr>
          <a:xfrm>
            <a:off x="621792" y="228600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Agent</a:t>
            </a:r>
          </a:p>
          <a:p>
            <a:pPr algn="l">
              <a:spcBef>
                <a:spcPts val="0"/>
              </a:spcBef>
              <a:spcAft>
                <a:spcPts val="0"/>
              </a:spcAft>
              <a:buNone/>
            </a:pPr>
            <a:r>
              <a:rPr lang="en-US" sz="1050" b="0" i="0">
                <a:solidFill>
                  <a:srgbClr val="0E2745"/>
                </a:solidFill>
                <a:latin typeface="Calibri"/>
                <a:ea typeface="Calibri"/>
                <a:cs typeface="Calibri"/>
              </a:rPr>
              <a:t>A model + tools + a loop: it writes something, a tool checks it, the errors go back, it tries again.</a:t>
            </a:r>
          </a:p>
        </p:txBody>
      </p:sp>
      <p:sp>
        <p:nvSpPr>
          <p:cNvPr id="1279" name="shape 1279"/>
          <p:cNvSpPr/>
          <p:nvPr/>
        </p:nvSpPr>
        <p:spPr>
          <a:xfrm>
            <a:off x="4617720" y="221284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80" name="text 1280"/>
          <p:cNvSpPr txBox="1"/>
          <p:nvPr/>
        </p:nvSpPr>
        <p:spPr>
          <a:xfrm>
            <a:off x="4782312" y="228600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Prompt </a:t>
            </a:r>
          </a:p>
          <a:p>
            <a:pPr algn="l">
              <a:spcBef>
                <a:spcPts val="0"/>
              </a:spcBef>
              <a:spcAft>
                <a:spcPts val="200"/>
              </a:spcAft>
              <a:buNone/>
            </a:pPr>
            <a:r>
              <a:rPr lang="en-US" sz="1050" b="0" i="0">
                <a:solidFill>
                  <a:srgbClr val="0E2745"/>
                </a:solidFill>
                <a:latin typeface="Calibri"/>
                <a:ea typeface="Calibri"/>
                <a:cs typeface="Calibri"/>
              </a:rPr>
              <a:t>The instructions an agent gets. In this tutorial YOU write them, in Agent.md files.</a:t>
            </a:r>
          </a:p>
        </p:txBody>
      </p:sp>
      <p:sp>
        <p:nvSpPr>
          <p:cNvPr id="1281" name="shape 1281"/>
          <p:cNvSpPr/>
          <p:nvPr/>
        </p:nvSpPr>
        <p:spPr>
          <a:xfrm>
            <a:off x="457200" y="340156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82" name="text 1282"/>
          <p:cNvSpPr txBox="1"/>
          <p:nvPr/>
        </p:nvSpPr>
        <p:spPr>
          <a:xfrm>
            <a:off x="621792" y="347472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Token</a:t>
            </a:r>
          </a:p>
          <a:p>
            <a:pPr algn="l">
              <a:spcBef>
                <a:spcPts val="0"/>
              </a:spcBef>
              <a:spcAft>
                <a:spcPts val="0"/>
              </a:spcAft>
              <a:buNone/>
            </a:pPr>
            <a:r>
              <a:rPr lang="en-US" sz="1050" b="0" i="0">
                <a:solidFill>
                  <a:srgbClr val="0E2745"/>
                </a:solidFill>
                <a:latin typeface="Calibri"/>
                <a:ea typeface="Calibri"/>
                <a:cs typeface="Calibri"/>
              </a:rPr>
              <a:t>A piece of a word (about ¾ of a word). Models are billed and rate-limited per token.</a:t>
            </a:r>
          </a:p>
        </p:txBody>
      </p:sp>
      <p:sp>
        <p:nvSpPr>
          <p:cNvPr id="1283" name="shape 1283"/>
          <p:cNvSpPr/>
          <p:nvPr/>
        </p:nvSpPr>
        <p:spPr>
          <a:xfrm>
            <a:off x="4617720" y="340156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84" name="text 1284"/>
          <p:cNvSpPr txBox="1"/>
          <p:nvPr/>
        </p:nvSpPr>
        <p:spPr>
          <a:xfrm>
            <a:off x="4782312" y="347472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API key</a:t>
            </a:r>
          </a:p>
          <a:p>
            <a:pPr algn="l">
              <a:spcBef>
                <a:spcPts val="0"/>
              </a:spcBef>
              <a:spcAft>
                <a:spcPts val="0"/>
              </a:spcAft>
              <a:buNone/>
            </a:pPr>
            <a:r>
              <a:rPr lang="en-US" sz="1050" b="0" i="0">
                <a:solidFill>
                  <a:srgbClr val="0E2745"/>
                </a:solidFill>
                <a:latin typeface="Calibri"/>
                <a:ea typeface="Calibri"/>
                <a:cs typeface="Calibri"/>
              </a:rPr>
              <a:t>A password that lets the scripts call a cloud model. It lives in scripts/api_keys.sh.</a:t>
            </a:r>
          </a:p>
        </p:txBody>
      </p:sp>
      <p:sp>
        <p:nvSpPr>
          <p:cNvPr id="1285" name="shape 1285"/>
          <p:cNvSpPr/>
          <p:nvPr/>
        </p:nvSpPr>
        <p:spPr>
          <a:xfrm>
            <a:off x="457200" y="459028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86" name="text 1286"/>
          <p:cNvSpPr txBox="1"/>
          <p:nvPr/>
        </p:nvSpPr>
        <p:spPr>
          <a:xfrm>
            <a:off x="621792" y="466344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DSPy</a:t>
            </a:r>
          </a:p>
          <a:p>
            <a:pPr algn="l">
              <a:spcBef>
                <a:spcPts val="0"/>
              </a:spcBef>
              <a:spcAft>
                <a:spcPts val="0"/>
              </a:spcAft>
              <a:buNone/>
            </a:pPr>
            <a:r>
              <a:rPr lang="en-US" sz="1050" b="0" i="0">
                <a:solidFill>
                  <a:srgbClr val="0E2745"/>
                </a:solidFill>
                <a:latin typeface="Calibri"/>
                <a:ea typeface="Calibri"/>
                <a:cs typeface="Calibri"/>
              </a:rPr>
              <a:t>The Python library that turns an Agent.md + the inputs into a call to a model.</a:t>
            </a:r>
          </a:p>
        </p:txBody>
      </p:sp>
      <p:sp>
        <p:nvSpPr>
          <p:cNvPr id="1287" name="shape 1287"/>
          <p:cNvSpPr/>
          <p:nvPr/>
        </p:nvSpPr>
        <p:spPr>
          <a:xfrm>
            <a:off x="4617720" y="4590288"/>
            <a:ext cx="4023360" cy="107899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288" name="text 1288"/>
          <p:cNvSpPr txBox="1"/>
          <p:nvPr/>
        </p:nvSpPr>
        <p:spPr>
          <a:xfrm>
            <a:off x="4782312" y="4663440"/>
            <a:ext cx="3703320" cy="96012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400" b="1" i="0">
                <a:solidFill>
                  <a:srgbClr val="0E2745"/>
                </a:solidFill>
                <a:latin typeface="Calibri"/>
                <a:ea typeface="Calibri"/>
                <a:cs typeface="Calibri"/>
              </a:rPr>
              <a:t>Ollama</a:t>
            </a:r>
          </a:p>
          <a:p>
            <a:pPr algn="l">
              <a:spcBef>
                <a:spcPts val="0"/>
              </a:spcBef>
              <a:spcAft>
                <a:spcPts val="0"/>
              </a:spcAft>
              <a:buNone/>
            </a:pPr>
            <a:r>
              <a:rPr lang="en-US" sz="1050" b="0" i="0">
                <a:solidFill>
                  <a:srgbClr val="0E2745"/>
                </a:solidFill>
                <a:latin typeface="Calibri"/>
                <a:ea typeface="Calibri"/>
                <a:cs typeface="Calibri"/>
              </a:rPr>
              <a:t>The program that runs small models locally. It already runs inside the container.</a:t>
            </a:r>
          </a:p>
        </p:txBody>
      </p:sp>
      <p:sp>
        <p:nvSpPr>
          <p:cNvPr id="1289" name="text 1289"/>
          <p:cNvSpPr txBox="1"/>
          <p:nvPr/>
        </p:nvSpPr>
        <p:spPr>
          <a:xfrm>
            <a:off x="457200" y="5852160"/>
            <a:ext cx="8229600" cy="41148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50" b="0" i="1">
                <a:solidFill>
                  <a:srgbClr val="5D6C7B"/>
                </a:solidFill>
                <a:latin typeface="Calibri"/>
                <a:ea typeface="Calibri"/>
                <a:cs typeface="Calibri"/>
              </a:rPr>
              <a:t>No AI background needed: if a word on a later slide is unclear, it is probably on this one.</a:t>
            </a:r>
          </a:p>
        </p:txBody>
      </p:sp>
    </p:spTree>
    <p:extLst>
      <p:ext uri="{BB962C8B-B14F-4D97-AF65-F5344CB8AC3E}">
        <p14:creationId xmlns:p14="http://schemas.microsoft.com/office/powerpoint/2010/main" val="49644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289F2-9B4A-D041-6525-D440F704A702}"/>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LLMs vs SLMs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527737274"/>
              </p:ext>
            </p:extLst>
          </p:nvPr>
        </p:nvGraphicFramePr>
        <p:xfrm>
          <a:off x="412375" y="1376678"/>
          <a:ext cx="8435790" cy="4178127"/>
        </p:xfrm>
        <a:graphic>
          <a:graphicData uri="http://schemas.openxmlformats.org/drawingml/2006/table">
            <a:tbl>
              <a:tblPr firstRow="1" bandRow="1">
                <a:tableStyleId>{3C2FFA5D-87B4-456A-9821-1D502468CF0F}</a:tableStyleId>
              </a:tblPr>
              <a:tblGrid>
                <a:gridCol w="2811930">
                  <a:extLst>
                    <a:ext uri="{9D8B030D-6E8A-4147-A177-3AD203B41FA5}">
                      <a16:colId xmlns:a16="http://schemas.microsoft.com/office/drawing/2014/main" val="2743157295"/>
                    </a:ext>
                  </a:extLst>
                </a:gridCol>
                <a:gridCol w="2811930">
                  <a:extLst>
                    <a:ext uri="{9D8B030D-6E8A-4147-A177-3AD203B41FA5}">
                      <a16:colId xmlns:a16="http://schemas.microsoft.com/office/drawing/2014/main" val="3671494132"/>
                    </a:ext>
                  </a:extLst>
                </a:gridCol>
                <a:gridCol w="28119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Dimension</a:t>
                      </a:r>
                      <a:r>
                        <a:rPr lang="en-US">
                          <a:solidFill>
                            <a:schemeClr val="bg1"/>
                          </a:solidFill>
                        </a:rPr>
                        <a:t> </a:t>
                      </a:r>
                    </a:p>
                  </a:txBody>
                  <a:tcPr anchor="ctr"/>
                </a:tc>
                <a:tc>
                  <a:txBody>
                    <a:bodyPr/>
                    <a:lstStyle/>
                    <a:p>
                      <a:pPr algn="ctr"/>
                      <a:r>
                        <a:rPr lang="en-US" sz="2000">
                          <a:solidFill>
                            <a:schemeClr val="bg1"/>
                          </a:solidFill>
                        </a:rPr>
                        <a:t>LLM</a:t>
                      </a:r>
                    </a:p>
                  </a:txBody>
                  <a:tcPr anchor="ctr"/>
                </a:tc>
                <a:tc>
                  <a:txBody>
                    <a:bodyPr/>
                    <a:lstStyle/>
                    <a:p>
                      <a:pPr algn="r"/>
                      <a:r>
                        <a:rPr lang="en-US" sz="2000">
                          <a:solidFill>
                            <a:schemeClr val="bg1"/>
                          </a:solidFill>
                        </a:rPr>
                        <a:t>SLM</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Complexity</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Broad context and harder reasoning</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Narrow tasks with stable interfaces</a:t>
                      </a:r>
                    </a:p>
                  </a:txBody>
                  <a:tcPr anchor="ctr"/>
                </a:tc>
                <a:extLst>
                  <a:ext uri="{0D108BD9-81ED-4DB2-BD59-A6C34878D82A}">
                    <a16:rowId xmlns:a16="http://schemas.microsoft.com/office/drawing/2014/main" val="666777034"/>
                  </a:ext>
                </a:extLst>
              </a:tr>
              <a:tr h="791083">
                <a:tc>
                  <a:txBody>
                    <a:bodyPr/>
                    <a:lstStyle/>
                    <a:p>
                      <a:r>
                        <a:rPr lang="en-US" b="1">
                          <a:solidFill>
                            <a:schemeClr val="tx1"/>
                          </a:solidFill>
                        </a:rPr>
                        <a:t>Run Locally</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LLM require expensive GPU/TPUs (and the cloud)</a:t>
                      </a:r>
                      <a:endParaRPr lang="en-US" sz="1400" b="0" i="0" u="none" strike="noStrike" cap="none">
                        <a:solidFill>
                          <a:schemeClr val="tx1"/>
                        </a:solidFill>
                        <a:latin typeface="+mn-lt"/>
                        <a:ea typeface="Arial"/>
                        <a:cs typeface="Arial"/>
                        <a:sym typeface="Arial"/>
                      </a:endParaRPr>
                    </a:p>
                  </a:txBody>
                  <a:tcPr anchor="ctr"/>
                </a:tc>
                <a:tc>
                  <a:txBody>
                    <a:bodyPr/>
                    <a:lstStyle/>
                    <a:p>
                      <a:pPr lvl="0" algn="ctr">
                        <a:lnSpc>
                          <a:spcPct val="115000"/>
                        </a:lnSpc>
                        <a:buClr>
                          <a:srgbClr val="FFFFFF"/>
                        </a:buClr>
                        <a:buSzPts val="1344"/>
                      </a:pPr>
                      <a:r>
                        <a:rPr lang="en-US" sz="1400">
                          <a:solidFill>
                            <a:schemeClr val="tx1"/>
                          </a:solidFill>
                          <a:sym typeface="Roboto"/>
                        </a:rPr>
                        <a:t>Feasible on local hardware</a:t>
                      </a:r>
                      <a:endParaRPr lang="en-US" sz="1400">
                        <a:solidFill>
                          <a:schemeClr val="tx1"/>
                        </a:solidFill>
                        <a:latin typeface="Roboto"/>
                        <a:ea typeface="Roboto"/>
                        <a:cs typeface="Roboto"/>
                        <a:sym typeface="Roboto"/>
                      </a:endParaRPr>
                    </a:p>
                  </a:txBody>
                  <a:tcPr anchor="ctr"/>
                </a:tc>
                <a:extLst>
                  <a:ext uri="{0D108BD9-81ED-4DB2-BD59-A6C34878D82A}">
                    <a16:rowId xmlns:a16="http://schemas.microsoft.com/office/drawing/2014/main" val="1045036667"/>
                  </a:ext>
                </a:extLst>
              </a:tr>
              <a:tr h="1013795">
                <a:tc>
                  <a:txBody>
                    <a:bodyPr/>
                    <a:lstStyle/>
                    <a:p>
                      <a:r>
                        <a:rPr lang="en-US" b="1">
                          <a:solidFill>
                            <a:schemeClr val="tx1"/>
                          </a:solidFill>
                        </a:rPr>
                        <a:t>Cost</a:t>
                      </a:r>
                    </a:p>
                  </a:txBody>
                  <a:tcPr anchor="ctr"/>
                </a:tc>
                <a:tc>
                  <a:txBody>
                    <a:bodyPr/>
                    <a:lstStyle/>
                    <a:p>
                      <a:pPr lvl="0" algn="ctr">
                        <a:buClr>
                          <a:srgbClr val="FFFFFF"/>
                        </a:buClr>
                        <a:buSzPts val="1344"/>
                      </a:pPr>
                      <a:r>
                        <a:rPr lang="en-US" sz="1400">
                          <a:solidFill>
                            <a:schemeClr val="tx1"/>
                          </a:solidFill>
                          <a:sym typeface="Roboto"/>
                        </a:rPr>
                        <a:t>High cost as token usage increases</a:t>
                      </a:r>
                      <a:endParaRPr lang="en-US" sz="1400">
                        <a:solidFill>
                          <a:schemeClr val="tx1"/>
                        </a:solidFill>
                        <a:latin typeface="Roboto"/>
                        <a:ea typeface="Roboto"/>
                        <a:cs typeface="Roboto"/>
                        <a:sym typeface="Roboto"/>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Small to no cost, but hardware dependency</a:t>
                      </a:r>
                      <a:endParaRPr lang="en-US" sz="1400" b="0" i="0" u="none" strike="noStrike" cap="none">
                        <a:solidFill>
                          <a:schemeClr val="tx1"/>
                        </a:solidFill>
                        <a:latin typeface="+mn-lt"/>
                        <a:ea typeface="Arial"/>
                        <a:cs typeface="Arial"/>
                        <a:sym typeface="Arial"/>
                      </a:endParaRPr>
                    </a:p>
                  </a:txBody>
                  <a:tcPr anchor="ctr"/>
                </a:tc>
                <a:extLst>
                  <a:ext uri="{0D108BD9-81ED-4DB2-BD59-A6C34878D82A}">
                    <a16:rowId xmlns:a16="http://schemas.microsoft.com/office/drawing/2014/main" val="3344965393"/>
                  </a:ext>
                </a:extLst>
              </a:tr>
              <a:tr h="791083">
                <a:tc>
                  <a:txBody>
                    <a:bodyPr/>
                    <a:lstStyle/>
                    <a:p>
                      <a:r>
                        <a:rPr lang="en-US" b="1">
                          <a:solidFill>
                            <a:schemeClr val="tx1"/>
                          </a:solidFill>
                        </a:rPr>
                        <a:t>Require Optimizations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LLMs can solve tasks even with zero-shot prompting</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SLMs require iterative prompt refinement and/or retraining</a:t>
                      </a:r>
                    </a:p>
                  </a:txBody>
                  <a:tcPr anchor="ctr"/>
                </a:tc>
                <a:extLst>
                  <a:ext uri="{0D108BD9-81ED-4DB2-BD59-A6C34878D82A}">
                    <a16:rowId xmlns:a16="http://schemas.microsoft.com/office/drawing/2014/main" val="315752704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LLM: large language model. SLM: small language model. No universal size cutoff.</a:t>
            </a:r>
          </a:p>
        </p:txBody>
      </p:sp>
    </p:spTree>
    <p:extLst>
      <p:ext uri="{BB962C8B-B14F-4D97-AF65-F5344CB8AC3E}">
        <p14:creationId xmlns:p14="http://schemas.microsoft.com/office/powerpoint/2010/main" val="401877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83C8-007A-BF90-F726-6C33E78AEEA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7DA468B-704F-EF66-E9AD-1BABB74BACF0}"/>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A357F664-C3C8-C9D7-34C0-A90AC0029CFE}"/>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EAEAB5E4-77E0-0A48-A00F-D6CC4A44BBD1}"/>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Agentic AI in EDA</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63AE691F-162B-5CBF-F965-40646E097FC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1BC79818-878B-DB89-0E2E-8DFE77C6BF0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a:t>
            </a:fld>
            <a:endParaRPr sz="750" b="0">
              <a:solidFill>
                <a:srgbClr val="5B6573"/>
              </a:solidFill>
              <a:latin typeface="Calibri"/>
              <a:ea typeface="Calibri"/>
              <a:cs typeface="Calibri"/>
            </a:endParaRPr>
          </a:p>
        </p:txBody>
      </p:sp>
      <p:pic>
        <p:nvPicPr>
          <p:cNvPr id="59" name="Picture 8">
            <a:extLst>
              <a:ext uri="{FF2B5EF4-FFF2-40B4-BE49-F238E27FC236}">
                <a16:creationId xmlns:a16="http://schemas.microsoft.com/office/drawing/2014/main" id="{D5711D05-327D-876A-E5FC-87AC11645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81892"/>
            <a:ext cx="8229600" cy="4694140"/>
          </a:xfrm>
          <a:prstGeom prst="rect">
            <a:avLst/>
          </a:prstGeom>
          <a:noFill/>
          <a:extLst>
            <a:ext uri="{909E8E84-426E-40DD-AFC4-6F175D3DCCD1}">
              <a14:hiddenFill xmlns:a14="http://schemas.microsoft.com/office/drawing/2010/main">
                <a:solidFill>
                  <a:srgbClr val="FFFFFF"/>
                </a:solidFill>
              </a14:hiddenFill>
            </a:ext>
          </a:extLst>
        </p:spPr>
      </p:pic>
      <p:sp>
        <p:nvSpPr>
          <p:cNvPr id="78" name="Rounded Rectangle 77">
            <a:extLst>
              <a:ext uri="{FF2B5EF4-FFF2-40B4-BE49-F238E27FC236}">
                <a16:creationId xmlns:a16="http://schemas.microsoft.com/office/drawing/2014/main" id="{455B1719-C065-877F-172E-21974358C34E}"/>
              </a:ext>
            </a:extLst>
          </p:cNvPr>
          <p:cNvSpPr>
            <a:spLocks noGrp="1"/>
          </p:cNvSpPr>
          <p:nvPr/>
        </p:nvSpPr>
        <p:spPr>
          <a:xfrm>
            <a:off x="800100" y="5486399"/>
            <a:ext cx="7239000" cy="981075"/>
          </a:xfrm>
          <a:prstGeom prst="roundRect">
            <a:avLst>
              <a:gd name="adj" fmla="val 7767"/>
            </a:avLst>
          </a:prstGeom>
          <a:solidFill>
            <a:srgbClr val="0E2745"/>
          </a:solidFill>
          <a:ln w="0">
            <a:noFill/>
          </a:ln>
        </p:spPr>
        <p:txBody>
          <a:bodyPr/>
          <a:lstStyle/>
          <a:p>
            <a:endParaRPr lang="en-GR"/>
          </a:p>
        </p:txBody>
      </p:sp>
      <p:sp>
        <p:nvSpPr>
          <p:cNvPr id="79" name="Rectangle 78">
            <a:extLst>
              <a:ext uri="{FF2B5EF4-FFF2-40B4-BE49-F238E27FC236}">
                <a16:creationId xmlns:a16="http://schemas.microsoft.com/office/drawing/2014/main" id="{E8B58A3D-5BC4-B0BC-8463-FA354F0FA889}"/>
              </a:ext>
            </a:extLst>
          </p:cNvPr>
          <p:cNvSpPr>
            <a:spLocks noGrp="1"/>
          </p:cNvSpPr>
          <p:nvPr/>
        </p:nvSpPr>
        <p:spPr>
          <a:xfrm>
            <a:off x="1200150" y="5686424"/>
            <a:ext cx="6429375" cy="581025"/>
          </a:xfrm>
          <a:prstGeom prst="rect">
            <a:avLst/>
          </a:prstGeom>
          <a:noFill/>
          <a:ln w="0">
            <a:noFill/>
          </a:ln>
        </p:spPr>
        <p:txBody>
          <a:bodyPr anchor="ctr">
            <a:normAutofit fontScale="97348"/>
          </a:bodyPr>
          <a:lstStyle/>
          <a:p>
            <a:pPr algn="ctr">
              <a:defRPr sz="1650" b="1">
                <a:solidFill>
                  <a:srgbClr val="FFFFFF"/>
                </a:solidFill>
                <a:latin typeface="Calibri"/>
                <a:ea typeface="Calibri"/>
                <a:cs typeface="Calibri"/>
              </a:defRPr>
            </a:pPr>
            <a:r>
              <a:rPr lang="en-US" sz="1650" b="1">
                <a:solidFill>
                  <a:srgbClr val="FFFFFF"/>
                </a:solidFill>
                <a:latin typeface="Calibri"/>
                <a:ea typeface="Calibri"/>
                <a:cs typeface="Calibri"/>
              </a:rPr>
              <a:t>Agentic AI will lead to the new evolution of EDA, from the manual and AI-assisted era to the fully autonomous agent in the future</a:t>
            </a:r>
            <a:endParaRPr sz="1650" b="1">
              <a:solidFill>
                <a:srgbClr val="FFFFFF"/>
              </a:solidFill>
              <a:latin typeface="Calibri"/>
              <a:ea typeface="Calibri"/>
              <a:cs typeface="Calibri"/>
            </a:endParaRPr>
          </a:p>
        </p:txBody>
      </p:sp>
    </p:spTree>
    <p:extLst>
      <p:ext uri="{BB962C8B-B14F-4D97-AF65-F5344CB8AC3E}">
        <p14:creationId xmlns:p14="http://schemas.microsoft.com/office/powerpoint/2010/main" val="229759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A5ECFAE8-76E8-8E3A-0845-33BB750D63B8}"/>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41BBAF28-C3F5-3AE5-B206-E4FD8024A03B}"/>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78384E6F-EDA2-271D-737E-3863DDB31E0E}"/>
              </a:ext>
            </a:extLst>
          </p:cNvPr>
          <p:cNvSpPr>
            <a:spLocks noGrp="1"/>
          </p:cNvSpPr>
          <p:nvPr/>
        </p:nvSpPr>
        <p:spPr>
          <a:xfrm>
            <a:off x="495300" y="257175"/>
            <a:ext cx="7524750" cy="514350"/>
          </a:xfrm>
          <a:prstGeom prst="rect">
            <a:avLst/>
          </a:prstGeom>
          <a:noFill/>
          <a:ln w="0">
            <a:noFill/>
          </a:ln>
        </p:spPr>
        <p:txBody>
          <a:bodyPr anchor="ctr">
            <a:normAutofit/>
          </a:bodyPr>
          <a:lstStyle/>
          <a:p>
            <a:pPr algn="l">
              <a:buNone/>
              <a:defRPr sz="2400" b="1">
                <a:solidFill>
                  <a:srgbClr val="17365D"/>
                </a:solidFill>
                <a:latin typeface="Calibri"/>
                <a:ea typeface="Calibri"/>
                <a:cs typeface="Calibri"/>
              </a:defRPr>
            </a:pPr>
            <a:r>
              <a:rPr lang="en-US" sz="2400" b="1">
                <a:solidFill>
                  <a:srgbClr val="17365D"/>
                </a:solidFill>
                <a:latin typeface="Calibri"/>
                <a:ea typeface="Calibri"/>
                <a:cs typeface="Calibri"/>
              </a:rPr>
              <a:t>Agentic AI EDA Flow with Obvious Task Decomposition</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5131332-AC10-50E2-7B09-02D4CE35D79B}"/>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009B2612-BD15-37A8-C11B-773B9E7A2818}"/>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a:t>
            </a:fld>
            <a:endParaRPr sz="750" b="0">
              <a:solidFill>
                <a:srgbClr val="5B6573"/>
              </a:solidFill>
              <a:latin typeface="Calibri"/>
              <a:ea typeface="Calibri"/>
              <a:cs typeface="Calibri"/>
            </a:endParaRPr>
          </a:p>
        </p:txBody>
      </p:sp>
      <p:sp>
        <p:nvSpPr>
          <p:cNvPr id="80" name="decomposition: Design specification">
            <a:extLst>
              <a:ext uri="{FF2B5EF4-FFF2-40B4-BE49-F238E27FC236}">
                <a16:creationId xmlns:a16="http://schemas.microsoft.com/office/drawing/2014/main" id="{EA945B80-D2DF-4C6F-BF0B-589CB32B9FAA}"/>
              </a:ext>
            </a:extLst>
          </p:cNvPr>
          <p:cNvSpPr>
            <a:spLocks noGrp="1"/>
          </p:cNvSpPr>
          <p:nvPr/>
        </p:nvSpPr>
        <p:spPr>
          <a:xfrm>
            <a:off x="3476625" y="1019175"/>
            <a:ext cx="2190750" cy="561975"/>
          </a:xfrm>
          <a:prstGeom prst="roundRect">
            <a:avLst>
              <a:gd name="adj" fmla="val 16949"/>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Design specification</a:t>
            </a:r>
          </a:p>
        </p:txBody>
      </p:sp>
      <p:sp>
        <p:nvSpPr>
          <p:cNvPr id="81" name="decomposition arrow">
            <a:extLst>
              <a:ext uri="{FF2B5EF4-FFF2-40B4-BE49-F238E27FC236}">
                <a16:creationId xmlns:a16="http://schemas.microsoft.com/office/drawing/2014/main" id="{7EBACE20-C381-4475-A885-D876F6ECE56A}"/>
              </a:ext>
            </a:extLst>
          </p:cNvPr>
          <p:cNvSpPr>
            <a:spLocks noGrp="1"/>
          </p:cNvSpPr>
          <p:nvPr/>
        </p:nvSpPr>
        <p:spPr>
          <a:xfrm>
            <a:off x="4495800" y="1647825"/>
            <a:ext cx="152400" cy="352425"/>
          </a:xfrm>
          <a:prstGeom prst="downArrow">
            <a:avLst/>
          </a:prstGeom>
          <a:solidFill>
            <a:srgbClr val="4F81BD"/>
          </a:solidFill>
          <a:ln w="0">
            <a:noFill/>
          </a:ln>
        </p:spPr>
        <p:txBody>
          <a:bodyPr/>
          <a:lstStyle/>
          <a:p>
            <a:endParaRPr lang="en-GR"/>
          </a:p>
        </p:txBody>
      </p:sp>
      <p:sp>
        <p:nvSpPr>
          <p:cNvPr id="82" name="decomposition: Planner: dependencies + task contrac">
            <a:extLst>
              <a:ext uri="{FF2B5EF4-FFF2-40B4-BE49-F238E27FC236}">
                <a16:creationId xmlns:a16="http://schemas.microsoft.com/office/drawing/2014/main" id="{1AE38E81-7A60-41AC-8C80-CB322AC2481C}"/>
              </a:ext>
            </a:extLst>
          </p:cNvPr>
          <p:cNvSpPr>
            <a:spLocks noGrp="1"/>
          </p:cNvSpPr>
          <p:nvPr/>
        </p:nvSpPr>
        <p:spPr>
          <a:xfrm>
            <a:off x="2876550" y="2124075"/>
            <a:ext cx="3390900" cy="685800"/>
          </a:xfrm>
          <a:prstGeom prst="roundRect">
            <a:avLst>
              <a:gd name="adj" fmla="val 13889"/>
            </a:avLst>
          </a:prstGeom>
          <a:solidFill>
            <a:srgbClr val="0E2A49"/>
          </a:solidFill>
          <a:ln w="14288">
            <a:solidFill>
              <a:srgbClr val="0E2A49"/>
            </a:solidFill>
            <a:prstDash val="solid"/>
          </a:ln>
        </p:spPr>
        <p:txBody>
          <a:bodyPr lIns="76200" tIns="38100" rIns="76200" bIns="38100" anchor="ctr">
            <a:normAutofit/>
          </a:body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Planner: dependencies + task contracts</a:t>
            </a:r>
          </a:p>
        </p:txBody>
      </p:sp>
      <p:sp>
        <p:nvSpPr>
          <p:cNvPr id="83" name="decomposition connector">
            <a:extLst>
              <a:ext uri="{FF2B5EF4-FFF2-40B4-BE49-F238E27FC236}">
                <a16:creationId xmlns:a16="http://schemas.microsoft.com/office/drawing/2014/main" id="{52352564-0206-4D10-A2F3-D701EF96B8E2}"/>
              </a:ext>
            </a:extLst>
          </p:cNvPr>
          <p:cNvSpPr>
            <a:spLocks noGrp="1"/>
          </p:cNvSpPr>
          <p:nvPr/>
        </p:nvSpPr>
        <p:spPr>
          <a:xfrm>
            <a:off x="4572000" y="2809875"/>
            <a:ext cx="0" cy="466725"/>
          </a:xfrm>
          <a:prstGeom prst="line">
            <a:avLst/>
          </a:prstGeom>
          <a:noFill/>
          <a:ln w="28575">
            <a:solidFill>
              <a:srgbClr val="4F81BD"/>
            </a:solidFill>
            <a:prstDash val="solid"/>
          </a:ln>
        </p:spPr>
        <p:txBody>
          <a:bodyPr/>
          <a:lstStyle/>
          <a:p>
            <a:endParaRPr lang="en-GR"/>
          </a:p>
        </p:txBody>
      </p:sp>
      <p:sp>
        <p:nvSpPr>
          <p:cNvPr id="84" name="decomposition connector">
            <a:extLst>
              <a:ext uri="{FF2B5EF4-FFF2-40B4-BE49-F238E27FC236}">
                <a16:creationId xmlns:a16="http://schemas.microsoft.com/office/drawing/2014/main" id="{125FB714-9C6B-49E8-BC86-6A832F883863}"/>
              </a:ext>
            </a:extLst>
          </p:cNvPr>
          <p:cNvSpPr>
            <a:spLocks noGrp="1"/>
          </p:cNvSpPr>
          <p:nvPr/>
        </p:nvSpPr>
        <p:spPr>
          <a:xfrm>
            <a:off x="1524000" y="3267075"/>
            <a:ext cx="6096000" cy="0"/>
          </a:xfrm>
          <a:prstGeom prst="line">
            <a:avLst/>
          </a:prstGeom>
          <a:noFill/>
          <a:ln w="28575">
            <a:solidFill>
              <a:srgbClr val="4F81BD"/>
            </a:solidFill>
            <a:prstDash val="solid"/>
          </a:ln>
        </p:spPr>
        <p:txBody>
          <a:bodyPr/>
          <a:lstStyle/>
          <a:p>
            <a:endParaRPr lang="en-GR"/>
          </a:p>
        </p:txBody>
      </p:sp>
      <p:sp>
        <p:nvSpPr>
          <p:cNvPr id="85" name="decomposition connector">
            <a:extLst>
              <a:ext uri="{FF2B5EF4-FFF2-40B4-BE49-F238E27FC236}">
                <a16:creationId xmlns:a16="http://schemas.microsoft.com/office/drawing/2014/main" id="{5E9D65BF-70D9-4382-92FB-40998F20B5AE}"/>
              </a:ext>
            </a:extLst>
          </p:cNvPr>
          <p:cNvSpPr>
            <a:spLocks noGrp="1"/>
          </p:cNvSpPr>
          <p:nvPr/>
        </p:nvSpPr>
        <p:spPr>
          <a:xfrm>
            <a:off x="1400175" y="3267075"/>
            <a:ext cx="0" cy="276225"/>
          </a:xfrm>
          <a:prstGeom prst="line">
            <a:avLst/>
          </a:prstGeom>
          <a:noFill/>
          <a:ln w="23813">
            <a:solidFill>
              <a:srgbClr val="4F81BD"/>
            </a:solidFill>
            <a:prstDash val="solid"/>
          </a:ln>
        </p:spPr>
        <p:txBody>
          <a:bodyPr/>
          <a:lstStyle/>
          <a:p>
            <a:endParaRPr lang="en-GR"/>
          </a:p>
        </p:txBody>
      </p:sp>
      <p:sp>
        <p:nvSpPr>
          <p:cNvPr id="86" name="decomposition: 01  RTL agent">
            <a:extLst>
              <a:ext uri="{FF2B5EF4-FFF2-40B4-BE49-F238E27FC236}">
                <a16:creationId xmlns:a16="http://schemas.microsoft.com/office/drawing/2014/main" id="{1E94DFD6-5420-4111-8F04-8484CBF2F2D6}"/>
              </a:ext>
            </a:extLst>
          </p:cNvPr>
          <p:cNvSpPr>
            <a:spLocks noGrp="1"/>
          </p:cNvSpPr>
          <p:nvPr/>
        </p:nvSpPr>
        <p:spPr>
          <a:xfrm>
            <a:off x="5524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87" name="decomposition: Module behavior&#10;ports + latency">
            <a:extLst>
              <a:ext uri="{FF2B5EF4-FFF2-40B4-BE49-F238E27FC236}">
                <a16:creationId xmlns:a16="http://schemas.microsoft.com/office/drawing/2014/main" id="{7320EBDB-AF9A-4CC6-9DB2-2742762066C8}"/>
              </a:ext>
            </a:extLst>
          </p:cNvPr>
          <p:cNvSpPr>
            <a:spLocks noGrp="1"/>
          </p:cNvSpPr>
          <p:nvPr/>
        </p:nvSpPr>
        <p:spPr>
          <a:xfrm>
            <a:off x="6191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Module behavior</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ports + latency</a:t>
            </a:r>
          </a:p>
        </p:txBody>
      </p:sp>
      <p:sp>
        <p:nvSpPr>
          <p:cNvPr id="88" name="decomposition connector">
            <a:extLst>
              <a:ext uri="{FF2B5EF4-FFF2-40B4-BE49-F238E27FC236}">
                <a16:creationId xmlns:a16="http://schemas.microsoft.com/office/drawing/2014/main" id="{991FACE5-3B10-48B6-93A6-C2510D3D2C7D}"/>
              </a:ext>
            </a:extLst>
          </p:cNvPr>
          <p:cNvSpPr>
            <a:spLocks noGrp="1"/>
          </p:cNvSpPr>
          <p:nvPr/>
        </p:nvSpPr>
        <p:spPr>
          <a:xfrm>
            <a:off x="3514725" y="3267075"/>
            <a:ext cx="0" cy="276225"/>
          </a:xfrm>
          <a:prstGeom prst="line">
            <a:avLst/>
          </a:prstGeom>
          <a:noFill/>
          <a:ln w="23813">
            <a:solidFill>
              <a:srgbClr val="4F81BD"/>
            </a:solidFill>
            <a:prstDash val="solid"/>
          </a:ln>
        </p:spPr>
        <p:txBody>
          <a:bodyPr/>
          <a:lstStyle/>
          <a:p>
            <a:endParaRPr lang="en-GR"/>
          </a:p>
        </p:txBody>
      </p:sp>
      <p:sp>
        <p:nvSpPr>
          <p:cNvPr id="89" name="decomposition: 02  TB agent">
            <a:extLst>
              <a:ext uri="{FF2B5EF4-FFF2-40B4-BE49-F238E27FC236}">
                <a16:creationId xmlns:a16="http://schemas.microsoft.com/office/drawing/2014/main" id="{8AD01A95-34DC-408A-9863-1AD0BC982037}"/>
              </a:ext>
            </a:extLst>
          </p:cNvPr>
          <p:cNvSpPr>
            <a:spLocks noGrp="1"/>
          </p:cNvSpPr>
          <p:nvPr/>
        </p:nvSpPr>
        <p:spPr>
          <a:xfrm>
            <a:off x="26670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90" name="decomposition: Needs RTL ports&#10;Tests + assertions">
            <a:extLst>
              <a:ext uri="{FF2B5EF4-FFF2-40B4-BE49-F238E27FC236}">
                <a16:creationId xmlns:a16="http://schemas.microsoft.com/office/drawing/2014/main" id="{5E6C8296-DD61-4380-80C2-7BAE92C84086}"/>
              </a:ext>
            </a:extLst>
          </p:cNvPr>
          <p:cNvSpPr>
            <a:spLocks noGrp="1"/>
          </p:cNvSpPr>
          <p:nvPr/>
        </p:nvSpPr>
        <p:spPr>
          <a:xfrm>
            <a:off x="27336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ports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Tests + assertions</a:t>
            </a:r>
          </a:p>
        </p:txBody>
      </p:sp>
      <p:sp>
        <p:nvSpPr>
          <p:cNvPr id="91" name="decomposition connector">
            <a:extLst>
              <a:ext uri="{FF2B5EF4-FFF2-40B4-BE49-F238E27FC236}">
                <a16:creationId xmlns:a16="http://schemas.microsoft.com/office/drawing/2014/main" id="{922DCF9C-4586-449C-BA81-C8AED4F0E623}"/>
              </a:ext>
            </a:extLst>
          </p:cNvPr>
          <p:cNvSpPr>
            <a:spLocks noGrp="1"/>
          </p:cNvSpPr>
          <p:nvPr/>
        </p:nvSpPr>
        <p:spPr>
          <a:xfrm>
            <a:off x="5629275" y="3267075"/>
            <a:ext cx="0" cy="276225"/>
          </a:xfrm>
          <a:prstGeom prst="line">
            <a:avLst/>
          </a:prstGeom>
          <a:noFill/>
          <a:ln w="23813">
            <a:solidFill>
              <a:srgbClr val="4F81BD"/>
            </a:solidFill>
            <a:prstDash val="solid"/>
          </a:ln>
        </p:spPr>
        <p:txBody>
          <a:bodyPr/>
          <a:lstStyle/>
          <a:p>
            <a:endParaRPr lang="en-GR"/>
          </a:p>
        </p:txBody>
      </p:sp>
      <p:sp>
        <p:nvSpPr>
          <p:cNvPr id="92" name="decomposition: 03  SDC agent">
            <a:extLst>
              <a:ext uri="{FF2B5EF4-FFF2-40B4-BE49-F238E27FC236}">
                <a16:creationId xmlns:a16="http://schemas.microsoft.com/office/drawing/2014/main" id="{155D4A40-8120-4A1F-A4A2-3CF688F70E9A}"/>
              </a:ext>
            </a:extLst>
          </p:cNvPr>
          <p:cNvSpPr>
            <a:spLocks noGrp="1"/>
          </p:cNvSpPr>
          <p:nvPr/>
        </p:nvSpPr>
        <p:spPr>
          <a:xfrm>
            <a:off x="47815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93" name="decomposition: Clocks&#10;I/O constraints">
            <a:extLst>
              <a:ext uri="{FF2B5EF4-FFF2-40B4-BE49-F238E27FC236}">
                <a16:creationId xmlns:a16="http://schemas.microsoft.com/office/drawing/2014/main" id="{8F8962A3-37A5-4A61-A70C-9D224E943F84}"/>
              </a:ext>
            </a:extLst>
          </p:cNvPr>
          <p:cNvSpPr>
            <a:spLocks noGrp="1"/>
          </p:cNvSpPr>
          <p:nvPr/>
        </p:nvSpPr>
        <p:spPr>
          <a:xfrm>
            <a:off x="48482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Clocks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I/O constraints</a:t>
            </a:r>
          </a:p>
        </p:txBody>
      </p:sp>
      <p:sp>
        <p:nvSpPr>
          <p:cNvPr id="94" name="decomposition connector">
            <a:extLst>
              <a:ext uri="{FF2B5EF4-FFF2-40B4-BE49-F238E27FC236}">
                <a16:creationId xmlns:a16="http://schemas.microsoft.com/office/drawing/2014/main" id="{72109781-DE92-4657-BFE2-26A6B4CEDE52}"/>
              </a:ext>
            </a:extLst>
          </p:cNvPr>
          <p:cNvSpPr>
            <a:spLocks noGrp="1"/>
          </p:cNvSpPr>
          <p:nvPr/>
        </p:nvSpPr>
        <p:spPr>
          <a:xfrm>
            <a:off x="7743825" y="3267075"/>
            <a:ext cx="0" cy="276225"/>
          </a:xfrm>
          <a:prstGeom prst="line">
            <a:avLst/>
          </a:prstGeom>
          <a:noFill/>
          <a:ln w="23813">
            <a:solidFill>
              <a:srgbClr val="4F81BD"/>
            </a:solidFill>
            <a:prstDash val="solid"/>
          </a:ln>
        </p:spPr>
        <p:txBody>
          <a:bodyPr/>
          <a:lstStyle/>
          <a:p>
            <a:endParaRPr lang="en-GR"/>
          </a:p>
        </p:txBody>
      </p:sp>
      <p:sp>
        <p:nvSpPr>
          <p:cNvPr id="95" name="decomposition: 04  PnR agent">
            <a:extLst>
              <a:ext uri="{FF2B5EF4-FFF2-40B4-BE49-F238E27FC236}">
                <a16:creationId xmlns:a16="http://schemas.microsoft.com/office/drawing/2014/main" id="{ACB62F6A-8061-4E61-89BD-5C22EBD6C942}"/>
              </a:ext>
            </a:extLst>
          </p:cNvPr>
          <p:cNvSpPr>
            <a:spLocks noGrp="1"/>
          </p:cNvSpPr>
          <p:nvPr/>
        </p:nvSpPr>
        <p:spPr>
          <a:xfrm>
            <a:off x="68961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6" name="decomposition: Needs RTL + SDC&#10;Floorplan settings">
            <a:extLst>
              <a:ext uri="{FF2B5EF4-FFF2-40B4-BE49-F238E27FC236}">
                <a16:creationId xmlns:a16="http://schemas.microsoft.com/office/drawing/2014/main" id="{76AC571C-CC5D-4C9D-8269-DD85F13358F8}"/>
              </a:ext>
            </a:extLst>
          </p:cNvPr>
          <p:cNvSpPr>
            <a:spLocks noGrp="1"/>
          </p:cNvSpPr>
          <p:nvPr/>
        </p:nvSpPr>
        <p:spPr>
          <a:xfrm>
            <a:off x="69627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 SDC</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Floorplan settings</a:t>
            </a:r>
          </a:p>
        </p:txBody>
      </p:sp>
      <p:sp>
        <p:nvSpPr>
          <p:cNvPr id="97" name="decomposition connector">
            <a:extLst>
              <a:ext uri="{FF2B5EF4-FFF2-40B4-BE49-F238E27FC236}">
                <a16:creationId xmlns:a16="http://schemas.microsoft.com/office/drawing/2014/main" id="{75A9C1F3-BF5B-419A-9B61-5AFEC3DCB3D6}"/>
              </a:ext>
            </a:extLst>
          </p:cNvPr>
          <p:cNvSpPr>
            <a:spLocks noGrp="1"/>
          </p:cNvSpPr>
          <p:nvPr/>
        </p:nvSpPr>
        <p:spPr>
          <a:xfrm>
            <a:off x="1524000" y="4953000"/>
            <a:ext cx="6096000" cy="0"/>
          </a:xfrm>
          <a:prstGeom prst="line">
            <a:avLst/>
          </a:prstGeom>
          <a:noFill/>
          <a:ln w="23813">
            <a:solidFill>
              <a:srgbClr val="C82132"/>
            </a:solidFill>
            <a:prstDash val="solid"/>
          </a:ln>
        </p:spPr>
        <p:txBody>
          <a:bodyPr/>
          <a:lstStyle/>
          <a:p>
            <a:endParaRPr lang="en-GR"/>
          </a:p>
        </p:txBody>
      </p:sp>
      <p:sp>
        <p:nvSpPr>
          <p:cNvPr id="98" name="decomposition connector">
            <a:extLst>
              <a:ext uri="{FF2B5EF4-FFF2-40B4-BE49-F238E27FC236}">
                <a16:creationId xmlns:a16="http://schemas.microsoft.com/office/drawing/2014/main" id="{95AB77A5-FD6E-4E51-B21A-FC5B456C7968}"/>
              </a:ext>
            </a:extLst>
          </p:cNvPr>
          <p:cNvSpPr>
            <a:spLocks noGrp="1"/>
          </p:cNvSpPr>
          <p:nvPr/>
        </p:nvSpPr>
        <p:spPr>
          <a:xfrm>
            <a:off x="1400175" y="4752975"/>
            <a:ext cx="0" cy="200025"/>
          </a:xfrm>
          <a:prstGeom prst="line">
            <a:avLst/>
          </a:prstGeom>
          <a:noFill/>
          <a:ln w="19050">
            <a:solidFill>
              <a:srgbClr val="C82132"/>
            </a:solidFill>
            <a:prstDash val="solid"/>
          </a:ln>
        </p:spPr>
        <p:txBody>
          <a:bodyPr/>
          <a:lstStyle/>
          <a:p>
            <a:endParaRPr lang="en-GR"/>
          </a:p>
        </p:txBody>
      </p:sp>
      <p:sp>
        <p:nvSpPr>
          <p:cNvPr id="99" name="decomposition connector">
            <a:extLst>
              <a:ext uri="{FF2B5EF4-FFF2-40B4-BE49-F238E27FC236}">
                <a16:creationId xmlns:a16="http://schemas.microsoft.com/office/drawing/2014/main" id="{AB3B318C-FA03-4A92-80F0-8F2F87369A07}"/>
              </a:ext>
            </a:extLst>
          </p:cNvPr>
          <p:cNvSpPr>
            <a:spLocks noGrp="1"/>
          </p:cNvSpPr>
          <p:nvPr/>
        </p:nvSpPr>
        <p:spPr>
          <a:xfrm>
            <a:off x="3514725" y="4752975"/>
            <a:ext cx="0" cy="200025"/>
          </a:xfrm>
          <a:prstGeom prst="line">
            <a:avLst/>
          </a:prstGeom>
          <a:noFill/>
          <a:ln w="19050">
            <a:solidFill>
              <a:srgbClr val="C82132"/>
            </a:solidFill>
            <a:prstDash val="solid"/>
          </a:ln>
        </p:spPr>
        <p:txBody>
          <a:bodyPr/>
          <a:lstStyle/>
          <a:p>
            <a:endParaRPr lang="en-GR"/>
          </a:p>
        </p:txBody>
      </p:sp>
      <p:sp>
        <p:nvSpPr>
          <p:cNvPr id="100" name="decomposition connector">
            <a:extLst>
              <a:ext uri="{FF2B5EF4-FFF2-40B4-BE49-F238E27FC236}">
                <a16:creationId xmlns:a16="http://schemas.microsoft.com/office/drawing/2014/main" id="{9B1425B6-AB18-40E3-BD3B-3912EC581225}"/>
              </a:ext>
            </a:extLst>
          </p:cNvPr>
          <p:cNvSpPr>
            <a:spLocks noGrp="1"/>
          </p:cNvSpPr>
          <p:nvPr/>
        </p:nvSpPr>
        <p:spPr>
          <a:xfrm>
            <a:off x="5629275" y="4752975"/>
            <a:ext cx="0" cy="200025"/>
          </a:xfrm>
          <a:prstGeom prst="line">
            <a:avLst/>
          </a:prstGeom>
          <a:noFill/>
          <a:ln w="19050">
            <a:solidFill>
              <a:srgbClr val="C82132"/>
            </a:solidFill>
            <a:prstDash val="solid"/>
          </a:ln>
        </p:spPr>
        <p:txBody>
          <a:bodyPr/>
          <a:lstStyle/>
          <a:p>
            <a:endParaRPr lang="en-GR"/>
          </a:p>
        </p:txBody>
      </p:sp>
      <p:sp>
        <p:nvSpPr>
          <p:cNvPr id="101" name="decomposition connector">
            <a:extLst>
              <a:ext uri="{FF2B5EF4-FFF2-40B4-BE49-F238E27FC236}">
                <a16:creationId xmlns:a16="http://schemas.microsoft.com/office/drawing/2014/main" id="{E72FCDA7-080D-439A-B527-508C6FD6956B}"/>
              </a:ext>
            </a:extLst>
          </p:cNvPr>
          <p:cNvSpPr>
            <a:spLocks noGrp="1"/>
          </p:cNvSpPr>
          <p:nvPr/>
        </p:nvSpPr>
        <p:spPr>
          <a:xfrm>
            <a:off x="7743825" y="4752975"/>
            <a:ext cx="0" cy="200025"/>
          </a:xfrm>
          <a:prstGeom prst="line">
            <a:avLst/>
          </a:prstGeom>
          <a:noFill/>
          <a:ln w="19050">
            <a:solidFill>
              <a:srgbClr val="C82132"/>
            </a:solidFill>
            <a:prstDash val="solid"/>
          </a:ln>
        </p:spPr>
        <p:txBody>
          <a:bodyPr/>
          <a:lstStyle/>
          <a:p>
            <a:endParaRPr lang="en-GR"/>
          </a:p>
        </p:txBody>
      </p:sp>
      <p:sp>
        <p:nvSpPr>
          <p:cNvPr id="102" name="decomposition arrow">
            <a:extLst>
              <a:ext uri="{FF2B5EF4-FFF2-40B4-BE49-F238E27FC236}">
                <a16:creationId xmlns:a16="http://schemas.microsoft.com/office/drawing/2014/main" id="{5C82D557-8C63-4A29-9412-C365A4E0EF0E}"/>
              </a:ext>
            </a:extLst>
          </p:cNvPr>
          <p:cNvSpPr>
            <a:spLocks noGrp="1"/>
          </p:cNvSpPr>
          <p:nvPr/>
        </p:nvSpPr>
        <p:spPr>
          <a:xfrm>
            <a:off x="4495800" y="5000625"/>
            <a:ext cx="152400" cy="352425"/>
          </a:xfrm>
          <a:prstGeom prst="downArrow">
            <a:avLst/>
          </a:prstGeom>
          <a:solidFill>
            <a:srgbClr val="C82132"/>
          </a:solidFill>
          <a:ln w="0">
            <a:noFill/>
          </a:ln>
        </p:spPr>
        <p:txBody>
          <a:bodyPr/>
          <a:lstStyle/>
          <a:p>
            <a:endParaRPr lang="en-GR"/>
          </a:p>
        </p:txBody>
      </p:sp>
      <p:sp>
        <p:nvSpPr>
          <p:cNvPr id="103" name="decomposition: Validation gate: artifact + status +">
            <a:extLst>
              <a:ext uri="{FF2B5EF4-FFF2-40B4-BE49-F238E27FC236}">
                <a16:creationId xmlns:a16="http://schemas.microsoft.com/office/drawing/2014/main" id="{EB9A33C0-2E5C-42D9-9E1C-87D9E931B533}"/>
              </a:ext>
            </a:extLst>
          </p:cNvPr>
          <p:cNvSpPr>
            <a:spLocks noGrp="1"/>
          </p:cNvSpPr>
          <p:nvPr/>
        </p:nvSpPr>
        <p:spPr>
          <a:xfrm>
            <a:off x="2038350" y="5505450"/>
            <a:ext cx="5067300" cy="590550"/>
          </a:xfrm>
          <a:prstGeom prst="roundRect">
            <a:avLst>
              <a:gd name="adj" fmla="val 16129"/>
            </a:avLst>
          </a:prstGeom>
          <a:solidFill>
            <a:srgbClr val="F9EAEC"/>
          </a:solidFill>
          <a:ln w="14288">
            <a:solidFill>
              <a:srgbClr val="C82132"/>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Validation gate: artifact + status + tool evidence</a:t>
            </a:r>
          </a:p>
        </p:txBody>
      </p:sp>
      <p:sp>
        <p:nvSpPr>
          <p:cNvPr id="104" name="decomposition: Promote validated outputs to the nex">
            <a:extLst>
              <a:ext uri="{FF2B5EF4-FFF2-40B4-BE49-F238E27FC236}">
                <a16:creationId xmlns:a16="http://schemas.microsoft.com/office/drawing/2014/main" id="{8CF0F10B-2FC4-498C-8C01-2095155D34E1}"/>
              </a:ext>
            </a:extLst>
          </p:cNvPr>
          <p:cNvSpPr>
            <a:spLocks noGrp="1"/>
          </p:cNvSpPr>
          <p:nvPr/>
        </p:nvSpPr>
        <p:spPr>
          <a:xfrm>
            <a:off x="1885950" y="6153150"/>
            <a:ext cx="5372100" cy="333375"/>
          </a:xfrm>
          <a:prstGeom prst="rect">
            <a:avLst/>
          </a:prstGeom>
          <a:noFill/>
          <a:ln w="0">
            <a:noFill/>
          </a:ln>
        </p:spPr>
        <p:txBody>
          <a:bodyPr lIns="28575" tIns="19050" rIns="28575" bIns="19050" anchor="ctr">
            <a:normAutofit/>
          </a:bodyPr>
          <a:lstStyle/>
          <a:p>
            <a:pPr algn="ctr">
              <a:defRPr sz="1275" b="0">
                <a:solidFill>
                  <a:srgbClr val="5D6C7B"/>
                </a:solidFill>
                <a:latin typeface="Calibri"/>
                <a:ea typeface="Calibri"/>
                <a:cs typeface="Calibri"/>
              </a:defRPr>
            </a:pPr>
            <a:r>
              <a:rPr sz="1275" b="0">
                <a:solidFill>
                  <a:srgbClr val="5D6C7B"/>
                </a:solidFill>
                <a:latin typeface="Calibri"/>
                <a:ea typeface="Calibri"/>
                <a:cs typeface="Calibri"/>
              </a:rPr>
              <a:t>Promote validated outputs to the next EDA stage</a:t>
            </a:r>
          </a:p>
        </p:txBody>
      </p:sp>
    </p:spTree>
    <p:extLst>
      <p:ext uri="{BB962C8B-B14F-4D97-AF65-F5344CB8AC3E}">
        <p14:creationId xmlns:p14="http://schemas.microsoft.com/office/powerpoint/2010/main" val="1734390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dirty="0"/>
              <a:t>Chip design in a nutshell: what Agents produce</a:t>
            </a:r>
            <a:endParaRPr sz="2400" b="1" dirty="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9</a:t>
            </a:fld>
            <a:endParaRPr sz="750" b="0">
              <a:solidFill>
                <a:srgbClr val="5B6573"/>
              </a:solidFill>
              <a:latin typeface="Calibri"/>
              <a:ea typeface="Calibri"/>
              <a:cs typeface="Calibri"/>
            </a:endParaRPr>
          </a:p>
        </p:txBody>
      </p:sp>
      <p:sp>
        <p:nvSpPr>
          <p:cNvPr id="1290" name="shape 1290"/>
          <p:cNvSpPr/>
          <p:nvPr/>
        </p:nvSpPr>
        <p:spPr>
          <a:xfrm>
            <a:off x="512064" y="1681163"/>
            <a:ext cx="1783080" cy="1508760"/>
          </a:xfrm>
          <a:prstGeom prst="roundRect">
            <a:avLst>
              <a:gd name="adj" fmla="val 9000"/>
            </a:avLst>
          </a:prstGeom>
          <a:solidFill>
            <a:schemeClr val="accent1">
              <a:lumMod val="20000"/>
              <a:lumOff val="80000"/>
            </a:schemeClr>
          </a:solidFill>
          <a:ln w="12700">
            <a:solidFill>
              <a:srgbClr val="5D6C7B"/>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Spec</a:t>
            </a:r>
          </a:p>
          <a:p>
            <a:pPr algn="ctr">
              <a:spcBef>
                <a:spcPts val="0"/>
              </a:spcBef>
              <a:spcAft>
                <a:spcPts val="150"/>
              </a:spcAft>
              <a:buNone/>
            </a:pPr>
            <a:r>
              <a:rPr lang="en-US" sz="950" b="1" i="0">
                <a:solidFill>
                  <a:schemeClr val="tx2">
                    <a:lumMod val="60000"/>
                    <a:lumOff val="40000"/>
                  </a:schemeClr>
                </a:solidFill>
                <a:latin typeface="Calibri"/>
                <a:ea typeface="Calibri"/>
                <a:cs typeface="Calibri"/>
              </a:rPr>
              <a:t>YAML file</a:t>
            </a:r>
          </a:p>
          <a:p>
            <a:pPr algn="ctr">
              <a:spcBef>
                <a:spcPts val="0"/>
              </a:spcBef>
              <a:spcAft>
                <a:spcPts val="0"/>
              </a:spcAft>
              <a:buNone/>
            </a:pPr>
            <a:r>
              <a:rPr lang="en-US" sz="900" b="0" i="0">
                <a:solidFill>
                  <a:srgbClr val="5D6C7B"/>
                </a:solidFill>
                <a:latin typeface="Calibri"/>
                <a:ea typeface="Calibri"/>
                <a:cs typeface="Calibri"/>
              </a:rPr>
              <a:t>what the chip must do: ports, clock, </a:t>
            </a:r>
            <a:r>
              <a:rPr lang="en-US" sz="900" b="0" i="0" err="1">
                <a:solidFill>
                  <a:srgbClr val="5D6C7B"/>
                </a:solidFill>
                <a:latin typeface="Calibri"/>
                <a:ea typeface="Calibri"/>
                <a:cs typeface="Calibri"/>
              </a:rPr>
              <a:t>behaviour</a:t>
            </a:r>
            <a:endParaRPr lang="en-US" sz="900" b="0" i="0">
              <a:solidFill>
                <a:srgbClr val="5D6C7B"/>
              </a:solidFill>
              <a:latin typeface="Calibri"/>
              <a:ea typeface="Calibri"/>
              <a:cs typeface="Calibri"/>
            </a:endParaRPr>
          </a:p>
        </p:txBody>
      </p:sp>
      <p:sp>
        <p:nvSpPr>
          <p:cNvPr id="1291" name="shape 1291"/>
          <p:cNvSpPr/>
          <p:nvPr/>
        </p:nvSpPr>
        <p:spPr>
          <a:xfrm>
            <a:off x="2660904" y="1681163"/>
            <a:ext cx="1783080" cy="1508760"/>
          </a:xfrm>
          <a:prstGeom prst="roundRect">
            <a:avLst>
              <a:gd name="adj" fmla="val 9000"/>
            </a:avLst>
          </a:prstGeom>
          <a:solidFill>
            <a:schemeClr val="accent1">
              <a:lumMod val="20000"/>
              <a:lumOff val="80000"/>
            </a:schemeClr>
          </a:solidFill>
          <a:ln w="12700">
            <a:solidFill>
              <a:srgbClr val="4F81BD"/>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RTL</a:t>
            </a:r>
          </a:p>
          <a:p>
            <a:pPr algn="ctr">
              <a:spcBef>
                <a:spcPts val="0"/>
              </a:spcBef>
              <a:spcAft>
                <a:spcPts val="150"/>
              </a:spcAft>
              <a:buNone/>
            </a:pPr>
            <a:r>
              <a:rPr lang="en-US" sz="950" b="1" i="0">
                <a:solidFill>
                  <a:srgbClr val="4F81BD"/>
                </a:solidFill>
                <a:latin typeface="Calibri"/>
                <a:ea typeface="Calibri"/>
                <a:cs typeface="Calibri"/>
              </a:rPr>
              <a:t>Verilog code</a:t>
            </a:r>
          </a:p>
          <a:p>
            <a:pPr algn="ctr">
              <a:spcBef>
                <a:spcPts val="0"/>
              </a:spcBef>
              <a:spcAft>
                <a:spcPts val="0"/>
              </a:spcAft>
              <a:buNone/>
            </a:pPr>
            <a:r>
              <a:rPr lang="en-US" sz="900">
                <a:solidFill>
                  <a:srgbClr val="5D6C7B"/>
                </a:solidFill>
                <a:latin typeface="Calibri"/>
                <a:ea typeface="Calibri"/>
                <a:cs typeface="Calibri"/>
              </a:rPr>
              <a:t>The circuit hardware description</a:t>
            </a:r>
            <a:endParaRPr lang="en-US" sz="900" b="0" i="0">
              <a:solidFill>
                <a:srgbClr val="5D6C7B"/>
              </a:solidFill>
              <a:latin typeface="Calibri"/>
              <a:ea typeface="Calibri"/>
              <a:cs typeface="Calibri"/>
            </a:endParaRPr>
          </a:p>
        </p:txBody>
      </p:sp>
      <p:sp>
        <p:nvSpPr>
          <p:cNvPr id="1292" name="shape 1292"/>
          <p:cNvSpPr/>
          <p:nvPr/>
        </p:nvSpPr>
        <p:spPr>
          <a:xfrm>
            <a:off x="4809744" y="1681163"/>
            <a:ext cx="1783080" cy="1508760"/>
          </a:xfrm>
          <a:prstGeom prst="roundRect">
            <a:avLst>
              <a:gd name="adj" fmla="val 9000"/>
            </a:avLst>
          </a:prstGeom>
          <a:solidFill>
            <a:schemeClr val="accent1">
              <a:lumMod val="20000"/>
              <a:lumOff val="80000"/>
            </a:schemeClr>
          </a:solidFill>
          <a:ln w="12700">
            <a:solidFill>
              <a:srgbClr val="4F81BD"/>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Testbench</a:t>
            </a:r>
          </a:p>
          <a:p>
            <a:pPr algn="ctr">
              <a:spcBef>
                <a:spcPts val="0"/>
              </a:spcBef>
              <a:spcAft>
                <a:spcPts val="150"/>
              </a:spcAft>
              <a:buNone/>
            </a:pPr>
            <a:r>
              <a:rPr lang="en-US" sz="950" b="1" i="0">
                <a:solidFill>
                  <a:srgbClr val="4F81BD"/>
                </a:solidFill>
                <a:latin typeface="Calibri"/>
                <a:ea typeface="Calibri"/>
                <a:cs typeface="Calibri"/>
              </a:rPr>
              <a:t>Verilog + Icarus</a:t>
            </a:r>
          </a:p>
          <a:p>
            <a:pPr algn="ctr">
              <a:spcBef>
                <a:spcPts val="0"/>
              </a:spcBef>
              <a:spcAft>
                <a:spcPts val="0"/>
              </a:spcAft>
              <a:buNone/>
            </a:pPr>
            <a:r>
              <a:rPr lang="en-US" sz="900" b="0" i="0">
                <a:solidFill>
                  <a:srgbClr val="5D6C7B"/>
                </a:solidFill>
                <a:latin typeface="Calibri"/>
                <a:ea typeface="Calibri"/>
                <a:cs typeface="Calibri"/>
              </a:rPr>
              <a:t>a program that validates the RTL in simulation</a:t>
            </a:r>
          </a:p>
        </p:txBody>
      </p:sp>
      <p:sp>
        <p:nvSpPr>
          <p:cNvPr id="1293" name="shape 1293"/>
          <p:cNvSpPr/>
          <p:nvPr/>
        </p:nvSpPr>
        <p:spPr>
          <a:xfrm>
            <a:off x="6958584" y="1681163"/>
            <a:ext cx="1783080" cy="1508760"/>
          </a:xfrm>
          <a:prstGeom prst="roundRect">
            <a:avLst>
              <a:gd name="adj" fmla="val 9000"/>
            </a:avLst>
          </a:prstGeom>
          <a:solidFill>
            <a:schemeClr val="accent1">
              <a:lumMod val="20000"/>
              <a:lumOff val="80000"/>
            </a:schemeClr>
          </a:solidFill>
          <a:ln w="12700">
            <a:solidFill>
              <a:schemeClr val="accent1"/>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Synthesis</a:t>
            </a:r>
          </a:p>
          <a:p>
            <a:pPr algn="ctr">
              <a:spcBef>
                <a:spcPts val="0"/>
              </a:spcBef>
              <a:spcAft>
                <a:spcPts val="150"/>
              </a:spcAft>
              <a:buNone/>
            </a:pPr>
            <a:r>
              <a:rPr lang="en-US" sz="950" b="1" i="0">
                <a:solidFill>
                  <a:schemeClr val="tx2">
                    <a:lumMod val="60000"/>
                    <a:lumOff val="40000"/>
                  </a:schemeClr>
                </a:solidFill>
                <a:latin typeface="Calibri"/>
                <a:ea typeface="Calibri"/>
                <a:cs typeface="Calibri"/>
              </a:rPr>
              <a:t>Yosys</a:t>
            </a:r>
          </a:p>
          <a:p>
            <a:pPr algn="ctr">
              <a:spcBef>
                <a:spcPts val="0"/>
              </a:spcBef>
              <a:spcAft>
                <a:spcPts val="0"/>
              </a:spcAft>
              <a:buNone/>
            </a:pPr>
            <a:r>
              <a:rPr lang="en-US" sz="900" b="0" i="0">
                <a:solidFill>
                  <a:srgbClr val="5D6C7B"/>
                </a:solidFill>
                <a:latin typeface="Calibri"/>
                <a:ea typeface="Calibri"/>
                <a:cs typeface="Calibri"/>
              </a:rPr>
              <a:t>Synthesizes the HDL into logic gates, performing PPA optimization</a:t>
            </a:r>
          </a:p>
        </p:txBody>
      </p:sp>
      <p:sp>
        <p:nvSpPr>
          <p:cNvPr id="1294" name="shape 1294"/>
          <p:cNvSpPr/>
          <p:nvPr/>
        </p:nvSpPr>
        <p:spPr>
          <a:xfrm>
            <a:off x="6958584" y="3601403"/>
            <a:ext cx="1783080" cy="1508760"/>
          </a:xfrm>
          <a:prstGeom prst="roundRect">
            <a:avLst>
              <a:gd name="adj" fmla="val 9000"/>
            </a:avLst>
          </a:prstGeom>
          <a:solidFill>
            <a:schemeClr val="accent1">
              <a:lumMod val="20000"/>
              <a:lumOff val="80000"/>
            </a:schemeClr>
          </a:solidFill>
          <a:ln w="12700">
            <a:solidFill>
              <a:srgbClr val="4F81BD"/>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SDC</a:t>
            </a:r>
          </a:p>
          <a:p>
            <a:pPr algn="ctr">
              <a:spcBef>
                <a:spcPts val="0"/>
              </a:spcBef>
              <a:spcAft>
                <a:spcPts val="150"/>
              </a:spcAft>
              <a:buNone/>
            </a:pPr>
            <a:r>
              <a:rPr lang="en-US" sz="950" b="1" i="0">
                <a:solidFill>
                  <a:srgbClr val="4F81BD"/>
                </a:solidFill>
                <a:latin typeface="Calibri"/>
                <a:ea typeface="Calibri"/>
                <a:cs typeface="Calibri"/>
              </a:rPr>
              <a:t>constraints</a:t>
            </a:r>
          </a:p>
          <a:p>
            <a:pPr algn="ctr">
              <a:spcBef>
                <a:spcPts val="0"/>
              </a:spcBef>
              <a:spcAft>
                <a:spcPts val="0"/>
              </a:spcAft>
              <a:buNone/>
            </a:pPr>
            <a:r>
              <a:rPr lang="en-US" sz="900">
                <a:solidFill>
                  <a:srgbClr val="5D6C7B"/>
                </a:solidFill>
                <a:latin typeface="Calibri"/>
                <a:ea typeface="Calibri"/>
                <a:cs typeface="Calibri"/>
              </a:rPr>
              <a:t>Timing, power, area </a:t>
            </a:r>
            <a:r>
              <a:rPr lang="en-US" sz="900" err="1">
                <a:solidFill>
                  <a:srgbClr val="5D6C7B"/>
                </a:solidFill>
                <a:latin typeface="Calibri"/>
                <a:ea typeface="Calibri"/>
                <a:cs typeface="Calibri"/>
              </a:rPr>
              <a:t>constraints</a:t>
            </a:r>
            <a:endParaRPr lang="en-US" sz="900" b="0" i="0">
              <a:solidFill>
                <a:srgbClr val="5D6C7B"/>
              </a:solidFill>
              <a:latin typeface="Calibri"/>
              <a:ea typeface="Calibri"/>
              <a:cs typeface="Calibri"/>
            </a:endParaRPr>
          </a:p>
        </p:txBody>
      </p:sp>
      <p:sp>
        <p:nvSpPr>
          <p:cNvPr id="1295" name="shape 1295"/>
          <p:cNvSpPr/>
          <p:nvPr/>
        </p:nvSpPr>
        <p:spPr>
          <a:xfrm>
            <a:off x="4809744" y="3601403"/>
            <a:ext cx="1783080" cy="1508760"/>
          </a:xfrm>
          <a:prstGeom prst="roundRect">
            <a:avLst>
              <a:gd name="adj" fmla="val 9000"/>
            </a:avLst>
          </a:prstGeom>
          <a:solidFill>
            <a:schemeClr val="accent1">
              <a:lumMod val="20000"/>
              <a:lumOff val="80000"/>
            </a:schemeClr>
          </a:solidFill>
          <a:ln w="12700">
            <a:solidFill>
              <a:srgbClr val="4F81BD"/>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Place &amp; route</a:t>
            </a:r>
          </a:p>
          <a:p>
            <a:pPr algn="ctr">
              <a:spcBef>
                <a:spcPts val="0"/>
              </a:spcBef>
              <a:spcAft>
                <a:spcPts val="150"/>
              </a:spcAft>
              <a:buNone/>
            </a:pPr>
            <a:r>
              <a:rPr lang="en-US" sz="950" b="1" i="0" err="1">
                <a:solidFill>
                  <a:srgbClr val="4F81BD"/>
                </a:solidFill>
                <a:latin typeface="Calibri"/>
                <a:ea typeface="Calibri"/>
                <a:cs typeface="Calibri"/>
              </a:rPr>
              <a:t>OpenROAD</a:t>
            </a:r>
            <a:endParaRPr lang="en-US" sz="950" b="1" i="0">
              <a:solidFill>
                <a:srgbClr val="4F81BD"/>
              </a:solidFill>
              <a:latin typeface="Calibri"/>
              <a:ea typeface="Calibri"/>
              <a:cs typeface="Calibri"/>
            </a:endParaRPr>
          </a:p>
          <a:p>
            <a:pPr algn="ctr">
              <a:spcBef>
                <a:spcPts val="0"/>
              </a:spcBef>
              <a:spcAft>
                <a:spcPts val="150"/>
              </a:spcAft>
              <a:buNone/>
            </a:pPr>
            <a:r>
              <a:rPr lang="en-US" sz="1000">
                <a:solidFill>
                  <a:srgbClr val="5D6C7B"/>
                </a:solidFill>
                <a:ea typeface="Calibri"/>
                <a:cs typeface="Calibri"/>
              </a:rPr>
              <a:t>(Commercial Tools, OD4EC) </a:t>
            </a:r>
            <a:endParaRPr lang="en-US" sz="950" b="1" i="0">
              <a:solidFill>
                <a:srgbClr val="4F81BD"/>
              </a:solidFill>
              <a:latin typeface="Calibri"/>
              <a:ea typeface="Calibri"/>
              <a:cs typeface="Calibri"/>
            </a:endParaRPr>
          </a:p>
          <a:p>
            <a:pPr algn="ctr">
              <a:spcBef>
                <a:spcPts val="0"/>
              </a:spcBef>
              <a:spcAft>
                <a:spcPts val="0"/>
              </a:spcAft>
              <a:buNone/>
            </a:pPr>
            <a:r>
              <a:rPr lang="en-US" sz="900">
                <a:solidFill>
                  <a:srgbClr val="5D6C7B"/>
                </a:solidFill>
                <a:latin typeface="Calibri"/>
                <a:ea typeface="Calibri"/>
                <a:cs typeface="Calibri"/>
              </a:rPr>
              <a:t>Places and routes the designs, performing PPA optimizations again</a:t>
            </a:r>
            <a:endParaRPr lang="en-US" sz="900" b="0" i="0">
              <a:solidFill>
                <a:srgbClr val="5D6C7B"/>
              </a:solidFill>
              <a:latin typeface="Calibri"/>
              <a:ea typeface="Calibri"/>
              <a:cs typeface="Calibri"/>
            </a:endParaRPr>
          </a:p>
        </p:txBody>
      </p:sp>
      <p:sp>
        <p:nvSpPr>
          <p:cNvPr id="1296" name="shape 1296"/>
          <p:cNvSpPr/>
          <p:nvPr/>
        </p:nvSpPr>
        <p:spPr>
          <a:xfrm>
            <a:off x="2660904" y="3601403"/>
            <a:ext cx="1783080" cy="1508760"/>
          </a:xfrm>
          <a:prstGeom prst="roundRect">
            <a:avLst>
              <a:gd name="adj" fmla="val 9000"/>
            </a:avLst>
          </a:prstGeom>
          <a:solidFill>
            <a:schemeClr val="accent1">
              <a:lumMod val="20000"/>
              <a:lumOff val="80000"/>
            </a:schemeClr>
          </a:solidFill>
          <a:ln w="12700">
            <a:solidFill>
              <a:schemeClr val="accent1"/>
            </a:solidFill>
          </a:ln>
        </p:spPr>
        <p:txBody>
          <a:bodyPr wrap="square" lIns="73152" tIns="73152" rIns="73152" bIns="73152" anchor="ctr">
            <a:noAutofit/>
          </a:bodyPr>
          <a:lstStyle/>
          <a:p>
            <a:pPr algn="ctr">
              <a:spcBef>
                <a:spcPts val="0"/>
              </a:spcBef>
              <a:spcAft>
                <a:spcPts val="150"/>
              </a:spcAft>
              <a:buNone/>
            </a:pPr>
            <a:r>
              <a:rPr lang="en-US" sz="1250" b="1" i="0">
                <a:solidFill>
                  <a:srgbClr val="0E2745"/>
                </a:solidFill>
                <a:latin typeface="Calibri"/>
                <a:ea typeface="Calibri"/>
                <a:cs typeface="Calibri"/>
              </a:rPr>
              <a:t>PPA measurements</a:t>
            </a:r>
          </a:p>
          <a:p>
            <a:pPr algn="ctr">
              <a:spcBef>
                <a:spcPts val="0"/>
              </a:spcBef>
              <a:spcAft>
                <a:spcPts val="0"/>
              </a:spcAft>
              <a:buNone/>
            </a:pPr>
            <a:r>
              <a:rPr lang="en-US" sz="900" b="0" i="0">
                <a:solidFill>
                  <a:srgbClr val="5D6C7B"/>
                </a:solidFill>
                <a:latin typeface="Calibri"/>
                <a:ea typeface="Calibri"/>
                <a:cs typeface="Calibri"/>
              </a:rPr>
              <a:t>Power, Performance and Area</a:t>
            </a:r>
          </a:p>
        </p:txBody>
      </p:sp>
      <p:sp>
        <p:nvSpPr>
          <p:cNvPr id="1297" name="arrow 1297"/>
          <p:cNvSpPr/>
          <p:nvPr/>
        </p:nvSpPr>
        <p:spPr>
          <a:xfrm>
            <a:off x="2313432" y="2275523"/>
            <a:ext cx="301752" cy="274320"/>
          </a:xfrm>
          <a:prstGeom prst="rightArrow">
            <a:avLst/>
          </a:prstGeom>
          <a:solidFill>
            <a:srgbClr val="4F81BD"/>
          </a:solidFill>
          <a:ln>
            <a:noFill/>
          </a:ln>
        </p:spPr>
        <p:txBody>
          <a:bodyPr/>
          <a:lstStyle/>
          <a:p>
            <a:endParaRPr lang="en-US"/>
          </a:p>
        </p:txBody>
      </p:sp>
      <p:sp>
        <p:nvSpPr>
          <p:cNvPr id="1298" name="arrow 1298"/>
          <p:cNvSpPr/>
          <p:nvPr/>
        </p:nvSpPr>
        <p:spPr>
          <a:xfrm>
            <a:off x="4462272" y="2275523"/>
            <a:ext cx="301752" cy="274320"/>
          </a:xfrm>
          <a:prstGeom prst="rightArrow">
            <a:avLst/>
          </a:prstGeom>
          <a:solidFill>
            <a:srgbClr val="4F81BD"/>
          </a:solidFill>
          <a:ln>
            <a:noFill/>
          </a:ln>
        </p:spPr>
        <p:txBody>
          <a:bodyPr/>
          <a:lstStyle/>
          <a:p>
            <a:endParaRPr lang="en-US"/>
          </a:p>
        </p:txBody>
      </p:sp>
      <p:sp>
        <p:nvSpPr>
          <p:cNvPr id="1299" name="arrow 1299"/>
          <p:cNvSpPr/>
          <p:nvPr/>
        </p:nvSpPr>
        <p:spPr>
          <a:xfrm>
            <a:off x="6611112" y="2275523"/>
            <a:ext cx="301752" cy="274320"/>
          </a:xfrm>
          <a:prstGeom prst="rightArrow">
            <a:avLst/>
          </a:prstGeom>
          <a:solidFill>
            <a:srgbClr val="4F81BD"/>
          </a:solidFill>
          <a:ln>
            <a:noFill/>
          </a:ln>
        </p:spPr>
        <p:txBody>
          <a:bodyPr/>
          <a:lstStyle/>
          <a:p>
            <a:endParaRPr lang="en-US"/>
          </a:p>
        </p:txBody>
      </p:sp>
      <p:sp>
        <p:nvSpPr>
          <p:cNvPr id="1300" name="arrow 1300"/>
          <p:cNvSpPr/>
          <p:nvPr/>
        </p:nvSpPr>
        <p:spPr>
          <a:xfrm>
            <a:off x="7575804" y="3226879"/>
            <a:ext cx="274320" cy="347472"/>
          </a:xfrm>
          <a:prstGeom prst="downArrow">
            <a:avLst/>
          </a:prstGeom>
          <a:solidFill>
            <a:srgbClr val="4F81BD"/>
          </a:solidFill>
          <a:ln>
            <a:noFill/>
          </a:ln>
        </p:spPr>
        <p:txBody>
          <a:bodyPr/>
          <a:lstStyle/>
          <a:p>
            <a:endParaRPr lang="en-US"/>
          </a:p>
        </p:txBody>
      </p:sp>
      <p:sp>
        <p:nvSpPr>
          <p:cNvPr id="1301" name="arrow 1301"/>
          <p:cNvSpPr/>
          <p:nvPr/>
        </p:nvSpPr>
        <p:spPr>
          <a:xfrm>
            <a:off x="6611112" y="4195763"/>
            <a:ext cx="301752" cy="274320"/>
          </a:xfrm>
          <a:prstGeom prst="leftArrow">
            <a:avLst/>
          </a:prstGeom>
          <a:solidFill>
            <a:srgbClr val="4F81BD"/>
          </a:solidFill>
          <a:ln>
            <a:noFill/>
          </a:ln>
        </p:spPr>
        <p:txBody>
          <a:bodyPr/>
          <a:lstStyle/>
          <a:p>
            <a:endParaRPr lang="en-US"/>
          </a:p>
        </p:txBody>
      </p:sp>
      <p:sp>
        <p:nvSpPr>
          <p:cNvPr id="1302" name="arrow 1302"/>
          <p:cNvSpPr/>
          <p:nvPr/>
        </p:nvSpPr>
        <p:spPr>
          <a:xfrm>
            <a:off x="4462272" y="4195763"/>
            <a:ext cx="301752" cy="274320"/>
          </a:xfrm>
          <a:prstGeom prst="leftArrow">
            <a:avLst/>
          </a:prstGeom>
          <a:solidFill>
            <a:srgbClr val="4F81BD"/>
          </a:solidFill>
          <a:ln>
            <a:noFill/>
          </a:ln>
        </p:spPr>
        <p:txBody>
          <a:bodyPr/>
          <a:lstStyle/>
          <a:p>
            <a:endParaRPr lang="en-US"/>
          </a:p>
        </p:txBody>
      </p:sp>
      <p:sp>
        <p:nvSpPr>
          <p:cNvPr id="1303" name="shape 1303"/>
          <p:cNvSpPr/>
          <p:nvPr/>
        </p:nvSpPr>
        <p:spPr>
          <a:xfrm>
            <a:off x="512064" y="3601403"/>
            <a:ext cx="1965960" cy="1508760"/>
          </a:xfrm>
          <a:prstGeom prst="roundRect">
            <a:avLst>
              <a:gd name="adj" fmla="val 9000"/>
            </a:avLst>
          </a:prstGeom>
          <a:solidFill>
            <a:srgbClr val="FFFFFF"/>
          </a:solidFill>
          <a:ln w="12700">
            <a:solidFill>
              <a:srgbClr val="C9D6E6"/>
            </a:solidFill>
          </a:ln>
        </p:spPr>
        <p:txBody>
          <a:bodyPr wrap="square" lIns="73152" tIns="73152" rIns="73152" bIns="73152" anchor="ctr">
            <a:noAutofit/>
          </a:bodyPr>
          <a:lstStyle/>
          <a:p>
            <a:pPr algn="ctr">
              <a:spcBef>
                <a:spcPts val="0"/>
              </a:spcBef>
              <a:spcAft>
                <a:spcPts val="100"/>
              </a:spcAft>
              <a:buNone/>
            </a:pPr>
            <a:r>
              <a:rPr lang="en-US" sz="1400" b="1" i="0">
                <a:solidFill>
                  <a:srgbClr val="4F81BD"/>
                </a:solidFill>
                <a:latin typeface="Calibri"/>
                <a:ea typeface="Calibri"/>
                <a:cs typeface="Calibri"/>
              </a:rPr>
              <a:t>Where can Agentic AI fit in this flow?</a:t>
            </a:r>
            <a:endParaRPr lang="en-US" sz="1400" b="0" i="0">
              <a:solidFill>
                <a:srgbClr val="0E2745"/>
              </a:solidFill>
              <a:latin typeface="Calibri"/>
              <a:ea typeface="Calibri"/>
              <a:cs typeface="Calibri"/>
            </a:endParaRPr>
          </a:p>
        </p:txBody>
      </p:sp>
      <p:sp>
        <p:nvSpPr>
          <p:cNvPr id="5" name="arrow 1300">
            <a:extLst>
              <a:ext uri="{FF2B5EF4-FFF2-40B4-BE49-F238E27FC236}">
                <a16:creationId xmlns:a16="http://schemas.microsoft.com/office/drawing/2014/main" id="{2283B575-5973-4E06-3327-A69ABEC47DD3}"/>
              </a:ext>
            </a:extLst>
          </p:cNvPr>
          <p:cNvSpPr/>
          <p:nvPr/>
        </p:nvSpPr>
        <p:spPr>
          <a:xfrm rot="10800000">
            <a:off x="7934068" y="3198440"/>
            <a:ext cx="274320" cy="347472"/>
          </a:xfrm>
          <a:prstGeom prst="downArrow">
            <a:avLst/>
          </a:prstGeom>
          <a:solidFill>
            <a:srgbClr val="4F81BD"/>
          </a:solidFill>
          <a:ln>
            <a:noFill/>
          </a:ln>
        </p:spPr>
        <p:txBody>
          <a:bodyPr/>
          <a:lstStyle/>
          <a:p>
            <a:endParaRPr lang="en-US"/>
          </a:p>
        </p:txBody>
      </p:sp>
    </p:spTree>
    <p:extLst>
      <p:ext uri="{BB962C8B-B14F-4D97-AF65-F5344CB8AC3E}">
        <p14:creationId xmlns:p14="http://schemas.microsoft.com/office/powerpoint/2010/main" val="496440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D43B-D9B8-7220-D2CD-EA0CE386AC39}"/>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6D30E701-F476-5D26-5949-AB716234EDFF}"/>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21CD3C0-C40C-FF1A-1D77-ECBF2F7BF988}"/>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A4BE3034-FF4E-ADC4-482B-61FDD59C48CD}"/>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Agentic AI feedback loop</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FD781032-91AD-1672-2002-DB233BA521DA}"/>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31B800B3-83AE-A117-0FB4-C17D596F6A89}"/>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10</a:t>
            </a:fld>
            <a:endParaRPr sz="750" b="0">
              <a:solidFill>
                <a:srgbClr val="5B6573"/>
              </a:solidFill>
              <a:latin typeface="Calibri"/>
              <a:ea typeface="Calibri"/>
              <a:cs typeface="Calibri"/>
            </a:endParaRPr>
          </a:p>
        </p:txBody>
      </p:sp>
      <p:pic>
        <p:nvPicPr>
          <p:cNvPr id="5" name="Picture 4">
            <a:extLst>
              <a:ext uri="{FF2B5EF4-FFF2-40B4-BE49-F238E27FC236}">
                <a16:creationId xmlns:a16="http://schemas.microsoft.com/office/drawing/2014/main" id="{A01E95A2-2CD2-1E35-5560-D5A5126650E5}"/>
              </a:ext>
            </a:extLst>
          </p:cNvPr>
          <p:cNvPicPr>
            <a:picLocks noChangeAspect="1"/>
          </p:cNvPicPr>
          <p:nvPr/>
        </p:nvPicPr>
        <p:blipFill>
          <a:blip r:embed="rId3"/>
          <a:stretch/>
        </p:blipFill>
        <p:spPr>
          <a:xfrm>
            <a:off x="1194966" y="1119047"/>
            <a:ext cx="6844134" cy="4562756"/>
          </a:xfrm>
          <a:prstGeom prst="rect">
            <a:avLst/>
          </a:prstGeom>
        </p:spPr>
      </p:pic>
      <p:sp>
        <p:nvSpPr>
          <p:cNvPr id="6" name="Rectangle 5">
            <a:extLst>
              <a:ext uri="{FF2B5EF4-FFF2-40B4-BE49-F238E27FC236}">
                <a16:creationId xmlns:a16="http://schemas.microsoft.com/office/drawing/2014/main" id="{77FC2462-BE20-87BF-28F7-99418C40C17D}"/>
              </a:ext>
            </a:extLst>
          </p:cNvPr>
          <p:cNvSpPr>
            <a:spLocks noGrp="1"/>
          </p:cNvSpPr>
          <p:nvPr/>
        </p:nvSpPr>
        <p:spPr>
          <a:xfrm>
            <a:off x="559383" y="5686425"/>
            <a:ext cx="8115300" cy="495300"/>
          </a:xfrm>
          <a:prstGeom prst="rect">
            <a:avLst/>
          </a:prstGeom>
          <a:noFill/>
          <a:ln w="0">
            <a:noFill/>
          </a:ln>
        </p:spPr>
        <p:txBody>
          <a:bodyPr>
            <a:noAutofit/>
          </a:bodyPr>
          <a:lstStyle/>
          <a:p>
            <a:pPr>
              <a:defRPr sz="1650" b="0">
                <a:solidFill>
                  <a:srgbClr val="007B78"/>
                </a:solidFill>
                <a:latin typeface="Arial"/>
                <a:ea typeface="Arial"/>
                <a:cs typeface="Arial"/>
              </a:defRPr>
            </a:pPr>
            <a:r>
              <a:rPr lang="en-US" sz="1650" b="0" i="1" dirty="0">
                <a:solidFill>
                  <a:schemeClr val="tx2">
                    <a:lumMod val="75000"/>
                  </a:schemeClr>
                </a:solidFill>
                <a:latin typeface="Arial"/>
                <a:ea typeface="Arial"/>
                <a:cs typeface="Arial"/>
              </a:rPr>
              <a:t>To achieve optimal results, the agentic AI feedback loop may run many times</a:t>
            </a:r>
            <a:endParaRPr sz="1650" b="0" i="1" dirty="0">
              <a:solidFill>
                <a:schemeClr val="tx2">
                  <a:lumMod val="75000"/>
                </a:schemeClr>
              </a:solidFill>
              <a:latin typeface="Arial"/>
              <a:ea typeface="Arial"/>
              <a:cs typeface="Arial"/>
            </a:endParaRPr>
          </a:p>
        </p:txBody>
      </p:sp>
    </p:spTree>
    <p:extLst>
      <p:ext uri="{BB962C8B-B14F-4D97-AF65-F5344CB8AC3E}">
        <p14:creationId xmlns:p14="http://schemas.microsoft.com/office/powerpoint/2010/main" val="286408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B2C130-F183-47E0-66C7-E2FA3DC0D67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5" name="Rectangle 4">
            <a:extLst>
              <a:ext uri="{FF2B5EF4-FFF2-40B4-BE49-F238E27FC236}">
                <a16:creationId xmlns:a16="http://schemas.microsoft.com/office/drawing/2014/main" id="{D368274D-372C-F005-171F-2F0EBB7926F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7" name="Rectangle 6">
            <a:extLst>
              <a:ext uri="{FF2B5EF4-FFF2-40B4-BE49-F238E27FC236}">
                <a16:creationId xmlns:a16="http://schemas.microsoft.com/office/drawing/2014/main" id="{C4AED29D-8507-9E60-65D9-CAB637C8F6E0}"/>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a:t>Limitations</a:t>
            </a:r>
          </a:p>
        </p:txBody>
      </p:sp>
      <p:sp>
        <p:nvSpPr>
          <p:cNvPr id="9" name="Rectangle 8">
            <a:extLst>
              <a:ext uri="{FF2B5EF4-FFF2-40B4-BE49-F238E27FC236}">
                <a16:creationId xmlns:a16="http://schemas.microsoft.com/office/drawing/2014/main" id="{112DA654-691E-7EA9-9299-BF5C3A0493AC}"/>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11" name="TextBox 10">
            <a:extLst>
              <a:ext uri="{FF2B5EF4-FFF2-40B4-BE49-F238E27FC236}">
                <a16:creationId xmlns:a16="http://schemas.microsoft.com/office/drawing/2014/main" id="{719F99CD-0761-B96B-D0BA-19213CB262E7}"/>
              </a:ext>
            </a:extLst>
          </p:cNvPr>
          <p:cNvSpPr txBox="1"/>
          <p:nvPr/>
        </p:nvSpPr>
        <p:spPr>
          <a:xfrm>
            <a:off x="495135" y="1116057"/>
            <a:ext cx="7763913" cy="1200329"/>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Cloud APIs</a:t>
            </a:r>
            <a:r>
              <a:rPr lang="en-US">
                <a:ea typeface="Calibri"/>
                <a:cs typeface="Calibri"/>
              </a:rPr>
              <a:t>: </a:t>
            </a:r>
            <a:endParaRPr lang="en-US">
              <a:ea typeface="+mn-lt"/>
              <a:cs typeface="+mn-lt"/>
            </a:endParaRPr>
          </a:p>
          <a:p>
            <a:pPr marL="742950" lvl="1" indent="-285750">
              <a:buFont typeface="Courier New"/>
              <a:buChar char="o"/>
            </a:pPr>
            <a:r>
              <a:rPr lang="en-US">
                <a:ea typeface="+mn-lt"/>
                <a:cs typeface="+mn-lt"/>
              </a:rPr>
              <a:t>Free tiers have rate limits </a:t>
            </a:r>
          </a:p>
          <a:p>
            <a:pPr marL="742950" lvl="1" indent="-285750">
              <a:buFont typeface="Courier New"/>
              <a:buChar char="o"/>
            </a:pPr>
            <a:r>
              <a:rPr lang="en-US">
                <a:ea typeface="+mn-lt"/>
                <a:cs typeface="+mn-lt"/>
              </a:rPr>
              <a:t>Needs internet and an API key (keep keys secret)</a:t>
            </a:r>
          </a:p>
          <a:p>
            <a:pPr marL="742950" lvl="1" indent="-285750">
              <a:buFont typeface="Courier New"/>
              <a:buChar char="o"/>
            </a:pPr>
            <a:r>
              <a:rPr lang="en-US">
                <a:ea typeface="+mn-lt"/>
                <a:cs typeface="+mn-lt"/>
              </a:rPr>
              <a:t>Cost scales with tokens, so big models on every step get expensive</a:t>
            </a:r>
            <a:endParaRPr lang="en-US">
              <a:ea typeface="Calibri"/>
              <a:cs typeface="Calibri"/>
            </a:endParaRPr>
          </a:p>
        </p:txBody>
      </p:sp>
      <p:sp>
        <p:nvSpPr>
          <p:cNvPr id="12" name="TextBox 11">
            <a:extLst>
              <a:ext uri="{FF2B5EF4-FFF2-40B4-BE49-F238E27FC236}">
                <a16:creationId xmlns:a16="http://schemas.microsoft.com/office/drawing/2014/main" id="{C9E6AD19-C4AA-7E47-38C3-801D37C14226}"/>
              </a:ext>
            </a:extLst>
          </p:cNvPr>
          <p:cNvSpPr txBox="1"/>
          <p:nvPr/>
        </p:nvSpPr>
        <p:spPr>
          <a:xfrm>
            <a:off x="495135" y="2660377"/>
            <a:ext cx="7763913" cy="1754326"/>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SLMs </a:t>
            </a:r>
            <a:r>
              <a:rPr lang="en-US">
                <a:ea typeface="Calibri"/>
                <a:cs typeface="Calibri"/>
              </a:rPr>
              <a:t>:</a:t>
            </a:r>
            <a:endParaRPr lang="en-US">
              <a:ea typeface="+mn-lt"/>
              <a:cs typeface="+mn-lt"/>
            </a:endParaRPr>
          </a:p>
          <a:p>
            <a:pPr marL="742950" lvl="1" indent="-285750">
              <a:buFont typeface="Courier New"/>
              <a:buChar char="o"/>
            </a:pPr>
            <a:r>
              <a:rPr lang="en-US">
                <a:ea typeface="+mn-lt"/>
                <a:cs typeface="+mn-lt"/>
              </a:rPr>
              <a:t>Need decent hardware: RAM, ideally a GPU</a:t>
            </a:r>
          </a:p>
          <a:p>
            <a:pPr marL="742950" lvl="1" indent="-285750">
              <a:buFont typeface="Courier New"/>
              <a:buChar char="o"/>
            </a:pPr>
            <a:r>
              <a:rPr lang="en-US">
                <a:ea typeface="+mn-lt"/>
                <a:cs typeface="+mn-lt"/>
              </a:rPr>
              <a:t>Slow on CPU-only laptops</a:t>
            </a:r>
          </a:p>
          <a:p>
            <a:pPr marL="742950" lvl="1" indent="-285750">
              <a:buFont typeface="Courier New"/>
              <a:buChar char="o"/>
            </a:pPr>
            <a:r>
              <a:rPr lang="en-US">
                <a:ea typeface="+mn-lt"/>
                <a:cs typeface="+mn-lt"/>
              </a:rPr>
              <a:t>Weaker on complex steps (RTL, long contexts)</a:t>
            </a:r>
          </a:p>
          <a:p>
            <a:pPr marL="742950" lvl="1" indent="-285750">
              <a:buFont typeface="Courier New"/>
              <a:buChar char="o"/>
            </a:pPr>
            <a:r>
              <a:rPr lang="en-US">
                <a:ea typeface="+mn-lt"/>
                <a:cs typeface="+mn-lt"/>
              </a:rPr>
              <a:t>Several GB per model to download</a:t>
            </a:r>
            <a:endParaRPr lang="en-US">
              <a:ea typeface="Calibri"/>
              <a:cs typeface="Calibri"/>
            </a:endParaRPr>
          </a:p>
          <a:p>
            <a:pPr marL="742950" lvl="1" indent="-285750">
              <a:buFont typeface="Courier New"/>
              <a:buChar char="o"/>
            </a:pPr>
            <a:endParaRPr lang="en-US">
              <a:ea typeface="Calibri"/>
              <a:cs typeface="Calibri"/>
            </a:endParaRPr>
          </a:p>
        </p:txBody>
      </p:sp>
      <p:sp>
        <p:nvSpPr>
          <p:cNvPr id="13" name="TextBox 12">
            <a:extLst>
              <a:ext uri="{FF2B5EF4-FFF2-40B4-BE49-F238E27FC236}">
                <a16:creationId xmlns:a16="http://schemas.microsoft.com/office/drawing/2014/main" id="{54F23276-C402-1405-ACC1-487AB3A428D1}"/>
              </a:ext>
            </a:extLst>
          </p:cNvPr>
          <p:cNvSpPr txBox="1"/>
          <p:nvPr/>
        </p:nvSpPr>
        <p:spPr>
          <a:xfrm>
            <a:off x="495135" y="4682217"/>
            <a:ext cx="7763913" cy="1754326"/>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dirty="0">
                <a:ea typeface="+mn-lt"/>
                <a:cs typeface="+mn-lt"/>
              </a:rPr>
              <a:t>LLMs</a:t>
            </a:r>
            <a:r>
              <a:rPr lang="en-US" dirty="0">
                <a:ea typeface="Calibri"/>
                <a:cs typeface="Calibri"/>
              </a:rPr>
              <a:t>: </a:t>
            </a:r>
            <a:endParaRPr lang="en-US" dirty="0">
              <a:ea typeface="+mn-lt"/>
              <a:cs typeface="+mn-lt"/>
            </a:endParaRPr>
          </a:p>
          <a:p>
            <a:pPr marL="742950" lvl="1" indent="-285750">
              <a:buFont typeface="Courier New"/>
              <a:buChar char="o"/>
            </a:pPr>
            <a:r>
              <a:rPr lang="en-US" dirty="0">
                <a:ea typeface="+mn-lt"/>
                <a:cs typeface="+mn-lt"/>
              </a:rPr>
              <a:t>Non-deterministic: same prompt may give different results</a:t>
            </a:r>
          </a:p>
          <a:p>
            <a:pPr marL="742950" lvl="1" indent="-285750">
              <a:buFont typeface="Courier New"/>
              <a:buChar char="o"/>
            </a:pPr>
            <a:r>
              <a:rPr lang="en-US" dirty="0">
                <a:ea typeface="+mn-lt"/>
                <a:cs typeface="+mn-lt"/>
              </a:rPr>
              <a:t>May hallucinate plausible yet incorrect RTL or testbenches</a:t>
            </a:r>
          </a:p>
          <a:p>
            <a:pPr marL="742950" lvl="1" indent="-285750">
              <a:buFont typeface="Courier New"/>
              <a:buChar char="o"/>
            </a:pPr>
            <a:r>
              <a:rPr lang="en-US" dirty="0">
                <a:ea typeface="+mn-lt"/>
                <a:cs typeface="+mn-lt"/>
              </a:rPr>
              <a:t>Quality depends heavily on prompt and examples</a:t>
            </a:r>
          </a:p>
          <a:p>
            <a:pPr marL="742950" lvl="1" indent="-285750">
              <a:buFont typeface="Courier New"/>
              <a:buChar char="o"/>
            </a:pPr>
            <a:r>
              <a:rPr lang="en-US" dirty="0">
                <a:ea typeface="+mn-lt"/>
                <a:cs typeface="+mn-lt"/>
              </a:rPr>
              <a:t>Need external verification (</a:t>
            </a:r>
            <a:r>
              <a:rPr lang="en-US" dirty="0" err="1">
                <a:ea typeface="+mn-lt"/>
                <a:cs typeface="+mn-lt"/>
              </a:rPr>
              <a:t>iverilog</a:t>
            </a:r>
            <a:r>
              <a:rPr lang="en-US" dirty="0">
                <a:ea typeface="+mn-lt"/>
                <a:cs typeface="+mn-lt"/>
              </a:rPr>
              <a:t>, </a:t>
            </a:r>
            <a:r>
              <a:rPr lang="en-US" dirty="0" err="1">
                <a:ea typeface="+mn-lt"/>
                <a:cs typeface="+mn-lt"/>
              </a:rPr>
              <a:t>Yosys</a:t>
            </a:r>
            <a:r>
              <a:rPr lang="en-US" dirty="0">
                <a:ea typeface="+mn-lt"/>
                <a:cs typeface="+mn-lt"/>
              </a:rPr>
              <a:t>, </a:t>
            </a:r>
            <a:r>
              <a:rPr lang="en-US" dirty="0" err="1">
                <a:ea typeface="+mn-lt"/>
                <a:cs typeface="+mn-lt"/>
              </a:rPr>
              <a:t>OpenROAD</a:t>
            </a:r>
            <a:r>
              <a:rPr lang="en-US" dirty="0">
                <a:ea typeface="+mn-lt"/>
                <a:cs typeface="+mn-lt"/>
              </a:rPr>
              <a:t>) to </a:t>
            </a:r>
            <a:br>
              <a:rPr lang="en-US" dirty="0">
                <a:ea typeface="+mn-lt"/>
                <a:cs typeface="+mn-lt"/>
              </a:rPr>
            </a:br>
            <a:r>
              <a:rPr lang="en-US" dirty="0">
                <a:ea typeface="+mn-lt"/>
                <a:cs typeface="+mn-lt"/>
              </a:rPr>
              <a:t>trust any output</a:t>
            </a:r>
            <a:endParaRPr lang="en-US" dirty="0">
              <a:ea typeface="Calibri"/>
              <a:cs typeface="Calibri"/>
            </a:endParaRPr>
          </a:p>
        </p:txBody>
      </p:sp>
    </p:spTree>
    <p:extLst>
      <p:ext uri="{BB962C8B-B14F-4D97-AF65-F5344CB8AC3E}">
        <p14:creationId xmlns:p14="http://schemas.microsoft.com/office/powerpoint/2010/main" val="220146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Before you start: what you need</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12</a:t>
            </a:fld>
            <a:endParaRPr sz="750" b="0">
              <a:solidFill>
                <a:srgbClr val="5B6573"/>
              </a:solidFill>
              <a:latin typeface="Calibri"/>
              <a:ea typeface="Calibri"/>
              <a:cs typeface="Calibri"/>
            </a:endParaRPr>
          </a:p>
        </p:txBody>
      </p:sp>
      <p:sp>
        <p:nvSpPr>
          <p:cNvPr id="1034" name="card 1034"/>
          <p:cNvSpPr/>
          <p:nvPr/>
        </p:nvSpPr>
        <p:spPr>
          <a:xfrm>
            <a:off x="502920" y="1051560"/>
            <a:ext cx="3977639" cy="987552"/>
          </a:xfrm>
          <a:prstGeom prst="roundRect">
            <a:avLst>
              <a:gd name="adj" fmla="val 10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35" name="shape 1035"/>
          <p:cNvSpPr/>
          <p:nvPr/>
        </p:nvSpPr>
        <p:spPr>
          <a:xfrm>
            <a:off x="658368" y="1325880"/>
            <a:ext cx="438912" cy="438912"/>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400" b="1" i="0">
                <a:solidFill>
                  <a:srgbClr val="FFFFFF"/>
                </a:solidFill>
                <a:latin typeface="Calibri"/>
                <a:ea typeface="Calibri"/>
                <a:cs typeface="Calibri"/>
              </a:rPr>
              <a:t>1</a:t>
            </a:r>
          </a:p>
        </p:txBody>
      </p:sp>
      <p:sp>
        <p:nvSpPr>
          <p:cNvPr id="1036" name="text 1036"/>
          <p:cNvSpPr txBox="1"/>
          <p:nvPr/>
        </p:nvSpPr>
        <p:spPr>
          <a:xfrm>
            <a:off x="1234440" y="1143000"/>
            <a:ext cx="3154680" cy="82296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300" b="1" i="0">
                <a:solidFill>
                  <a:srgbClr val="0E2745"/>
                </a:solidFill>
                <a:latin typeface="Calibri"/>
                <a:ea typeface="Calibri"/>
                <a:cs typeface="Calibri"/>
              </a:rPr>
              <a:t>Docker Desktop, running</a:t>
            </a:r>
          </a:p>
          <a:p>
            <a:pPr algn="l">
              <a:spcBef>
                <a:spcPts val="0"/>
              </a:spcBef>
              <a:spcAft>
                <a:spcPts val="0"/>
              </a:spcAft>
              <a:buNone/>
            </a:pPr>
            <a:r>
              <a:rPr lang="en-US" sz="1050" b="0" i="0">
                <a:solidFill>
                  <a:srgbClr val="5D6C7B"/>
                </a:solidFill>
                <a:latin typeface="Calibri"/>
                <a:ea typeface="Calibri"/>
                <a:cs typeface="Calibri"/>
              </a:rPr>
              <a:t>Windows: WSL 2 backend.  Enough free disk for a large image</a:t>
            </a:r>
          </a:p>
        </p:txBody>
      </p:sp>
      <p:sp>
        <p:nvSpPr>
          <p:cNvPr id="1037" name="card 1037"/>
          <p:cNvSpPr/>
          <p:nvPr/>
        </p:nvSpPr>
        <p:spPr>
          <a:xfrm>
            <a:off x="502920" y="2167128"/>
            <a:ext cx="3977639" cy="987552"/>
          </a:xfrm>
          <a:prstGeom prst="roundRect">
            <a:avLst>
              <a:gd name="adj" fmla="val 10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38" name="shape 1038"/>
          <p:cNvSpPr/>
          <p:nvPr/>
        </p:nvSpPr>
        <p:spPr>
          <a:xfrm>
            <a:off x="658368" y="2441448"/>
            <a:ext cx="438912" cy="438912"/>
          </a:xfrm>
          <a:prstGeom prst="ellipse">
            <a:avLst/>
          </a:prstGeom>
          <a:solidFill>
            <a:srgbClr val="B91F2D"/>
          </a:solidFill>
          <a:ln>
            <a:noFill/>
          </a:ln>
        </p:spPr>
        <p:txBody>
          <a:bodyPr wrap="square" lIns="0" tIns="0" rIns="0" bIns="0" anchor="ctr">
            <a:noAutofit/>
          </a:bodyPr>
          <a:lstStyle/>
          <a:p>
            <a:pPr algn="ctr">
              <a:spcBef>
                <a:spcPts val="0"/>
              </a:spcBef>
              <a:spcAft>
                <a:spcPts val="0"/>
              </a:spcAft>
              <a:buNone/>
            </a:pPr>
            <a:r>
              <a:rPr lang="en-US" sz="1400" b="1" i="0">
                <a:solidFill>
                  <a:srgbClr val="FFFFFF"/>
                </a:solidFill>
                <a:latin typeface="Calibri"/>
                <a:ea typeface="Calibri"/>
                <a:cs typeface="Calibri"/>
              </a:rPr>
              <a:t>2</a:t>
            </a:r>
          </a:p>
        </p:txBody>
      </p:sp>
      <p:sp>
        <p:nvSpPr>
          <p:cNvPr id="1039" name="text 1039"/>
          <p:cNvSpPr txBox="1"/>
          <p:nvPr/>
        </p:nvSpPr>
        <p:spPr>
          <a:xfrm>
            <a:off x="1234440" y="2258568"/>
            <a:ext cx="3154680" cy="82296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300" b="1" i="0">
                <a:solidFill>
                  <a:srgbClr val="0E2745"/>
                </a:solidFill>
                <a:latin typeface="Calibri"/>
                <a:ea typeface="Calibri"/>
                <a:cs typeface="Calibri"/>
              </a:rPr>
              <a:t>The image, before the session</a:t>
            </a:r>
          </a:p>
          <a:p>
            <a:pPr algn="l">
              <a:spcBef>
                <a:spcPts val="0"/>
              </a:spcBef>
              <a:spcAft>
                <a:spcPts val="0"/>
              </a:spcAft>
              <a:buNone/>
            </a:pPr>
            <a:r>
              <a:rPr lang="en-US" sz="1050" b="0" i="0">
                <a:solidFill>
                  <a:srgbClr val="5D6C7B"/>
                </a:solidFill>
                <a:latin typeface="Calibri"/>
                <a:ea typeface="Calibri"/>
                <a:cs typeface="Calibri"/>
              </a:rPr>
              <a:t>x86-64: docker pull (prebuilt on Docker Hub).  ARM / Apple Silicon: build Dockerfile.arm64 (1–2 h, 16 GB RAM)</a:t>
            </a:r>
          </a:p>
        </p:txBody>
      </p:sp>
      <p:sp>
        <p:nvSpPr>
          <p:cNvPr id="1040" name="card 1040"/>
          <p:cNvSpPr/>
          <p:nvPr/>
        </p:nvSpPr>
        <p:spPr>
          <a:xfrm>
            <a:off x="502920" y="3282696"/>
            <a:ext cx="3977639" cy="987552"/>
          </a:xfrm>
          <a:prstGeom prst="roundRect">
            <a:avLst>
              <a:gd name="adj" fmla="val 10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41" name="shape 1041"/>
          <p:cNvSpPr/>
          <p:nvPr/>
        </p:nvSpPr>
        <p:spPr>
          <a:xfrm>
            <a:off x="658368" y="3557015"/>
            <a:ext cx="438912" cy="438912"/>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400" b="1" i="0">
                <a:solidFill>
                  <a:srgbClr val="FFFFFF"/>
                </a:solidFill>
                <a:latin typeface="Calibri"/>
                <a:ea typeface="Calibri"/>
                <a:cs typeface="Calibri"/>
              </a:rPr>
              <a:t>3</a:t>
            </a:r>
          </a:p>
        </p:txBody>
      </p:sp>
      <p:sp>
        <p:nvSpPr>
          <p:cNvPr id="1042" name="text 1042"/>
          <p:cNvSpPr txBox="1"/>
          <p:nvPr/>
        </p:nvSpPr>
        <p:spPr>
          <a:xfrm>
            <a:off x="1234440" y="3374136"/>
            <a:ext cx="3154680" cy="82296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300" b="1" i="0">
                <a:solidFill>
                  <a:srgbClr val="0E2745"/>
                </a:solidFill>
                <a:latin typeface="Calibri"/>
                <a:ea typeface="Calibri"/>
                <a:cs typeface="Calibri"/>
              </a:rPr>
              <a:t>An API key</a:t>
            </a:r>
          </a:p>
          <a:p>
            <a:pPr algn="l">
              <a:spcBef>
                <a:spcPts val="0"/>
              </a:spcBef>
              <a:spcAft>
                <a:spcPts val="0"/>
              </a:spcAft>
              <a:buNone/>
            </a:pPr>
            <a:r>
              <a:rPr lang="en-US" sz="1050" b="0" i="0">
                <a:solidFill>
                  <a:srgbClr val="5D6C7B"/>
                </a:solidFill>
                <a:latin typeface="Calibri"/>
                <a:ea typeface="Calibri"/>
                <a:cs typeface="Calibri"/>
              </a:rPr>
              <a:t>Gemini (free): Parts 1–3 and 4b.  Anthropic (optional): Part 4a</a:t>
            </a:r>
          </a:p>
        </p:txBody>
      </p:sp>
      <p:sp>
        <p:nvSpPr>
          <p:cNvPr id="1043" name="card 1043"/>
          <p:cNvSpPr/>
          <p:nvPr/>
        </p:nvSpPr>
        <p:spPr>
          <a:xfrm>
            <a:off x="502920" y="4398264"/>
            <a:ext cx="3977639" cy="987552"/>
          </a:xfrm>
          <a:prstGeom prst="roundRect">
            <a:avLst>
              <a:gd name="adj" fmla="val 10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44" name="shape 1044"/>
          <p:cNvSpPr/>
          <p:nvPr/>
        </p:nvSpPr>
        <p:spPr>
          <a:xfrm>
            <a:off x="658368" y="4672583"/>
            <a:ext cx="438912" cy="438912"/>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400" b="1" i="0">
                <a:solidFill>
                  <a:srgbClr val="FFFFFF"/>
                </a:solidFill>
                <a:latin typeface="Calibri"/>
                <a:ea typeface="Calibri"/>
                <a:cs typeface="Calibri"/>
              </a:rPr>
              <a:t>4</a:t>
            </a:r>
          </a:p>
        </p:txBody>
      </p:sp>
      <p:sp>
        <p:nvSpPr>
          <p:cNvPr id="1045" name="text 1045"/>
          <p:cNvSpPr txBox="1"/>
          <p:nvPr/>
        </p:nvSpPr>
        <p:spPr>
          <a:xfrm>
            <a:off x="1234440" y="4489703"/>
            <a:ext cx="3154680" cy="82296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300" b="1" i="0">
                <a:solidFill>
                  <a:srgbClr val="0E2745"/>
                </a:solidFill>
                <a:latin typeface="Calibri"/>
                <a:ea typeface="Calibri"/>
                <a:cs typeface="Calibri"/>
              </a:rPr>
              <a:t>A local model</a:t>
            </a:r>
          </a:p>
          <a:p>
            <a:pPr algn="l">
              <a:spcBef>
                <a:spcPts val="0"/>
              </a:spcBef>
              <a:spcAft>
                <a:spcPts val="0"/>
              </a:spcAft>
              <a:buNone/>
            </a:pPr>
            <a:r>
              <a:rPr lang="en-US" sz="1050" b="0" i="0">
                <a:solidFill>
                  <a:srgbClr val="5D6C7B"/>
                </a:solidFill>
                <a:latin typeface="Calibri"/>
                <a:ea typeface="Calibri"/>
                <a:cs typeface="Calibri"/>
              </a:rPr>
              <a:t>ollama pull llama3.1 (~4.9 GB) for runs 2c / 2d</a:t>
            </a:r>
          </a:p>
        </p:txBody>
      </p:sp>
      <p:sp>
        <p:nvSpPr>
          <p:cNvPr id="1046" name="text 1046"/>
          <p:cNvSpPr txBox="1"/>
          <p:nvPr/>
        </p:nvSpPr>
        <p:spPr>
          <a:xfrm>
            <a:off x="4709160" y="1051560"/>
            <a:ext cx="3931920" cy="2743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300" b="1" i="0">
                <a:solidFill>
                  <a:srgbClr val="17365D"/>
                </a:solidFill>
                <a:latin typeface="Calibri"/>
                <a:ea typeface="Calibri"/>
                <a:cs typeface="Calibri"/>
              </a:rPr>
              <a:t>Get the material</a:t>
            </a:r>
          </a:p>
        </p:txBody>
      </p:sp>
      <p:sp>
        <p:nvSpPr>
          <p:cNvPr id="1047" name="terminal 1047"/>
          <p:cNvSpPr/>
          <p:nvPr/>
        </p:nvSpPr>
        <p:spPr>
          <a:xfrm>
            <a:off x="4709160" y="1371600"/>
            <a:ext cx="3931920" cy="86868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1000" b="0" i="0">
                <a:solidFill>
                  <a:srgbClr val="FFFFFF"/>
                </a:solidFill>
                <a:latin typeface="Courier New"/>
                <a:ea typeface="Courier New"/>
                <a:cs typeface="Courier New"/>
              </a:rPr>
              <a:t>git clone https://github.com/</a:t>
            </a:r>
          </a:p>
          <a:p>
            <a:pPr algn="l">
              <a:lnSpc>
                <a:spcPct val="100000"/>
              </a:lnSpc>
              <a:spcBef>
                <a:spcPts val="0"/>
              </a:spcBef>
              <a:spcAft>
                <a:spcPts val="0"/>
              </a:spcAft>
              <a:buNone/>
            </a:pPr>
            <a:r>
              <a:rPr lang="en-US" sz="1000" b="0" i="0">
                <a:solidFill>
                  <a:srgbClr val="FFFFFF"/>
                </a:solidFill>
                <a:latin typeface="Courier New"/>
                <a:ea typeface="Courier New"/>
                <a:cs typeface="Courier New"/>
              </a:rPr>
              <a:t>   </a:t>
            </a:r>
            <a:r>
              <a:rPr lang="en-US" sz="1000" b="0" i="0" err="1">
                <a:solidFill>
                  <a:srgbClr val="FFFFFF"/>
                </a:solidFill>
                <a:latin typeface="Courier New"/>
                <a:ea typeface="Courier New"/>
                <a:cs typeface="Courier New"/>
              </a:rPr>
              <a:t>zazatisn</a:t>
            </a:r>
            <a:r>
              <a:rPr lang="en-US" sz="1000" b="0" i="0">
                <a:solidFill>
                  <a:srgbClr val="FFFFFF"/>
                </a:solidFill>
                <a:latin typeface="Courier New"/>
                <a:ea typeface="Courier New"/>
                <a:cs typeface="Courier New"/>
              </a:rPr>
              <a:t>/VLSI-SOC26-AGENTIC-AI.git</a:t>
            </a:r>
          </a:p>
          <a:p>
            <a:pPr algn="l">
              <a:lnSpc>
                <a:spcPct val="100000"/>
              </a:lnSpc>
              <a:spcBef>
                <a:spcPts val="0"/>
              </a:spcBef>
              <a:spcAft>
                <a:spcPts val="0"/>
              </a:spcAft>
              <a:buNone/>
            </a:pPr>
            <a:r>
              <a:rPr lang="en-US" sz="1000" b="0" i="0">
                <a:solidFill>
                  <a:srgbClr val="FFFFFF"/>
                </a:solidFill>
                <a:latin typeface="Courier New"/>
                <a:ea typeface="Courier New"/>
                <a:cs typeface="Courier New"/>
              </a:rPr>
              <a:t>cd VLSI-SOC26-AGENTIC-AI</a:t>
            </a:r>
          </a:p>
        </p:txBody>
      </p:sp>
      <p:sp>
        <p:nvSpPr>
          <p:cNvPr id="1048" name="repo tree 1048"/>
          <p:cNvSpPr/>
          <p:nvPr/>
        </p:nvSpPr>
        <p:spPr>
          <a:xfrm>
            <a:off x="4709160" y="2395728"/>
            <a:ext cx="3931920" cy="2331720"/>
          </a:xfrm>
          <a:prstGeom prst="roundRect">
            <a:avLst>
              <a:gd name="adj" fmla="val 5000"/>
            </a:avLst>
          </a:prstGeom>
          <a:solidFill>
            <a:srgbClr val="FFFFFF"/>
          </a:solidFill>
          <a:ln w="12700">
            <a:solidFill>
              <a:srgbClr val="C9D6E6"/>
            </a:solidFill>
          </a:ln>
        </p:spPr>
        <p:txBody>
          <a:bodyPr wrap="square" lIns="137160" tIns="137160" rIns="137160" bIns="137160" anchor="t">
            <a:noAutofit/>
          </a:bodyPr>
          <a:lstStyle/>
          <a:p>
            <a:pPr algn="l">
              <a:lnSpc>
                <a:spcPct val="100000"/>
              </a:lnSpc>
              <a:spcBef>
                <a:spcPts val="0"/>
              </a:spcBef>
              <a:spcAft>
                <a:spcPts val="150"/>
              </a:spcAft>
              <a:buNone/>
            </a:pPr>
            <a:r>
              <a:rPr lang="en-US" sz="1050" b="1" i="0">
                <a:solidFill>
                  <a:srgbClr val="0E2745"/>
                </a:solidFill>
                <a:latin typeface="Courier New"/>
                <a:ea typeface="Courier New"/>
                <a:cs typeface="Courier New"/>
              </a:rPr>
              <a:t>Dockerfile</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install/</a:t>
            </a:r>
            <a:r>
              <a:rPr lang="en-US" sz="950" b="0" i="0">
                <a:solidFill>
                  <a:srgbClr val="5D6C7B"/>
                </a:solidFill>
                <a:latin typeface="Calibri"/>
                <a:ea typeface="Calibri"/>
                <a:cs typeface="Calibri"/>
              </a:rPr>
              <a:t>  no-Docker setup (Ubuntu, macOS)</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scripts/</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  api_keys.example.sh</a:t>
            </a:r>
            <a:r>
              <a:rPr lang="en-US" sz="950" b="0" i="0">
                <a:solidFill>
                  <a:srgbClr val="5D6C7B"/>
                </a:solidFill>
                <a:latin typeface="Calibri"/>
                <a:ea typeface="Calibri"/>
                <a:cs typeface="Calibri"/>
              </a:rPr>
              <a:t>  → copy to api_keys.sh</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  part1/</a:t>
            </a:r>
            <a:r>
              <a:rPr lang="en-US" sz="950" b="0" i="0">
                <a:solidFill>
                  <a:srgbClr val="5D6C7B"/>
                </a:solidFill>
                <a:latin typeface="Calibri"/>
                <a:ea typeface="Calibri"/>
                <a:cs typeface="Calibri"/>
              </a:rPr>
              <a:t>  sentiment, Google verification</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  part2/  part3/  part4/</a:t>
            </a:r>
          </a:p>
          <a:p>
            <a:pPr algn="l">
              <a:lnSpc>
                <a:spcPct val="100000"/>
              </a:lnSpc>
              <a:spcBef>
                <a:spcPts val="0"/>
              </a:spcBef>
              <a:spcAft>
                <a:spcPts val="150"/>
              </a:spcAft>
              <a:buNone/>
            </a:pPr>
            <a:r>
              <a:rPr lang="en-US" sz="1050" b="1" i="0">
                <a:solidFill>
                  <a:srgbClr val="0E2745"/>
                </a:solidFill>
                <a:latin typeface="Courier New"/>
                <a:ea typeface="Courier New"/>
                <a:cs typeface="Courier New"/>
              </a:rPr>
              <a:t>    designs/</a:t>
            </a:r>
            <a:r>
              <a:rPr lang="en-US" sz="950" b="0" i="0">
                <a:solidFill>
                  <a:srgbClr val="5D6C7B"/>
                </a:solidFill>
                <a:latin typeface="Calibri"/>
                <a:ea typeface="Calibri"/>
                <a:cs typeface="Calibri"/>
              </a:rPr>
              <a:t>  YAML specs (p1 … p16)</a:t>
            </a:r>
          </a:p>
          <a:p>
            <a:pPr algn="l">
              <a:lnSpc>
                <a:spcPct val="100000"/>
              </a:lnSpc>
              <a:spcBef>
                <a:spcPts val="0"/>
              </a:spcBef>
              <a:spcAft>
                <a:spcPts val="150"/>
              </a:spcAft>
              <a:buNone/>
            </a:pPr>
            <a:r>
              <a:rPr lang="en-US" sz="1050" b="1" i="0">
                <a:solidFill>
                  <a:srgbClr val="B91F2D"/>
                </a:solidFill>
                <a:latin typeface="Courier New"/>
                <a:ea typeface="Courier New"/>
                <a:cs typeface="Courier New"/>
              </a:rPr>
              <a:t>    problem/</a:t>
            </a:r>
            <a:r>
              <a:rPr lang="en-US" sz="950" b="1" i="0">
                <a:solidFill>
                  <a:srgbClr val="B91F2D"/>
                </a:solidFill>
                <a:latin typeface="Calibri"/>
                <a:ea typeface="Calibri"/>
                <a:cs typeface="Calibri"/>
              </a:rPr>
              <a:t>  ◄ you work here</a:t>
            </a:r>
          </a:p>
          <a:p>
            <a:pPr algn="l">
              <a:lnSpc>
                <a:spcPct val="100000"/>
              </a:lnSpc>
              <a:spcBef>
                <a:spcPts val="0"/>
              </a:spcBef>
              <a:spcAft>
                <a:spcPts val="150"/>
              </a:spcAft>
              <a:buNone/>
            </a:pPr>
            <a:r>
              <a:rPr lang="en-US" sz="1050" b="1" i="0">
                <a:solidFill>
                  <a:srgbClr val="2E7D4F"/>
                </a:solidFill>
                <a:latin typeface="Courier New"/>
                <a:ea typeface="Courier New"/>
                <a:cs typeface="Courier New"/>
              </a:rPr>
              <a:t>    solution/</a:t>
            </a:r>
            <a:r>
              <a:rPr lang="en-US" sz="950" b="1" i="0">
                <a:solidFill>
                  <a:srgbClr val="2E7D4F"/>
                </a:solidFill>
                <a:latin typeface="Calibri"/>
                <a:ea typeface="Calibri"/>
                <a:cs typeface="Calibri"/>
              </a:rPr>
              <a:t>  golden prompts</a:t>
            </a:r>
          </a:p>
        </p:txBody>
      </p:sp>
      <p:sp>
        <p:nvSpPr>
          <p:cNvPr id="1049" name="shape 1049"/>
          <p:cNvSpPr/>
          <p:nvPr/>
        </p:nvSpPr>
        <p:spPr>
          <a:xfrm>
            <a:off x="4709160" y="4873752"/>
            <a:ext cx="3931920" cy="512064"/>
          </a:xfrm>
          <a:prstGeom prst="roundRect">
            <a:avLst>
              <a:gd name="adj" fmla="val 12000"/>
            </a:avLst>
          </a:prstGeom>
          <a:solidFill>
            <a:srgbClr val="0E2745"/>
          </a:solidFill>
          <a:ln>
            <a:noFill/>
          </a:ln>
        </p:spPr>
        <p:txBody>
          <a:bodyPr wrap="square" lIns="73152" tIns="73152" rIns="73152" bIns="73152" anchor="ctr">
            <a:noAutofit/>
          </a:bodyPr>
          <a:lstStyle/>
          <a:p>
            <a:pPr algn="ctr">
              <a:spcBef>
                <a:spcPts val="0"/>
              </a:spcBef>
              <a:spcAft>
                <a:spcPts val="0"/>
              </a:spcAft>
              <a:buNone/>
            </a:pPr>
            <a:r>
              <a:rPr lang="en-US" sz="1000" b="1" i="0">
                <a:solidFill>
                  <a:srgbClr val="FFFFFF"/>
                </a:solidFill>
                <a:latin typeface="Calibri"/>
                <a:ea typeface="Calibri"/>
                <a:cs typeface="Calibri"/>
              </a:rPr>
              <a:t>Every part: problem/ = minimal Agent.md · solution/ = golden</a:t>
            </a:r>
          </a:p>
        </p:txBody>
      </p:sp>
    </p:spTree>
    <p:extLst>
      <p:ext uri="{BB962C8B-B14F-4D97-AF65-F5344CB8AC3E}">
        <p14:creationId xmlns:p14="http://schemas.microsoft.com/office/powerpoint/2010/main" val="496440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2919-1591-87BC-08DE-F7D308DB86DF}"/>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76C3017B-3CEA-C5D2-4173-C1989DAF137A}"/>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0F241079-5E45-DAAE-803E-1A29B8F2D287}"/>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3B2A632F-F7A0-14FF-9B68-B635EC47E12A}"/>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Attendees: Environment Setup and Verification</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108D1773-805E-2993-524F-42C640F7EEB5}"/>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3C72A455-F078-DCF5-96F9-0BECB571822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13</a:t>
            </a:fld>
            <a:endParaRPr sz="750" b="0">
              <a:solidFill>
                <a:srgbClr val="5B6573"/>
              </a:solidFill>
              <a:latin typeface="Calibri"/>
              <a:ea typeface="Calibri"/>
              <a:cs typeface="Calibri"/>
            </a:endParaRPr>
          </a:p>
        </p:txBody>
      </p:sp>
      <p:pic>
        <p:nvPicPr>
          <p:cNvPr id="9" name="Picture 8" descr="Blank screen when I launch the new windows terminal. · Issue #13841 ·  microsoft/terminal">
            <a:extLst>
              <a:ext uri="{FF2B5EF4-FFF2-40B4-BE49-F238E27FC236}">
                <a16:creationId xmlns:a16="http://schemas.microsoft.com/office/drawing/2014/main" id="{8E4FD89A-69ED-E476-DEDC-4F1638ED6DAD}"/>
              </a:ext>
            </a:extLst>
          </p:cNvPr>
          <p:cNvPicPr>
            <a:picLocks noChangeAspect="1"/>
          </p:cNvPicPr>
          <p:nvPr/>
        </p:nvPicPr>
        <p:blipFill>
          <a:blip r:embed="rId3"/>
          <a:stretch>
            <a:fillRect/>
          </a:stretch>
        </p:blipFill>
        <p:spPr>
          <a:xfrm>
            <a:off x="542832" y="1095376"/>
            <a:ext cx="6930309" cy="3592656"/>
          </a:xfrm>
          <a:prstGeom prst="rect">
            <a:avLst/>
          </a:prstGeom>
        </p:spPr>
      </p:pic>
      <p:sp>
        <p:nvSpPr>
          <p:cNvPr id="10" name="TextBox 9">
            <a:extLst>
              <a:ext uri="{FF2B5EF4-FFF2-40B4-BE49-F238E27FC236}">
                <a16:creationId xmlns:a16="http://schemas.microsoft.com/office/drawing/2014/main" id="{E9B2AF20-5F85-565E-AD93-9CBCA8CF6B69}"/>
              </a:ext>
            </a:extLst>
          </p:cNvPr>
          <p:cNvSpPr txBox="1"/>
          <p:nvPr/>
        </p:nvSpPr>
        <p:spPr>
          <a:xfrm>
            <a:off x="609335" y="1479500"/>
            <a:ext cx="6487673" cy="2308324"/>
          </a:xfrm>
          <a:prstGeom prst="rect">
            <a:avLst/>
          </a:prstGeom>
          <a:noFill/>
        </p:spPr>
        <p:txBody>
          <a:bodyPr wrap="none" rtlCol="0">
            <a:spAutoFit/>
          </a:bodyPr>
          <a:lstStyle/>
          <a:p>
            <a:pPr algn="l">
              <a:spcAft>
                <a:spcPts val="900"/>
              </a:spcAft>
              <a:buNone/>
            </a:pPr>
            <a:r>
              <a:rPr lang="en-US" sz="1200" b="0" i="0">
                <a:solidFill>
                  <a:srgbClr val="FFFFFF"/>
                </a:solidFill>
                <a:latin typeface="Courier New"/>
                <a:ea typeface="Courier New"/>
                <a:cs typeface="Courier New"/>
              </a:rPr>
              <a:t>docker pull </a:t>
            </a:r>
            <a:r>
              <a:rPr lang="en-US" sz="1200" b="0" i="0" err="1">
                <a:solidFill>
                  <a:srgbClr val="FFFFFF"/>
                </a:solidFill>
                <a:latin typeface="Courier New"/>
                <a:ea typeface="Courier New"/>
                <a:cs typeface="Courier New"/>
              </a:rPr>
              <a:t>kostasvarak</a:t>
            </a:r>
            <a:r>
              <a:rPr lang="en-US" sz="1200" b="0" i="0">
                <a:solidFill>
                  <a:srgbClr val="FFFFFF"/>
                </a:solidFill>
                <a:latin typeface="Courier New"/>
                <a:ea typeface="Courier New"/>
                <a:cs typeface="Courier New"/>
              </a:rPr>
              <a:t>/vlsi-soc26-ai:latest</a:t>
            </a:r>
          </a:p>
          <a:p>
            <a:pPr algn="l">
              <a:spcAft>
                <a:spcPts val="900"/>
              </a:spcAft>
              <a:buNone/>
            </a:pPr>
            <a:r>
              <a:rPr lang="en-US" sz="1200" b="0" i="0">
                <a:solidFill>
                  <a:srgbClr val="FFFFFF"/>
                </a:solidFill>
                <a:latin typeface="Courier New"/>
                <a:ea typeface="Courier New"/>
                <a:cs typeface="Courier New"/>
              </a:rPr>
              <a:t>docker tag </a:t>
            </a:r>
            <a:r>
              <a:rPr lang="en-US" sz="1200" b="0" i="0" err="1">
                <a:solidFill>
                  <a:srgbClr val="FFFFFF"/>
                </a:solidFill>
                <a:latin typeface="Courier New"/>
                <a:ea typeface="Courier New"/>
                <a:cs typeface="Courier New"/>
              </a:rPr>
              <a:t>kostasvarak</a:t>
            </a:r>
            <a:r>
              <a:rPr lang="en-US" sz="1200" b="0" i="0">
                <a:solidFill>
                  <a:srgbClr val="FFFFFF"/>
                </a:solidFill>
                <a:latin typeface="Courier New"/>
                <a:ea typeface="Courier New"/>
                <a:cs typeface="Courier New"/>
              </a:rPr>
              <a:t>/vlsi-soc26-ai:latest vlsi-soc26-ai</a:t>
            </a:r>
          </a:p>
          <a:p>
            <a:pPr algn="l">
              <a:spcAft>
                <a:spcPts val="200"/>
              </a:spcAft>
              <a:buNone/>
            </a:pPr>
            <a:r>
              <a:rPr lang="en-US" sz="1400" b="1" i="0">
                <a:solidFill>
                  <a:srgbClr val="FFFFFF"/>
                </a:solidFill>
                <a:latin typeface="Calibri"/>
                <a:ea typeface="Calibri"/>
                <a:cs typeface="Calibri"/>
              </a:rPr>
              <a:t>Windows (PowerShell):</a:t>
            </a:r>
          </a:p>
          <a:p>
            <a:pPr algn="l">
              <a:spcAft>
                <a:spcPts val="900"/>
              </a:spcAft>
              <a:buNone/>
            </a:pPr>
            <a:r>
              <a:rPr lang="en-US" sz="1200" b="0" i="0">
                <a:solidFill>
                  <a:srgbClr val="FFFFFF"/>
                </a:solidFill>
                <a:latin typeface="Courier New"/>
                <a:ea typeface="Courier New"/>
                <a:cs typeface="Courier New"/>
              </a:rPr>
              <a:t>docker run --rm -it -v .\scripts\:/home/scripts vlsi-soc26-ai</a:t>
            </a:r>
          </a:p>
          <a:p>
            <a:pPr algn="l">
              <a:spcAft>
                <a:spcPts val="200"/>
              </a:spcAft>
              <a:buNone/>
            </a:pPr>
            <a:r>
              <a:rPr lang="en-US" sz="1400" b="1" i="0">
                <a:solidFill>
                  <a:srgbClr val="FFFFFF"/>
                </a:solidFill>
                <a:latin typeface="Calibri"/>
                <a:ea typeface="Calibri"/>
                <a:cs typeface="Calibri"/>
              </a:rPr>
              <a:t>Linux / macOS:</a:t>
            </a:r>
          </a:p>
          <a:p>
            <a:pPr algn="l">
              <a:spcAft>
                <a:spcPts val="0"/>
              </a:spcAft>
              <a:buNone/>
            </a:pPr>
            <a:r>
              <a:rPr lang="en-US" sz="1200" b="0" i="0">
                <a:solidFill>
                  <a:srgbClr val="FFFFFF"/>
                </a:solidFill>
                <a:latin typeface="Courier New"/>
                <a:ea typeface="Courier New"/>
                <a:cs typeface="Courier New"/>
              </a:rPr>
              <a:t>docker run --rm -it -v "$(</a:t>
            </a:r>
            <a:r>
              <a:rPr lang="en-US" sz="1200" b="0" i="0" err="1">
                <a:solidFill>
                  <a:srgbClr val="FFFFFF"/>
                </a:solidFill>
                <a:latin typeface="Courier New"/>
                <a:ea typeface="Courier New"/>
                <a:cs typeface="Courier New"/>
              </a:rPr>
              <a:t>pwd</a:t>
            </a:r>
            <a:r>
              <a:rPr lang="en-US" sz="1200" b="0" i="0">
                <a:solidFill>
                  <a:srgbClr val="FFFFFF"/>
                </a:solidFill>
                <a:latin typeface="Courier New"/>
                <a:ea typeface="Courier New"/>
                <a:cs typeface="Courier New"/>
              </a:rPr>
              <a:t>)/scripts":/home/scripts vlsi-soc26-ai</a:t>
            </a:r>
          </a:p>
        </p:txBody>
      </p:sp>
      <p:sp>
        <p:nvSpPr>
          <p:cNvPr id="77" name="Setup hint"/>
          <p:cNvSpPr/>
          <p:nvPr/>
        </p:nvSpPr>
        <p:spPr>
          <a:xfrm>
            <a:off x="539496" y="4983480"/>
            <a:ext cx="7680960" cy="685800"/>
          </a:xfrm>
          <a:prstGeom prst="roundRect">
            <a:avLst>
              <a:gd name="adj" fmla="val 8000"/>
            </a:avLst>
          </a:prstGeom>
          <a:solidFill>
            <a:srgbClr val="F3F6FA"/>
          </a:solidFill>
          <a:ln>
            <a:noFill/>
          </a:ln>
        </p:spPr>
        <p:txBody>
          <a:bodyPr wrap="square" lIns="137160" tIns="137160" rIns="137160" bIns="137160" anchor="ctr">
            <a:normAutofit/>
          </a:bodyPr>
          <a:lstStyle/>
          <a:p>
            <a:r>
              <a:rPr lang="en-US" sz="1400" b="1" i="0">
                <a:solidFill>
                  <a:srgbClr val="0E2745"/>
                </a:solidFill>
                <a:latin typeface="Calibri"/>
                <a:ea typeface="Calibri"/>
                <a:cs typeface="Calibri"/>
              </a:rPr>
              <a:t>Inside: </a:t>
            </a:r>
            <a:r>
              <a:rPr lang="en-US" sz="1400" b="0" i="0">
                <a:solidFill>
                  <a:srgbClr val="0E2745"/>
                </a:solidFill>
                <a:latin typeface="Courier New"/>
                <a:ea typeface="Courier New"/>
                <a:cs typeface="Courier New"/>
              </a:rPr>
              <a:t>cd </a:t>
            </a:r>
            <a:r>
              <a:rPr lang="en-US" sz="1400" b="0" i="0">
                <a:solidFill>
                  <a:srgbClr val="0E2745"/>
                </a:solidFill>
                <a:latin typeface="Courier New" panose="02070309020205020404" pitchFamily="49" charset="0"/>
                <a:ea typeface="Courier New"/>
                <a:cs typeface="Courier New" panose="02070309020205020404" pitchFamily="49" charset="0"/>
              </a:rPr>
              <a:t>/home/scripts/part1</a:t>
            </a:r>
            <a:r>
              <a:rPr lang="en-US" sz="1200" b="0" i="0">
                <a:solidFill>
                  <a:srgbClr val="5D6C7B"/>
                </a:solidFill>
                <a:latin typeface="Courier New" panose="02070309020205020404" pitchFamily="49" charset="0"/>
                <a:ea typeface="Calibri"/>
                <a:cs typeface="Courier New" panose="02070309020205020404" pitchFamily="49" charset="0"/>
              </a:rPr>
              <a:t>   </a:t>
            </a:r>
            <a:r>
              <a:rPr lang="en-US" sz="1200" b="0" i="0">
                <a:solidFill>
                  <a:srgbClr val="5D6C7B"/>
                </a:solidFill>
                <a:latin typeface="Calibri"/>
                <a:ea typeface="Calibri"/>
                <a:cs typeface="Calibri"/>
              </a:rPr>
              <a:t>· if you don’t see the directory </a:t>
            </a:r>
            <a:r>
              <a:rPr lang="en-US" sz="1200">
                <a:solidFill>
                  <a:srgbClr val="5D6C7B"/>
                </a:solidFill>
                <a:ea typeface="Calibri"/>
                <a:cs typeface="Calibri"/>
              </a:rPr>
              <a:t>please mention it 😊</a:t>
            </a:r>
            <a:endParaRPr lang="en-US" sz="1200" b="0" i="0">
              <a:solidFill>
                <a:srgbClr val="5D6C7B"/>
              </a:solidFill>
              <a:latin typeface="Calibri"/>
              <a:ea typeface="Calibri"/>
              <a:cs typeface="Calibri"/>
            </a:endParaRPr>
          </a:p>
        </p:txBody>
      </p:sp>
      <p:sp>
        <p:nvSpPr>
          <p:cNvPr id="6" name="Rectangle 5">
            <a:extLst>
              <a:ext uri="{FF2B5EF4-FFF2-40B4-BE49-F238E27FC236}">
                <a16:creationId xmlns:a16="http://schemas.microsoft.com/office/drawing/2014/main" id="{DE7AB050-28FA-65D0-0087-FF56164F7BFA}"/>
              </a:ext>
            </a:extLst>
          </p:cNvPr>
          <p:cNvSpPr/>
          <p:nvPr/>
        </p:nvSpPr>
        <p:spPr>
          <a:xfrm>
            <a:off x="671979" y="1495044"/>
            <a:ext cx="5371770" cy="55147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sp>
        <p:nvSpPr>
          <p:cNvPr id="7" name="arrow 1297">
            <a:extLst>
              <a:ext uri="{FF2B5EF4-FFF2-40B4-BE49-F238E27FC236}">
                <a16:creationId xmlns:a16="http://schemas.microsoft.com/office/drawing/2014/main" id="{EBB212FF-1DAF-70AA-5F76-B90C5F1E8841}"/>
              </a:ext>
            </a:extLst>
          </p:cNvPr>
          <p:cNvSpPr/>
          <p:nvPr/>
        </p:nvSpPr>
        <p:spPr>
          <a:xfrm>
            <a:off x="6268626" y="1689735"/>
            <a:ext cx="1560380" cy="274320"/>
          </a:xfrm>
          <a:prstGeom prst="rightArrow">
            <a:avLst/>
          </a:prstGeom>
          <a:solidFill>
            <a:srgbClr val="4F81BD"/>
          </a:solidFill>
          <a:ln>
            <a:noFill/>
          </a:ln>
        </p:spPr>
        <p:txBody>
          <a:bodyPr/>
          <a:lstStyle/>
          <a:p>
            <a:endParaRPr lang="en-US"/>
          </a:p>
        </p:txBody>
      </p:sp>
      <p:sp>
        <p:nvSpPr>
          <p:cNvPr id="8" name="shape 1296">
            <a:extLst>
              <a:ext uri="{FF2B5EF4-FFF2-40B4-BE49-F238E27FC236}">
                <a16:creationId xmlns:a16="http://schemas.microsoft.com/office/drawing/2014/main" id="{D1E491D5-AC2B-3CED-46C5-71A7C6CC3D99}"/>
              </a:ext>
            </a:extLst>
          </p:cNvPr>
          <p:cNvSpPr/>
          <p:nvPr/>
        </p:nvSpPr>
        <p:spPr>
          <a:xfrm>
            <a:off x="7860461" y="1542273"/>
            <a:ext cx="1223119" cy="570545"/>
          </a:xfrm>
          <a:prstGeom prst="roundRect">
            <a:avLst>
              <a:gd name="adj" fmla="val 9000"/>
            </a:avLst>
          </a:prstGeom>
          <a:solidFill>
            <a:schemeClr val="accent1">
              <a:lumMod val="20000"/>
              <a:lumOff val="80000"/>
            </a:schemeClr>
          </a:solidFill>
          <a:ln w="12700">
            <a:solidFill>
              <a:schemeClr val="accent1"/>
            </a:solidFill>
          </a:ln>
        </p:spPr>
        <p:txBody>
          <a:bodyPr wrap="square" lIns="73152" tIns="73152" rIns="73152" bIns="73152" anchor="ctr">
            <a:noAutofit/>
          </a:bodyPr>
          <a:lstStyle/>
          <a:p>
            <a:pPr algn="ctr">
              <a:spcBef>
                <a:spcPts val="0"/>
              </a:spcBef>
              <a:spcAft>
                <a:spcPts val="150"/>
              </a:spcAft>
              <a:buNone/>
            </a:pPr>
            <a:r>
              <a:rPr lang="en-US" sz="1250" b="1">
                <a:solidFill>
                  <a:srgbClr val="0E2745"/>
                </a:solidFill>
                <a:latin typeface="Calibri"/>
                <a:ea typeface="Calibri"/>
                <a:cs typeface="Calibri"/>
              </a:rPr>
              <a:t>Recommended Setup</a:t>
            </a:r>
            <a:endParaRPr lang="en-US" sz="1250" b="1" i="0">
              <a:solidFill>
                <a:srgbClr val="0E2745"/>
              </a:solidFill>
              <a:latin typeface="Calibri"/>
              <a:ea typeface="Calibri"/>
              <a:cs typeface="Calibri"/>
            </a:endParaRPr>
          </a:p>
        </p:txBody>
      </p:sp>
    </p:spTree>
    <p:extLst>
      <p:ext uri="{BB962C8B-B14F-4D97-AF65-F5344CB8AC3E}">
        <p14:creationId xmlns:p14="http://schemas.microsoft.com/office/powerpoint/2010/main" val="3109637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No Docker? Install the tools locally</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14</a:t>
            </a:fld>
            <a:endParaRPr sz="750" b="0">
              <a:solidFill>
                <a:srgbClr val="5B6573"/>
              </a:solidFill>
              <a:latin typeface="Calibri"/>
              <a:ea typeface="Calibri"/>
              <a:cs typeface="Calibri"/>
            </a:endParaRPr>
          </a:p>
        </p:txBody>
      </p:sp>
      <p:sp>
        <p:nvSpPr>
          <p:cNvPr id="1085" name="shape 1085"/>
          <p:cNvSpPr/>
          <p:nvPr/>
        </p:nvSpPr>
        <p:spPr>
          <a:xfrm>
            <a:off x="502920" y="1051560"/>
            <a:ext cx="3977639" cy="1965960"/>
          </a:xfrm>
          <a:prstGeom prst="roundRect">
            <a:avLst>
              <a:gd name="adj" fmla="val 7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86" name="text 1086"/>
          <p:cNvSpPr txBox="1"/>
          <p:nvPr/>
        </p:nvSpPr>
        <p:spPr>
          <a:xfrm>
            <a:off x="685800" y="1143000"/>
            <a:ext cx="3657600" cy="36576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400" b="1" i="0">
                <a:solidFill>
                  <a:srgbClr val="0E2745"/>
                </a:solidFill>
                <a:latin typeface="Calibri"/>
                <a:ea typeface="Calibri"/>
                <a:cs typeface="Calibri"/>
              </a:rPr>
              <a:t>Ubuntu 22.04 / 24.04 / 26.04</a:t>
            </a:r>
          </a:p>
        </p:txBody>
      </p:sp>
      <p:sp>
        <p:nvSpPr>
          <p:cNvPr id="1087" name="terminal 1087"/>
          <p:cNvSpPr/>
          <p:nvPr/>
        </p:nvSpPr>
        <p:spPr>
          <a:xfrm>
            <a:off x="685800" y="1600200"/>
            <a:ext cx="361188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1050" b="0" i="0">
                <a:solidFill>
                  <a:srgbClr val="FFFFFF"/>
                </a:solidFill>
                <a:latin typeface="Courier New"/>
                <a:ea typeface="Courier New"/>
                <a:cs typeface="Courier New"/>
              </a:rPr>
              <a:t>bash install/install_ubuntu.sh</a:t>
            </a:r>
          </a:p>
        </p:txBody>
      </p:sp>
      <p:sp>
        <p:nvSpPr>
          <p:cNvPr id="1088" name="shape 1088"/>
          <p:cNvSpPr/>
          <p:nvPr/>
        </p:nvSpPr>
        <p:spPr>
          <a:xfrm>
            <a:off x="685800" y="2240280"/>
            <a:ext cx="3611880" cy="594360"/>
          </a:xfrm>
          <a:prstGeom prst="roundRect">
            <a:avLst>
              <a:gd name="adj" fmla="val 12000"/>
            </a:avLst>
          </a:prstGeom>
          <a:solidFill>
            <a:srgbClr val="EAF4EC"/>
          </a:solidFill>
          <a:ln>
            <a:noFill/>
          </a:ln>
        </p:spPr>
        <p:txBody>
          <a:bodyPr wrap="square" lIns="73152" tIns="73152" rIns="73152" bIns="73152" anchor="ctr">
            <a:noAutofit/>
          </a:bodyPr>
          <a:lstStyle/>
          <a:p>
            <a:pPr algn="ctr">
              <a:spcBef>
                <a:spcPts val="0"/>
              </a:spcBef>
              <a:spcAft>
                <a:spcPts val="0"/>
              </a:spcAft>
              <a:buNone/>
            </a:pPr>
            <a:r>
              <a:rPr lang="en-US" sz="1050" b="1" i="0">
                <a:solidFill>
                  <a:srgbClr val="2E7D4F"/>
                </a:solidFill>
                <a:latin typeface="Calibri"/>
                <a:ea typeface="Calibri"/>
                <a:cs typeface="Calibri"/>
              </a:rPr>
              <a:t>Full toolchain – every part</a:t>
            </a:r>
          </a:p>
        </p:txBody>
      </p:sp>
      <p:sp>
        <p:nvSpPr>
          <p:cNvPr id="1089" name="shape 1089"/>
          <p:cNvSpPr/>
          <p:nvPr/>
        </p:nvSpPr>
        <p:spPr>
          <a:xfrm>
            <a:off x="4663440" y="1051560"/>
            <a:ext cx="3977639" cy="1965960"/>
          </a:xfrm>
          <a:prstGeom prst="roundRect">
            <a:avLst>
              <a:gd name="adj" fmla="val 7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90" name="text 1090"/>
          <p:cNvSpPr txBox="1"/>
          <p:nvPr/>
        </p:nvSpPr>
        <p:spPr>
          <a:xfrm>
            <a:off x="4846320" y="1143000"/>
            <a:ext cx="3657600" cy="36576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400" b="1" i="0">
                <a:solidFill>
                  <a:srgbClr val="0E2745"/>
                </a:solidFill>
                <a:latin typeface="Calibri"/>
                <a:ea typeface="Calibri"/>
                <a:cs typeface="Calibri"/>
              </a:rPr>
              <a:t>macOS 14+ (Homebrew)</a:t>
            </a:r>
          </a:p>
        </p:txBody>
      </p:sp>
      <p:sp>
        <p:nvSpPr>
          <p:cNvPr id="1091" name="terminal 1091"/>
          <p:cNvSpPr/>
          <p:nvPr/>
        </p:nvSpPr>
        <p:spPr>
          <a:xfrm>
            <a:off x="4846320" y="1600200"/>
            <a:ext cx="361188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1050" b="0" i="0">
                <a:solidFill>
                  <a:srgbClr val="FFFFFF"/>
                </a:solidFill>
                <a:latin typeface="Courier New"/>
                <a:ea typeface="Courier New"/>
                <a:cs typeface="Courier New"/>
              </a:rPr>
              <a:t>bash install/install_macos.sh</a:t>
            </a:r>
          </a:p>
        </p:txBody>
      </p:sp>
      <p:sp>
        <p:nvSpPr>
          <p:cNvPr id="1092" name="shape 1092"/>
          <p:cNvSpPr/>
          <p:nvPr/>
        </p:nvSpPr>
        <p:spPr>
          <a:xfrm>
            <a:off x="4846320" y="2240280"/>
            <a:ext cx="3611880" cy="594360"/>
          </a:xfrm>
          <a:prstGeom prst="roundRect">
            <a:avLst>
              <a:gd name="adj" fmla="val 12000"/>
            </a:avLst>
          </a:prstGeom>
          <a:solidFill>
            <a:srgbClr val="FDF3E1"/>
          </a:solidFill>
          <a:ln>
            <a:noFill/>
          </a:ln>
        </p:spPr>
        <p:txBody>
          <a:bodyPr wrap="square" lIns="73152" tIns="73152" rIns="73152" bIns="73152" anchor="ctr">
            <a:noAutofit/>
          </a:bodyPr>
          <a:lstStyle/>
          <a:p>
            <a:pPr algn="ctr">
              <a:spcBef>
                <a:spcPts val="0"/>
              </a:spcBef>
              <a:spcAft>
                <a:spcPts val="0"/>
              </a:spcAft>
              <a:buNone/>
            </a:pPr>
            <a:r>
              <a:rPr lang="en-US" sz="1050" b="1" i="0">
                <a:solidFill>
                  <a:srgbClr val="C27C0E"/>
                </a:solidFill>
                <a:latin typeface="Calibri"/>
                <a:ea typeface="Calibri"/>
                <a:cs typeface="Calibri"/>
              </a:rPr>
              <a:t>Best effort – OpenROAD has no official macOS support</a:t>
            </a:r>
          </a:p>
        </p:txBody>
      </p:sp>
      <p:sp>
        <p:nvSpPr>
          <p:cNvPr id="1093" name="text 1093"/>
          <p:cNvSpPr txBox="1"/>
          <p:nvPr/>
        </p:nvSpPr>
        <p:spPr>
          <a:xfrm>
            <a:off x="502920" y="3200400"/>
            <a:ext cx="8138160" cy="2743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1" i="0">
                <a:solidFill>
                  <a:srgbClr val="17365D"/>
                </a:solidFill>
                <a:latin typeface="Calibri"/>
                <a:ea typeface="Calibri"/>
                <a:cs typeface="Calibri"/>
              </a:rPr>
              <a:t>The script installs the same tools as the image, under ~/eda (no files in /home)</a:t>
            </a:r>
          </a:p>
        </p:txBody>
      </p:sp>
      <p:sp>
        <p:nvSpPr>
          <p:cNvPr id="1094" name="shape 1094"/>
          <p:cNvSpPr/>
          <p:nvPr/>
        </p:nvSpPr>
        <p:spPr>
          <a:xfrm>
            <a:off x="502920"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apt / Homebrew</a:t>
            </a:r>
          </a:p>
          <a:p>
            <a:pPr algn="ctr">
              <a:spcBef>
                <a:spcPts val="0"/>
              </a:spcBef>
              <a:spcAft>
                <a:spcPts val="0"/>
              </a:spcAft>
              <a:buNone/>
            </a:pPr>
            <a:r>
              <a:rPr lang="en-US" sz="900" b="0" i="0">
                <a:solidFill>
                  <a:srgbClr val="5D6C7B"/>
                </a:solidFill>
                <a:latin typeface="Calibri"/>
                <a:ea typeface="Calibri"/>
                <a:cs typeface="Calibri"/>
              </a:rPr>
              <a:t>packages</a:t>
            </a:r>
          </a:p>
        </p:txBody>
      </p:sp>
      <p:sp>
        <p:nvSpPr>
          <p:cNvPr id="1095" name="arrow 1095"/>
          <p:cNvSpPr/>
          <p:nvPr/>
        </p:nvSpPr>
        <p:spPr>
          <a:xfrm>
            <a:off x="1709928" y="3904487"/>
            <a:ext cx="146304" cy="182880"/>
          </a:xfrm>
          <a:prstGeom prst="rightArrow">
            <a:avLst/>
          </a:prstGeom>
          <a:solidFill>
            <a:srgbClr val="4F81BD"/>
          </a:solidFill>
          <a:ln>
            <a:noFill/>
          </a:ln>
        </p:spPr>
        <p:txBody>
          <a:bodyPr/>
          <a:lstStyle/>
          <a:p>
            <a:endParaRPr lang="en-US"/>
          </a:p>
        </p:txBody>
      </p:sp>
      <p:sp>
        <p:nvSpPr>
          <p:cNvPr id="1096" name="shape 1096"/>
          <p:cNvSpPr/>
          <p:nvPr/>
        </p:nvSpPr>
        <p:spPr>
          <a:xfrm>
            <a:off x="1874519"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Python venv</a:t>
            </a:r>
          </a:p>
          <a:p>
            <a:pPr algn="ctr">
              <a:spcBef>
                <a:spcPts val="0"/>
              </a:spcBef>
              <a:spcAft>
                <a:spcPts val="0"/>
              </a:spcAft>
              <a:buNone/>
            </a:pPr>
            <a:r>
              <a:rPr lang="en-US" sz="900" b="0" i="0">
                <a:solidFill>
                  <a:srgbClr val="5D6C7B"/>
                </a:solidFill>
                <a:latin typeface="Calibri"/>
                <a:ea typeface="Calibri"/>
                <a:cs typeface="Calibri"/>
              </a:rPr>
              <a:t>dspy · pyyaml</a:t>
            </a:r>
          </a:p>
        </p:txBody>
      </p:sp>
      <p:sp>
        <p:nvSpPr>
          <p:cNvPr id="1097" name="arrow 1097"/>
          <p:cNvSpPr/>
          <p:nvPr/>
        </p:nvSpPr>
        <p:spPr>
          <a:xfrm>
            <a:off x="3081528" y="3904487"/>
            <a:ext cx="146304" cy="182880"/>
          </a:xfrm>
          <a:prstGeom prst="rightArrow">
            <a:avLst/>
          </a:prstGeom>
          <a:solidFill>
            <a:srgbClr val="4F81BD"/>
          </a:solidFill>
          <a:ln>
            <a:noFill/>
          </a:ln>
        </p:spPr>
        <p:txBody>
          <a:bodyPr/>
          <a:lstStyle/>
          <a:p>
            <a:endParaRPr lang="en-US"/>
          </a:p>
        </p:txBody>
      </p:sp>
      <p:sp>
        <p:nvSpPr>
          <p:cNvPr id="1098" name="shape 1098"/>
          <p:cNvSpPr/>
          <p:nvPr/>
        </p:nvSpPr>
        <p:spPr>
          <a:xfrm>
            <a:off x="3246120"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Yosys +</a:t>
            </a:r>
          </a:p>
          <a:p>
            <a:pPr algn="ctr">
              <a:spcBef>
                <a:spcPts val="0"/>
              </a:spcBef>
              <a:spcAft>
                <a:spcPts val="0"/>
              </a:spcAft>
              <a:buNone/>
            </a:pPr>
            <a:r>
              <a:rPr lang="en-US" sz="900" b="0" i="0">
                <a:solidFill>
                  <a:srgbClr val="5D6C7B"/>
                </a:solidFill>
                <a:latin typeface="Calibri"/>
                <a:ea typeface="Calibri"/>
                <a:cs typeface="Calibri"/>
              </a:rPr>
              <a:t>OpenROAD (Bazel)</a:t>
            </a:r>
          </a:p>
        </p:txBody>
      </p:sp>
      <p:sp>
        <p:nvSpPr>
          <p:cNvPr id="1099" name="arrow 1099"/>
          <p:cNvSpPr/>
          <p:nvPr/>
        </p:nvSpPr>
        <p:spPr>
          <a:xfrm>
            <a:off x="4453128" y="3904487"/>
            <a:ext cx="146304" cy="182880"/>
          </a:xfrm>
          <a:prstGeom prst="rightArrow">
            <a:avLst/>
          </a:prstGeom>
          <a:solidFill>
            <a:srgbClr val="4F81BD"/>
          </a:solidFill>
          <a:ln>
            <a:noFill/>
          </a:ln>
        </p:spPr>
        <p:txBody>
          <a:bodyPr/>
          <a:lstStyle/>
          <a:p>
            <a:endParaRPr lang="en-US"/>
          </a:p>
        </p:txBody>
      </p:sp>
      <p:sp>
        <p:nvSpPr>
          <p:cNvPr id="1100" name="shape 1100"/>
          <p:cNvSpPr/>
          <p:nvPr/>
        </p:nvSpPr>
        <p:spPr>
          <a:xfrm>
            <a:off x="4617720"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KLayout +</a:t>
            </a:r>
          </a:p>
          <a:p>
            <a:pPr algn="ctr">
              <a:spcBef>
                <a:spcPts val="0"/>
              </a:spcBef>
              <a:spcAft>
                <a:spcPts val="0"/>
              </a:spcAft>
              <a:buNone/>
            </a:pPr>
            <a:r>
              <a:rPr lang="en-US" sz="900" b="0" i="0">
                <a:solidFill>
                  <a:srgbClr val="5D6C7B"/>
                </a:solidFill>
                <a:latin typeface="Calibri"/>
                <a:ea typeface="Calibri"/>
                <a:cs typeface="Calibri"/>
              </a:rPr>
              <a:t>ORFS clone</a:t>
            </a:r>
          </a:p>
        </p:txBody>
      </p:sp>
      <p:sp>
        <p:nvSpPr>
          <p:cNvPr id="1101" name="arrow 1101"/>
          <p:cNvSpPr/>
          <p:nvPr/>
        </p:nvSpPr>
        <p:spPr>
          <a:xfrm>
            <a:off x="5824728" y="3904487"/>
            <a:ext cx="146304" cy="182880"/>
          </a:xfrm>
          <a:prstGeom prst="rightArrow">
            <a:avLst/>
          </a:prstGeom>
          <a:solidFill>
            <a:srgbClr val="4F81BD"/>
          </a:solidFill>
          <a:ln>
            <a:noFill/>
          </a:ln>
        </p:spPr>
        <p:txBody>
          <a:bodyPr/>
          <a:lstStyle/>
          <a:p>
            <a:endParaRPr lang="en-US"/>
          </a:p>
        </p:txBody>
      </p:sp>
      <p:sp>
        <p:nvSpPr>
          <p:cNvPr id="1102" name="shape 1102"/>
          <p:cNvSpPr/>
          <p:nvPr/>
        </p:nvSpPr>
        <p:spPr>
          <a:xfrm>
            <a:off x="5989320"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Ollama +</a:t>
            </a:r>
          </a:p>
          <a:p>
            <a:pPr algn="ctr">
              <a:spcBef>
                <a:spcPts val="0"/>
              </a:spcBef>
              <a:spcAft>
                <a:spcPts val="0"/>
              </a:spcAft>
              <a:buNone/>
            </a:pPr>
            <a:r>
              <a:rPr lang="en-US" sz="900" b="0" i="0">
                <a:solidFill>
                  <a:srgbClr val="5D6C7B"/>
                </a:solidFill>
                <a:latin typeface="Calibri"/>
                <a:ea typeface="Calibri"/>
                <a:cs typeface="Calibri"/>
              </a:rPr>
              <a:t>llama3.1</a:t>
            </a:r>
          </a:p>
        </p:txBody>
      </p:sp>
      <p:sp>
        <p:nvSpPr>
          <p:cNvPr id="1103" name="arrow 1103"/>
          <p:cNvSpPr/>
          <p:nvPr/>
        </p:nvSpPr>
        <p:spPr>
          <a:xfrm>
            <a:off x="7196328" y="3904487"/>
            <a:ext cx="146304" cy="182880"/>
          </a:xfrm>
          <a:prstGeom prst="rightArrow">
            <a:avLst/>
          </a:prstGeom>
          <a:solidFill>
            <a:srgbClr val="4F81BD"/>
          </a:solidFill>
          <a:ln>
            <a:noFill/>
          </a:ln>
        </p:spPr>
        <p:txBody>
          <a:bodyPr/>
          <a:lstStyle/>
          <a:p>
            <a:endParaRPr lang="en-US"/>
          </a:p>
        </p:txBody>
      </p:sp>
      <p:sp>
        <p:nvSpPr>
          <p:cNvPr id="1104" name="shape 1104"/>
          <p:cNvSpPr/>
          <p:nvPr/>
        </p:nvSpPr>
        <p:spPr>
          <a:xfrm>
            <a:off x="7360920" y="3611880"/>
            <a:ext cx="118872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000" b="1" i="0">
                <a:solidFill>
                  <a:srgbClr val="0E2745"/>
                </a:solidFill>
                <a:latin typeface="Calibri"/>
                <a:ea typeface="Calibri"/>
                <a:cs typeface="Calibri"/>
              </a:rPr>
              <a:t>env file</a:t>
            </a:r>
          </a:p>
          <a:p>
            <a:pPr algn="ctr">
              <a:spcBef>
                <a:spcPts val="0"/>
              </a:spcBef>
              <a:spcAft>
                <a:spcPts val="0"/>
              </a:spcAft>
              <a:buNone/>
            </a:pPr>
            <a:r>
              <a:rPr lang="en-US" sz="900" b="0" i="0">
                <a:solidFill>
                  <a:srgbClr val="5D6C7B"/>
                </a:solidFill>
                <a:latin typeface="Calibri"/>
                <a:ea typeface="Calibri"/>
                <a:cs typeface="Calibri"/>
              </a:rPr>
              <a:t>~/eda/vlsi_soc_env.sh</a:t>
            </a:r>
          </a:p>
        </p:txBody>
      </p:sp>
      <p:sp>
        <p:nvSpPr>
          <p:cNvPr id="1105" name="terminal 1105"/>
          <p:cNvSpPr/>
          <p:nvPr/>
        </p:nvSpPr>
        <p:spPr>
          <a:xfrm>
            <a:off x="502920" y="4617720"/>
            <a:ext cx="4937760" cy="1188720"/>
          </a:xfrm>
          <a:prstGeom prst="roundRect">
            <a:avLst>
              <a:gd name="adj" fmla="val 4000"/>
            </a:avLst>
          </a:prstGeom>
          <a:solidFill>
            <a:srgbClr val="1E1E1E"/>
          </a:solidFill>
          <a:ln>
            <a:noFill/>
          </a:ln>
        </p:spPr>
        <p:txBody>
          <a:bodyPr wrap="square" lIns="128016" tIns="128016" rIns="128016" bIns="128016" anchor="t">
            <a:noAutofit/>
          </a:bodyPr>
          <a:lstStyle/>
          <a:p>
            <a:pPr algn="l">
              <a:lnSpc>
                <a:spcPct val="100000"/>
              </a:lnSpc>
              <a:spcBef>
                <a:spcPts val="0"/>
              </a:spcBef>
              <a:spcAft>
                <a:spcPts val="0"/>
              </a:spcAft>
              <a:buNone/>
            </a:pPr>
            <a:r>
              <a:rPr lang="en-US" sz="1000" b="0" i="0">
                <a:solidFill>
                  <a:srgbClr val="FFFFFF"/>
                </a:solidFill>
                <a:latin typeface="Courier New"/>
                <a:ea typeface="Courier New"/>
                <a:cs typeface="Courier New"/>
              </a:rPr>
              <a:t>source ~/eda/vlsi_soc_env.sh</a:t>
            </a:r>
          </a:p>
          <a:p>
            <a:pPr algn="l">
              <a:lnSpc>
                <a:spcPct val="100000"/>
              </a:lnSpc>
              <a:spcBef>
                <a:spcPts val="0"/>
              </a:spcBef>
              <a:spcAft>
                <a:spcPts val="0"/>
              </a:spcAft>
              <a:buNone/>
            </a:pPr>
            <a:r>
              <a:rPr lang="en-US" sz="1000" b="0" i="0">
                <a:solidFill>
                  <a:srgbClr val="FFFFFF"/>
                </a:solidFill>
                <a:latin typeface="Courier New"/>
                <a:ea typeface="Courier New"/>
                <a:cs typeface="Courier New"/>
              </a:rPr>
              <a:t>cd &lt;repo&gt;/scripts/part2/solution</a:t>
            </a:r>
          </a:p>
          <a:p>
            <a:pPr algn="l">
              <a:lnSpc>
                <a:spcPct val="100000"/>
              </a:lnSpc>
              <a:spcBef>
                <a:spcPts val="0"/>
              </a:spcBef>
              <a:spcAft>
                <a:spcPts val="0"/>
              </a:spcAft>
              <a:buNone/>
            </a:pPr>
            <a:r>
              <a:rPr lang="en-US" sz="100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1000" b="0" i="0">
                <a:solidFill>
                  <a:srgbClr val="FFFFFF"/>
                </a:solidFill>
                <a:latin typeface="Courier New"/>
                <a:ea typeface="Courier New"/>
                <a:cs typeface="Courier New"/>
              </a:rPr>
              <a:t>   --config run_configs/2a_single_agent.yaml</a:t>
            </a:r>
          </a:p>
        </p:txBody>
      </p:sp>
      <p:sp>
        <p:nvSpPr>
          <p:cNvPr id="1106" name="shape 1106"/>
          <p:cNvSpPr/>
          <p:nvPr/>
        </p:nvSpPr>
        <p:spPr>
          <a:xfrm>
            <a:off x="5623560" y="4617720"/>
            <a:ext cx="3017520" cy="1188720"/>
          </a:xfrm>
          <a:prstGeom prst="roundRect">
            <a:avLst>
              <a:gd name="adj" fmla="val 8000"/>
            </a:avLst>
          </a:prstGeom>
          <a:solidFill>
            <a:srgbClr val="F3F6FA"/>
          </a:solidFill>
          <a:ln>
            <a:noFill/>
          </a:ln>
        </p:spPr>
        <p:txBody>
          <a:bodyPr wrap="square" lIns="109728" tIns="109728" rIns="109728" bIns="109728" anchor="ctr">
            <a:noAutofit/>
          </a:bodyPr>
          <a:lstStyle/>
          <a:p>
            <a:pPr algn="l">
              <a:spcBef>
                <a:spcPts val="0"/>
              </a:spcBef>
              <a:spcAft>
                <a:spcPts val="0"/>
              </a:spcAft>
              <a:buNone/>
            </a:pPr>
            <a:r>
              <a:rPr lang="en-US" sz="1000" b="0" i="0">
                <a:solidFill>
                  <a:srgbClr val="0E2745"/>
                </a:solidFill>
                <a:latin typeface="Calibri"/>
                <a:ea typeface="Calibri"/>
                <a:cs typeface="Calibri"/>
              </a:rPr>
              <a:t>The env file sets OPENROAD_EXE, YOSYS_EXE, ORFS_DIR, activates the venv, loads the API keys and starts Ollama</a:t>
            </a:r>
          </a:p>
        </p:txBody>
      </p:sp>
      <p:sp>
        <p:nvSpPr>
          <p:cNvPr id="1107" name="text 1107"/>
          <p:cNvSpPr txBox="1"/>
          <p:nvPr/>
        </p:nvSpPr>
        <p:spPr>
          <a:xfrm>
            <a:off x="502920" y="5943600"/>
            <a:ext cx="813816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000" b="0" i="1">
                <a:solidFill>
                  <a:srgbClr val="5D6C7B"/>
                </a:solidFill>
                <a:latin typeface="Calibri"/>
                <a:ea typeface="Calibri"/>
                <a:cs typeface="Calibri"/>
              </a:rPr>
              <a:t>Also 1–2 h (OpenROAD build): run it before the tutorial.  Options: --jobs N, --openroad-bin PATH, --skip-ollama</a:t>
            </a:r>
          </a:p>
        </p:txBody>
      </p:sp>
    </p:spTree>
    <p:extLst>
      <p:ext uri="{BB962C8B-B14F-4D97-AF65-F5344CB8AC3E}">
        <p14:creationId xmlns:p14="http://schemas.microsoft.com/office/powerpoint/2010/main" val="496440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Terminal survival kit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15</a:t>
            </a:fld>
            <a:endParaRPr sz="750" b="0">
              <a:solidFill>
                <a:srgbClr val="5B6573"/>
              </a:solidFill>
              <a:latin typeface="Calibri"/>
              <a:ea typeface="Calibri"/>
              <a:cs typeface="Calibri"/>
            </a:endParaRPr>
          </a:p>
        </p:txBody>
      </p:sp>
      <p:sp>
        <p:nvSpPr>
          <p:cNvPr id="1306" name="text 1306"/>
          <p:cNvSpPr txBox="1"/>
          <p:nvPr/>
        </p:nvSpPr>
        <p:spPr>
          <a:xfrm>
            <a:off x="457200" y="987552"/>
            <a:ext cx="402336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1" i="0">
                <a:solidFill>
                  <a:srgbClr val="17365D"/>
                </a:solidFill>
                <a:latin typeface="Calibri"/>
                <a:ea typeface="Calibri"/>
                <a:cs typeface="Calibri"/>
              </a:rPr>
              <a:t>Moving around (inside the container)</a:t>
            </a:r>
          </a:p>
        </p:txBody>
      </p:sp>
      <p:sp>
        <p:nvSpPr>
          <p:cNvPr id="1307" name="shape 1307"/>
          <p:cNvSpPr/>
          <p:nvPr/>
        </p:nvSpPr>
        <p:spPr>
          <a:xfrm>
            <a:off x="457200" y="1353312"/>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pwd</a:t>
            </a:r>
          </a:p>
        </p:txBody>
      </p:sp>
      <p:sp>
        <p:nvSpPr>
          <p:cNvPr id="1308" name="text 1308"/>
          <p:cNvSpPr txBox="1"/>
          <p:nvPr/>
        </p:nvSpPr>
        <p:spPr>
          <a:xfrm>
            <a:off x="2331720" y="1353312"/>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where am I?</a:t>
            </a:r>
          </a:p>
        </p:txBody>
      </p:sp>
      <p:sp>
        <p:nvSpPr>
          <p:cNvPr id="1309" name="shape 1309"/>
          <p:cNvSpPr/>
          <p:nvPr/>
        </p:nvSpPr>
        <p:spPr>
          <a:xfrm>
            <a:off x="457200" y="1828800"/>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ls</a:t>
            </a:r>
          </a:p>
        </p:txBody>
      </p:sp>
      <p:sp>
        <p:nvSpPr>
          <p:cNvPr id="1310" name="text 1310"/>
          <p:cNvSpPr txBox="1"/>
          <p:nvPr/>
        </p:nvSpPr>
        <p:spPr>
          <a:xfrm>
            <a:off x="2331720" y="1828800"/>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what is in this folder?</a:t>
            </a:r>
          </a:p>
        </p:txBody>
      </p:sp>
      <p:sp>
        <p:nvSpPr>
          <p:cNvPr id="1311" name="shape 1311"/>
          <p:cNvSpPr/>
          <p:nvPr/>
        </p:nvSpPr>
        <p:spPr>
          <a:xfrm>
            <a:off x="457200" y="2304288"/>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cd part2/problem</a:t>
            </a:r>
          </a:p>
        </p:txBody>
      </p:sp>
      <p:sp>
        <p:nvSpPr>
          <p:cNvPr id="1312" name="text 1312"/>
          <p:cNvSpPr txBox="1"/>
          <p:nvPr/>
        </p:nvSpPr>
        <p:spPr>
          <a:xfrm>
            <a:off x="2331720" y="2304288"/>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go into a folder</a:t>
            </a:r>
          </a:p>
        </p:txBody>
      </p:sp>
      <p:sp>
        <p:nvSpPr>
          <p:cNvPr id="1313" name="shape 1313"/>
          <p:cNvSpPr/>
          <p:nvPr/>
        </p:nvSpPr>
        <p:spPr>
          <a:xfrm>
            <a:off x="457200" y="2779776"/>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cd ..</a:t>
            </a:r>
          </a:p>
        </p:txBody>
      </p:sp>
      <p:sp>
        <p:nvSpPr>
          <p:cNvPr id="1314" name="text 1314"/>
          <p:cNvSpPr txBox="1"/>
          <p:nvPr/>
        </p:nvSpPr>
        <p:spPr>
          <a:xfrm>
            <a:off x="2331720" y="2779776"/>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go up one folder</a:t>
            </a:r>
          </a:p>
        </p:txBody>
      </p:sp>
      <p:sp>
        <p:nvSpPr>
          <p:cNvPr id="1315" name="shape 1315"/>
          <p:cNvSpPr/>
          <p:nvPr/>
        </p:nvSpPr>
        <p:spPr>
          <a:xfrm>
            <a:off x="457200" y="3255264"/>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cat Agent.md</a:t>
            </a:r>
          </a:p>
        </p:txBody>
      </p:sp>
      <p:sp>
        <p:nvSpPr>
          <p:cNvPr id="1316" name="text 1316"/>
          <p:cNvSpPr txBox="1"/>
          <p:nvPr/>
        </p:nvSpPr>
        <p:spPr>
          <a:xfrm>
            <a:off x="2331720" y="3255264"/>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print a file</a:t>
            </a:r>
          </a:p>
        </p:txBody>
      </p:sp>
      <p:sp>
        <p:nvSpPr>
          <p:cNvPr id="1317" name="shape 1317"/>
          <p:cNvSpPr/>
          <p:nvPr/>
        </p:nvSpPr>
        <p:spPr>
          <a:xfrm>
            <a:off x="457200" y="3730752"/>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Tab</a:t>
            </a:r>
          </a:p>
        </p:txBody>
      </p:sp>
      <p:sp>
        <p:nvSpPr>
          <p:cNvPr id="1318" name="text 1318"/>
          <p:cNvSpPr txBox="1"/>
          <p:nvPr/>
        </p:nvSpPr>
        <p:spPr>
          <a:xfrm>
            <a:off x="2331720" y="3730752"/>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completes names – type less</a:t>
            </a:r>
          </a:p>
        </p:txBody>
      </p:sp>
      <p:sp>
        <p:nvSpPr>
          <p:cNvPr id="1319" name="shape 1319"/>
          <p:cNvSpPr/>
          <p:nvPr/>
        </p:nvSpPr>
        <p:spPr>
          <a:xfrm>
            <a:off x="457200" y="4206240"/>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a:t>
            </a:r>
          </a:p>
        </p:txBody>
      </p:sp>
      <p:sp>
        <p:nvSpPr>
          <p:cNvPr id="1320" name="text 1320"/>
          <p:cNvSpPr txBox="1"/>
          <p:nvPr/>
        </p:nvSpPr>
        <p:spPr>
          <a:xfrm>
            <a:off x="2331720" y="4206240"/>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repeats the last command</a:t>
            </a:r>
          </a:p>
        </p:txBody>
      </p:sp>
      <p:sp>
        <p:nvSpPr>
          <p:cNvPr id="1321" name="shape 1321"/>
          <p:cNvSpPr/>
          <p:nvPr/>
        </p:nvSpPr>
        <p:spPr>
          <a:xfrm>
            <a:off x="457200" y="4681727"/>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Ctrl + C</a:t>
            </a:r>
          </a:p>
        </p:txBody>
      </p:sp>
      <p:sp>
        <p:nvSpPr>
          <p:cNvPr id="1322" name="text 1322"/>
          <p:cNvSpPr txBox="1"/>
          <p:nvPr/>
        </p:nvSpPr>
        <p:spPr>
          <a:xfrm>
            <a:off x="2331720" y="4681727"/>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stops a running script</a:t>
            </a:r>
          </a:p>
        </p:txBody>
      </p:sp>
      <p:sp>
        <p:nvSpPr>
          <p:cNvPr id="1323" name="shape 1323"/>
          <p:cNvSpPr/>
          <p:nvPr/>
        </p:nvSpPr>
        <p:spPr>
          <a:xfrm>
            <a:off x="457200" y="5157215"/>
            <a:ext cx="1783080" cy="402336"/>
          </a:xfrm>
          <a:prstGeom prst="roundRect">
            <a:avLst>
              <a:gd name="adj" fmla="val 14000"/>
            </a:avLst>
          </a:prstGeom>
          <a:solidFill>
            <a:srgbClr val="1E1E1E"/>
          </a:solidFill>
          <a:ln>
            <a:noFill/>
          </a:ln>
        </p:spPr>
        <p:txBody>
          <a:bodyPr wrap="square" lIns="36576" tIns="36576" rIns="36576" bIns="36576" anchor="ctr">
            <a:noAutofit/>
          </a:bodyPr>
          <a:lstStyle/>
          <a:p>
            <a:pPr algn="ctr">
              <a:spcBef>
                <a:spcPts val="0"/>
              </a:spcBef>
              <a:spcAft>
                <a:spcPts val="0"/>
              </a:spcAft>
              <a:buNone/>
            </a:pPr>
            <a:r>
              <a:rPr lang="en-US" sz="1050" b="1" i="0">
                <a:solidFill>
                  <a:srgbClr val="FFFFFF"/>
                </a:solidFill>
                <a:latin typeface="Courier New"/>
                <a:ea typeface="Courier New"/>
                <a:cs typeface="Courier New"/>
              </a:rPr>
              <a:t>exit</a:t>
            </a:r>
          </a:p>
        </p:txBody>
      </p:sp>
      <p:sp>
        <p:nvSpPr>
          <p:cNvPr id="1324" name="text 1324"/>
          <p:cNvSpPr txBox="1"/>
          <p:nvPr/>
        </p:nvSpPr>
        <p:spPr>
          <a:xfrm>
            <a:off x="2331720" y="5157215"/>
            <a:ext cx="2194560" cy="402336"/>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0" i="0">
                <a:solidFill>
                  <a:srgbClr val="0E2745"/>
                </a:solidFill>
                <a:latin typeface="Calibri"/>
                <a:ea typeface="Calibri"/>
                <a:cs typeface="Calibri"/>
              </a:rPr>
              <a:t>leaves the container</a:t>
            </a:r>
          </a:p>
        </p:txBody>
      </p:sp>
      <p:sp>
        <p:nvSpPr>
          <p:cNvPr id="1325" name="text 1325"/>
          <p:cNvSpPr txBox="1"/>
          <p:nvPr/>
        </p:nvSpPr>
        <p:spPr>
          <a:xfrm>
            <a:off x="4754880" y="987552"/>
            <a:ext cx="393192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1" i="0">
                <a:solidFill>
                  <a:srgbClr val="17365D"/>
                </a:solidFill>
                <a:latin typeface="Calibri"/>
                <a:ea typeface="Calibri"/>
                <a:cs typeface="Calibri"/>
              </a:rPr>
              <a:t>Editing files: use your laptop</a:t>
            </a:r>
          </a:p>
        </p:txBody>
      </p:sp>
      <p:sp>
        <p:nvSpPr>
          <p:cNvPr id="1326" name="shape 1326"/>
          <p:cNvSpPr/>
          <p:nvPr/>
        </p:nvSpPr>
        <p:spPr>
          <a:xfrm>
            <a:off x="4754880" y="1353312"/>
            <a:ext cx="3931920" cy="2103120"/>
          </a:xfrm>
          <a:prstGeom prst="roundRect">
            <a:avLst>
              <a:gd name="adj" fmla="val 7000"/>
            </a:avLst>
          </a:prstGeom>
          <a:solidFill>
            <a:srgbClr val="F3F6FA"/>
          </a:solidFill>
          <a:ln>
            <a:noFill/>
          </a:ln>
        </p:spPr>
        <p:txBody>
          <a:bodyPr wrap="square" lIns="164592" tIns="164592" rIns="164592" bIns="164592" anchor="ctr">
            <a:noAutofit/>
          </a:bodyPr>
          <a:lstStyle/>
          <a:p>
            <a:pPr algn="l">
              <a:spcBef>
                <a:spcPts val="0"/>
              </a:spcBef>
              <a:spcAft>
                <a:spcPts val="400"/>
              </a:spcAft>
              <a:buNone/>
            </a:pPr>
            <a:r>
              <a:rPr lang="en-US" sz="1100" b="1" i="0">
                <a:solidFill>
                  <a:srgbClr val="0E2745"/>
                </a:solidFill>
                <a:latin typeface="Calibri"/>
                <a:ea typeface="Calibri"/>
                <a:cs typeface="Calibri"/>
              </a:rPr>
              <a:t>The scripts/ folder of the repository IS /home/scripts in the container.</a:t>
            </a:r>
          </a:p>
          <a:p>
            <a:pPr algn="l">
              <a:spcBef>
                <a:spcPts val="0"/>
              </a:spcBef>
              <a:spcAft>
                <a:spcPts val="0"/>
              </a:spcAft>
              <a:buNone/>
            </a:pPr>
            <a:r>
              <a:rPr lang="en-US" sz="1050" b="0" i="0">
                <a:solidFill>
                  <a:srgbClr val="0E2745"/>
                </a:solidFill>
                <a:latin typeface="Calibri"/>
                <a:ea typeface="Calibri"/>
                <a:cs typeface="Calibri"/>
              </a:rPr>
              <a:t>Open Agent.md, trainset.json or config.yaml with VS Code (or any editor) on your laptop, save, and run the script again in the container. Nothing to copy.</a:t>
            </a:r>
          </a:p>
        </p:txBody>
      </p:sp>
      <p:sp>
        <p:nvSpPr>
          <p:cNvPr id="1327" name="text 1327"/>
          <p:cNvSpPr txBox="1"/>
          <p:nvPr/>
        </p:nvSpPr>
        <p:spPr>
          <a:xfrm>
            <a:off x="4754880" y="3611880"/>
            <a:ext cx="3931920" cy="2743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050" b="1" i="0">
                <a:solidFill>
                  <a:srgbClr val="5D6C7B"/>
                </a:solidFill>
                <a:latin typeface="Calibri"/>
                <a:ea typeface="Calibri"/>
                <a:cs typeface="Calibri"/>
              </a:rPr>
              <a:t>The same file, two names:</a:t>
            </a:r>
          </a:p>
        </p:txBody>
      </p:sp>
      <p:sp>
        <p:nvSpPr>
          <p:cNvPr id="1328" name="terminal 1328"/>
          <p:cNvSpPr/>
          <p:nvPr/>
        </p:nvSpPr>
        <p:spPr>
          <a:xfrm>
            <a:off x="4754880" y="3913632"/>
            <a:ext cx="3931920" cy="141732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00" b="0" i="0">
                <a:solidFill>
                  <a:srgbClr val="7EC699"/>
                </a:solidFill>
                <a:latin typeface="Courier New"/>
                <a:ea typeface="Courier New"/>
                <a:cs typeface="Courier New"/>
              </a:rPr>
              <a:t># on your laptop</a:t>
            </a:r>
          </a:p>
          <a:p>
            <a:pPr algn="l">
              <a:lnSpc>
                <a:spcPct val="100000"/>
              </a:lnSpc>
              <a:spcBef>
                <a:spcPts val="0"/>
              </a:spcBef>
              <a:spcAft>
                <a:spcPts val="0"/>
              </a:spcAft>
              <a:buNone/>
            </a:pPr>
            <a:r>
              <a:rPr lang="en-US" sz="900" b="0" i="0">
                <a:solidFill>
                  <a:srgbClr val="FFFFFF"/>
                </a:solidFill>
                <a:latin typeface="Courier New"/>
                <a:ea typeface="Courier New"/>
                <a:cs typeface="Courier New"/>
              </a:rPr>
              <a:t>VLSI-SOC26-AGENTIC-AI/scripts/part2/</a:t>
            </a:r>
          </a:p>
          <a:p>
            <a:pPr algn="l">
              <a:lnSpc>
                <a:spcPct val="100000"/>
              </a:lnSpc>
              <a:spcBef>
                <a:spcPts val="0"/>
              </a:spcBef>
              <a:spcAft>
                <a:spcPts val="0"/>
              </a:spcAft>
              <a:buNone/>
            </a:pPr>
            <a:r>
              <a:rPr lang="en-US" sz="900" b="0" i="0">
                <a:solidFill>
                  <a:srgbClr val="FFFFFF"/>
                </a:solidFill>
                <a:latin typeface="Courier New"/>
                <a:ea typeface="Courier New"/>
                <a:cs typeface="Courier New"/>
              </a:rPr>
              <a:t>   problem/configs/rtl_generator/Agent.md</a:t>
            </a:r>
          </a:p>
          <a:p>
            <a:pPr algn="l">
              <a:lnSpc>
                <a:spcPct val="100000"/>
              </a:lnSpc>
              <a:spcBef>
                <a:spcPts val="0"/>
              </a:spcBef>
              <a:spcAft>
                <a:spcPts val="0"/>
              </a:spcAft>
              <a:buNone/>
            </a:pPr>
            <a:r>
              <a:rPr lang="en-US" sz="900" b="0" i="0">
                <a:solidFill>
                  <a:srgbClr val="7EC699"/>
                </a:solidFill>
                <a:latin typeface="Courier New"/>
                <a:ea typeface="Courier New"/>
                <a:cs typeface="Courier New"/>
              </a:rPr>
              <a:t># in the container</a:t>
            </a:r>
          </a:p>
          <a:p>
            <a:pPr algn="l">
              <a:lnSpc>
                <a:spcPct val="100000"/>
              </a:lnSpc>
              <a:spcBef>
                <a:spcPts val="0"/>
              </a:spcBef>
              <a:spcAft>
                <a:spcPts val="0"/>
              </a:spcAft>
              <a:buNone/>
            </a:pPr>
            <a:r>
              <a:rPr lang="en-US" sz="900" b="0" i="0">
                <a:solidFill>
                  <a:srgbClr val="FFFFFF"/>
                </a:solidFill>
                <a:latin typeface="Courier New"/>
                <a:ea typeface="Courier New"/>
                <a:cs typeface="Courier New"/>
              </a:rPr>
              <a:t>/home/scripts/part2/</a:t>
            </a:r>
          </a:p>
          <a:p>
            <a:pPr algn="l">
              <a:lnSpc>
                <a:spcPct val="100000"/>
              </a:lnSpc>
              <a:spcBef>
                <a:spcPts val="0"/>
              </a:spcBef>
              <a:spcAft>
                <a:spcPts val="0"/>
              </a:spcAft>
              <a:buNone/>
            </a:pPr>
            <a:r>
              <a:rPr lang="en-US" sz="900" b="0" i="0">
                <a:solidFill>
                  <a:srgbClr val="FFFFFF"/>
                </a:solidFill>
                <a:latin typeface="Courier New"/>
                <a:ea typeface="Courier New"/>
                <a:cs typeface="Courier New"/>
              </a:rPr>
              <a:t>   problem/configs/rtl_generator/Agent.md</a:t>
            </a:r>
          </a:p>
        </p:txBody>
      </p:sp>
      <p:sp>
        <p:nvSpPr>
          <p:cNvPr id="1329" name="checkpoint 1329"/>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you can cd into </a:t>
            </a:r>
            <a:r>
              <a:rPr lang="en-US" sz="950" b="1" i="0">
                <a:solidFill>
                  <a:srgbClr val="FFFFFF"/>
                </a:solidFill>
                <a:latin typeface="Courier New" panose="02070309020205020404" pitchFamily="49" charset="0"/>
                <a:ea typeface="Calibri"/>
                <a:cs typeface="Courier New" panose="02070309020205020404" pitchFamily="49" charset="0"/>
              </a:rPr>
              <a:t>/home/scripts/part1 </a:t>
            </a:r>
            <a:r>
              <a:rPr lang="en-US" sz="1050" b="1" i="0">
                <a:solidFill>
                  <a:srgbClr val="FFFFFF"/>
                </a:solidFill>
                <a:latin typeface="Calibri"/>
                <a:ea typeface="Calibri"/>
                <a:cs typeface="Calibri"/>
              </a:rPr>
              <a:t>and see the same files as on your laptop</a:t>
            </a:r>
          </a:p>
        </p:txBody>
      </p:sp>
    </p:spTree>
    <p:extLst>
      <p:ext uri="{BB962C8B-B14F-4D97-AF65-F5344CB8AC3E}">
        <p14:creationId xmlns:p14="http://schemas.microsoft.com/office/powerpoint/2010/main" val="496440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What runs where</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16</a:t>
            </a:fld>
            <a:endParaRPr sz="750" b="0">
              <a:solidFill>
                <a:srgbClr val="5B6573"/>
              </a:solidFill>
              <a:latin typeface="Calibri"/>
              <a:ea typeface="Calibri"/>
              <a:cs typeface="Calibri"/>
            </a:endParaRPr>
          </a:p>
        </p:txBody>
      </p:sp>
      <p:sp>
        <p:nvSpPr>
          <p:cNvPr id="1050" name="laptop 1050"/>
          <p:cNvSpPr/>
          <p:nvPr/>
        </p:nvSpPr>
        <p:spPr>
          <a:xfrm>
            <a:off x="411480" y="1097280"/>
            <a:ext cx="2514600" cy="3611880"/>
          </a:xfrm>
          <a:prstGeom prst="roundRect">
            <a:avLst>
              <a:gd name="adj" fmla="val 6000"/>
            </a:avLst>
          </a:prstGeom>
          <a:solidFill>
            <a:srgbClr val="F3F6FA"/>
          </a:solidFill>
          <a:ln w="12700">
            <a:solidFill>
              <a:srgbClr val="C9D6E6"/>
            </a:solidFill>
          </a:ln>
        </p:spPr>
        <p:txBody>
          <a:bodyPr wrap="square" lIns="73152" tIns="73152" rIns="73152" bIns="73152" anchor="t">
            <a:noAutofit/>
          </a:bodyPr>
          <a:lstStyle/>
          <a:p>
            <a:pPr algn="l">
              <a:spcBef>
                <a:spcPts val="0"/>
              </a:spcBef>
              <a:spcAft>
                <a:spcPts val="0"/>
              </a:spcAft>
              <a:buNone/>
            </a:pPr>
            <a:endParaRPr lang="en-US" sz="600"/>
          </a:p>
        </p:txBody>
      </p:sp>
      <p:sp>
        <p:nvSpPr>
          <p:cNvPr id="1051" name="text 1051"/>
          <p:cNvSpPr txBox="1"/>
          <p:nvPr/>
        </p:nvSpPr>
        <p:spPr>
          <a:xfrm>
            <a:off x="548640" y="1188720"/>
            <a:ext cx="228600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300" b="1" i="0">
                <a:solidFill>
                  <a:srgbClr val="0E2745"/>
                </a:solidFill>
                <a:latin typeface="Calibri"/>
                <a:ea typeface="Calibri"/>
                <a:cs typeface="Calibri"/>
              </a:rPr>
              <a:t>💻  Your laptop</a:t>
            </a:r>
          </a:p>
        </p:txBody>
      </p:sp>
      <p:sp>
        <p:nvSpPr>
          <p:cNvPr id="1052" name="shape 1052"/>
          <p:cNvSpPr/>
          <p:nvPr/>
        </p:nvSpPr>
        <p:spPr>
          <a:xfrm>
            <a:off x="594360" y="1645920"/>
            <a:ext cx="2148840" cy="1417320"/>
          </a:xfrm>
          <a:prstGeom prst="roundRect">
            <a:avLst>
              <a:gd name="adj" fmla="val 8000"/>
            </a:avLst>
          </a:prstGeom>
          <a:solidFill>
            <a:srgbClr val="FFFFFF"/>
          </a:solidFill>
          <a:ln w="12700">
            <a:solidFill>
              <a:srgbClr val="4F81BD"/>
            </a:solidFill>
          </a:ln>
        </p:spPr>
        <p:txBody>
          <a:bodyPr wrap="square" lIns="109728" tIns="109728" rIns="109728" bIns="109728" anchor="t">
            <a:noAutofit/>
          </a:bodyPr>
          <a:lstStyle/>
          <a:p>
            <a:pPr algn="l">
              <a:spcBef>
                <a:spcPts val="0"/>
              </a:spcBef>
              <a:spcAft>
                <a:spcPts val="300"/>
              </a:spcAft>
              <a:buNone/>
            </a:pPr>
            <a:r>
              <a:rPr lang="en-US" sz="1200" b="1" i="0">
                <a:solidFill>
                  <a:srgbClr val="0E2745"/>
                </a:solidFill>
                <a:latin typeface="Courier New"/>
                <a:ea typeface="Courier New"/>
                <a:cs typeface="Courier New"/>
              </a:rPr>
              <a:t>scripts/</a:t>
            </a:r>
          </a:p>
          <a:p>
            <a:pPr algn="l">
              <a:spcBef>
                <a:spcPts val="0"/>
              </a:spcBef>
              <a:spcAft>
                <a:spcPts val="100"/>
              </a:spcAft>
              <a:buNone/>
            </a:pPr>
            <a:r>
              <a:rPr lang="en-US" sz="1050" b="0" i="0">
                <a:solidFill>
                  <a:srgbClr val="0E2745"/>
                </a:solidFill>
                <a:latin typeface="Calibri"/>
                <a:ea typeface="Calibri"/>
                <a:cs typeface="Calibri"/>
              </a:rPr>
              <a:t>Agent.md</a:t>
            </a:r>
          </a:p>
          <a:p>
            <a:pPr algn="l">
              <a:spcBef>
                <a:spcPts val="0"/>
              </a:spcBef>
              <a:spcAft>
                <a:spcPts val="100"/>
              </a:spcAft>
              <a:buNone/>
            </a:pPr>
            <a:r>
              <a:rPr lang="en-US" sz="1050" b="0" i="0">
                <a:solidFill>
                  <a:srgbClr val="0E2745"/>
                </a:solidFill>
                <a:latin typeface="Calibri"/>
                <a:ea typeface="Calibri"/>
                <a:cs typeface="Calibri"/>
              </a:rPr>
              <a:t>config.yaml  ·  run_configs/</a:t>
            </a:r>
          </a:p>
          <a:p>
            <a:pPr algn="l">
              <a:spcBef>
                <a:spcPts val="0"/>
              </a:spcBef>
              <a:spcAft>
                <a:spcPts val="100"/>
              </a:spcAft>
              <a:buNone/>
            </a:pPr>
            <a:r>
              <a:rPr lang="en-US" sz="1050" b="0" i="0">
                <a:solidFill>
                  <a:srgbClr val="0E2745"/>
                </a:solidFill>
                <a:latin typeface="Calibri"/>
                <a:ea typeface="Calibri"/>
                <a:cs typeface="Calibri"/>
              </a:rPr>
              <a:t>trainset.json</a:t>
            </a:r>
          </a:p>
          <a:p>
            <a:pPr algn="l">
              <a:spcBef>
                <a:spcPts val="0"/>
              </a:spcBef>
              <a:spcAft>
                <a:spcPts val="0"/>
              </a:spcAft>
              <a:buNone/>
            </a:pPr>
            <a:r>
              <a:rPr lang="en-US" sz="1050" b="1" i="0">
                <a:solidFill>
                  <a:srgbClr val="2E7D4F"/>
                </a:solidFill>
                <a:latin typeface="Calibri"/>
                <a:ea typeface="Calibri"/>
                <a:cs typeface="Calibri"/>
              </a:rPr>
              <a:t>runs/  (results)</a:t>
            </a:r>
          </a:p>
        </p:txBody>
      </p:sp>
      <p:sp>
        <p:nvSpPr>
          <p:cNvPr id="1053" name="text 1053"/>
          <p:cNvSpPr txBox="1"/>
          <p:nvPr/>
        </p:nvSpPr>
        <p:spPr>
          <a:xfrm>
            <a:off x="594360" y="3246120"/>
            <a:ext cx="2148840" cy="1280160"/>
          </a:xfrm>
          <a:prstGeom prst="rect">
            <a:avLst/>
          </a:prstGeom>
          <a:noFill/>
          <a:ln>
            <a:noFill/>
          </a:ln>
        </p:spPr>
        <p:txBody>
          <a:bodyPr wrap="square" lIns="18288" tIns="18288" rIns="18288" bIns="18288" anchor="t">
            <a:noAutofit/>
          </a:bodyPr>
          <a:lstStyle/>
          <a:p>
            <a:pPr algn="l">
              <a:spcBef>
                <a:spcPts val="0"/>
              </a:spcBef>
              <a:spcAft>
                <a:spcPts val="300"/>
              </a:spcAft>
              <a:buNone/>
            </a:pPr>
            <a:r>
              <a:rPr lang="en-US" sz="1050" b="0" i="0">
                <a:solidFill>
                  <a:srgbClr val="5D6C7B"/>
                </a:solidFill>
                <a:latin typeface="Calibri"/>
                <a:ea typeface="Calibri"/>
                <a:cs typeface="Calibri"/>
              </a:rPr>
              <a:t>Edit with any editor (VS Code, …)</a:t>
            </a:r>
          </a:p>
          <a:p>
            <a:pPr algn="l">
              <a:spcBef>
                <a:spcPts val="0"/>
              </a:spcBef>
              <a:spcAft>
                <a:spcPts val="0"/>
              </a:spcAft>
              <a:buNone/>
            </a:pPr>
            <a:r>
              <a:rPr lang="en-US" sz="1050" b="0" i="0">
                <a:solidFill>
                  <a:srgbClr val="5D6C7B"/>
                </a:solidFill>
                <a:latin typeface="Calibri"/>
                <a:ea typeface="Calibri"/>
                <a:cs typeface="Calibri"/>
              </a:rPr>
              <a:t>Changes are visible in the container immediately; results stay after exit</a:t>
            </a:r>
          </a:p>
        </p:txBody>
      </p:sp>
      <p:sp>
        <p:nvSpPr>
          <p:cNvPr id="1054" name="arrow 1054"/>
          <p:cNvSpPr/>
          <p:nvPr/>
        </p:nvSpPr>
        <p:spPr>
          <a:xfrm>
            <a:off x="3017520" y="2148840"/>
            <a:ext cx="868680" cy="457200"/>
          </a:xfrm>
          <a:prstGeom prst="leftRightArrow">
            <a:avLst/>
          </a:prstGeom>
          <a:solidFill>
            <a:srgbClr val="4F81BD"/>
          </a:solidFill>
          <a:ln>
            <a:noFill/>
          </a:ln>
        </p:spPr>
        <p:txBody>
          <a:bodyPr/>
          <a:lstStyle/>
          <a:p>
            <a:endParaRPr lang="en-US"/>
          </a:p>
        </p:txBody>
      </p:sp>
      <p:sp>
        <p:nvSpPr>
          <p:cNvPr id="1055" name="text 1055"/>
          <p:cNvSpPr txBox="1"/>
          <p:nvPr/>
        </p:nvSpPr>
        <p:spPr>
          <a:xfrm>
            <a:off x="2926080" y="2651760"/>
            <a:ext cx="1051560" cy="73152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50" b="1" i="0">
                <a:solidFill>
                  <a:srgbClr val="0E2745"/>
                </a:solidFill>
                <a:latin typeface="Calibri"/>
                <a:ea typeface="Calibri"/>
                <a:cs typeface="Calibri"/>
              </a:rPr>
              <a:t>-v mount</a:t>
            </a:r>
          </a:p>
          <a:p>
            <a:pPr algn="ctr">
              <a:spcBef>
                <a:spcPts val="0"/>
              </a:spcBef>
              <a:spcAft>
                <a:spcPts val="0"/>
              </a:spcAft>
              <a:buNone/>
            </a:pPr>
            <a:r>
              <a:rPr lang="en-US" sz="850" b="0" i="0">
                <a:solidFill>
                  <a:srgbClr val="5D6C7B"/>
                </a:solidFill>
                <a:latin typeface="Courier New"/>
                <a:ea typeface="Courier New"/>
                <a:cs typeface="Courier New"/>
              </a:rPr>
              <a:t>/home/scripts</a:t>
            </a:r>
          </a:p>
        </p:txBody>
      </p:sp>
      <p:sp>
        <p:nvSpPr>
          <p:cNvPr id="1056" name="container 1056"/>
          <p:cNvSpPr/>
          <p:nvPr/>
        </p:nvSpPr>
        <p:spPr>
          <a:xfrm>
            <a:off x="3977639" y="1097280"/>
            <a:ext cx="4754880" cy="3611880"/>
          </a:xfrm>
          <a:prstGeom prst="roundRect">
            <a:avLst>
              <a:gd name="adj" fmla="val 5000"/>
            </a:avLst>
          </a:prstGeom>
          <a:solidFill>
            <a:srgbClr val="FFFFFF"/>
          </a:solidFill>
          <a:ln w="19050">
            <a:solidFill>
              <a:srgbClr val="0E2745"/>
            </a:solidFill>
          </a:ln>
        </p:spPr>
        <p:txBody>
          <a:bodyPr wrap="square" lIns="73152" tIns="73152" rIns="73152" bIns="73152" anchor="t">
            <a:noAutofit/>
          </a:bodyPr>
          <a:lstStyle/>
          <a:p>
            <a:pPr algn="l">
              <a:spcBef>
                <a:spcPts val="0"/>
              </a:spcBef>
              <a:spcAft>
                <a:spcPts val="0"/>
              </a:spcAft>
              <a:buNone/>
            </a:pPr>
            <a:endParaRPr lang="en-US" sz="600"/>
          </a:p>
        </p:txBody>
      </p:sp>
      <p:sp>
        <p:nvSpPr>
          <p:cNvPr id="1057" name="text 1057"/>
          <p:cNvSpPr txBox="1"/>
          <p:nvPr/>
        </p:nvSpPr>
        <p:spPr>
          <a:xfrm>
            <a:off x="4114800" y="1170432"/>
            <a:ext cx="448056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300" b="1" i="0">
                <a:solidFill>
                  <a:srgbClr val="0E2745"/>
                </a:solidFill>
                <a:latin typeface="Calibri"/>
                <a:ea typeface="Calibri"/>
                <a:cs typeface="Calibri"/>
              </a:rPr>
              <a:t>🐳  Docker container  </a:t>
            </a:r>
            <a:r>
              <a:rPr lang="en-US" sz="1000" b="0" i="0">
                <a:solidFill>
                  <a:srgbClr val="5D6C7B"/>
                </a:solidFill>
                <a:latin typeface="Calibri"/>
                <a:ea typeface="Calibri"/>
                <a:cs typeface="Calibri"/>
              </a:rPr>
              <a:t>Ubuntu 22.04</a:t>
            </a:r>
          </a:p>
        </p:txBody>
      </p:sp>
      <p:sp>
        <p:nvSpPr>
          <p:cNvPr id="1058" name="shape 1058"/>
          <p:cNvSpPr/>
          <p:nvPr/>
        </p:nvSpPr>
        <p:spPr>
          <a:xfrm>
            <a:off x="4160520" y="1572768"/>
            <a:ext cx="4389120" cy="566928"/>
          </a:xfrm>
          <a:prstGeom prst="roundRect">
            <a:avLst>
              <a:gd name="adj" fmla="val 12000"/>
            </a:avLst>
          </a:prstGeom>
          <a:solidFill>
            <a:srgbClr val="0E2745"/>
          </a:solidFill>
          <a:ln>
            <a:noFill/>
          </a:ln>
        </p:spPr>
        <p:txBody>
          <a:bodyPr wrap="square" lIns="36576" tIns="36576" rIns="36576" bIns="36576" anchor="ctr">
            <a:noAutofit/>
          </a:bodyPr>
          <a:lstStyle/>
          <a:p>
            <a:pPr algn="ctr">
              <a:spcBef>
                <a:spcPts val="0"/>
              </a:spcBef>
              <a:spcAft>
                <a:spcPts val="0"/>
              </a:spcAft>
              <a:buNone/>
            </a:pPr>
            <a:r>
              <a:rPr lang="en-US" sz="1250" b="1" i="0">
                <a:solidFill>
                  <a:srgbClr val="FFFFFF"/>
                </a:solidFill>
                <a:latin typeface="Calibri"/>
                <a:ea typeface="Calibri"/>
                <a:cs typeface="Calibri"/>
              </a:rPr>
              <a:t>AGENTS  ·  Python 3 + DSPy</a:t>
            </a:r>
          </a:p>
          <a:p>
            <a:pPr algn="ctr">
              <a:spcBef>
                <a:spcPts val="0"/>
              </a:spcBef>
              <a:spcAft>
                <a:spcPts val="0"/>
              </a:spcAft>
              <a:buNone/>
            </a:pPr>
            <a:r>
              <a:rPr lang="en-US" sz="850" b="0" i="0">
                <a:solidFill>
                  <a:srgbClr val="CADCFC"/>
                </a:solidFill>
                <a:latin typeface="Calibri"/>
                <a:ea typeface="Calibri"/>
                <a:cs typeface="Calibri"/>
              </a:rPr>
              <a:t>main.py · asic_autonomous_flow.py · asic_orchestrated_flow.py</a:t>
            </a:r>
          </a:p>
        </p:txBody>
      </p:sp>
      <p:sp>
        <p:nvSpPr>
          <p:cNvPr id="1059" name="text 1059"/>
          <p:cNvSpPr txBox="1"/>
          <p:nvPr/>
        </p:nvSpPr>
        <p:spPr>
          <a:xfrm>
            <a:off x="4160520" y="2176272"/>
            <a:ext cx="4389120" cy="27432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00" b="0" i="1">
                <a:solidFill>
                  <a:srgbClr val="5D6C7B"/>
                </a:solidFill>
                <a:latin typeface="Calibri"/>
                <a:ea typeface="Calibri"/>
                <a:cs typeface="Calibri"/>
              </a:rPr>
              <a:t>run the tools, read the logs ▼</a:t>
            </a:r>
          </a:p>
        </p:txBody>
      </p:sp>
      <p:sp>
        <p:nvSpPr>
          <p:cNvPr id="1060" name="shape 1060"/>
          <p:cNvSpPr/>
          <p:nvPr/>
        </p:nvSpPr>
        <p:spPr>
          <a:xfrm>
            <a:off x="4160520" y="2514600"/>
            <a:ext cx="1371600" cy="868680"/>
          </a:xfrm>
          <a:prstGeom prst="roundRect">
            <a:avLst>
              <a:gd name="adj" fmla="val 12000"/>
            </a:avLst>
          </a:prstGeom>
          <a:solidFill>
            <a:srgbClr val="E6EEF7"/>
          </a:solidFill>
          <a:ln w="12700">
            <a:solidFill>
              <a:srgbClr val="4F81BD"/>
            </a:solidFill>
          </a:ln>
        </p:spPr>
        <p:txBody>
          <a:bodyPr wrap="square" lIns="36576" tIns="36576" rIns="36576" bIns="36576" anchor="ctr">
            <a:noAutofit/>
          </a:bodyPr>
          <a:lstStyle/>
          <a:p>
            <a:pPr algn="ctr">
              <a:spcBef>
                <a:spcPts val="0"/>
              </a:spcBef>
              <a:spcAft>
                <a:spcPts val="200"/>
              </a:spcAft>
              <a:buNone/>
            </a:pPr>
            <a:r>
              <a:rPr lang="en-US" sz="1100" b="1" i="0">
                <a:solidFill>
                  <a:srgbClr val="0E2745"/>
                </a:solidFill>
                <a:latin typeface="Calibri"/>
                <a:ea typeface="Calibri"/>
                <a:cs typeface="Calibri"/>
              </a:rPr>
              <a:t>Icarus Verilog</a:t>
            </a:r>
          </a:p>
          <a:p>
            <a:pPr algn="ctr">
              <a:spcBef>
                <a:spcPts val="0"/>
              </a:spcBef>
              <a:spcAft>
                <a:spcPts val="0"/>
              </a:spcAft>
              <a:buNone/>
            </a:pPr>
            <a:r>
              <a:rPr lang="en-US" sz="900" b="0" i="0">
                <a:solidFill>
                  <a:srgbClr val="5D6C7B"/>
                </a:solidFill>
                <a:latin typeface="Calibri"/>
                <a:ea typeface="Calibri"/>
                <a:cs typeface="Calibri"/>
              </a:rPr>
              <a:t>simulation</a:t>
            </a:r>
          </a:p>
        </p:txBody>
      </p:sp>
      <p:sp>
        <p:nvSpPr>
          <p:cNvPr id="1061" name="shape 1061"/>
          <p:cNvSpPr/>
          <p:nvPr/>
        </p:nvSpPr>
        <p:spPr>
          <a:xfrm>
            <a:off x="5641848" y="2514600"/>
            <a:ext cx="1371600" cy="868680"/>
          </a:xfrm>
          <a:prstGeom prst="roundRect">
            <a:avLst>
              <a:gd name="adj" fmla="val 12000"/>
            </a:avLst>
          </a:prstGeom>
          <a:solidFill>
            <a:srgbClr val="E6EEF7"/>
          </a:solidFill>
          <a:ln w="12700">
            <a:solidFill>
              <a:srgbClr val="4F81BD"/>
            </a:solidFill>
          </a:ln>
        </p:spPr>
        <p:txBody>
          <a:bodyPr wrap="square" lIns="36576" tIns="36576" rIns="36576" bIns="36576" anchor="ctr">
            <a:noAutofit/>
          </a:bodyPr>
          <a:lstStyle/>
          <a:p>
            <a:pPr algn="ctr">
              <a:spcBef>
                <a:spcPts val="0"/>
              </a:spcBef>
              <a:spcAft>
                <a:spcPts val="200"/>
              </a:spcAft>
              <a:buNone/>
            </a:pPr>
            <a:r>
              <a:rPr lang="en-US" sz="1100" b="1" i="0">
                <a:solidFill>
                  <a:srgbClr val="0E2745"/>
                </a:solidFill>
                <a:latin typeface="Calibri"/>
                <a:ea typeface="Calibri"/>
                <a:cs typeface="Calibri"/>
              </a:rPr>
              <a:t>Yosys</a:t>
            </a:r>
          </a:p>
          <a:p>
            <a:pPr algn="ctr">
              <a:spcBef>
                <a:spcPts val="0"/>
              </a:spcBef>
              <a:spcAft>
                <a:spcPts val="0"/>
              </a:spcAft>
              <a:buNone/>
            </a:pPr>
            <a:r>
              <a:rPr lang="en-US" sz="900" b="0" i="0">
                <a:solidFill>
                  <a:srgbClr val="5D6C7B"/>
                </a:solidFill>
                <a:latin typeface="Calibri"/>
                <a:ea typeface="Calibri"/>
                <a:cs typeface="Calibri"/>
              </a:rPr>
              <a:t>synthesis</a:t>
            </a:r>
          </a:p>
        </p:txBody>
      </p:sp>
      <p:sp>
        <p:nvSpPr>
          <p:cNvPr id="1062" name="shape 1062"/>
          <p:cNvSpPr/>
          <p:nvPr/>
        </p:nvSpPr>
        <p:spPr>
          <a:xfrm>
            <a:off x="7123176" y="2514600"/>
            <a:ext cx="1371600" cy="868680"/>
          </a:xfrm>
          <a:prstGeom prst="roundRect">
            <a:avLst>
              <a:gd name="adj" fmla="val 12000"/>
            </a:avLst>
          </a:prstGeom>
          <a:solidFill>
            <a:srgbClr val="E6EEF7"/>
          </a:solidFill>
          <a:ln w="12700">
            <a:solidFill>
              <a:srgbClr val="4F81BD"/>
            </a:solidFill>
          </a:ln>
        </p:spPr>
        <p:txBody>
          <a:bodyPr wrap="square" lIns="36576" tIns="36576" rIns="36576" bIns="36576" anchor="ctr">
            <a:noAutofit/>
          </a:bodyPr>
          <a:lstStyle/>
          <a:p>
            <a:pPr algn="ctr">
              <a:spcBef>
                <a:spcPts val="0"/>
              </a:spcBef>
              <a:spcAft>
                <a:spcPts val="200"/>
              </a:spcAft>
              <a:buNone/>
            </a:pPr>
            <a:r>
              <a:rPr lang="en-US" sz="1100" b="1" i="0" err="1">
                <a:solidFill>
                  <a:srgbClr val="0E2745"/>
                </a:solidFill>
                <a:latin typeface="Calibri"/>
                <a:ea typeface="Calibri"/>
                <a:cs typeface="Calibri"/>
              </a:rPr>
              <a:t>OpenROAD</a:t>
            </a:r>
            <a:r>
              <a:rPr lang="en-US" sz="1100" b="1" i="0">
                <a:solidFill>
                  <a:srgbClr val="0E2745"/>
                </a:solidFill>
                <a:latin typeface="Calibri"/>
                <a:ea typeface="Calibri"/>
                <a:cs typeface="Calibri"/>
              </a:rPr>
              <a:t> + ORFS</a:t>
            </a:r>
          </a:p>
          <a:p>
            <a:pPr algn="ctr">
              <a:spcBef>
                <a:spcPts val="0"/>
              </a:spcBef>
              <a:spcAft>
                <a:spcPts val="0"/>
              </a:spcAft>
              <a:buNone/>
            </a:pPr>
            <a:r>
              <a:rPr lang="en-US" sz="900" b="0" i="0">
                <a:solidFill>
                  <a:srgbClr val="5D6C7B"/>
                </a:solidFill>
                <a:latin typeface="Calibri"/>
                <a:ea typeface="Calibri"/>
                <a:cs typeface="Calibri"/>
              </a:rPr>
              <a:t>place &amp; route, PPA</a:t>
            </a:r>
          </a:p>
        </p:txBody>
      </p:sp>
      <p:sp>
        <p:nvSpPr>
          <p:cNvPr id="1063" name="shape 1063"/>
          <p:cNvSpPr/>
          <p:nvPr/>
        </p:nvSpPr>
        <p:spPr>
          <a:xfrm>
            <a:off x="4160520" y="3520440"/>
            <a:ext cx="1371600" cy="868680"/>
          </a:xfrm>
          <a:prstGeom prst="roundRect">
            <a:avLst>
              <a:gd name="adj" fmla="val 12000"/>
            </a:avLst>
          </a:prstGeom>
          <a:solidFill>
            <a:srgbClr val="E6EEF7"/>
          </a:solidFill>
          <a:ln w="12700">
            <a:solidFill>
              <a:srgbClr val="4F81BD"/>
            </a:solidFill>
          </a:ln>
        </p:spPr>
        <p:txBody>
          <a:bodyPr wrap="square" lIns="36576" tIns="36576" rIns="36576" bIns="36576" anchor="ctr">
            <a:noAutofit/>
          </a:bodyPr>
          <a:lstStyle/>
          <a:p>
            <a:pPr algn="ctr">
              <a:spcBef>
                <a:spcPts val="0"/>
              </a:spcBef>
              <a:spcAft>
                <a:spcPts val="200"/>
              </a:spcAft>
              <a:buNone/>
            </a:pPr>
            <a:r>
              <a:rPr lang="en-US" sz="1100" b="1" i="0">
                <a:solidFill>
                  <a:srgbClr val="0E2745"/>
                </a:solidFill>
                <a:latin typeface="Calibri"/>
                <a:ea typeface="Calibri"/>
                <a:cs typeface="Calibri"/>
              </a:rPr>
              <a:t>KLayout</a:t>
            </a:r>
          </a:p>
          <a:p>
            <a:pPr algn="ctr">
              <a:spcBef>
                <a:spcPts val="0"/>
              </a:spcBef>
              <a:spcAft>
                <a:spcPts val="0"/>
              </a:spcAft>
              <a:buNone/>
            </a:pPr>
            <a:r>
              <a:rPr lang="en-US" sz="900" b="0" i="0">
                <a:solidFill>
                  <a:srgbClr val="5D6C7B"/>
                </a:solidFill>
                <a:latin typeface="Calibri"/>
                <a:ea typeface="Calibri"/>
                <a:cs typeface="Calibri"/>
              </a:rPr>
              <a:t>GDS merge</a:t>
            </a:r>
          </a:p>
        </p:txBody>
      </p:sp>
      <p:sp>
        <p:nvSpPr>
          <p:cNvPr id="1064" name="shape 1064"/>
          <p:cNvSpPr/>
          <p:nvPr/>
        </p:nvSpPr>
        <p:spPr>
          <a:xfrm>
            <a:off x="5641848" y="3520440"/>
            <a:ext cx="1371600" cy="868680"/>
          </a:xfrm>
          <a:prstGeom prst="roundRect">
            <a:avLst>
              <a:gd name="adj" fmla="val 12000"/>
            </a:avLst>
          </a:prstGeom>
          <a:solidFill>
            <a:srgbClr val="EAF4EC"/>
          </a:solidFill>
          <a:ln w="12700">
            <a:solidFill>
              <a:srgbClr val="2E7D4F"/>
            </a:solidFill>
          </a:ln>
        </p:spPr>
        <p:txBody>
          <a:bodyPr wrap="square" lIns="36576" tIns="36576" rIns="36576" bIns="36576" anchor="ctr">
            <a:noAutofit/>
          </a:bodyPr>
          <a:lstStyle/>
          <a:p>
            <a:pPr algn="ctr">
              <a:spcBef>
                <a:spcPts val="0"/>
              </a:spcBef>
              <a:spcAft>
                <a:spcPts val="200"/>
              </a:spcAft>
              <a:buNone/>
            </a:pPr>
            <a:r>
              <a:rPr lang="en-US" sz="1100" b="1" i="0">
                <a:solidFill>
                  <a:srgbClr val="0E2745"/>
                </a:solidFill>
                <a:latin typeface="Calibri"/>
                <a:ea typeface="Calibri"/>
                <a:cs typeface="Calibri"/>
              </a:rPr>
              <a:t>Ollama</a:t>
            </a:r>
          </a:p>
          <a:p>
            <a:pPr algn="ctr">
              <a:spcBef>
                <a:spcPts val="0"/>
              </a:spcBef>
              <a:spcAft>
                <a:spcPts val="0"/>
              </a:spcAft>
              <a:buNone/>
            </a:pPr>
            <a:r>
              <a:rPr lang="en-US" sz="900" b="0" i="0">
                <a:solidFill>
                  <a:srgbClr val="5D6C7B"/>
                </a:solidFill>
                <a:latin typeface="Calibri"/>
                <a:ea typeface="Calibri"/>
                <a:cs typeface="Calibri"/>
              </a:rPr>
              <a:t>local SLM: llama3.1</a:t>
            </a:r>
          </a:p>
        </p:txBody>
      </p:sp>
      <p:sp>
        <p:nvSpPr>
          <p:cNvPr id="1065" name="shape 1065"/>
          <p:cNvSpPr/>
          <p:nvPr/>
        </p:nvSpPr>
        <p:spPr>
          <a:xfrm>
            <a:off x="7123176" y="3520440"/>
            <a:ext cx="1371600" cy="868680"/>
          </a:xfrm>
          <a:prstGeom prst="roundRect">
            <a:avLst>
              <a:gd name="adj" fmla="val 12000"/>
            </a:avLst>
          </a:prstGeom>
          <a:solidFill>
            <a:srgbClr val="E6EEF7"/>
          </a:solidFill>
          <a:ln w="12700">
            <a:solidFill>
              <a:srgbClr val="4F81BD"/>
            </a:solidFill>
          </a:ln>
        </p:spPr>
        <p:txBody>
          <a:bodyPr wrap="square" lIns="36576" tIns="36576" rIns="36576" bIns="36576" anchor="ctr">
            <a:noAutofit/>
          </a:bodyPr>
          <a:lstStyle/>
          <a:p>
            <a:pPr algn="ctr">
              <a:spcBef>
                <a:spcPts val="0"/>
              </a:spcBef>
              <a:spcAft>
                <a:spcPts val="200"/>
              </a:spcAft>
              <a:buNone/>
            </a:pPr>
            <a:r>
              <a:rPr lang="en-US" sz="1100" b="1" i="0">
                <a:solidFill>
                  <a:srgbClr val="0E2745"/>
                </a:solidFill>
                <a:latin typeface="Calibri"/>
                <a:ea typeface="Calibri"/>
                <a:cs typeface="Calibri"/>
              </a:rPr>
              <a:t>Evaluation</a:t>
            </a:r>
          </a:p>
          <a:p>
            <a:pPr algn="ctr">
              <a:spcBef>
                <a:spcPts val="0"/>
              </a:spcBef>
              <a:spcAft>
                <a:spcPts val="0"/>
              </a:spcAft>
              <a:buNone/>
            </a:pPr>
            <a:r>
              <a:rPr lang="en-US" sz="900" b="0" i="0">
                <a:solidFill>
                  <a:srgbClr val="5D6C7B"/>
                </a:solidFill>
                <a:latin typeface="Calibri"/>
                <a:ea typeface="Calibri"/>
                <a:cs typeface="Calibri"/>
              </a:rPr>
              <a:t>PPA score /100</a:t>
            </a:r>
          </a:p>
        </p:txBody>
      </p:sp>
      <p:sp>
        <p:nvSpPr>
          <p:cNvPr id="1066" name="arrow 1066"/>
          <p:cNvSpPr/>
          <p:nvPr/>
        </p:nvSpPr>
        <p:spPr>
          <a:xfrm>
            <a:off x="6172200" y="4754880"/>
            <a:ext cx="365760" cy="502920"/>
          </a:xfrm>
          <a:prstGeom prst="upDownArrow">
            <a:avLst/>
          </a:prstGeom>
          <a:solidFill>
            <a:srgbClr val="B91F2D"/>
          </a:solidFill>
          <a:ln>
            <a:noFill/>
          </a:ln>
        </p:spPr>
        <p:txBody>
          <a:bodyPr/>
          <a:lstStyle/>
          <a:p>
            <a:endParaRPr lang="en-US"/>
          </a:p>
        </p:txBody>
      </p:sp>
      <p:sp>
        <p:nvSpPr>
          <p:cNvPr id="1067" name="shape 1067"/>
          <p:cNvSpPr/>
          <p:nvPr/>
        </p:nvSpPr>
        <p:spPr>
          <a:xfrm>
            <a:off x="3977639" y="5303520"/>
            <a:ext cx="4754880" cy="777240"/>
          </a:xfrm>
          <a:prstGeom prst="roundRect">
            <a:avLst>
              <a:gd name="adj" fmla="val 12000"/>
            </a:avLst>
          </a:prstGeom>
          <a:solidFill>
            <a:srgbClr val="FBE9EB"/>
          </a:solidFill>
          <a:ln w="12700">
            <a:solidFill>
              <a:srgbClr val="B91F2D"/>
            </a:solidFill>
          </a:ln>
        </p:spPr>
        <p:txBody>
          <a:bodyPr wrap="square" lIns="73152" tIns="73152" rIns="73152" bIns="73152" anchor="ctr">
            <a:noAutofit/>
          </a:bodyPr>
          <a:lstStyle/>
          <a:p>
            <a:pPr algn="ctr">
              <a:spcBef>
                <a:spcPts val="0"/>
              </a:spcBef>
              <a:spcAft>
                <a:spcPts val="0"/>
              </a:spcAft>
              <a:buNone/>
            </a:pPr>
            <a:r>
              <a:rPr lang="en-US" sz="1250" b="1" i="0">
                <a:solidFill>
                  <a:srgbClr val="0E2745"/>
                </a:solidFill>
                <a:latin typeface="Calibri"/>
                <a:ea typeface="Calibri"/>
                <a:cs typeface="Calibri"/>
              </a:rPr>
              <a:t>☁  Cloud LLM APIs:  Gemini  ·  Claude</a:t>
            </a:r>
          </a:p>
          <a:p>
            <a:pPr algn="ctr">
              <a:spcBef>
                <a:spcPts val="0"/>
              </a:spcBef>
              <a:spcAft>
                <a:spcPts val="0"/>
              </a:spcAft>
              <a:buNone/>
            </a:pPr>
            <a:r>
              <a:rPr lang="en-US" sz="950" b="0" i="0">
                <a:solidFill>
                  <a:srgbClr val="5D6C7B"/>
                </a:solidFill>
                <a:latin typeface="Calibri"/>
                <a:ea typeface="Calibri"/>
                <a:cs typeface="Calibri"/>
              </a:rPr>
              <a:t>HTTPS, key from scripts/api_keys.sh</a:t>
            </a:r>
          </a:p>
        </p:txBody>
      </p:sp>
      <p:sp>
        <p:nvSpPr>
          <p:cNvPr id="1068" name="shape 1068"/>
          <p:cNvSpPr/>
          <p:nvPr/>
        </p:nvSpPr>
        <p:spPr>
          <a:xfrm>
            <a:off x="411480" y="5303520"/>
            <a:ext cx="3337560" cy="777240"/>
          </a:xfrm>
          <a:prstGeom prst="roundRect">
            <a:avLst>
              <a:gd name="adj" fmla="val 12000"/>
            </a:avLst>
          </a:prstGeom>
          <a:solidFill>
            <a:srgbClr val="F3F6FA"/>
          </a:solidFill>
          <a:ln>
            <a:noFill/>
          </a:ln>
        </p:spPr>
        <p:txBody>
          <a:bodyPr wrap="square" lIns="73152" tIns="73152" rIns="73152" bIns="73152" anchor="ctr">
            <a:noAutofit/>
          </a:bodyPr>
          <a:lstStyle/>
          <a:p>
            <a:pPr algn="ctr">
              <a:spcBef>
                <a:spcPts val="0"/>
              </a:spcBef>
              <a:spcAft>
                <a:spcPts val="0"/>
              </a:spcAft>
              <a:buNone/>
            </a:pPr>
            <a:r>
              <a:rPr lang="en-US" sz="1050" b="1" i="0">
                <a:solidFill>
                  <a:srgbClr val="0E2745"/>
                </a:solidFill>
                <a:latin typeface="Calibri"/>
                <a:ea typeface="Calibri"/>
                <a:cs typeface="Calibri"/>
              </a:rPr>
              <a:t>Only the prompts and the tool reports leave the container</a:t>
            </a:r>
          </a:p>
          <a:p>
            <a:pPr algn="ctr">
              <a:spcBef>
                <a:spcPts val="0"/>
              </a:spcBef>
              <a:spcAft>
                <a:spcPts val="0"/>
              </a:spcAft>
              <a:buNone/>
            </a:pPr>
            <a:r>
              <a:rPr lang="en-US" sz="950" b="1" i="0">
                <a:solidFill>
                  <a:srgbClr val="2E7D4F"/>
                </a:solidFill>
                <a:latin typeface="Calibri"/>
                <a:ea typeface="Calibri"/>
                <a:cs typeface="Calibri"/>
              </a:rPr>
              <a:t>local models (Ollama) never leave it</a:t>
            </a:r>
          </a:p>
        </p:txBody>
      </p:sp>
    </p:spTree>
    <p:extLst>
      <p:ext uri="{BB962C8B-B14F-4D97-AF65-F5344CB8AC3E}">
        <p14:creationId xmlns:p14="http://schemas.microsoft.com/office/powerpoint/2010/main" val="49644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dirty="0"/>
              <a:t>Verify your environment: one-liner </a:t>
            </a:r>
            <a:endParaRPr sz="2400" b="1" dirty="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17</a:t>
            </a:fld>
            <a:endParaRPr sz="750" b="0">
              <a:solidFill>
                <a:srgbClr val="5B6573"/>
              </a:solidFill>
              <a:latin typeface="Calibri"/>
              <a:ea typeface="Calibri"/>
              <a:cs typeface="Calibri"/>
            </a:endParaRPr>
          </a:p>
        </p:txBody>
      </p:sp>
      <p:sp>
        <p:nvSpPr>
          <p:cNvPr id="1520" name="text 1520"/>
          <p:cNvSpPr txBox="1"/>
          <p:nvPr/>
        </p:nvSpPr>
        <p:spPr>
          <a:xfrm>
            <a:off x="457200" y="987552"/>
            <a:ext cx="8229600" cy="36576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0" i="0">
                <a:solidFill>
                  <a:srgbClr val="0E2745"/>
                </a:solidFill>
                <a:latin typeface="Calibri"/>
                <a:ea typeface="Calibri"/>
                <a:cs typeface="Calibri"/>
              </a:rPr>
              <a:t>Inside the container, run the regression. 30 seconds, no model is called, nothing costs tokens.</a:t>
            </a:r>
          </a:p>
        </p:txBody>
      </p:sp>
      <p:sp>
        <p:nvSpPr>
          <p:cNvPr id="1521" name="terminal 1521"/>
          <p:cNvSpPr/>
          <p:nvPr/>
        </p:nvSpPr>
        <p:spPr>
          <a:xfrm>
            <a:off x="457200" y="1417320"/>
            <a:ext cx="8229600" cy="2514600"/>
          </a:xfrm>
          <a:prstGeom prst="roundRect">
            <a:avLst>
              <a:gd name="adj" fmla="val 4000"/>
            </a:avLst>
          </a:prstGeom>
          <a:solidFill>
            <a:srgbClr val="1E1E1E"/>
          </a:solidFill>
          <a:ln>
            <a:noFill/>
          </a:ln>
        </p:spPr>
        <p:txBody>
          <a:bodyPr wrap="square" lIns="128016" tIns="128016" rIns="128016" bIns="128016" anchor="t">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 python3 /home/scripts/regression/regression.py --quick</a:t>
            </a:r>
          </a:p>
          <a:p>
            <a:pPr algn="l">
              <a:lnSpc>
                <a:spcPct val="100000"/>
              </a:lnSpc>
              <a:spcBef>
                <a:spcPts val="0"/>
              </a:spcBef>
              <a:spcAft>
                <a:spcPts val="0"/>
              </a:spcAft>
              <a:buNone/>
            </a:pPr>
            <a:r>
              <a:rPr lang="en-US" sz="900" b="0" i="0">
                <a:solidFill>
                  <a:srgbClr val="FFFFFF"/>
                </a:solidFill>
                <a:latin typeface="Courier New"/>
                <a:ea typeface="Courier New"/>
                <a:cs typeface="Courier New"/>
              </a:rPr>
              <a:t>1. Tools and environment</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a:t>
            </a:r>
            <a:r>
              <a:rPr lang="en-US" sz="900" b="0" i="0" err="1">
                <a:solidFill>
                  <a:srgbClr val="7EC699"/>
                </a:solidFill>
                <a:latin typeface="Courier New"/>
                <a:ea typeface="Courier New"/>
                <a:cs typeface="Courier New"/>
              </a:rPr>
              <a:t>iverilog</a:t>
            </a:r>
            <a:r>
              <a:rPr lang="en-US" sz="900" b="0" i="0">
                <a:solidFill>
                  <a:srgbClr val="7EC699"/>
                </a:solidFill>
                <a:latin typeface="Courier New"/>
                <a:ea typeface="Courier New"/>
                <a:cs typeface="Courier New"/>
              </a:rPr>
              <a:t>                     Icarus Verilog version 11.0</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a:t>
            </a:r>
            <a:r>
              <a:rPr lang="en-US" sz="900" b="0" i="0" err="1">
                <a:solidFill>
                  <a:srgbClr val="7EC699"/>
                </a:solidFill>
                <a:latin typeface="Courier New"/>
                <a:ea typeface="Courier New"/>
                <a:cs typeface="Courier New"/>
              </a:rPr>
              <a:t>yosys</a:t>
            </a:r>
            <a:r>
              <a:rPr lang="en-US" sz="900" b="0" i="0">
                <a:solidFill>
                  <a:srgbClr val="7EC699"/>
                </a:solidFill>
                <a:latin typeface="Courier New"/>
                <a:ea typeface="Courier New"/>
                <a:cs typeface="Courier New"/>
              </a:rPr>
              <a:t>                        </a:t>
            </a:r>
            <a:r>
              <a:rPr lang="en-US" sz="900" b="0" i="0" err="1">
                <a:solidFill>
                  <a:srgbClr val="7EC699"/>
                </a:solidFill>
                <a:latin typeface="Courier New"/>
                <a:ea typeface="Courier New"/>
                <a:cs typeface="Courier New"/>
              </a:rPr>
              <a:t>Yosys</a:t>
            </a:r>
            <a:r>
              <a:rPr lang="en-US" sz="900" b="0" i="0">
                <a:solidFill>
                  <a:srgbClr val="7EC699"/>
                </a:solidFill>
                <a:latin typeface="Courier New"/>
                <a:ea typeface="Courier New"/>
                <a:cs typeface="Courier New"/>
              </a:rPr>
              <a:t> 0.5x ...</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a:t>
            </a:r>
            <a:r>
              <a:rPr lang="en-US" sz="900" b="0" i="0" err="1">
                <a:solidFill>
                  <a:srgbClr val="7EC699"/>
                </a:solidFill>
                <a:latin typeface="Courier New"/>
                <a:ea typeface="Courier New"/>
                <a:cs typeface="Courier New"/>
              </a:rPr>
              <a:t>openroad</a:t>
            </a:r>
            <a:r>
              <a:rPr lang="en-US" sz="900" b="0" i="0">
                <a:solidFill>
                  <a:srgbClr val="7EC699"/>
                </a:solidFill>
                <a:latin typeface="Courier New"/>
                <a:ea typeface="Courier New"/>
                <a:cs typeface="Courier New"/>
              </a:rPr>
              <a:t>                     v2.0-...</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Python packages              </a:t>
            </a:r>
            <a:r>
              <a:rPr lang="en-US" sz="900" b="0" i="0" err="1">
                <a:solidFill>
                  <a:srgbClr val="7EC699"/>
                </a:solidFill>
                <a:latin typeface="Courier New"/>
                <a:ea typeface="Courier New"/>
                <a:cs typeface="Courier New"/>
              </a:rPr>
              <a:t>dspy</a:t>
            </a:r>
            <a:r>
              <a:rPr lang="en-US" sz="900" b="0" i="0">
                <a:solidFill>
                  <a:srgbClr val="7EC699"/>
                </a:solidFill>
                <a:latin typeface="Courier New"/>
                <a:ea typeface="Courier New"/>
                <a:cs typeface="Courier New"/>
              </a:rPr>
              <a:t> 3.x, </a:t>
            </a:r>
            <a:r>
              <a:rPr lang="en-US" sz="900" b="0" i="0" err="1">
                <a:solidFill>
                  <a:srgbClr val="7EC699"/>
                </a:solidFill>
                <a:latin typeface="Courier New"/>
                <a:ea typeface="Courier New"/>
                <a:cs typeface="Courier New"/>
              </a:rPr>
              <a:t>pyyaml</a:t>
            </a:r>
            <a:r>
              <a:rPr lang="en-US" sz="900" b="0" i="0">
                <a:solidFill>
                  <a:srgbClr val="7EC699"/>
                </a:solidFill>
                <a:latin typeface="Courier New"/>
                <a:ea typeface="Courier New"/>
                <a:cs typeface="Courier New"/>
              </a:rPr>
              <a:t>, </a:t>
            </a:r>
            <a:r>
              <a:rPr lang="en-US" sz="900" b="0" i="0" err="1">
                <a:solidFill>
                  <a:srgbClr val="7EC699"/>
                </a:solidFill>
                <a:latin typeface="Courier New"/>
                <a:ea typeface="Courier New"/>
                <a:cs typeface="Courier New"/>
              </a:rPr>
              <a:t>ollama</a:t>
            </a:r>
            <a:endParaRPr lang="en-US" sz="900" b="0" i="0">
              <a:solidFill>
                <a:srgbClr val="7EC699"/>
              </a:solidFill>
              <a:latin typeface="Courier New"/>
              <a:ea typeface="Courier New"/>
              <a:cs typeface="Courier New"/>
            </a:endParaRPr>
          </a:p>
          <a:p>
            <a:pPr algn="l">
              <a:lnSpc>
                <a:spcPct val="100000"/>
              </a:lnSpc>
              <a:spcBef>
                <a:spcPts val="0"/>
              </a:spcBef>
              <a:spcAft>
                <a:spcPts val="0"/>
              </a:spcAft>
              <a:buNone/>
            </a:pPr>
            <a:r>
              <a:rPr lang="en-US" sz="900" b="0" i="0">
                <a:solidFill>
                  <a:srgbClr val="FFCC80"/>
                </a:solidFill>
                <a:latin typeface="Courier New"/>
                <a:ea typeface="Courier New"/>
                <a:cs typeface="Courier New"/>
              </a:rPr>
              <a:t>  SKIP  API keys                     (source scripts/api_keys.sh)</a:t>
            </a:r>
          </a:p>
          <a:p>
            <a:pPr algn="l">
              <a:lnSpc>
                <a:spcPct val="100000"/>
              </a:lnSpc>
              <a:spcBef>
                <a:spcPts val="0"/>
              </a:spcBef>
              <a:spcAft>
                <a:spcPts val="0"/>
              </a:spcAft>
              <a:buNone/>
            </a:pPr>
            <a:r>
              <a:rPr lang="en-US" sz="900" b="0" i="0">
                <a:solidFill>
                  <a:srgbClr val="FFFFFF"/>
                </a:solidFill>
                <a:latin typeface="Courier New"/>
                <a:ea typeface="Courier New"/>
                <a:cs typeface="Courier New"/>
              </a:rPr>
              <a:t>3. EDA tools on a known-good design</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Icarus simulation (p11, p8)  RTL simulation, reference TBs ...</a:t>
            </a:r>
          </a:p>
          <a:p>
            <a:pPr algn="l">
              <a:lnSpc>
                <a:spcPct val="100000"/>
              </a:lnSpc>
              <a:spcBef>
                <a:spcPts val="0"/>
              </a:spcBef>
              <a:spcAft>
                <a:spcPts val="0"/>
              </a:spcAft>
              <a:buNone/>
            </a:pPr>
            <a:r>
              <a:rPr lang="en-US" sz="900" b="0" i="0">
                <a:solidFill>
                  <a:srgbClr val="7EC699"/>
                </a:solidFill>
                <a:latin typeface="Courier New"/>
                <a:ea typeface="Courier New"/>
                <a:cs typeface="Courier New"/>
              </a:rPr>
              <a:t>  PASS  </a:t>
            </a:r>
            <a:r>
              <a:rPr lang="en-US" sz="900" b="0" i="0" err="1">
                <a:solidFill>
                  <a:srgbClr val="7EC699"/>
                </a:solidFill>
                <a:latin typeface="Courier New"/>
                <a:ea typeface="Courier New"/>
                <a:cs typeface="Courier New"/>
              </a:rPr>
              <a:t>Yosys</a:t>
            </a:r>
            <a:r>
              <a:rPr lang="en-US" sz="900" b="0" i="0">
                <a:solidFill>
                  <a:srgbClr val="7EC699"/>
                </a:solidFill>
                <a:latin typeface="Courier New"/>
                <a:ea typeface="Courier New"/>
                <a:cs typeface="Courier New"/>
              </a:rPr>
              <a:t> synthesis + gate-level sim (p11)</a:t>
            </a:r>
          </a:p>
          <a:p>
            <a:pPr algn="l">
              <a:lnSpc>
                <a:spcPct val="100000"/>
              </a:lnSpc>
              <a:spcBef>
                <a:spcPts val="0"/>
              </a:spcBef>
              <a:spcAft>
                <a:spcPts val="0"/>
              </a:spcAft>
              <a:buNone/>
            </a:pPr>
            <a:r>
              <a:rPr lang="en-US" sz="900" b="0" i="0">
                <a:solidFill>
                  <a:srgbClr val="FFFFFF"/>
                </a:solidFill>
                <a:latin typeface="Courier New"/>
                <a:ea typeface="Courier New"/>
                <a:cs typeface="Courier New"/>
              </a:rPr>
              <a:t>Summary: 13 passed, 0 failed, 3 skipped</a:t>
            </a:r>
          </a:p>
        </p:txBody>
      </p:sp>
      <p:sp>
        <p:nvSpPr>
          <p:cNvPr id="1522" name="text 1522"/>
          <p:cNvSpPr txBox="1"/>
          <p:nvPr/>
        </p:nvSpPr>
        <p:spPr>
          <a:xfrm>
            <a:off x="457200" y="3959352"/>
            <a:ext cx="8229600" cy="228600"/>
          </a:xfrm>
          <a:prstGeom prst="rect">
            <a:avLst/>
          </a:prstGeom>
          <a:noFill/>
          <a:ln>
            <a:noFill/>
          </a:ln>
        </p:spPr>
        <p:txBody>
          <a:bodyPr wrap="square" lIns="18288" tIns="18288" rIns="18288" bIns="18288" anchor="t">
            <a:noAutofit/>
          </a:bodyPr>
          <a:lstStyle/>
          <a:p>
            <a:pPr algn="r">
              <a:spcBef>
                <a:spcPts val="0"/>
              </a:spcBef>
              <a:spcAft>
                <a:spcPts val="0"/>
              </a:spcAft>
              <a:buNone/>
            </a:pPr>
            <a:r>
              <a:rPr lang="en-US" sz="850" b="0" i="1">
                <a:solidFill>
                  <a:srgbClr val="5D6C7B"/>
                </a:solidFill>
                <a:latin typeface="Calibri"/>
                <a:ea typeface="Calibri"/>
                <a:cs typeface="Calibri"/>
              </a:rPr>
              <a:t>illustrative output</a:t>
            </a:r>
          </a:p>
        </p:txBody>
      </p:sp>
      <p:sp>
        <p:nvSpPr>
          <p:cNvPr id="1523" name="shape 1523"/>
          <p:cNvSpPr/>
          <p:nvPr/>
        </p:nvSpPr>
        <p:spPr>
          <a:xfrm>
            <a:off x="457200" y="4343400"/>
            <a:ext cx="2651760" cy="1097280"/>
          </a:xfrm>
          <a:prstGeom prst="roundRect">
            <a:avLst>
              <a:gd name="adj" fmla="val 10000"/>
            </a:avLst>
          </a:prstGeom>
          <a:solidFill>
            <a:srgbClr val="F3F6FA"/>
          </a:solidFill>
          <a:ln>
            <a:noFill/>
          </a:ln>
        </p:spPr>
        <p:txBody>
          <a:bodyPr wrap="square" lIns="91440" tIns="91440" rIns="91440" bIns="91440" anchor="ctr">
            <a:noAutofit/>
          </a:bodyPr>
          <a:lstStyle/>
          <a:p>
            <a:pPr algn="ctr">
              <a:spcBef>
                <a:spcPts val="0"/>
              </a:spcBef>
              <a:spcAft>
                <a:spcPts val="200"/>
              </a:spcAft>
              <a:buNone/>
            </a:pPr>
            <a:r>
              <a:rPr lang="en-US" sz="1150" b="1" i="0">
                <a:solidFill>
                  <a:srgbClr val="2E7D4F"/>
                </a:solidFill>
                <a:latin typeface="Calibri"/>
                <a:ea typeface="Calibri"/>
                <a:cs typeface="Calibri"/>
              </a:rPr>
              <a:t>All PASS (SKIP is fine)</a:t>
            </a:r>
          </a:p>
          <a:p>
            <a:pPr algn="ctr">
              <a:spcBef>
                <a:spcPts val="0"/>
              </a:spcBef>
              <a:spcAft>
                <a:spcPts val="0"/>
              </a:spcAft>
              <a:buNone/>
            </a:pPr>
            <a:r>
              <a:rPr lang="en-US" sz="1000" b="0" i="0">
                <a:solidFill>
                  <a:srgbClr val="0E2745"/>
                </a:solidFill>
                <a:latin typeface="Calibri"/>
                <a:ea typeface="Calibri"/>
                <a:cs typeface="Calibri"/>
              </a:rPr>
              <a:t>you are ready for every part</a:t>
            </a:r>
          </a:p>
        </p:txBody>
      </p:sp>
      <p:sp>
        <p:nvSpPr>
          <p:cNvPr id="1524" name="shape 1524"/>
          <p:cNvSpPr/>
          <p:nvPr/>
        </p:nvSpPr>
        <p:spPr>
          <a:xfrm>
            <a:off x="3227832" y="4343400"/>
            <a:ext cx="2651760" cy="1097280"/>
          </a:xfrm>
          <a:prstGeom prst="roundRect">
            <a:avLst>
              <a:gd name="adj" fmla="val 10000"/>
            </a:avLst>
          </a:prstGeom>
          <a:solidFill>
            <a:srgbClr val="F3F6FA"/>
          </a:solidFill>
          <a:ln>
            <a:noFill/>
          </a:ln>
        </p:spPr>
        <p:txBody>
          <a:bodyPr wrap="square" lIns="91440" tIns="91440" rIns="91440" bIns="91440" anchor="ctr">
            <a:noAutofit/>
          </a:bodyPr>
          <a:lstStyle/>
          <a:p>
            <a:pPr algn="ctr">
              <a:spcBef>
                <a:spcPts val="0"/>
              </a:spcBef>
              <a:spcAft>
                <a:spcPts val="200"/>
              </a:spcAft>
              <a:buNone/>
            </a:pPr>
            <a:r>
              <a:rPr lang="en-US" sz="1150" b="1" i="0">
                <a:solidFill>
                  <a:srgbClr val="B91F2D"/>
                </a:solidFill>
                <a:latin typeface="Calibri"/>
                <a:ea typeface="Calibri"/>
                <a:cs typeface="Calibri"/>
              </a:rPr>
              <a:t>A FAIL</a:t>
            </a:r>
          </a:p>
          <a:p>
            <a:pPr algn="ctr">
              <a:spcBef>
                <a:spcPts val="0"/>
              </a:spcBef>
              <a:spcAft>
                <a:spcPts val="0"/>
              </a:spcAft>
              <a:buNone/>
            </a:pPr>
            <a:r>
              <a:rPr lang="en-US" sz="1000" b="0" i="0">
                <a:solidFill>
                  <a:srgbClr val="0E2745"/>
                </a:solidFill>
                <a:latin typeface="Calibri"/>
                <a:ea typeface="Calibri"/>
                <a:cs typeface="Calibri"/>
              </a:rPr>
              <a:t>read its last words, or see 'Stuck? Quick fixes'</a:t>
            </a:r>
          </a:p>
        </p:txBody>
      </p:sp>
      <p:sp>
        <p:nvSpPr>
          <p:cNvPr id="1525" name="shape 1525"/>
          <p:cNvSpPr/>
          <p:nvPr/>
        </p:nvSpPr>
        <p:spPr>
          <a:xfrm>
            <a:off x="5998464" y="4343400"/>
            <a:ext cx="2651760" cy="1097280"/>
          </a:xfrm>
          <a:prstGeom prst="roundRect">
            <a:avLst>
              <a:gd name="adj" fmla="val 10000"/>
            </a:avLst>
          </a:prstGeom>
          <a:solidFill>
            <a:srgbClr val="F3F6FA"/>
          </a:solidFill>
          <a:ln>
            <a:noFill/>
          </a:ln>
        </p:spPr>
        <p:txBody>
          <a:bodyPr wrap="square" lIns="91440" tIns="91440" rIns="91440" bIns="91440" anchor="ctr">
            <a:noAutofit/>
          </a:bodyPr>
          <a:lstStyle/>
          <a:p>
            <a:pPr algn="ctr">
              <a:spcBef>
                <a:spcPts val="0"/>
              </a:spcBef>
              <a:spcAft>
                <a:spcPts val="200"/>
              </a:spcAft>
              <a:buNone/>
            </a:pPr>
            <a:r>
              <a:rPr lang="en-US" sz="1150" b="1" i="0">
                <a:solidFill>
                  <a:srgbClr val="0E2745"/>
                </a:solidFill>
                <a:latin typeface="Calibri"/>
                <a:ea typeface="Calibri"/>
                <a:cs typeface="Calibri"/>
              </a:rPr>
              <a:t>Instructors</a:t>
            </a:r>
          </a:p>
          <a:p>
            <a:pPr algn="ctr">
              <a:spcBef>
                <a:spcPts val="0"/>
              </a:spcBef>
              <a:spcAft>
                <a:spcPts val="0"/>
              </a:spcAft>
              <a:buNone/>
            </a:pPr>
            <a:r>
              <a:rPr lang="en-US" sz="1000" b="0" i="0">
                <a:solidFill>
                  <a:srgbClr val="0E2745"/>
                </a:solidFill>
                <a:latin typeface="Calibri"/>
                <a:ea typeface="Calibri"/>
                <a:cs typeface="Calibri"/>
              </a:rPr>
              <a:t>run it without --quick (full OpenROAD flow) and with --llm</a:t>
            </a:r>
          </a:p>
        </p:txBody>
      </p:sp>
      <p:sp>
        <p:nvSpPr>
          <p:cNvPr id="1526" name="text 1526"/>
          <p:cNvSpPr txBox="1"/>
          <p:nvPr/>
        </p:nvSpPr>
        <p:spPr>
          <a:xfrm>
            <a:off x="456765" y="5683758"/>
            <a:ext cx="8229600" cy="36576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100" b="1" i="0">
                <a:solidFill>
                  <a:srgbClr val="B91F2D"/>
                </a:solidFill>
                <a:latin typeface="Calibri"/>
                <a:ea typeface="Calibri"/>
                <a:cs typeface="Calibri"/>
              </a:rPr>
              <a:t>Please let us know if you get a FAIL </a:t>
            </a:r>
            <a:r>
              <a:rPr lang="en-US" sz="1100" b="1">
                <a:solidFill>
                  <a:srgbClr val="B91F2D"/>
                </a:solidFill>
                <a:ea typeface="Calibri"/>
                <a:cs typeface="Calibri"/>
              </a:rPr>
              <a:t>here  </a:t>
            </a:r>
            <a:r>
              <a:rPr lang="en-US" sz="1400" b="1">
                <a:solidFill>
                  <a:srgbClr val="B91F2D"/>
                </a:solidFill>
                <a:ea typeface="Calibri"/>
                <a:cs typeface="Calibri"/>
              </a:rPr>
              <a:t>😊</a:t>
            </a:r>
            <a:endParaRPr lang="en-US" sz="1400" b="1" i="0">
              <a:solidFill>
                <a:srgbClr val="B91F2D"/>
              </a:solidFill>
              <a:latin typeface="Calibri"/>
              <a:ea typeface="Calibri"/>
              <a:cs typeface="Calibri"/>
            </a:endParaRPr>
          </a:p>
        </p:txBody>
      </p:sp>
      <p:sp>
        <p:nvSpPr>
          <p:cNvPr id="5" name="Rectangle 4">
            <a:extLst>
              <a:ext uri="{FF2B5EF4-FFF2-40B4-BE49-F238E27FC236}">
                <a16:creationId xmlns:a16="http://schemas.microsoft.com/office/drawing/2014/main" id="{4408B168-65DE-D2EA-9F15-6E2B03A759EB}"/>
              </a:ext>
            </a:extLst>
          </p:cNvPr>
          <p:cNvSpPr/>
          <p:nvPr/>
        </p:nvSpPr>
        <p:spPr>
          <a:xfrm>
            <a:off x="567476" y="1557527"/>
            <a:ext cx="4004524" cy="16421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pic>
        <p:nvPicPr>
          <p:cNvPr id="6" name="Graphic 5">
            <a:extLst>
              <a:ext uri="{FF2B5EF4-FFF2-40B4-BE49-F238E27FC236}">
                <a16:creationId xmlns:a16="http://schemas.microsoft.com/office/drawing/2014/main" id="{F1D17B35-5D22-B608-491D-920E9B2347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800" y="196850"/>
            <a:ext cx="514350" cy="647700"/>
          </a:xfrm>
          <a:prstGeom prst="rect">
            <a:avLst/>
          </a:prstGeom>
        </p:spPr>
      </p:pic>
    </p:spTree>
    <p:extLst>
      <p:ext uri="{BB962C8B-B14F-4D97-AF65-F5344CB8AC3E}">
        <p14:creationId xmlns:p14="http://schemas.microsoft.com/office/powerpoint/2010/main" val="496440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AC06-B90A-4184-30ED-E81624B3900B}"/>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4CE0EA01-D3CD-2D68-FC23-1C5E7D01B88C}"/>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9E9D4206-C6CC-7C33-9ABC-9B2CE58DE79B}"/>
              </a:ext>
            </a:extLst>
          </p:cNvPr>
          <p:cNvSpPr>
            <a:spLocks noGrp="1"/>
          </p:cNvSpPr>
          <p:nvPr/>
        </p:nvSpPr>
        <p:spPr>
          <a:xfrm>
            <a:off x="0" y="6734735"/>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BEFB5FED-2A3E-79FD-3E92-4042EC789AAF}"/>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Models used in this tutorial (</a:t>
            </a:r>
            <a:r>
              <a:rPr lang="en-US" b="1" err="1"/>
              <a:t>config.yaml</a:t>
            </a:r>
            <a:r>
              <a:rPr lang="en-US" b="1"/>
              <a: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73C2A1D-CB0F-5D32-B351-5B4E75AAFF0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AAA2F26C-1B0F-6A5C-FB45-E1F0A988B387}"/>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18</a:t>
            </a:fld>
            <a:endParaRPr sz="750" b="0">
              <a:solidFill>
                <a:srgbClr val="5B6573"/>
              </a:solidFill>
              <a:latin typeface="Calibri"/>
              <a:ea typeface="Calibri"/>
              <a:cs typeface="Calibri"/>
            </a:endParaRPr>
          </a:p>
        </p:txBody>
      </p:sp>
      <p:pic>
        <p:nvPicPr>
          <p:cNvPr id="9" name="Picture 8">
            <a:extLst>
              <a:ext uri="{FF2B5EF4-FFF2-40B4-BE49-F238E27FC236}">
                <a16:creationId xmlns:a16="http://schemas.microsoft.com/office/drawing/2014/main" id="{409B4466-F2D1-EC06-3D16-9B24CC830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250" y="771525"/>
            <a:ext cx="4877146" cy="5930308"/>
          </a:xfrm>
          <a:prstGeom prst="rect">
            <a:avLst/>
          </a:prstGeom>
        </p:spPr>
      </p:pic>
      <p:sp>
        <p:nvSpPr>
          <p:cNvPr id="10" name="Rounded Rectangle 9">
            <a:extLst>
              <a:ext uri="{FF2B5EF4-FFF2-40B4-BE49-F238E27FC236}">
                <a16:creationId xmlns:a16="http://schemas.microsoft.com/office/drawing/2014/main" id="{1DC64410-67D3-5AD9-495D-C92CA2B16EE5}"/>
              </a:ext>
            </a:extLst>
          </p:cNvPr>
          <p:cNvSpPr>
            <a:spLocks noGrp="1"/>
          </p:cNvSpPr>
          <p:nvPr/>
        </p:nvSpPr>
        <p:spPr>
          <a:xfrm>
            <a:off x="4572001" y="2963271"/>
            <a:ext cx="3250276" cy="806311"/>
          </a:xfrm>
          <a:prstGeom prst="roundRect">
            <a:avLst>
              <a:gd name="adj" fmla="val 7767"/>
            </a:avLst>
          </a:prstGeom>
          <a:solidFill>
            <a:srgbClr val="0E2745"/>
          </a:solidFill>
          <a:ln w="0">
            <a:noFill/>
          </a:ln>
        </p:spPr>
        <p:txBody>
          <a:bodyPr/>
          <a:lstStyle/>
          <a:p>
            <a:endParaRPr lang="en-GR"/>
          </a:p>
        </p:txBody>
      </p:sp>
      <p:sp>
        <p:nvSpPr>
          <p:cNvPr id="11" name="Rectangle 10">
            <a:extLst>
              <a:ext uri="{FF2B5EF4-FFF2-40B4-BE49-F238E27FC236}">
                <a16:creationId xmlns:a16="http://schemas.microsoft.com/office/drawing/2014/main" id="{B2442361-DC48-9DDC-86AD-D98AC38267C9}"/>
              </a:ext>
            </a:extLst>
          </p:cNvPr>
          <p:cNvSpPr>
            <a:spLocks noGrp="1"/>
          </p:cNvSpPr>
          <p:nvPr/>
        </p:nvSpPr>
        <p:spPr>
          <a:xfrm>
            <a:off x="4572000" y="3099824"/>
            <a:ext cx="3377114" cy="581025"/>
          </a:xfrm>
          <a:prstGeom prst="rect">
            <a:avLst/>
          </a:prstGeom>
          <a:noFill/>
          <a:ln w="0">
            <a:noFill/>
          </a:ln>
        </p:spPr>
        <p:txBody>
          <a:bodyPr anchor="ctr">
            <a:normAutofit fontScale="97348"/>
          </a:bodyPr>
          <a:lstStyle/>
          <a:p>
            <a:pPr algn="ctr">
              <a:defRPr sz="1650" b="1">
                <a:solidFill>
                  <a:srgbClr val="FFFFFF"/>
                </a:solidFill>
                <a:latin typeface="Calibri"/>
                <a:ea typeface="Calibri"/>
                <a:cs typeface="Calibri"/>
              </a:defRPr>
            </a:pPr>
            <a:r>
              <a:rPr lang="en-US" sz="1650" b="1">
                <a:solidFill>
                  <a:srgbClr val="FFFFFF"/>
                </a:solidFill>
                <a:latin typeface="Calibri"/>
                <a:ea typeface="Calibri"/>
                <a:cs typeface="Calibri"/>
              </a:rPr>
              <a:t>Keys are read from </a:t>
            </a:r>
            <a:r>
              <a:rPr lang="en-US" sz="1650" b="1">
                <a:solidFill>
                  <a:srgbClr val="FFC000"/>
                </a:solidFill>
                <a:latin typeface="Calibri"/>
                <a:ea typeface="Calibri"/>
                <a:cs typeface="Calibri"/>
              </a:rPr>
              <a:t>api_keys.sh</a:t>
            </a:r>
            <a:r>
              <a:rPr lang="en-US" sz="1650" b="1">
                <a:solidFill>
                  <a:srgbClr val="FFFFFF"/>
                </a:solidFill>
                <a:latin typeface="Calibri"/>
                <a:ea typeface="Calibri"/>
                <a:cs typeface="Calibri"/>
              </a:rPr>
              <a:t> – don’t type in the config</a:t>
            </a:r>
            <a:endParaRPr lang="en-US" sz="1650" b="1">
              <a:solidFill>
                <a:srgbClr val="FFC000"/>
              </a:solidFill>
              <a:latin typeface="Calibri"/>
              <a:ea typeface="Calibri"/>
              <a:cs typeface="Calibri"/>
            </a:endParaRPr>
          </a:p>
        </p:txBody>
      </p:sp>
      <p:sp>
        <p:nvSpPr>
          <p:cNvPr id="12" name="Rounded Rectangle 11">
            <a:extLst>
              <a:ext uri="{FF2B5EF4-FFF2-40B4-BE49-F238E27FC236}">
                <a16:creationId xmlns:a16="http://schemas.microsoft.com/office/drawing/2014/main" id="{2D8DF887-938E-D0E3-76C8-0DF237CA8808}"/>
              </a:ext>
            </a:extLst>
          </p:cNvPr>
          <p:cNvSpPr>
            <a:spLocks noGrp="1"/>
          </p:cNvSpPr>
          <p:nvPr/>
        </p:nvSpPr>
        <p:spPr>
          <a:xfrm>
            <a:off x="5212011" y="1122283"/>
            <a:ext cx="3512889" cy="931458"/>
          </a:xfrm>
          <a:prstGeom prst="roundRect">
            <a:avLst>
              <a:gd name="adj" fmla="val 7767"/>
            </a:avLst>
          </a:prstGeom>
          <a:solidFill>
            <a:srgbClr val="0E2745"/>
          </a:solidFill>
          <a:ln w="0">
            <a:noFill/>
          </a:ln>
        </p:spPr>
        <p:txBody>
          <a:bodyPr/>
          <a:lstStyle/>
          <a:p>
            <a:endParaRPr lang="en-GR"/>
          </a:p>
        </p:txBody>
      </p:sp>
      <p:sp>
        <p:nvSpPr>
          <p:cNvPr id="13" name="Rectangle 12">
            <a:extLst>
              <a:ext uri="{FF2B5EF4-FFF2-40B4-BE49-F238E27FC236}">
                <a16:creationId xmlns:a16="http://schemas.microsoft.com/office/drawing/2014/main" id="{FC4FA6B1-A1FB-6075-CBEF-12B1CA7BC70E}"/>
              </a:ext>
            </a:extLst>
          </p:cNvPr>
          <p:cNvSpPr>
            <a:spLocks noGrp="1"/>
          </p:cNvSpPr>
          <p:nvPr/>
        </p:nvSpPr>
        <p:spPr>
          <a:xfrm>
            <a:off x="5212012" y="1272690"/>
            <a:ext cx="3377114" cy="581025"/>
          </a:xfrm>
          <a:prstGeom prst="rect">
            <a:avLst/>
          </a:prstGeom>
          <a:noFill/>
          <a:ln w="0">
            <a:noFill/>
          </a:ln>
        </p:spPr>
        <p:txBody>
          <a:bodyPr anchor="ctr">
            <a:normAutofit fontScale="97348"/>
          </a:bodyPr>
          <a:lstStyle/>
          <a:p>
            <a:pPr algn="ctr">
              <a:defRPr sz="1650" b="1">
                <a:solidFill>
                  <a:srgbClr val="FFFFFF"/>
                </a:solidFill>
                <a:latin typeface="Calibri"/>
                <a:ea typeface="Calibri"/>
                <a:cs typeface="Calibri"/>
              </a:defRPr>
            </a:pPr>
            <a:r>
              <a:rPr lang="en-US" sz="1650" b="1">
                <a:solidFill>
                  <a:srgbClr val="FFFFFF"/>
                </a:solidFill>
                <a:latin typeface="Calibri"/>
                <a:ea typeface="Calibri"/>
                <a:cs typeface="Calibri"/>
              </a:rPr>
              <a:t>Change the target model by setting the name on the </a:t>
            </a:r>
            <a:r>
              <a:rPr lang="en-US" sz="1650" b="1">
                <a:solidFill>
                  <a:srgbClr val="FFC000"/>
                </a:solidFill>
                <a:latin typeface="Calibri"/>
                <a:ea typeface="Calibri"/>
                <a:cs typeface="Calibri"/>
              </a:rPr>
              <a:t>active profile</a:t>
            </a:r>
          </a:p>
        </p:txBody>
      </p:sp>
      <p:sp>
        <p:nvSpPr>
          <p:cNvPr id="14" name="Rounded Rectangle 13">
            <a:extLst>
              <a:ext uri="{FF2B5EF4-FFF2-40B4-BE49-F238E27FC236}">
                <a16:creationId xmlns:a16="http://schemas.microsoft.com/office/drawing/2014/main" id="{392ED66D-E0B8-3221-57D6-0FAD3FB52537}"/>
              </a:ext>
            </a:extLst>
          </p:cNvPr>
          <p:cNvSpPr>
            <a:spLocks noGrp="1"/>
          </p:cNvSpPr>
          <p:nvPr/>
        </p:nvSpPr>
        <p:spPr>
          <a:xfrm>
            <a:off x="4274267" y="5585310"/>
            <a:ext cx="3764834" cy="581025"/>
          </a:xfrm>
          <a:prstGeom prst="roundRect">
            <a:avLst>
              <a:gd name="adj" fmla="val 7767"/>
            </a:avLst>
          </a:prstGeom>
          <a:solidFill>
            <a:srgbClr val="0E2745"/>
          </a:solidFill>
          <a:ln w="0">
            <a:noFill/>
          </a:ln>
        </p:spPr>
        <p:txBody>
          <a:bodyPr/>
          <a:lstStyle/>
          <a:p>
            <a:endParaRPr lang="en-GR"/>
          </a:p>
        </p:txBody>
      </p:sp>
      <p:sp>
        <p:nvSpPr>
          <p:cNvPr id="15" name="Rectangle 14">
            <a:extLst>
              <a:ext uri="{FF2B5EF4-FFF2-40B4-BE49-F238E27FC236}">
                <a16:creationId xmlns:a16="http://schemas.microsoft.com/office/drawing/2014/main" id="{ACA4EC86-94B4-8209-DAB9-EEC07DE6DDA8}"/>
              </a:ext>
            </a:extLst>
          </p:cNvPr>
          <p:cNvSpPr>
            <a:spLocks noGrp="1"/>
          </p:cNvSpPr>
          <p:nvPr/>
        </p:nvSpPr>
        <p:spPr>
          <a:xfrm>
            <a:off x="4274265" y="5585310"/>
            <a:ext cx="3764835" cy="581025"/>
          </a:xfrm>
          <a:prstGeom prst="rect">
            <a:avLst/>
          </a:prstGeom>
          <a:noFill/>
          <a:ln w="0">
            <a:noFill/>
          </a:ln>
        </p:spPr>
        <p:txBody>
          <a:bodyPr anchor="ctr">
            <a:normAutofit fontScale="97348"/>
          </a:bodyPr>
          <a:lstStyle/>
          <a:p>
            <a:pPr algn="ctr">
              <a:defRPr sz="1650" b="1">
                <a:solidFill>
                  <a:srgbClr val="FFFFFF"/>
                </a:solidFill>
                <a:latin typeface="Calibri"/>
                <a:ea typeface="Calibri"/>
                <a:cs typeface="Calibri"/>
              </a:defRPr>
            </a:pPr>
            <a:r>
              <a:rPr lang="en-US" sz="1650" b="1">
                <a:solidFill>
                  <a:srgbClr val="FFFFFF"/>
                </a:solidFill>
                <a:latin typeface="Calibri"/>
                <a:ea typeface="Calibri"/>
                <a:cs typeface="Calibri"/>
              </a:rPr>
              <a:t>You can use your </a:t>
            </a:r>
            <a:r>
              <a:rPr lang="en-US" sz="1650" b="1">
                <a:solidFill>
                  <a:srgbClr val="FFC000"/>
                </a:solidFill>
                <a:latin typeface="Calibri"/>
                <a:ea typeface="Calibri"/>
                <a:cs typeface="Calibri"/>
              </a:rPr>
              <a:t>own</a:t>
            </a:r>
            <a:r>
              <a:rPr lang="en-US" sz="1650" b="1">
                <a:solidFill>
                  <a:srgbClr val="FFFFFF"/>
                </a:solidFill>
                <a:latin typeface="Calibri"/>
                <a:ea typeface="Calibri"/>
                <a:cs typeface="Calibri"/>
              </a:rPr>
              <a:t> model if you wish</a:t>
            </a:r>
            <a:endParaRPr lang="en-US" sz="1650" b="1">
              <a:solidFill>
                <a:srgbClr val="FFC000"/>
              </a:solidFill>
              <a:latin typeface="Calibri"/>
              <a:ea typeface="Calibri"/>
              <a:cs typeface="Calibri"/>
            </a:endParaRPr>
          </a:p>
        </p:txBody>
      </p:sp>
      <p:sp>
        <p:nvSpPr>
          <p:cNvPr id="5" name="shape 1343">
            <a:extLst>
              <a:ext uri="{FF2B5EF4-FFF2-40B4-BE49-F238E27FC236}">
                <a16:creationId xmlns:a16="http://schemas.microsoft.com/office/drawing/2014/main" id="{C2533372-CCE3-7795-FA58-1128EEFE8999}"/>
              </a:ext>
            </a:extLst>
          </p:cNvPr>
          <p:cNvSpPr/>
          <p:nvPr/>
        </p:nvSpPr>
        <p:spPr>
          <a:xfrm>
            <a:off x="4027714" y="4595674"/>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2E7D4F"/>
                </a:solidFill>
                <a:latin typeface="Courier New"/>
                <a:ea typeface="Courier New"/>
                <a:cs typeface="Courier New"/>
              </a:rPr>
              <a:t>ollama-llama3.1</a:t>
            </a:r>
          </a:p>
          <a:p>
            <a:pPr algn="ctr">
              <a:spcBef>
                <a:spcPts val="0"/>
              </a:spcBef>
              <a:spcAft>
                <a:spcPts val="0"/>
              </a:spcAft>
              <a:buNone/>
            </a:pPr>
            <a:r>
              <a:rPr lang="en-US" sz="850" b="0" i="0">
                <a:solidFill>
                  <a:srgbClr val="5D6C7B"/>
                </a:solidFill>
                <a:latin typeface="Calibri"/>
                <a:ea typeface="Calibri"/>
                <a:cs typeface="Calibri"/>
              </a:rPr>
              <a:t>local, free</a:t>
            </a:r>
          </a:p>
        </p:txBody>
      </p:sp>
      <p:sp>
        <p:nvSpPr>
          <p:cNvPr id="6" name="shape 1344">
            <a:extLst>
              <a:ext uri="{FF2B5EF4-FFF2-40B4-BE49-F238E27FC236}">
                <a16:creationId xmlns:a16="http://schemas.microsoft.com/office/drawing/2014/main" id="{F6E8F7B6-5F0C-5C65-201D-76CCAEA875E8}"/>
              </a:ext>
            </a:extLst>
          </p:cNvPr>
          <p:cNvSpPr/>
          <p:nvPr/>
        </p:nvSpPr>
        <p:spPr>
          <a:xfrm>
            <a:off x="5417602" y="4595674"/>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4F81BD"/>
                </a:solidFill>
                <a:latin typeface="Courier New"/>
                <a:ea typeface="Courier New"/>
                <a:cs typeface="Courier New"/>
              </a:rPr>
              <a:t>gemini_lite</a:t>
            </a:r>
          </a:p>
          <a:p>
            <a:pPr algn="ctr">
              <a:spcBef>
                <a:spcPts val="0"/>
              </a:spcBef>
              <a:spcAft>
                <a:spcPts val="0"/>
              </a:spcAft>
              <a:buNone/>
            </a:pPr>
            <a:r>
              <a:rPr lang="en-US" sz="850" b="0" i="0">
                <a:solidFill>
                  <a:srgbClr val="5D6C7B"/>
                </a:solidFill>
                <a:latin typeface="Calibri"/>
                <a:ea typeface="Calibri"/>
                <a:cs typeface="Calibri"/>
              </a:rPr>
              <a:t>cloud, cheap</a:t>
            </a:r>
          </a:p>
        </p:txBody>
      </p:sp>
      <p:sp>
        <p:nvSpPr>
          <p:cNvPr id="7" name="shape 1345">
            <a:extLst>
              <a:ext uri="{FF2B5EF4-FFF2-40B4-BE49-F238E27FC236}">
                <a16:creationId xmlns:a16="http://schemas.microsoft.com/office/drawing/2014/main" id="{C1DC3A11-136A-1A0C-DCFA-AB7EA58A44A9}"/>
              </a:ext>
            </a:extLst>
          </p:cNvPr>
          <p:cNvSpPr/>
          <p:nvPr/>
        </p:nvSpPr>
        <p:spPr>
          <a:xfrm>
            <a:off x="6807490" y="4595674"/>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4F81BD"/>
                </a:solidFill>
                <a:latin typeface="Courier New"/>
                <a:ea typeface="Courier New"/>
                <a:cs typeface="Courier New"/>
              </a:rPr>
              <a:t>gemini_preview</a:t>
            </a:r>
          </a:p>
          <a:p>
            <a:pPr algn="ctr">
              <a:spcBef>
                <a:spcPts val="0"/>
              </a:spcBef>
              <a:spcAft>
                <a:spcPts val="0"/>
              </a:spcAft>
              <a:buNone/>
            </a:pPr>
            <a:r>
              <a:rPr lang="en-US" sz="850" b="0" i="0">
                <a:solidFill>
                  <a:srgbClr val="5D6C7B"/>
                </a:solidFill>
                <a:latin typeface="Calibri"/>
                <a:ea typeface="Calibri"/>
                <a:cs typeface="Calibri"/>
              </a:rPr>
              <a:t>cloud, stronger</a:t>
            </a:r>
          </a:p>
        </p:txBody>
      </p:sp>
      <p:sp>
        <p:nvSpPr>
          <p:cNvPr id="16" name="TextBox 15">
            <a:extLst>
              <a:ext uri="{FF2B5EF4-FFF2-40B4-BE49-F238E27FC236}">
                <a16:creationId xmlns:a16="http://schemas.microsoft.com/office/drawing/2014/main" id="{4D53641A-E58A-1CE1-2BC1-18162C9A2040}"/>
              </a:ext>
            </a:extLst>
          </p:cNvPr>
          <p:cNvSpPr txBox="1"/>
          <p:nvPr/>
        </p:nvSpPr>
        <p:spPr>
          <a:xfrm>
            <a:off x="4521490" y="4285773"/>
            <a:ext cx="4572000" cy="276999"/>
          </a:xfrm>
          <a:prstGeom prst="rect">
            <a:avLst/>
          </a:prstGeom>
          <a:noFill/>
        </p:spPr>
        <p:txBody>
          <a:bodyPr wrap="square">
            <a:spAutoFit/>
          </a:bodyPr>
          <a:lstStyle/>
          <a:p>
            <a:r>
              <a:rPr lang="en-US" sz="1200" i="1">
                <a:solidFill>
                  <a:srgbClr val="5D6C7B"/>
                </a:solidFill>
                <a:latin typeface="Calibri"/>
                <a:cs typeface="Calibri"/>
              </a:rPr>
              <a:t>The  models used in this tutorial  (all of them free)</a:t>
            </a:r>
            <a:endParaRPr lang="en-GR" sz="1200"/>
          </a:p>
        </p:txBody>
      </p:sp>
    </p:spTree>
    <p:extLst>
      <p:ext uri="{BB962C8B-B14F-4D97-AF65-F5344CB8AC3E}">
        <p14:creationId xmlns:p14="http://schemas.microsoft.com/office/powerpoint/2010/main" val="401191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Switching models by changing one line</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19</a:t>
            </a:fld>
            <a:endParaRPr sz="750" b="0">
              <a:solidFill>
                <a:srgbClr val="5B6573"/>
              </a:solidFill>
              <a:latin typeface="Calibri"/>
              <a:ea typeface="Calibri"/>
              <a:cs typeface="Calibri"/>
            </a:endParaRPr>
          </a:p>
        </p:txBody>
      </p:sp>
      <p:sp>
        <p:nvSpPr>
          <p:cNvPr id="1330" name="shape 1330"/>
          <p:cNvSpPr/>
          <p:nvPr/>
        </p:nvSpPr>
        <p:spPr>
          <a:xfrm>
            <a:off x="457200" y="1024128"/>
            <a:ext cx="8229600" cy="1188720"/>
          </a:xfrm>
          <a:prstGeom prst="roundRect">
            <a:avLst>
              <a:gd name="adj" fmla="val 8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31" name="shape 1331"/>
          <p:cNvSpPr/>
          <p:nvPr/>
        </p:nvSpPr>
        <p:spPr>
          <a:xfrm>
            <a:off x="594360" y="1408176"/>
            <a:ext cx="420624" cy="420624"/>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332" name="text 1332"/>
          <p:cNvSpPr txBox="1"/>
          <p:nvPr/>
        </p:nvSpPr>
        <p:spPr>
          <a:xfrm>
            <a:off x="1143000" y="1115568"/>
            <a:ext cx="3017520" cy="100584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200" b="1" i="0">
                <a:solidFill>
                  <a:srgbClr val="0E2745"/>
                </a:solidFill>
                <a:latin typeface="Calibri"/>
                <a:ea typeface="Calibri"/>
                <a:cs typeface="Calibri"/>
              </a:rPr>
              <a:t>In the config file (any part)</a:t>
            </a:r>
          </a:p>
          <a:p>
            <a:pPr algn="l">
              <a:spcBef>
                <a:spcPts val="0"/>
              </a:spcBef>
              <a:spcAft>
                <a:spcPts val="0"/>
              </a:spcAft>
              <a:buNone/>
            </a:pPr>
            <a:r>
              <a:rPr lang="en-US" sz="950" b="0" i="0">
                <a:solidFill>
                  <a:srgbClr val="5D6C7B"/>
                </a:solidFill>
                <a:latin typeface="Calibri"/>
                <a:ea typeface="Calibri"/>
                <a:cs typeface="Calibri"/>
              </a:rPr>
              <a:t>configs/&lt;agent&gt;/config.yaml (Parts 2–4) or config.yaml next to the script (Part 1)</a:t>
            </a:r>
          </a:p>
        </p:txBody>
      </p:sp>
      <p:sp>
        <p:nvSpPr>
          <p:cNvPr id="1333" name="terminal 1333"/>
          <p:cNvSpPr/>
          <p:nvPr/>
        </p:nvSpPr>
        <p:spPr>
          <a:xfrm>
            <a:off x="4297680" y="1188720"/>
            <a:ext cx="4251960" cy="85953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active_profile: "claude-haiku-4-5"</a:t>
            </a:r>
          </a:p>
        </p:txBody>
      </p:sp>
      <p:sp>
        <p:nvSpPr>
          <p:cNvPr id="1334" name="shape 1334"/>
          <p:cNvSpPr/>
          <p:nvPr/>
        </p:nvSpPr>
        <p:spPr>
          <a:xfrm>
            <a:off x="457200" y="2322576"/>
            <a:ext cx="8229600" cy="1188720"/>
          </a:xfrm>
          <a:prstGeom prst="roundRect">
            <a:avLst>
              <a:gd name="adj" fmla="val 8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35" name="shape 1335"/>
          <p:cNvSpPr/>
          <p:nvPr/>
        </p:nvSpPr>
        <p:spPr>
          <a:xfrm>
            <a:off x="594360" y="2706624"/>
            <a:ext cx="420624" cy="420624"/>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336" name="text 1336"/>
          <p:cNvSpPr txBox="1"/>
          <p:nvPr/>
        </p:nvSpPr>
        <p:spPr>
          <a:xfrm>
            <a:off x="1143000" y="2414016"/>
            <a:ext cx="3017520" cy="100584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200" b="1" i="0">
                <a:solidFill>
                  <a:srgbClr val="0E2745"/>
                </a:solidFill>
                <a:latin typeface="Calibri"/>
                <a:ea typeface="Calibri"/>
                <a:cs typeface="Calibri"/>
              </a:rPr>
              <a:t>On the command line (Parts 2 and 3)</a:t>
            </a:r>
          </a:p>
          <a:p>
            <a:pPr algn="l">
              <a:spcBef>
                <a:spcPts val="0"/>
              </a:spcBef>
              <a:spcAft>
                <a:spcPts val="0"/>
              </a:spcAft>
              <a:buNone/>
            </a:pPr>
            <a:r>
              <a:rPr lang="en-US" sz="950" b="0" i="0">
                <a:solidFill>
                  <a:srgbClr val="5D6C7B"/>
                </a:solidFill>
                <a:latin typeface="Calibri"/>
                <a:ea typeface="Calibri"/>
                <a:cs typeface="Calibri"/>
              </a:rPr>
              <a:t>first line: every agent; second line: one agent only</a:t>
            </a:r>
          </a:p>
        </p:txBody>
      </p:sp>
      <p:sp>
        <p:nvSpPr>
          <p:cNvPr id="1337" name="terminal 1337"/>
          <p:cNvSpPr/>
          <p:nvPr/>
        </p:nvSpPr>
        <p:spPr>
          <a:xfrm>
            <a:off x="4297680" y="2487168"/>
            <a:ext cx="4251960" cy="85953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--profile claude-haiku-4-5</a:t>
            </a:r>
          </a:p>
          <a:p>
            <a:pPr algn="l">
              <a:lnSpc>
                <a:spcPct val="100000"/>
              </a:lnSpc>
              <a:spcBef>
                <a:spcPts val="0"/>
              </a:spcBef>
              <a:spcAft>
                <a:spcPts val="0"/>
              </a:spcAft>
              <a:buNone/>
            </a:pPr>
            <a:r>
              <a:rPr lang="en-US" sz="950" b="0" i="0">
                <a:solidFill>
                  <a:srgbClr val="FFFFFF"/>
                </a:solidFill>
                <a:latin typeface="Courier New"/>
                <a:ea typeface="Courier New"/>
                <a:cs typeface="Courier New"/>
              </a:rPr>
              <a:t>--agent-profile rtl_generator=claude-opus-5-5</a:t>
            </a:r>
          </a:p>
        </p:txBody>
      </p:sp>
      <p:sp>
        <p:nvSpPr>
          <p:cNvPr id="1338" name="shape 1338"/>
          <p:cNvSpPr/>
          <p:nvPr/>
        </p:nvSpPr>
        <p:spPr>
          <a:xfrm>
            <a:off x="457200" y="3621024"/>
            <a:ext cx="8229600" cy="1188720"/>
          </a:xfrm>
          <a:prstGeom prst="roundRect">
            <a:avLst>
              <a:gd name="adj" fmla="val 8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39" name="shape 1339"/>
          <p:cNvSpPr/>
          <p:nvPr/>
        </p:nvSpPr>
        <p:spPr>
          <a:xfrm>
            <a:off x="594360" y="4005072"/>
            <a:ext cx="420624" cy="420624"/>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340" name="text 1340"/>
          <p:cNvSpPr txBox="1"/>
          <p:nvPr/>
        </p:nvSpPr>
        <p:spPr>
          <a:xfrm>
            <a:off x="1143000" y="3712463"/>
            <a:ext cx="3017520" cy="1005840"/>
          </a:xfrm>
          <a:prstGeom prst="rect">
            <a:avLst/>
          </a:prstGeom>
          <a:noFill/>
          <a:ln>
            <a:noFill/>
          </a:ln>
        </p:spPr>
        <p:txBody>
          <a:bodyPr wrap="square" lIns="18288" tIns="18288" rIns="18288" bIns="18288" anchor="ctr">
            <a:noAutofit/>
          </a:bodyPr>
          <a:lstStyle/>
          <a:p>
            <a:pPr algn="l">
              <a:spcBef>
                <a:spcPts val="0"/>
              </a:spcBef>
              <a:spcAft>
                <a:spcPts val="200"/>
              </a:spcAft>
              <a:buNone/>
            </a:pPr>
            <a:r>
              <a:rPr lang="en-US" sz="1200" b="1" i="0">
                <a:solidFill>
                  <a:srgbClr val="0E2745"/>
                </a:solidFill>
                <a:latin typeface="Calibri"/>
                <a:ea typeface="Calibri"/>
                <a:cs typeface="Calibri"/>
              </a:rPr>
              <a:t>On the command line (Part 4)</a:t>
            </a:r>
          </a:p>
          <a:p>
            <a:pPr algn="l">
              <a:spcBef>
                <a:spcPts val="0"/>
              </a:spcBef>
              <a:spcAft>
                <a:spcPts val="0"/>
              </a:spcAft>
              <a:buNone/>
            </a:pPr>
            <a:r>
              <a:rPr lang="en-US" sz="950" b="0" i="0">
                <a:solidFill>
                  <a:srgbClr val="5D6C7B"/>
                </a:solidFill>
                <a:latin typeface="Calibri"/>
                <a:ea typeface="Calibri"/>
                <a:cs typeface="Calibri"/>
              </a:rPr>
              <a:t>the big planner and the small workers</a:t>
            </a:r>
          </a:p>
        </p:txBody>
      </p:sp>
      <p:sp>
        <p:nvSpPr>
          <p:cNvPr id="1341" name="terminal 1341"/>
          <p:cNvSpPr/>
          <p:nvPr/>
        </p:nvSpPr>
        <p:spPr>
          <a:xfrm>
            <a:off x="4297680" y="3785615"/>
            <a:ext cx="4251960" cy="85953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--orchestrator-profile claude-opus-5-5</a:t>
            </a:r>
          </a:p>
          <a:p>
            <a:pPr algn="l">
              <a:lnSpc>
                <a:spcPct val="100000"/>
              </a:lnSpc>
              <a:spcBef>
                <a:spcPts val="0"/>
              </a:spcBef>
              <a:spcAft>
                <a:spcPts val="0"/>
              </a:spcAft>
              <a:buNone/>
            </a:pPr>
            <a:r>
              <a:rPr lang="en-US" sz="950" b="0" i="0">
                <a:solidFill>
                  <a:srgbClr val="FFFFFF"/>
                </a:solidFill>
                <a:latin typeface="Courier New"/>
                <a:ea typeface="Courier New"/>
                <a:cs typeface="Courier New"/>
              </a:rPr>
              <a:t>--worker-profile claude-haiku-4-5</a:t>
            </a:r>
          </a:p>
        </p:txBody>
      </p:sp>
      <p:sp>
        <p:nvSpPr>
          <p:cNvPr id="1342" name="text 1342"/>
          <p:cNvSpPr txBox="1"/>
          <p:nvPr/>
        </p:nvSpPr>
        <p:spPr>
          <a:xfrm>
            <a:off x="457200" y="4937760"/>
            <a:ext cx="8229600" cy="2743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100" b="1" i="0">
                <a:solidFill>
                  <a:srgbClr val="17365D"/>
                </a:solidFill>
                <a:latin typeface="Calibri"/>
                <a:ea typeface="Calibri"/>
                <a:cs typeface="Calibri"/>
              </a:rPr>
              <a:t>Profiles ready in every config</a:t>
            </a:r>
          </a:p>
        </p:txBody>
      </p:sp>
      <p:sp>
        <p:nvSpPr>
          <p:cNvPr id="1343" name="shape 1343"/>
          <p:cNvSpPr/>
          <p:nvPr/>
        </p:nvSpPr>
        <p:spPr>
          <a:xfrm>
            <a:off x="457200"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2E7D4F"/>
                </a:solidFill>
                <a:latin typeface="Courier New"/>
                <a:ea typeface="Courier New"/>
                <a:cs typeface="Courier New"/>
              </a:rPr>
              <a:t>ollama-llama3.1</a:t>
            </a:r>
          </a:p>
          <a:p>
            <a:pPr algn="ctr">
              <a:spcBef>
                <a:spcPts val="0"/>
              </a:spcBef>
              <a:spcAft>
                <a:spcPts val="0"/>
              </a:spcAft>
              <a:buNone/>
            </a:pPr>
            <a:r>
              <a:rPr lang="en-US" sz="850" b="0" i="0">
                <a:solidFill>
                  <a:srgbClr val="5D6C7B"/>
                </a:solidFill>
                <a:latin typeface="Calibri"/>
                <a:ea typeface="Calibri"/>
                <a:cs typeface="Calibri"/>
              </a:rPr>
              <a:t>local, free</a:t>
            </a:r>
          </a:p>
        </p:txBody>
      </p:sp>
      <p:sp>
        <p:nvSpPr>
          <p:cNvPr id="1344" name="shape 1344"/>
          <p:cNvSpPr/>
          <p:nvPr/>
        </p:nvSpPr>
        <p:spPr>
          <a:xfrm>
            <a:off x="1847088"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4F81BD"/>
                </a:solidFill>
                <a:latin typeface="Courier New"/>
                <a:ea typeface="Courier New"/>
                <a:cs typeface="Courier New"/>
              </a:rPr>
              <a:t>gemini_lite</a:t>
            </a:r>
          </a:p>
          <a:p>
            <a:pPr algn="ctr">
              <a:spcBef>
                <a:spcPts val="0"/>
              </a:spcBef>
              <a:spcAft>
                <a:spcPts val="0"/>
              </a:spcAft>
              <a:buNone/>
            </a:pPr>
            <a:r>
              <a:rPr lang="en-US" sz="850" b="0" i="0">
                <a:solidFill>
                  <a:srgbClr val="5D6C7B"/>
                </a:solidFill>
                <a:latin typeface="Calibri"/>
                <a:ea typeface="Calibri"/>
                <a:cs typeface="Calibri"/>
              </a:rPr>
              <a:t>cloud, cheap</a:t>
            </a:r>
          </a:p>
        </p:txBody>
      </p:sp>
      <p:sp>
        <p:nvSpPr>
          <p:cNvPr id="1345" name="shape 1345"/>
          <p:cNvSpPr/>
          <p:nvPr/>
        </p:nvSpPr>
        <p:spPr>
          <a:xfrm>
            <a:off x="3236976"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4F81BD"/>
                </a:solidFill>
                <a:latin typeface="Courier New"/>
                <a:ea typeface="Courier New"/>
                <a:cs typeface="Courier New"/>
              </a:rPr>
              <a:t>gemini_preview</a:t>
            </a:r>
          </a:p>
          <a:p>
            <a:pPr algn="ctr">
              <a:spcBef>
                <a:spcPts val="0"/>
              </a:spcBef>
              <a:spcAft>
                <a:spcPts val="0"/>
              </a:spcAft>
              <a:buNone/>
            </a:pPr>
            <a:r>
              <a:rPr lang="en-US" sz="850" b="0" i="0">
                <a:solidFill>
                  <a:srgbClr val="5D6C7B"/>
                </a:solidFill>
                <a:latin typeface="Calibri"/>
                <a:ea typeface="Calibri"/>
                <a:cs typeface="Calibri"/>
              </a:rPr>
              <a:t>cloud, stronger</a:t>
            </a:r>
          </a:p>
        </p:txBody>
      </p:sp>
      <p:sp>
        <p:nvSpPr>
          <p:cNvPr id="1346" name="shape 1346"/>
          <p:cNvSpPr/>
          <p:nvPr/>
        </p:nvSpPr>
        <p:spPr>
          <a:xfrm>
            <a:off x="4626864"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4F81BD"/>
                </a:solidFill>
                <a:latin typeface="Courier New"/>
                <a:ea typeface="Courier New"/>
                <a:cs typeface="Courier New"/>
              </a:rPr>
              <a:t>claude-haiku-4-5</a:t>
            </a:r>
          </a:p>
          <a:p>
            <a:pPr algn="ctr">
              <a:spcBef>
                <a:spcPts val="0"/>
              </a:spcBef>
              <a:spcAft>
                <a:spcPts val="0"/>
              </a:spcAft>
              <a:buNone/>
            </a:pPr>
            <a:r>
              <a:rPr lang="en-US" sz="850" b="0" i="0">
                <a:solidFill>
                  <a:srgbClr val="5D6C7B"/>
                </a:solidFill>
                <a:latin typeface="Calibri"/>
                <a:ea typeface="Calibri"/>
                <a:cs typeface="Calibri"/>
              </a:rPr>
              <a:t>cloud, fast</a:t>
            </a:r>
          </a:p>
        </p:txBody>
      </p:sp>
      <p:sp>
        <p:nvSpPr>
          <p:cNvPr id="1347" name="shape 1347"/>
          <p:cNvSpPr/>
          <p:nvPr/>
        </p:nvSpPr>
        <p:spPr>
          <a:xfrm>
            <a:off x="6016752"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ourier New"/>
                <a:ea typeface="Courier New"/>
                <a:cs typeface="Courier New"/>
              </a:rPr>
              <a:t>claude-sonnet-5-5</a:t>
            </a:r>
          </a:p>
          <a:p>
            <a:pPr algn="ctr">
              <a:spcBef>
                <a:spcPts val="0"/>
              </a:spcBef>
              <a:spcAft>
                <a:spcPts val="0"/>
              </a:spcAft>
              <a:buNone/>
            </a:pPr>
            <a:r>
              <a:rPr lang="en-US" sz="850" b="0" i="0">
                <a:solidFill>
                  <a:srgbClr val="5D6C7B"/>
                </a:solidFill>
                <a:latin typeface="Calibri"/>
                <a:ea typeface="Calibri"/>
                <a:cs typeface="Calibri"/>
              </a:rPr>
              <a:t>cloud, strong</a:t>
            </a:r>
          </a:p>
        </p:txBody>
      </p:sp>
      <p:sp>
        <p:nvSpPr>
          <p:cNvPr id="1348" name="shape 1348"/>
          <p:cNvSpPr/>
          <p:nvPr/>
        </p:nvSpPr>
        <p:spPr>
          <a:xfrm>
            <a:off x="7406640" y="5257800"/>
            <a:ext cx="1298448" cy="566928"/>
          </a:xfrm>
          <a:prstGeom prst="roundRect">
            <a:avLst>
              <a:gd name="adj" fmla="val 12000"/>
            </a:avLst>
          </a:prstGeom>
          <a:solidFill>
            <a:srgbClr val="FFFFFF"/>
          </a:solidFill>
          <a:ln w="12700">
            <a:solidFill>
              <a:srgbClr val="C9D6E6"/>
            </a:solidFill>
          </a:ln>
        </p:spPr>
        <p:txBody>
          <a:bodyPr wrap="square" lIns="27432" tIns="27432" rIns="27432" bIns="27432" anchor="ctr">
            <a:noAutofit/>
          </a:bodyPr>
          <a:lstStyle/>
          <a:p>
            <a:pPr algn="ctr">
              <a:spcBef>
                <a:spcPts val="0"/>
              </a:spcBef>
              <a:spcAft>
                <a:spcPts val="0"/>
              </a:spcAft>
              <a:buNone/>
            </a:pPr>
            <a:r>
              <a:rPr lang="en-US" sz="800" b="1" i="0">
                <a:solidFill>
                  <a:srgbClr val="B91F2D"/>
                </a:solidFill>
                <a:latin typeface="Courier New"/>
                <a:ea typeface="Courier New"/>
                <a:cs typeface="Courier New"/>
              </a:rPr>
              <a:t>claude-opus-5-5</a:t>
            </a:r>
          </a:p>
          <a:p>
            <a:pPr algn="ctr">
              <a:spcBef>
                <a:spcPts val="0"/>
              </a:spcBef>
              <a:spcAft>
                <a:spcPts val="0"/>
              </a:spcAft>
              <a:buNone/>
            </a:pPr>
            <a:r>
              <a:rPr lang="en-US" sz="850" b="0" i="0">
                <a:solidFill>
                  <a:srgbClr val="5D6C7B"/>
                </a:solidFill>
                <a:latin typeface="Calibri"/>
                <a:ea typeface="Calibri"/>
                <a:cs typeface="Calibri"/>
              </a:rPr>
              <a:t>cloud, strongest</a:t>
            </a:r>
          </a:p>
        </p:txBody>
      </p:sp>
      <p:sp>
        <p:nvSpPr>
          <p:cNvPr id="1349" name="text 1349"/>
          <p:cNvSpPr txBox="1"/>
          <p:nvPr/>
        </p:nvSpPr>
        <p:spPr>
          <a:xfrm>
            <a:off x="457200" y="5897880"/>
            <a:ext cx="8229600" cy="36576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00" b="0" i="1">
                <a:solidFill>
                  <a:srgbClr val="5D6C7B"/>
                </a:solidFill>
                <a:latin typeface="Calibri"/>
                <a:ea typeface="Calibri"/>
                <a:cs typeface="Calibri"/>
              </a:rPr>
              <a:t>Cloud profiles need their key in scripts/api_keys.sh. Overloaded (503)? Run again, or switch to a lighter model.</a:t>
            </a:r>
          </a:p>
        </p:txBody>
      </p:sp>
    </p:spTree>
    <p:extLst>
      <p:ext uri="{BB962C8B-B14F-4D97-AF65-F5344CB8AC3E}">
        <p14:creationId xmlns:p14="http://schemas.microsoft.com/office/powerpoint/2010/main" val="496440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4502D-B902-8305-BFD4-E9C6CF1229AE}"/>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570760B3-09CF-31F1-3997-A1BC8221B309}"/>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61697DF6-0C9B-9AB3-0B6E-F18033729AA0}"/>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4" name="Rectangle 3">
            <a:extLst>
              <a:ext uri="{FF2B5EF4-FFF2-40B4-BE49-F238E27FC236}">
                <a16:creationId xmlns:a16="http://schemas.microsoft.com/office/drawing/2014/main" id="{B6BA2C2C-B097-349C-83D2-7CEA2FCEB8D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979D402F-C9EB-68F0-6344-019F9DEDC893}"/>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20</a:t>
            </a:fld>
            <a:endParaRPr sz="750" b="0">
              <a:solidFill>
                <a:srgbClr val="5B6573"/>
              </a:solidFill>
              <a:latin typeface="Calibri"/>
              <a:ea typeface="Calibri"/>
              <a:cs typeface="Calibri"/>
            </a:endParaRPr>
          </a:p>
        </p:txBody>
      </p:sp>
      <p:sp>
        <p:nvSpPr>
          <p:cNvPr id="10" name="Rectangle 9">
            <a:extLst>
              <a:ext uri="{FF2B5EF4-FFF2-40B4-BE49-F238E27FC236}">
                <a16:creationId xmlns:a16="http://schemas.microsoft.com/office/drawing/2014/main" id="{E99EA6FB-5A55-6A1A-0CC4-B82D4640BD4B}"/>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to pull and test the SLMs</a:t>
            </a:r>
            <a:endParaRPr sz="2400" b="1">
              <a:solidFill>
                <a:srgbClr val="17365D"/>
              </a:solidFill>
              <a:latin typeface="Calibri"/>
              <a:ea typeface="Calibri"/>
              <a:cs typeface="Calibri"/>
            </a:endParaRPr>
          </a:p>
        </p:txBody>
      </p:sp>
      <p:sp>
        <p:nvSpPr>
          <p:cNvPr id="3" name="Rounded Rectangle 2">
            <a:extLst>
              <a:ext uri="{FF2B5EF4-FFF2-40B4-BE49-F238E27FC236}">
                <a16:creationId xmlns:a16="http://schemas.microsoft.com/office/drawing/2014/main" id="{7B1EF8D6-AA28-1B28-610B-CCC07E727E7D}"/>
              </a:ext>
            </a:extLst>
          </p:cNvPr>
          <p:cNvSpPr>
            <a:spLocks noGrp="1"/>
          </p:cNvSpPr>
          <p:nvPr/>
        </p:nvSpPr>
        <p:spPr>
          <a:xfrm>
            <a:off x="898985" y="1076326"/>
            <a:ext cx="7754563" cy="58344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5" name="Rectangle 4">
            <a:extLst>
              <a:ext uri="{FF2B5EF4-FFF2-40B4-BE49-F238E27FC236}">
                <a16:creationId xmlns:a16="http://schemas.microsoft.com/office/drawing/2014/main" id="{77A36D6E-0600-32C7-E2CA-ABF8B3756BFE}"/>
              </a:ext>
            </a:extLst>
          </p:cNvPr>
          <p:cNvSpPr>
            <a:spLocks noGrp="1"/>
          </p:cNvSpPr>
          <p:nvPr/>
        </p:nvSpPr>
        <p:spPr>
          <a:xfrm>
            <a:off x="949077" y="1087756"/>
            <a:ext cx="7654378" cy="581025"/>
          </a:xfrm>
          <a:prstGeom prst="rect">
            <a:avLst/>
          </a:prstGeom>
          <a:noFill/>
          <a:ln w="0">
            <a:noFill/>
          </a:ln>
        </p:spPr>
        <p:txBody>
          <a:bodyPr anchor="ctr">
            <a:normAutofit fontScale="97348"/>
          </a:bodyPr>
          <a:lstStyle/>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Follow the instructions below to pull (download) the AI models</a:t>
            </a:r>
          </a:p>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Use a similar process if you want a different model not mentioned here</a:t>
            </a:r>
          </a:p>
        </p:txBody>
      </p:sp>
      <p:pic>
        <p:nvPicPr>
          <p:cNvPr id="7" name="Picture 6" descr="Blank screen when I launch the new windows terminal. · Issue #13841 ·  microsoft/terminal">
            <a:extLst>
              <a:ext uri="{FF2B5EF4-FFF2-40B4-BE49-F238E27FC236}">
                <a16:creationId xmlns:a16="http://schemas.microsoft.com/office/drawing/2014/main" id="{33B40E88-CAAD-5942-F41D-9410D245E180}"/>
              </a:ext>
            </a:extLst>
          </p:cNvPr>
          <p:cNvPicPr>
            <a:picLocks noChangeAspect="1"/>
          </p:cNvPicPr>
          <p:nvPr/>
        </p:nvPicPr>
        <p:blipFill>
          <a:blip r:embed="rId3"/>
          <a:stretch>
            <a:fillRect/>
          </a:stretch>
        </p:blipFill>
        <p:spPr>
          <a:xfrm>
            <a:off x="249837" y="1980935"/>
            <a:ext cx="8644326" cy="1734418"/>
          </a:xfrm>
          <a:prstGeom prst="rect">
            <a:avLst/>
          </a:prstGeom>
        </p:spPr>
      </p:pic>
      <p:sp>
        <p:nvSpPr>
          <p:cNvPr id="13" name="TextBox 12">
            <a:extLst>
              <a:ext uri="{FF2B5EF4-FFF2-40B4-BE49-F238E27FC236}">
                <a16:creationId xmlns:a16="http://schemas.microsoft.com/office/drawing/2014/main" id="{DEC32711-F062-752F-7CA4-83C6EF83C96D}"/>
              </a:ext>
            </a:extLst>
          </p:cNvPr>
          <p:cNvSpPr txBox="1"/>
          <p:nvPr/>
        </p:nvSpPr>
        <p:spPr>
          <a:xfrm>
            <a:off x="402925" y="2219560"/>
            <a:ext cx="7469624" cy="1477328"/>
          </a:xfrm>
          <a:prstGeom prst="rect">
            <a:avLst/>
          </a:prstGeom>
          <a:noFill/>
        </p:spPr>
        <p:txBody>
          <a:bodyPr wrap="square">
            <a:spAutoFit/>
          </a:bodyPr>
          <a:lstStyle/>
          <a:p>
            <a:r>
              <a:rPr lang="en-US" err="1">
                <a:solidFill>
                  <a:schemeClr val="bg1"/>
                </a:solidFill>
                <a:latin typeface="Times New Roman" panose="02020603050405020304" pitchFamily="18" charset="0"/>
                <a:cs typeface="Times New Roman" panose="02020603050405020304" pitchFamily="18" charset="0"/>
              </a:rPr>
              <a:t>ollama</a:t>
            </a:r>
            <a:r>
              <a:rPr lang="en-US">
                <a:solidFill>
                  <a:schemeClr val="bg1"/>
                </a:solidFill>
                <a:latin typeface="Times New Roman" panose="02020603050405020304" pitchFamily="18" charset="0"/>
                <a:cs typeface="Times New Roman" panose="02020603050405020304" pitchFamily="18" charset="0"/>
              </a:rPr>
              <a:t> pull llama3.1</a:t>
            </a:r>
          </a:p>
          <a:p>
            <a:endParaRPr lang="en-US">
              <a:solidFill>
                <a:schemeClr val="bg1"/>
              </a:solidFill>
              <a:latin typeface="Times New Roman" panose="02020603050405020304" pitchFamily="18" charset="0"/>
              <a:cs typeface="Times New Roman" panose="02020603050405020304" pitchFamily="18" charset="0"/>
            </a:endParaRPr>
          </a:p>
          <a:p>
            <a:r>
              <a:rPr lang="en-US" err="1">
                <a:solidFill>
                  <a:schemeClr val="bg1"/>
                </a:solidFill>
                <a:latin typeface="Times New Roman" panose="02020603050405020304" pitchFamily="18" charset="0"/>
                <a:cs typeface="Times New Roman" panose="02020603050405020304" pitchFamily="18" charset="0"/>
              </a:rPr>
              <a:t>ollama</a:t>
            </a:r>
            <a:r>
              <a:rPr lang="en-US">
                <a:solidFill>
                  <a:schemeClr val="bg1"/>
                </a:solidFill>
                <a:latin typeface="Times New Roman" panose="02020603050405020304" pitchFamily="18" charset="0"/>
                <a:cs typeface="Times New Roman" panose="02020603050405020304" pitchFamily="18" charset="0"/>
              </a:rPr>
              <a:t> list</a:t>
            </a:r>
          </a:p>
          <a:p>
            <a:endParaRPr lang="en-US">
              <a:solidFill>
                <a:schemeClr val="bg1"/>
              </a:solidFill>
              <a:latin typeface="Times New Roman" panose="02020603050405020304" pitchFamily="18" charset="0"/>
              <a:cs typeface="Times New Roman" panose="02020603050405020304" pitchFamily="18" charset="0"/>
            </a:endParaRPr>
          </a:p>
          <a:p>
            <a:r>
              <a:rPr lang="en-US" err="1">
                <a:solidFill>
                  <a:schemeClr val="bg1"/>
                </a:solidFill>
                <a:latin typeface="Times New Roman" panose="02020603050405020304" pitchFamily="18" charset="0"/>
                <a:cs typeface="Times New Roman" panose="02020603050405020304" pitchFamily="18" charset="0"/>
              </a:rPr>
              <a:t>ollama</a:t>
            </a:r>
            <a:r>
              <a:rPr lang="en-US">
                <a:solidFill>
                  <a:schemeClr val="bg1"/>
                </a:solidFill>
                <a:latin typeface="Times New Roman" panose="02020603050405020304" pitchFamily="18" charset="0"/>
                <a:cs typeface="Times New Roman" panose="02020603050405020304" pitchFamily="18" charset="0"/>
              </a:rPr>
              <a:t> run llama3.1</a:t>
            </a:r>
            <a:endParaRPr lang="en-GR"/>
          </a:p>
        </p:txBody>
      </p:sp>
      <p:sp>
        <p:nvSpPr>
          <p:cNvPr id="1221" name="shape 1221"/>
          <p:cNvSpPr/>
          <p:nvPr/>
        </p:nvSpPr>
        <p:spPr>
          <a:xfrm>
            <a:off x="502920" y="3977639"/>
            <a:ext cx="3931920" cy="960120"/>
          </a:xfrm>
          <a:prstGeom prst="roundRect">
            <a:avLst>
              <a:gd name="adj" fmla="val 10000"/>
            </a:avLst>
          </a:prstGeom>
          <a:solidFill>
            <a:srgbClr val="F3F6FA"/>
          </a:solidFill>
          <a:ln>
            <a:noFill/>
          </a:ln>
        </p:spPr>
        <p:txBody>
          <a:bodyPr wrap="square" lIns="137160" tIns="137160" rIns="137160" bIns="137160" anchor="ctr">
            <a:noAutofit/>
          </a:bodyPr>
          <a:lstStyle/>
          <a:p>
            <a:pPr algn="l">
              <a:spcBef>
                <a:spcPts val="0"/>
              </a:spcBef>
              <a:spcAft>
                <a:spcPts val="250"/>
              </a:spcAft>
              <a:buNone/>
            </a:pPr>
            <a:r>
              <a:rPr lang="en-US" sz="1250" b="1" i="0">
                <a:solidFill>
                  <a:srgbClr val="0E2745"/>
                </a:solidFill>
                <a:latin typeface="Calibri"/>
                <a:ea typeface="Calibri"/>
                <a:cs typeface="Calibri"/>
              </a:rPr>
              <a:t>llama3.1</a:t>
            </a:r>
          </a:p>
          <a:p>
            <a:pPr algn="l">
              <a:spcBef>
                <a:spcPts val="0"/>
              </a:spcBef>
              <a:spcAft>
                <a:spcPts val="0"/>
              </a:spcAft>
              <a:buNone/>
            </a:pPr>
            <a:r>
              <a:rPr lang="en-US" sz="1050" b="0" i="0">
                <a:solidFill>
                  <a:srgbClr val="0E2745"/>
                </a:solidFill>
                <a:latin typeface="Calibri"/>
                <a:ea typeface="Calibri"/>
                <a:cs typeface="Calibri"/>
              </a:rPr>
              <a:t>8B parameters, ~4.9 GB download – the local SLM of runs 2c / 2d</a:t>
            </a:r>
          </a:p>
        </p:txBody>
      </p:sp>
      <p:sp>
        <p:nvSpPr>
          <p:cNvPr id="1222" name="shape 1222"/>
          <p:cNvSpPr/>
          <p:nvPr/>
        </p:nvSpPr>
        <p:spPr>
          <a:xfrm>
            <a:off x="4617720" y="3977639"/>
            <a:ext cx="3931920" cy="960120"/>
          </a:xfrm>
          <a:prstGeom prst="roundRect">
            <a:avLst>
              <a:gd name="adj" fmla="val 10000"/>
            </a:avLst>
          </a:prstGeom>
          <a:solidFill>
            <a:srgbClr val="F3F6FA"/>
          </a:solidFill>
          <a:ln>
            <a:noFill/>
          </a:ln>
        </p:spPr>
        <p:txBody>
          <a:bodyPr wrap="square" lIns="137160" tIns="137160" rIns="137160" bIns="137160" anchor="ctr">
            <a:noAutofit/>
          </a:bodyPr>
          <a:lstStyle/>
          <a:p>
            <a:pPr algn="l">
              <a:spcBef>
                <a:spcPts val="0"/>
              </a:spcBef>
              <a:spcAft>
                <a:spcPts val="250"/>
              </a:spcAft>
              <a:buNone/>
            </a:pPr>
            <a:r>
              <a:rPr lang="en-US" sz="1250" b="1" i="0">
                <a:solidFill>
                  <a:srgbClr val="2E7D4F"/>
                </a:solidFill>
                <a:latin typeface="Calibri"/>
                <a:ea typeface="Calibri"/>
                <a:cs typeface="Calibri"/>
              </a:rPr>
              <a:t>Already running</a:t>
            </a:r>
          </a:p>
          <a:p>
            <a:pPr algn="l">
              <a:spcBef>
                <a:spcPts val="0"/>
              </a:spcBef>
              <a:spcAft>
                <a:spcPts val="0"/>
              </a:spcAft>
              <a:buNone/>
            </a:pPr>
            <a:r>
              <a:rPr lang="en-US" sz="1050" b="0" i="0">
                <a:solidFill>
                  <a:srgbClr val="0E2745"/>
                </a:solidFill>
                <a:latin typeface="Calibri"/>
                <a:ea typeface="Calibri"/>
                <a:cs typeface="Calibri"/>
              </a:rPr>
              <a:t>The Ollama server starts with the container (port 11434)</a:t>
            </a:r>
          </a:p>
        </p:txBody>
      </p:sp>
      <p:sp>
        <p:nvSpPr>
          <p:cNvPr id="1223" name="shape 1223"/>
          <p:cNvSpPr/>
          <p:nvPr/>
        </p:nvSpPr>
        <p:spPr>
          <a:xfrm>
            <a:off x="502920" y="5074920"/>
            <a:ext cx="3931920" cy="960120"/>
          </a:xfrm>
          <a:prstGeom prst="roundRect">
            <a:avLst>
              <a:gd name="adj" fmla="val 10000"/>
            </a:avLst>
          </a:prstGeom>
          <a:solidFill>
            <a:srgbClr val="F3F6FA"/>
          </a:solidFill>
          <a:ln>
            <a:noFill/>
          </a:ln>
        </p:spPr>
        <p:txBody>
          <a:bodyPr wrap="square" lIns="137160" tIns="137160" rIns="137160" bIns="137160" anchor="ctr">
            <a:noAutofit/>
          </a:bodyPr>
          <a:lstStyle/>
          <a:p>
            <a:pPr algn="l">
              <a:spcBef>
                <a:spcPts val="0"/>
              </a:spcBef>
              <a:spcAft>
                <a:spcPts val="250"/>
              </a:spcAft>
              <a:buNone/>
            </a:pPr>
            <a:r>
              <a:rPr lang="en-US" sz="1250" b="1" i="0">
                <a:solidFill>
                  <a:srgbClr val="0E2745"/>
                </a:solidFill>
                <a:latin typeface="Courier New"/>
                <a:ea typeface="Courier New"/>
                <a:cs typeface="Courier New"/>
              </a:rPr>
              <a:t>ollama run llama3.1</a:t>
            </a:r>
          </a:p>
          <a:p>
            <a:pPr algn="l">
              <a:spcBef>
                <a:spcPts val="0"/>
              </a:spcBef>
              <a:spcAft>
                <a:spcPts val="0"/>
              </a:spcAft>
              <a:buNone/>
            </a:pPr>
            <a:r>
              <a:rPr lang="en-US" sz="1050" b="0" i="0">
                <a:solidFill>
                  <a:srgbClr val="0E2745"/>
                </a:solidFill>
                <a:latin typeface="Calibri"/>
                <a:ea typeface="Calibri"/>
                <a:cs typeface="Calibri"/>
              </a:rPr>
              <a:t>Chat with it to test it; type /bye to leave</a:t>
            </a:r>
          </a:p>
        </p:txBody>
      </p:sp>
      <p:sp>
        <p:nvSpPr>
          <p:cNvPr id="1224" name="shape 1224"/>
          <p:cNvSpPr/>
          <p:nvPr/>
        </p:nvSpPr>
        <p:spPr>
          <a:xfrm>
            <a:off x="4617720" y="5074920"/>
            <a:ext cx="3931920" cy="960120"/>
          </a:xfrm>
          <a:prstGeom prst="roundRect">
            <a:avLst>
              <a:gd name="adj" fmla="val 10000"/>
            </a:avLst>
          </a:prstGeom>
          <a:solidFill>
            <a:srgbClr val="F3F6FA"/>
          </a:solidFill>
          <a:ln>
            <a:noFill/>
          </a:ln>
        </p:spPr>
        <p:txBody>
          <a:bodyPr wrap="square" lIns="137160" tIns="137160" rIns="137160" bIns="137160" anchor="ctr">
            <a:noAutofit/>
          </a:bodyPr>
          <a:lstStyle/>
          <a:p>
            <a:pPr algn="l">
              <a:spcBef>
                <a:spcPts val="0"/>
              </a:spcBef>
              <a:spcAft>
                <a:spcPts val="250"/>
              </a:spcAft>
              <a:buNone/>
            </a:pPr>
            <a:r>
              <a:rPr lang="en-US" sz="1250" b="1" i="0">
                <a:solidFill>
                  <a:srgbClr val="B91F2D"/>
                </a:solidFill>
                <a:latin typeface="Calibri"/>
                <a:ea typeface="Calibri"/>
                <a:cs typeface="Calibri"/>
              </a:rPr>
              <a:t>Keep the models</a:t>
            </a:r>
          </a:p>
          <a:p>
            <a:pPr algn="l">
              <a:spcBef>
                <a:spcPts val="0"/>
              </a:spcBef>
              <a:spcAft>
                <a:spcPts val="0"/>
              </a:spcAft>
              <a:buNone/>
            </a:pPr>
            <a:r>
              <a:rPr lang="en-US" sz="1050" b="0" i="0">
                <a:solidFill>
                  <a:srgbClr val="0E2745"/>
                </a:solidFill>
                <a:latin typeface="Calibri"/>
                <a:ea typeface="Calibri"/>
                <a:cs typeface="Calibri"/>
              </a:rPr>
              <a:t>--rm deletes them on exit</a:t>
            </a:r>
          </a:p>
        </p:txBody>
      </p:sp>
      <p:sp>
        <p:nvSpPr>
          <p:cNvPr id="1225" name="text 1225"/>
          <p:cNvSpPr txBox="1"/>
          <p:nvPr/>
        </p:nvSpPr>
        <p:spPr>
          <a:xfrm>
            <a:off x="502920" y="6236208"/>
            <a:ext cx="8138160" cy="256032"/>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00" b="0" i="1">
                <a:solidFill>
                  <a:srgbClr val="5D6C7B"/>
                </a:solidFill>
                <a:latin typeface="Calibri"/>
                <a:ea typeface="Calibri"/>
                <a:cs typeface="Calibri"/>
              </a:rPr>
              <a:t>No GPU? It runs on the CPU: slow, but enough for the short SDC and </a:t>
            </a:r>
            <a:r>
              <a:rPr lang="en-US" sz="950" b="0" i="1">
                <a:solidFill>
                  <a:srgbClr val="5D6C7B"/>
                </a:solidFill>
                <a:latin typeface="Courier New" panose="02070309020205020404" pitchFamily="49" charset="0"/>
                <a:ea typeface="Calibri"/>
                <a:cs typeface="Courier New" panose="02070309020205020404" pitchFamily="49" charset="0"/>
              </a:rPr>
              <a:t>config.mk </a:t>
            </a:r>
            <a:r>
              <a:rPr lang="en-US" sz="1000" b="0" i="1">
                <a:solidFill>
                  <a:srgbClr val="5D6C7B"/>
                </a:solidFill>
                <a:latin typeface="Calibri"/>
                <a:ea typeface="Calibri"/>
                <a:cs typeface="Calibri"/>
              </a:rPr>
              <a:t>tasks</a:t>
            </a:r>
          </a:p>
        </p:txBody>
      </p:sp>
      <p:pic>
        <p:nvPicPr>
          <p:cNvPr id="8" name="Graphic 7">
            <a:extLst>
              <a:ext uri="{FF2B5EF4-FFF2-40B4-BE49-F238E27FC236}">
                <a16:creationId xmlns:a16="http://schemas.microsoft.com/office/drawing/2014/main" id="{14D09184-FDFD-FB6D-5A02-09F7CD904B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800" y="196850"/>
            <a:ext cx="514350" cy="647700"/>
          </a:xfrm>
          <a:prstGeom prst="rect">
            <a:avLst/>
          </a:prstGeom>
        </p:spPr>
      </p:pic>
    </p:spTree>
    <p:extLst>
      <p:ext uri="{BB962C8B-B14F-4D97-AF65-F5344CB8AC3E}">
        <p14:creationId xmlns:p14="http://schemas.microsoft.com/office/powerpoint/2010/main" val="1125866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DFC4F-3493-4883-FBF0-C37AFD9598B8}"/>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30792EA0-EE13-70A2-AB7F-3604077086D4}"/>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77DF45EC-73B8-6B2E-2766-842D98B72E3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A5B0EB22-2A04-D4C7-655B-3AAC59630A74}"/>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to create Gemini API keys for the LLM</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21C9DA5-BB98-C9C6-1464-7458DDC452DC}"/>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7BA95558-47D2-E37E-6C0F-0F2B36E6D55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21</a:t>
            </a:fld>
            <a:endParaRPr sz="750" b="0">
              <a:solidFill>
                <a:srgbClr val="5B6573"/>
              </a:solidFill>
              <a:latin typeface="Calibri"/>
              <a:ea typeface="Calibri"/>
              <a:cs typeface="Calibri"/>
            </a:endParaRPr>
          </a:p>
        </p:txBody>
      </p:sp>
      <p:sp>
        <p:nvSpPr>
          <p:cNvPr id="6" name="TextBox 5">
            <a:extLst>
              <a:ext uri="{FF2B5EF4-FFF2-40B4-BE49-F238E27FC236}">
                <a16:creationId xmlns:a16="http://schemas.microsoft.com/office/drawing/2014/main" id="{93DC0DF5-7436-EDEE-18E7-399D33766368}"/>
              </a:ext>
            </a:extLst>
          </p:cNvPr>
          <p:cNvSpPr txBox="1"/>
          <p:nvPr/>
        </p:nvSpPr>
        <p:spPr>
          <a:xfrm>
            <a:off x="495300" y="1352542"/>
            <a:ext cx="2775438" cy="1508105"/>
          </a:xfrm>
          <a:prstGeom prst="rect">
            <a:avLst/>
          </a:prstGeom>
          <a:noFill/>
        </p:spPr>
        <p:txBody>
          <a:bodyPr wrap="square" lIns="91440" tIns="45720" rIns="91440" bIns="45720">
            <a:spAutoFit/>
          </a:bodyPr>
          <a:lstStyle/>
          <a:p>
            <a:pPr algn="l">
              <a:spcAft>
                <a:spcPts val="1200"/>
              </a:spcAft>
              <a:buNone/>
            </a:pPr>
            <a:r>
              <a:rPr lang="en-US" sz="1600" b="1" i="0">
                <a:solidFill>
                  <a:srgbClr val="0E2745"/>
                </a:solidFill>
                <a:latin typeface="Calibri"/>
                <a:ea typeface="Calibri"/>
                <a:cs typeface="Calibri"/>
              </a:rPr>
              <a:t>1.  Visit the following website:</a:t>
            </a:r>
          </a:p>
          <a:p>
            <a:pPr algn="l">
              <a:spcAft>
                <a:spcPts val="1200"/>
              </a:spcAft>
              <a:buNone/>
            </a:pPr>
            <a:r>
              <a:rPr lang="en-US" sz="1600">
                <a:solidFill>
                  <a:srgbClr val="B91F2D"/>
                </a:solidFill>
                <a:ea typeface="+mn-lt"/>
                <a:cs typeface="+mn-lt"/>
              </a:rPr>
              <a:t>https://</a:t>
            </a:r>
            <a:r>
              <a:rPr lang="en-US" sz="1600" i="0">
                <a:solidFill>
                  <a:srgbClr val="B91F2D"/>
                </a:solidFill>
                <a:ea typeface="+mn-lt"/>
                <a:cs typeface="+mn-lt"/>
              </a:rPr>
              <a:t>aistudio.google.com/</a:t>
            </a:r>
            <a:r>
              <a:rPr lang="en-US" sz="1600">
                <a:solidFill>
                  <a:srgbClr val="B91F2D"/>
                </a:solidFill>
                <a:ea typeface="+mn-lt"/>
                <a:cs typeface="+mn-lt"/>
              </a:rPr>
              <a:t>api-keys</a:t>
            </a:r>
            <a:endParaRPr lang="en-US"/>
          </a:p>
          <a:p>
            <a:pPr algn="l">
              <a:spcAft>
                <a:spcPts val="0"/>
              </a:spcAft>
              <a:buNone/>
            </a:pPr>
            <a:r>
              <a:rPr lang="en-US" sz="1200" b="0" i="0">
                <a:solidFill>
                  <a:srgbClr val="5D6C7B"/>
                </a:solidFill>
                <a:latin typeface="Calibri"/>
                <a:ea typeface="Calibri"/>
                <a:cs typeface="Calibri"/>
              </a:rPr>
              <a:t>Sign in with a Google account. The free tier is enough for this tutorial.</a:t>
            </a:r>
          </a:p>
        </p:txBody>
      </p:sp>
      <p:pic>
        <p:nvPicPr>
          <p:cNvPr id="8" name="Picture 7">
            <a:extLst>
              <a:ext uri="{FF2B5EF4-FFF2-40B4-BE49-F238E27FC236}">
                <a16:creationId xmlns:a16="http://schemas.microsoft.com/office/drawing/2014/main" id="{5041E3E7-8F7A-D4B7-EDD4-0142F8666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0768" y="857250"/>
            <a:ext cx="5269366" cy="5546480"/>
          </a:xfrm>
          <a:prstGeom prst="rect">
            <a:avLst/>
          </a:prstGeom>
        </p:spPr>
      </p:pic>
    </p:spTree>
    <p:extLst>
      <p:ext uri="{BB962C8B-B14F-4D97-AF65-F5344CB8AC3E}">
        <p14:creationId xmlns:p14="http://schemas.microsoft.com/office/powerpoint/2010/main" val="180540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A2463-61D7-CE8C-0FC0-682F418A24FB}"/>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2F469BAD-4205-D914-130A-C35C1DD32020}"/>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DD925582-D0B1-E82C-DDA9-3F88869F0EE0}"/>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4" name="Rectangle 3">
            <a:extLst>
              <a:ext uri="{FF2B5EF4-FFF2-40B4-BE49-F238E27FC236}">
                <a16:creationId xmlns:a16="http://schemas.microsoft.com/office/drawing/2014/main" id="{009E4453-5C02-87A7-BB29-6795C3F06DA3}"/>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2FA08618-CF54-BD32-757C-B3243B993F2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22</a:t>
            </a:fld>
            <a:endParaRPr sz="750" b="0">
              <a:solidFill>
                <a:srgbClr val="5B6573"/>
              </a:solidFill>
              <a:latin typeface="Calibri"/>
              <a:ea typeface="Calibri"/>
              <a:cs typeface="Calibri"/>
            </a:endParaRPr>
          </a:p>
        </p:txBody>
      </p:sp>
      <p:sp>
        <p:nvSpPr>
          <p:cNvPr id="6" name="TextBox 5">
            <a:extLst>
              <a:ext uri="{FF2B5EF4-FFF2-40B4-BE49-F238E27FC236}">
                <a16:creationId xmlns:a16="http://schemas.microsoft.com/office/drawing/2014/main" id="{C998BE97-2119-C90F-36CA-2A855EEBCFA8}"/>
              </a:ext>
            </a:extLst>
          </p:cNvPr>
          <p:cNvSpPr txBox="1"/>
          <p:nvPr/>
        </p:nvSpPr>
        <p:spPr>
          <a:xfrm>
            <a:off x="495300" y="1352542"/>
            <a:ext cx="2775438" cy="346249"/>
          </a:xfrm>
          <a:prstGeom prst="rect">
            <a:avLst/>
          </a:prstGeom>
          <a:noFill/>
        </p:spPr>
        <p:txBody>
          <a:bodyPr wrap="square">
            <a:spAutoFit/>
          </a:bodyPr>
          <a:lstStyle/>
          <a:p>
            <a:pPr>
              <a:defRPr sz="1650" b="1">
                <a:solidFill>
                  <a:srgbClr val="DCE6F1"/>
                </a:solidFill>
                <a:latin typeface="Calibri"/>
                <a:ea typeface="Calibri"/>
                <a:cs typeface="Calibri"/>
              </a:defRPr>
            </a:pPr>
            <a:r>
              <a:rPr lang="en-US" sz="1650" b="1">
                <a:solidFill>
                  <a:schemeClr val="tx2">
                    <a:lumMod val="75000"/>
                  </a:schemeClr>
                </a:solidFill>
                <a:latin typeface="Calibri"/>
              </a:rPr>
              <a:t>2.  Click on </a:t>
            </a:r>
            <a:r>
              <a:rPr lang="en-US" sz="1650" b="1" i="1">
                <a:solidFill>
                  <a:schemeClr val="tx2">
                    <a:lumMod val="75000"/>
                  </a:schemeClr>
                </a:solidFill>
                <a:latin typeface="Calibri"/>
              </a:rPr>
              <a:t>Create a key</a:t>
            </a:r>
            <a:endParaRPr lang="en-GR" sz="1650" i="1">
              <a:solidFill>
                <a:schemeClr val="tx2">
                  <a:lumMod val="75000"/>
                </a:schemeClr>
              </a:solidFill>
              <a:latin typeface="Calibri"/>
            </a:endParaRPr>
          </a:p>
        </p:txBody>
      </p:sp>
      <p:pic>
        <p:nvPicPr>
          <p:cNvPr id="8" name="Picture 7">
            <a:extLst>
              <a:ext uri="{FF2B5EF4-FFF2-40B4-BE49-F238E27FC236}">
                <a16:creationId xmlns:a16="http://schemas.microsoft.com/office/drawing/2014/main" id="{09CD02DC-0EAB-5D47-44EE-8F202A6EBE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0768" y="857250"/>
            <a:ext cx="5269366" cy="5546480"/>
          </a:xfrm>
          <a:prstGeom prst="rect">
            <a:avLst/>
          </a:prstGeom>
        </p:spPr>
      </p:pic>
      <p:sp>
        <p:nvSpPr>
          <p:cNvPr id="5" name="Rectangle 4">
            <a:extLst>
              <a:ext uri="{FF2B5EF4-FFF2-40B4-BE49-F238E27FC236}">
                <a16:creationId xmlns:a16="http://schemas.microsoft.com/office/drawing/2014/main" id="{EDF0AB55-3B17-FF81-7F37-9ED5D2764037}"/>
              </a:ext>
            </a:extLst>
          </p:cNvPr>
          <p:cNvSpPr/>
          <p:nvPr/>
        </p:nvSpPr>
        <p:spPr>
          <a:xfrm>
            <a:off x="7682379" y="975658"/>
            <a:ext cx="806824" cy="3048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sp>
        <p:nvSpPr>
          <p:cNvPr id="7" name="Rectangle 6">
            <a:extLst>
              <a:ext uri="{FF2B5EF4-FFF2-40B4-BE49-F238E27FC236}">
                <a16:creationId xmlns:a16="http://schemas.microsoft.com/office/drawing/2014/main" id="{2EA6294C-6DF4-52C5-9C89-1C512BF07BE3}"/>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to create Gemini API keys</a:t>
            </a:r>
            <a:endParaRPr sz="2400" b="1">
              <a:solidFill>
                <a:srgbClr val="17365D"/>
              </a:solidFill>
              <a:latin typeface="Calibri"/>
              <a:ea typeface="Calibri"/>
              <a:cs typeface="Calibri"/>
            </a:endParaRPr>
          </a:p>
        </p:txBody>
      </p:sp>
    </p:spTree>
    <p:extLst>
      <p:ext uri="{BB962C8B-B14F-4D97-AF65-F5344CB8AC3E}">
        <p14:creationId xmlns:p14="http://schemas.microsoft.com/office/powerpoint/2010/main" val="2745234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28887-F84B-57A2-D68F-3A6A78CB78C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096B561-CC9F-62CD-53F1-4C46859C0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1220" y="1392875"/>
            <a:ext cx="3958830" cy="2534617"/>
          </a:xfrm>
          <a:prstGeom prst="rect">
            <a:avLst/>
          </a:prstGeom>
        </p:spPr>
      </p:pic>
      <p:sp>
        <p:nvSpPr>
          <p:cNvPr id="75" name="Rectangle 74">
            <a:extLst>
              <a:ext uri="{FF2B5EF4-FFF2-40B4-BE49-F238E27FC236}">
                <a16:creationId xmlns:a16="http://schemas.microsoft.com/office/drawing/2014/main" id="{40BACA6B-935E-014C-66FA-489A26336219}"/>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CE0A5603-19D7-61B1-04C5-B7C6E604A17E}"/>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4" name="Rectangle 3">
            <a:extLst>
              <a:ext uri="{FF2B5EF4-FFF2-40B4-BE49-F238E27FC236}">
                <a16:creationId xmlns:a16="http://schemas.microsoft.com/office/drawing/2014/main" id="{879BF206-23FD-ADCD-A6AA-292A7748044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2692C008-3EC1-E447-644B-C019581393F4}"/>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23</a:t>
            </a:fld>
            <a:endParaRPr sz="750" b="0">
              <a:solidFill>
                <a:srgbClr val="5B6573"/>
              </a:solidFill>
              <a:latin typeface="Calibri"/>
              <a:ea typeface="Calibri"/>
              <a:cs typeface="Calibri"/>
            </a:endParaRPr>
          </a:p>
        </p:txBody>
      </p:sp>
      <p:sp>
        <p:nvSpPr>
          <p:cNvPr id="6" name="TextBox 5">
            <a:extLst>
              <a:ext uri="{FF2B5EF4-FFF2-40B4-BE49-F238E27FC236}">
                <a16:creationId xmlns:a16="http://schemas.microsoft.com/office/drawing/2014/main" id="{C7E3CBD5-2FF5-A5A0-D39F-5FCC764F4460}"/>
              </a:ext>
            </a:extLst>
          </p:cNvPr>
          <p:cNvSpPr txBox="1"/>
          <p:nvPr/>
        </p:nvSpPr>
        <p:spPr>
          <a:xfrm>
            <a:off x="495299" y="1352542"/>
            <a:ext cx="3075673" cy="600164"/>
          </a:xfrm>
          <a:prstGeom prst="rect">
            <a:avLst/>
          </a:prstGeom>
          <a:noFill/>
        </p:spPr>
        <p:txBody>
          <a:bodyPr wrap="square">
            <a:spAutoFit/>
          </a:bodyPr>
          <a:lstStyle/>
          <a:p>
            <a:pPr>
              <a:defRPr sz="1650" b="1">
                <a:solidFill>
                  <a:srgbClr val="DCE6F1"/>
                </a:solidFill>
                <a:latin typeface="Calibri"/>
                <a:ea typeface="Calibri"/>
                <a:cs typeface="Calibri"/>
              </a:defRPr>
            </a:pPr>
            <a:r>
              <a:rPr lang="en-US" sz="1650" b="1">
                <a:solidFill>
                  <a:schemeClr val="tx2">
                    <a:lumMod val="75000"/>
                  </a:schemeClr>
                </a:solidFill>
                <a:latin typeface="Calibri"/>
              </a:rPr>
              <a:t>3.  Click on </a:t>
            </a:r>
            <a:r>
              <a:rPr lang="en-US" sz="1650" b="1" i="1">
                <a:solidFill>
                  <a:schemeClr val="tx2">
                    <a:lumMod val="75000"/>
                  </a:schemeClr>
                </a:solidFill>
                <a:latin typeface="Calibri"/>
              </a:rPr>
              <a:t>Create a key </a:t>
            </a:r>
            <a:r>
              <a:rPr lang="en-US" sz="1650" b="1">
                <a:solidFill>
                  <a:schemeClr val="tx2">
                    <a:lumMod val="75000"/>
                  </a:schemeClr>
                </a:solidFill>
                <a:latin typeface="Calibri"/>
              </a:rPr>
              <a:t>again on the pop-up</a:t>
            </a:r>
            <a:endParaRPr lang="en-GR" sz="1650" b="1">
              <a:solidFill>
                <a:schemeClr val="tx2">
                  <a:lumMod val="75000"/>
                </a:schemeClr>
              </a:solidFill>
              <a:latin typeface="Calibri"/>
            </a:endParaRPr>
          </a:p>
        </p:txBody>
      </p:sp>
      <p:sp>
        <p:nvSpPr>
          <p:cNvPr id="5" name="Rectangle 4">
            <a:extLst>
              <a:ext uri="{FF2B5EF4-FFF2-40B4-BE49-F238E27FC236}">
                <a16:creationId xmlns:a16="http://schemas.microsoft.com/office/drawing/2014/main" id="{2FE660D2-790A-E245-8468-A2E34EF0A4E5}"/>
              </a:ext>
            </a:extLst>
          </p:cNvPr>
          <p:cNvSpPr/>
          <p:nvPr/>
        </p:nvSpPr>
        <p:spPr>
          <a:xfrm>
            <a:off x="7022225" y="3230878"/>
            <a:ext cx="806824" cy="3048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sp>
        <p:nvSpPr>
          <p:cNvPr id="10" name="Rectangle 9">
            <a:extLst>
              <a:ext uri="{FF2B5EF4-FFF2-40B4-BE49-F238E27FC236}">
                <a16:creationId xmlns:a16="http://schemas.microsoft.com/office/drawing/2014/main" id="{490C7660-FE4D-D525-8268-A821DCDC877B}"/>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to create Gemini API keys</a:t>
            </a:r>
            <a:endParaRPr sz="2400" b="1">
              <a:solidFill>
                <a:srgbClr val="17365D"/>
              </a:solidFill>
              <a:latin typeface="Calibri"/>
              <a:ea typeface="Calibri"/>
              <a:cs typeface="Calibri"/>
            </a:endParaRPr>
          </a:p>
        </p:txBody>
      </p:sp>
    </p:spTree>
    <p:extLst>
      <p:ext uri="{BB962C8B-B14F-4D97-AF65-F5344CB8AC3E}">
        <p14:creationId xmlns:p14="http://schemas.microsoft.com/office/powerpoint/2010/main" val="979273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A901-CF97-F428-40D7-9D29D8480999}"/>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689C8AD-02F1-5692-F08D-7BCA275E05A8}"/>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A7BE9A18-7158-D4EF-4BE7-494A54F22A2A}"/>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4" name="Rectangle 3">
            <a:extLst>
              <a:ext uri="{FF2B5EF4-FFF2-40B4-BE49-F238E27FC236}">
                <a16:creationId xmlns:a16="http://schemas.microsoft.com/office/drawing/2014/main" id="{AB465478-BF82-B01E-CBD5-61176573374C}"/>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3C953AAB-EA76-9257-ADF1-80D624B89A51}"/>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24</a:t>
            </a:fld>
            <a:endParaRPr sz="750" b="0">
              <a:solidFill>
                <a:srgbClr val="5B6573"/>
              </a:solidFill>
              <a:latin typeface="Calibri"/>
              <a:ea typeface="Calibri"/>
              <a:cs typeface="Calibri"/>
            </a:endParaRPr>
          </a:p>
        </p:txBody>
      </p:sp>
      <p:sp>
        <p:nvSpPr>
          <p:cNvPr id="6" name="TextBox 5">
            <a:extLst>
              <a:ext uri="{FF2B5EF4-FFF2-40B4-BE49-F238E27FC236}">
                <a16:creationId xmlns:a16="http://schemas.microsoft.com/office/drawing/2014/main" id="{92BAC53F-0421-F4D0-8218-5214379713A6}"/>
              </a:ext>
            </a:extLst>
          </p:cNvPr>
          <p:cNvSpPr txBox="1"/>
          <p:nvPr/>
        </p:nvSpPr>
        <p:spPr>
          <a:xfrm>
            <a:off x="495300" y="1352542"/>
            <a:ext cx="2775438" cy="600164"/>
          </a:xfrm>
          <a:prstGeom prst="rect">
            <a:avLst/>
          </a:prstGeom>
          <a:noFill/>
        </p:spPr>
        <p:txBody>
          <a:bodyPr wrap="square">
            <a:spAutoFit/>
          </a:bodyPr>
          <a:lstStyle/>
          <a:p>
            <a:pPr>
              <a:defRPr sz="1650" b="1">
                <a:solidFill>
                  <a:srgbClr val="DCE6F1"/>
                </a:solidFill>
                <a:latin typeface="Calibri"/>
                <a:ea typeface="Calibri"/>
                <a:cs typeface="Calibri"/>
              </a:defRPr>
            </a:pPr>
            <a:r>
              <a:rPr lang="en-US" sz="1650" b="1">
                <a:solidFill>
                  <a:schemeClr val="tx2">
                    <a:lumMod val="75000"/>
                  </a:schemeClr>
                </a:solidFill>
                <a:latin typeface="Calibri"/>
              </a:rPr>
              <a:t>3.  Our key is created and we can use it</a:t>
            </a:r>
            <a:endParaRPr lang="en-GR" sz="1650" i="1">
              <a:solidFill>
                <a:schemeClr val="tx2">
                  <a:lumMod val="75000"/>
                </a:schemeClr>
              </a:solidFill>
              <a:latin typeface="Calibri"/>
            </a:endParaRPr>
          </a:p>
        </p:txBody>
      </p:sp>
      <p:pic>
        <p:nvPicPr>
          <p:cNvPr id="9" name="Picture 8">
            <a:extLst>
              <a:ext uri="{FF2B5EF4-FFF2-40B4-BE49-F238E27FC236}">
                <a16:creationId xmlns:a16="http://schemas.microsoft.com/office/drawing/2014/main" id="{CE955036-47F6-CF4F-1526-1B308BC73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7703" y="1160112"/>
            <a:ext cx="4644064" cy="4635099"/>
          </a:xfrm>
          <a:prstGeom prst="rect">
            <a:avLst/>
          </a:prstGeom>
        </p:spPr>
      </p:pic>
      <p:sp>
        <p:nvSpPr>
          <p:cNvPr id="10" name="Rectangle 9">
            <a:extLst>
              <a:ext uri="{FF2B5EF4-FFF2-40B4-BE49-F238E27FC236}">
                <a16:creationId xmlns:a16="http://schemas.microsoft.com/office/drawing/2014/main" id="{CE85746D-FD73-2FA1-5384-0BE66C724592}"/>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to create Gemini API keys</a:t>
            </a:r>
            <a:endParaRPr sz="2400" b="1">
              <a:solidFill>
                <a:srgbClr val="17365D"/>
              </a:solidFill>
              <a:latin typeface="Calibri"/>
              <a:ea typeface="Calibri"/>
              <a:cs typeface="Calibri"/>
            </a:endParaRPr>
          </a:p>
        </p:txBody>
      </p:sp>
      <p:pic>
        <p:nvPicPr>
          <p:cNvPr id="5" name="Graphic 4">
            <a:extLst>
              <a:ext uri="{FF2B5EF4-FFF2-40B4-BE49-F238E27FC236}">
                <a16:creationId xmlns:a16="http://schemas.microsoft.com/office/drawing/2014/main" id="{3753BDEE-705E-12E1-55D7-0D28FF0946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800" y="196850"/>
            <a:ext cx="514350" cy="647700"/>
          </a:xfrm>
          <a:prstGeom prst="rect">
            <a:avLst/>
          </a:prstGeom>
        </p:spPr>
      </p:pic>
    </p:spTree>
    <p:extLst>
      <p:ext uri="{BB962C8B-B14F-4D97-AF65-F5344CB8AC3E}">
        <p14:creationId xmlns:p14="http://schemas.microsoft.com/office/powerpoint/2010/main" val="800146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4502D-B902-8305-BFD4-E9C6CF1229AE}"/>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570760B3-09CF-31F1-3997-A1BC8221B309}"/>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61697DF6-0C9B-9AB3-0B6E-F18033729AA0}"/>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4" name="Rectangle 3">
            <a:extLst>
              <a:ext uri="{FF2B5EF4-FFF2-40B4-BE49-F238E27FC236}">
                <a16:creationId xmlns:a16="http://schemas.microsoft.com/office/drawing/2014/main" id="{B6BA2C2C-B097-349C-83D2-7CEA2FCEB8D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979D402F-C9EB-68F0-6344-019F9DEDC893}"/>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25</a:t>
            </a:fld>
            <a:endParaRPr sz="750" b="0">
              <a:solidFill>
                <a:srgbClr val="5B6573"/>
              </a:solidFill>
              <a:latin typeface="Calibri"/>
              <a:ea typeface="Calibri"/>
              <a:cs typeface="Calibri"/>
            </a:endParaRPr>
          </a:p>
        </p:txBody>
      </p:sp>
      <p:sp>
        <p:nvSpPr>
          <p:cNvPr id="10" name="Rectangle 9">
            <a:extLst>
              <a:ext uri="{FF2B5EF4-FFF2-40B4-BE49-F238E27FC236}">
                <a16:creationId xmlns:a16="http://schemas.microsoft.com/office/drawing/2014/main" id="{E99EA6FB-5A55-6A1A-0CC4-B82D4640BD4B}"/>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One file for all your API keys</a:t>
            </a:r>
            <a:endParaRPr sz="2400" b="1">
              <a:solidFill>
                <a:srgbClr val="17365D"/>
              </a:solidFill>
              <a:latin typeface="Calibri"/>
              <a:ea typeface="Calibri"/>
              <a:cs typeface="Calibri"/>
            </a:endParaRPr>
          </a:p>
        </p:txBody>
      </p:sp>
      <p:sp>
        <p:nvSpPr>
          <p:cNvPr id="3" name="Rounded Rectangle 2">
            <a:extLst>
              <a:ext uri="{FF2B5EF4-FFF2-40B4-BE49-F238E27FC236}">
                <a16:creationId xmlns:a16="http://schemas.microsoft.com/office/drawing/2014/main" id="{7B1EF8D6-AA28-1B28-610B-CCC07E727E7D}"/>
              </a:ext>
            </a:extLst>
          </p:cNvPr>
          <p:cNvSpPr>
            <a:spLocks noGrp="1"/>
          </p:cNvSpPr>
          <p:nvPr/>
        </p:nvSpPr>
        <p:spPr>
          <a:xfrm>
            <a:off x="898985" y="1076326"/>
            <a:ext cx="7754563" cy="58344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5" name="Rectangle 4">
            <a:extLst>
              <a:ext uri="{FF2B5EF4-FFF2-40B4-BE49-F238E27FC236}">
                <a16:creationId xmlns:a16="http://schemas.microsoft.com/office/drawing/2014/main" id="{77A36D6E-0600-32C7-E2CA-ABF8B3756BFE}"/>
              </a:ext>
            </a:extLst>
          </p:cNvPr>
          <p:cNvSpPr>
            <a:spLocks noGrp="1"/>
          </p:cNvSpPr>
          <p:nvPr/>
        </p:nvSpPr>
        <p:spPr>
          <a:xfrm>
            <a:off x="949077" y="1087756"/>
            <a:ext cx="7654378" cy="581025"/>
          </a:xfrm>
          <a:prstGeom prst="rect">
            <a:avLst/>
          </a:prstGeom>
          <a:noFill/>
          <a:ln w="0">
            <a:noFill/>
          </a:ln>
        </p:spPr>
        <p:txBody>
          <a:bodyPr anchor="ctr">
            <a:normAutofit fontScale="89848"/>
          </a:bodyPr>
          <a:lstStyle/>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Copy the template once and add your keys: every part (1–4) reads them from there</a:t>
            </a:r>
          </a:p>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The configs only reference them: api_key: "$GEMINI_API_KEY"</a:t>
            </a:r>
          </a:p>
        </p:txBody>
      </p:sp>
      <p:pic>
        <p:nvPicPr>
          <p:cNvPr id="7" name="Picture 6" descr="Blank screen when I launch the new windows terminal. · Issue #13841 ·  microsoft/terminal">
            <a:extLst>
              <a:ext uri="{FF2B5EF4-FFF2-40B4-BE49-F238E27FC236}">
                <a16:creationId xmlns:a16="http://schemas.microsoft.com/office/drawing/2014/main" id="{33B40E88-CAAD-5942-F41D-9410D245E180}"/>
              </a:ext>
            </a:extLst>
          </p:cNvPr>
          <p:cNvPicPr>
            <a:picLocks noChangeAspect="1"/>
          </p:cNvPicPr>
          <p:nvPr/>
        </p:nvPicPr>
        <p:blipFill>
          <a:blip r:embed="rId3"/>
          <a:stretch>
            <a:fillRect/>
          </a:stretch>
        </p:blipFill>
        <p:spPr>
          <a:xfrm>
            <a:off x="249837" y="1980935"/>
            <a:ext cx="8644326" cy="1734418"/>
          </a:xfrm>
          <a:prstGeom prst="rect">
            <a:avLst/>
          </a:prstGeom>
        </p:spPr>
      </p:pic>
      <p:sp>
        <p:nvSpPr>
          <p:cNvPr id="13" name="TextBox 12">
            <a:extLst>
              <a:ext uri="{FF2B5EF4-FFF2-40B4-BE49-F238E27FC236}">
                <a16:creationId xmlns:a16="http://schemas.microsoft.com/office/drawing/2014/main" id="{DEC32711-F062-752F-7CA4-83C6EF83C96D}"/>
              </a:ext>
            </a:extLst>
          </p:cNvPr>
          <p:cNvSpPr txBox="1"/>
          <p:nvPr/>
        </p:nvSpPr>
        <p:spPr>
          <a:xfrm>
            <a:off x="394216" y="2353093"/>
            <a:ext cx="8138160" cy="1192634"/>
          </a:xfrm>
          <a:prstGeom prst="rect">
            <a:avLst/>
          </a:prstGeom>
          <a:noFill/>
        </p:spPr>
        <p:txBody>
          <a:bodyPr wrap="square">
            <a:spAutoFit/>
          </a:bodyPr>
          <a:lstStyle/>
          <a:p>
            <a:pPr algn="l">
              <a:spcAft>
                <a:spcPts val="900"/>
              </a:spcAft>
              <a:buNone/>
            </a:pPr>
            <a:r>
              <a:rPr lang="en-US" sz="1600" b="0" i="0">
                <a:solidFill>
                  <a:srgbClr val="FFFFFF"/>
                </a:solidFill>
                <a:latin typeface="Courier New"/>
                <a:ea typeface="Courier New"/>
                <a:cs typeface="Courier New"/>
              </a:rPr>
              <a:t>cp scripts/api_keys.example.sh scripts/api_keys.sh</a:t>
            </a:r>
          </a:p>
          <a:p>
            <a:pPr algn="l">
              <a:spcAft>
                <a:spcPts val="0"/>
              </a:spcAft>
              <a:buNone/>
            </a:pPr>
            <a:r>
              <a:rPr lang="en-US" sz="1600">
                <a:solidFill>
                  <a:srgbClr val="FFFFFF"/>
                </a:solidFill>
                <a:latin typeface="Courier New"/>
                <a:ea typeface="Courier New"/>
                <a:cs typeface="Courier New"/>
              </a:rPr>
              <a:t>Edit the </a:t>
            </a:r>
            <a:r>
              <a:rPr lang="en-US" sz="1600" err="1">
                <a:solidFill>
                  <a:srgbClr val="FFFFFF"/>
                </a:solidFill>
                <a:latin typeface="Courier New"/>
                <a:ea typeface="Courier New"/>
                <a:cs typeface="Courier New"/>
              </a:rPr>
              <a:t>api_keys.sh</a:t>
            </a:r>
            <a:r>
              <a:rPr lang="en-US" sz="1600">
                <a:solidFill>
                  <a:srgbClr val="FFFFFF"/>
                </a:solidFill>
                <a:latin typeface="Courier New"/>
                <a:ea typeface="Courier New"/>
                <a:cs typeface="Courier New"/>
              </a:rPr>
              <a:t> and put the GEMINI_API_KEY we copied before</a:t>
            </a:r>
            <a:endParaRPr lang="en-US" sz="1600" b="0" i="0">
              <a:solidFill>
                <a:srgbClr val="FFFFFF"/>
              </a:solidFill>
              <a:latin typeface="Courier New"/>
              <a:ea typeface="Courier New"/>
              <a:cs typeface="Courier New"/>
            </a:endParaRPr>
          </a:p>
          <a:p>
            <a:pPr algn="l">
              <a:spcAft>
                <a:spcPts val="0"/>
              </a:spcAft>
              <a:buNone/>
            </a:pPr>
            <a:endParaRPr lang="en-US" sz="1600">
              <a:solidFill>
                <a:srgbClr val="FFFFFF"/>
              </a:solidFill>
              <a:latin typeface="Courier New"/>
              <a:ea typeface="Courier New"/>
              <a:cs typeface="Courier New"/>
            </a:endParaRPr>
          </a:p>
          <a:p>
            <a:pPr algn="l">
              <a:spcAft>
                <a:spcPts val="0"/>
              </a:spcAft>
              <a:buNone/>
            </a:pPr>
            <a:r>
              <a:rPr lang="en-US" sz="1600" b="0" i="0">
                <a:solidFill>
                  <a:srgbClr val="FFFFFF"/>
                </a:solidFill>
                <a:latin typeface="Courier New"/>
                <a:ea typeface="Courier New"/>
                <a:cs typeface="Courier New"/>
              </a:rPr>
              <a:t>source /home/scripts/api_keys.sh</a:t>
            </a:r>
          </a:p>
        </p:txBody>
      </p:sp>
      <p:sp>
        <p:nvSpPr>
          <p:cNvPr id="77" name="Key variables"/>
          <p:cNvSpPr/>
          <p:nvPr/>
        </p:nvSpPr>
        <p:spPr>
          <a:xfrm>
            <a:off x="493776" y="3977639"/>
            <a:ext cx="8138160" cy="2331720"/>
          </a:xfrm>
          <a:prstGeom prst="roundRect">
            <a:avLst>
              <a:gd name="adj" fmla="val 5000"/>
            </a:avLst>
          </a:prstGeom>
          <a:solidFill>
            <a:srgbClr val="F3F6FA"/>
          </a:solidFill>
          <a:ln>
            <a:noFill/>
          </a:ln>
        </p:spPr>
        <p:txBody>
          <a:bodyPr wrap="square" lIns="228600" tIns="228600" rIns="228600" bIns="228600" anchor="t">
            <a:normAutofit/>
          </a:bodyPr>
          <a:lstStyle/>
          <a:p>
            <a:pPr algn="l">
              <a:spcAft>
                <a:spcPts val="900"/>
              </a:spcAft>
              <a:buNone/>
            </a:pPr>
            <a:r>
              <a:rPr lang="en-US" sz="1400" b="1" i="0">
                <a:solidFill>
                  <a:srgbClr val="0E2745"/>
                </a:solidFill>
                <a:latin typeface="Calibri"/>
                <a:ea typeface="Calibri"/>
                <a:cs typeface="Calibri"/>
              </a:rPr>
              <a:t>Loaded automatically in every container shell – it prints which keys are set</a:t>
            </a:r>
          </a:p>
          <a:p>
            <a:pPr algn="l">
              <a:spcAft>
                <a:spcPts val="500"/>
              </a:spcAft>
              <a:buNone/>
            </a:pPr>
            <a:r>
              <a:rPr lang="en-US" sz="1300" b="1" i="0">
                <a:solidFill>
                  <a:srgbClr val="B91F2D"/>
                </a:solidFill>
                <a:latin typeface="Courier New"/>
                <a:ea typeface="Courier New"/>
                <a:cs typeface="Courier New"/>
              </a:rPr>
              <a:t>GEMINI_API_KEY</a:t>
            </a:r>
            <a:r>
              <a:rPr lang="en-US" sz="1300" b="0" i="0">
                <a:solidFill>
                  <a:srgbClr val="0E2745"/>
                </a:solidFill>
                <a:latin typeface="Calibri"/>
                <a:ea typeface="Calibri"/>
                <a:cs typeface="Calibri"/>
              </a:rPr>
              <a:t>   Google Gemini – Parts 2 and 3 and Part 4b</a:t>
            </a:r>
          </a:p>
          <a:p>
            <a:pPr algn="l">
              <a:spcAft>
                <a:spcPts val="500"/>
              </a:spcAft>
              <a:buNone/>
            </a:pPr>
            <a:r>
              <a:rPr lang="en-US" sz="1300" b="1" i="0">
                <a:solidFill>
                  <a:srgbClr val="B91F2D"/>
                </a:solidFill>
                <a:latin typeface="Courier New"/>
                <a:ea typeface="Courier New"/>
                <a:cs typeface="Courier New"/>
              </a:rPr>
              <a:t>ANTHROPIC_API_KEY</a:t>
            </a:r>
            <a:r>
              <a:rPr lang="en-US" sz="1300" b="0" i="0">
                <a:solidFill>
                  <a:srgbClr val="0E2745"/>
                </a:solidFill>
                <a:latin typeface="Calibri"/>
                <a:ea typeface="Calibri"/>
                <a:cs typeface="Calibri"/>
              </a:rPr>
              <a:t>   Anthropic Claude – Part 4a (orchestrator + workers)</a:t>
            </a:r>
          </a:p>
          <a:p>
            <a:pPr algn="l">
              <a:spcAft>
                <a:spcPts val="500"/>
              </a:spcAft>
              <a:buNone/>
            </a:pPr>
            <a:r>
              <a:rPr lang="en-US" sz="1300" b="1" i="0">
                <a:solidFill>
                  <a:srgbClr val="B91F2D"/>
                </a:solidFill>
                <a:latin typeface="Courier New"/>
                <a:ea typeface="Courier New"/>
                <a:cs typeface="Courier New"/>
              </a:rPr>
              <a:t>OPENAI_API_KEY / GROQ_API_KEY</a:t>
            </a:r>
            <a:r>
              <a:rPr lang="en-US" sz="1300" b="0" i="0">
                <a:solidFill>
                  <a:srgbClr val="0E2745"/>
                </a:solidFill>
                <a:latin typeface="Calibri"/>
                <a:ea typeface="Calibri"/>
                <a:cs typeface="Calibri"/>
              </a:rPr>
              <a:t>   optional providers</a:t>
            </a:r>
          </a:p>
          <a:p>
            <a:pPr algn="l">
              <a:spcAft>
                <a:spcPts val="0"/>
              </a:spcAft>
              <a:buNone/>
            </a:pPr>
            <a:r>
              <a:rPr lang="en-US" sz="1200" b="0" i="1">
                <a:solidFill>
                  <a:srgbClr val="5D6C7B"/>
                </a:solidFill>
                <a:latin typeface="Calibri"/>
                <a:ea typeface="Calibri"/>
                <a:cs typeface="Calibri"/>
              </a:rPr>
              <a:t>api_keys.sh is git-ignored: never commit or share it</a:t>
            </a:r>
          </a:p>
        </p:txBody>
      </p:sp>
    </p:spTree>
    <p:extLst>
      <p:ext uri="{BB962C8B-B14F-4D97-AF65-F5344CB8AC3E}">
        <p14:creationId xmlns:p14="http://schemas.microsoft.com/office/powerpoint/2010/main" val="1125866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How every task works: the 5 identical steps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26</a:t>
            </a:fld>
            <a:endParaRPr sz="750" b="0">
              <a:solidFill>
                <a:srgbClr val="5B6573"/>
              </a:solidFill>
              <a:latin typeface="Calibri"/>
              <a:ea typeface="Calibri"/>
              <a:cs typeface="Calibri"/>
            </a:endParaRPr>
          </a:p>
        </p:txBody>
      </p:sp>
      <p:sp>
        <p:nvSpPr>
          <p:cNvPr id="1350" name="shape 1350"/>
          <p:cNvSpPr/>
          <p:nvPr/>
        </p:nvSpPr>
        <p:spPr>
          <a:xfrm>
            <a:off x="969264" y="1143000"/>
            <a:ext cx="548640" cy="54864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600" b="1" i="0">
                <a:solidFill>
                  <a:srgbClr val="FFFFFF"/>
                </a:solidFill>
                <a:latin typeface="Calibri"/>
                <a:ea typeface="Calibri"/>
                <a:cs typeface="Calibri"/>
              </a:rPr>
              <a:t>1</a:t>
            </a:r>
          </a:p>
        </p:txBody>
      </p:sp>
      <p:sp>
        <p:nvSpPr>
          <p:cNvPr id="1351" name="shape 1351"/>
          <p:cNvSpPr/>
          <p:nvPr/>
        </p:nvSpPr>
        <p:spPr>
          <a:xfrm>
            <a:off x="457200" y="1828800"/>
            <a:ext cx="1517904" cy="2377440"/>
          </a:xfrm>
          <a:prstGeom prst="roundRect">
            <a:avLst>
              <a:gd name="adj" fmla="val 9000"/>
            </a:avLst>
          </a:prstGeom>
          <a:solidFill>
            <a:srgbClr val="F3F6FA"/>
          </a:solidFill>
          <a:ln>
            <a:noFill/>
          </a:ln>
        </p:spPr>
        <p:txBody>
          <a:bodyPr wrap="square" lIns="91440" tIns="91440" rIns="91440" bIns="91440" anchor="ctr">
            <a:noAutofit/>
          </a:bodyPr>
          <a:lstStyle/>
          <a:p>
            <a:pPr algn="ctr">
              <a:spcBef>
                <a:spcPts val="0"/>
              </a:spcBef>
              <a:spcAft>
                <a:spcPts val="300"/>
              </a:spcAft>
              <a:buNone/>
            </a:pPr>
            <a:r>
              <a:rPr lang="en-US" sz="1200" b="1" i="0">
                <a:solidFill>
                  <a:srgbClr val="0E2745"/>
                </a:solidFill>
                <a:latin typeface="Calibri"/>
                <a:ea typeface="Calibri"/>
                <a:cs typeface="Calibri"/>
              </a:rPr>
              <a:t>Go to problem/</a:t>
            </a:r>
          </a:p>
          <a:p>
            <a:pPr algn="ctr">
              <a:spcBef>
                <a:spcPts val="0"/>
              </a:spcBef>
              <a:spcAft>
                <a:spcPts val="300"/>
              </a:spcAft>
              <a:buNone/>
            </a:pPr>
            <a:r>
              <a:rPr lang="en-US" sz="1000" b="0" i="0">
                <a:solidFill>
                  <a:srgbClr val="0E2745"/>
                </a:solidFill>
                <a:latin typeface="Calibri"/>
                <a:ea typeface="Calibri"/>
                <a:cs typeface="Calibri"/>
              </a:rPr>
              <a:t>the starting point: minimal prompts</a:t>
            </a:r>
          </a:p>
          <a:p>
            <a:pPr algn="ctr">
              <a:spcBef>
                <a:spcPts val="0"/>
              </a:spcBef>
              <a:spcAft>
                <a:spcPts val="0"/>
              </a:spcAft>
              <a:buNone/>
            </a:pPr>
            <a:r>
              <a:rPr lang="en-US" sz="850" b="0" i="0">
                <a:solidFill>
                  <a:srgbClr val="5D6C7B"/>
                </a:solidFill>
                <a:latin typeface="Courier New"/>
                <a:ea typeface="Courier New"/>
                <a:cs typeface="Courier New"/>
              </a:rPr>
              <a:t>cd /home/scripts/partN/.../problem</a:t>
            </a:r>
          </a:p>
        </p:txBody>
      </p:sp>
      <p:sp>
        <p:nvSpPr>
          <p:cNvPr id="1352" name="arrow 1352"/>
          <p:cNvSpPr/>
          <p:nvPr/>
        </p:nvSpPr>
        <p:spPr>
          <a:xfrm>
            <a:off x="1975104" y="2880360"/>
            <a:ext cx="146304" cy="274320"/>
          </a:xfrm>
          <a:prstGeom prst="rightArrow">
            <a:avLst/>
          </a:prstGeom>
          <a:solidFill>
            <a:srgbClr val="4F81BD"/>
          </a:solidFill>
          <a:ln>
            <a:noFill/>
          </a:ln>
        </p:spPr>
        <p:txBody>
          <a:bodyPr/>
          <a:lstStyle/>
          <a:p>
            <a:endParaRPr lang="en-US"/>
          </a:p>
        </p:txBody>
      </p:sp>
      <p:sp>
        <p:nvSpPr>
          <p:cNvPr id="1353" name="shape 1353"/>
          <p:cNvSpPr/>
          <p:nvPr/>
        </p:nvSpPr>
        <p:spPr>
          <a:xfrm>
            <a:off x="2633472" y="1143000"/>
            <a:ext cx="548640" cy="54864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600" b="1" i="0">
                <a:solidFill>
                  <a:srgbClr val="FFFFFF"/>
                </a:solidFill>
                <a:latin typeface="Calibri"/>
                <a:ea typeface="Calibri"/>
                <a:cs typeface="Calibri"/>
              </a:rPr>
              <a:t>2</a:t>
            </a:r>
          </a:p>
        </p:txBody>
      </p:sp>
      <p:sp>
        <p:nvSpPr>
          <p:cNvPr id="1354" name="shape 1354"/>
          <p:cNvSpPr/>
          <p:nvPr/>
        </p:nvSpPr>
        <p:spPr>
          <a:xfrm>
            <a:off x="2121408" y="1828800"/>
            <a:ext cx="1517904" cy="2377440"/>
          </a:xfrm>
          <a:prstGeom prst="roundRect">
            <a:avLst>
              <a:gd name="adj" fmla="val 9000"/>
            </a:avLst>
          </a:prstGeom>
          <a:solidFill>
            <a:srgbClr val="F3F6FA"/>
          </a:solidFill>
          <a:ln>
            <a:noFill/>
          </a:ln>
        </p:spPr>
        <p:txBody>
          <a:bodyPr wrap="square" lIns="91440" tIns="91440" rIns="91440" bIns="91440" anchor="ctr">
            <a:noAutofit/>
          </a:bodyPr>
          <a:lstStyle/>
          <a:p>
            <a:pPr algn="ctr">
              <a:spcBef>
                <a:spcPts val="0"/>
              </a:spcBef>
              <a:spcAft>
                <a:spcPts val="300"/>
              </a:spcAft>
              <a:buNone/>
            </a:pPr>
            <a:r>
              <a:rPr lang="en-US" sz="1200" b="1" i="0">
                <a:solidFill>
                  <a:srgbClr val="0E2745"/>
                </a:solidFill>
                <a:latin typeface="Calibri"/>
                <a:ea typeface="Calibri"/>
                <a:cs typeface="Calibri"/>
              </a:rPr>
              <a:t>Run it as is</a:t>
            </a:r>
          </a:p>
          <a:p>
            <a:pPr algn="ctr">
              <a:spcBef>
                <a:spcPts val="0"/>
              </a:spcBef>
              <a:spcAft>
                <a:spcPts val="300"/>
              </a:spcAft>
              <a:buNone/>
            </a:pPr>
            <a:r>
              <a:rPr lang="en-US" sz="1000" b="0" i="0">
                <a:solidFill>
                  <a:srgbClr val="0E2745"/>
                </a:solidFill>
                <a:latin typeface="Calibri"/>
                <a:ea typeface="Calibri"/>
                <a:cs typeface="Calibri"/>
              </a:rPr>
              <a:t>this is your baseline: write down the result</a:t>
            </a:r>
          </a:p>
          <a:p>
            <a:pPr algn="ctr">
              <a:spcBef>
                <a:spcPts val="0"/>
              </a:spcBef>
              <a:spcAft>
                <a:spcPts val="0"/>
              </a:spcAft>
              <a:buNone/>
            </a:pPr>
            <a:r>
              <a:rPr lang="en-US" sz="850" b="0" i="0">
                <a:solidFill>
                  <a:srgbClr val="5D6C7B"/>
                </a:solidFill>
                <a:latin typeface="Courier New"/>
                <a:ea typeface="Courier New"/>
                <a:cs typeface="Courier New"/>
              </a:rPr>
              <a:t>python3 &lt;script&gt; ...</a:t>
            </a:r>
          </a:p>
        </p:txBody>
      </p:sp>
      <p:sp>
        <p:nvSpPr>
          <p:cNvPr id="1355" name="arrow 1355"/>
          <p:cNvSpPr/>
          <p:nvPr/>
        </p:nvSpPr>
        <p:spPr>
          <a:xfrm>
            <a:off x="3639312" y="2880360"/>
            <a:ext cx="146304" cy="274320"/>
          </a:xfrm>
          <a:prstGeom prst="rightArrow">
            <a:avLst/>
          </a:prstGeom>
          <a:solidFill>
            <a:srgbClr val="4F81BD"/>
          </a:solidFill>
          <a:ln>
            <a:noFill/>
          </a:ln>
        </p:spPr>
        <p:txBody>
          <a:bodyPr/>
          <a:lstStyle/>
          <a:p>
            <a:endParaRPr lang="en-US"/>
          </a:p>
        </p:txBody>
      </p:sp>
      <p:sp>
        <p:nvSpPr>
          <p:cNvPr id="1356" name="shape 1356"/>
          <p:cNvSpPr/>
          <p:nvPr/>
        </p:nvSpPr>
        <p:spPr>
          <a:xfrm>
            <a:off x="4297680" y="1143000"/>
            <a:ext cx="548640" cy="548640"/>
          </a:xfrm>
          <a:prstGeom prst="ellipse">
            <a:avLst/>
          </a:prstGeom>
          <a:solidFill>
            <a:srgbClr val="B91F2D"/>
          </a:solidFill>
          <a:ln>
            <a:noFill/>
          </a:ln>
        </p:spPr>
        <p:txBody>
          <a:bodyPr wrap="square" lIns="0" tIns="0" rIns="0" bIns="0" anchor="ctr">
            <a:noAutofit/>
          </a:bodyPr>
          <a:lstStyle/>
          <a:p>
            <a:pPr algn="ctr">
              <a:spcBef>
                <a:spcPts val="0"/>
              </a:spcBef>
              <a:spcAft>
                <a:spcPts val="0"/>
              </a:spcAft>
              <a:buNone/>
            </a:pPr>
            <a:r>
              <a:rPr lang="en-US" sz="1600" b="1" i="0">
                <a:solidFill>
                  <a:srgbClr val="FFFFFF"/>
                </a:solidFill>
                <a:latin typeface="Calibri"/>
                <a:ea typeface="Calibri"/>
                <a:cs typeface="Calibri"/>
              </a:rPr>
              <a:t>3</a:t>
            </a:r>
          </a:p>
        </p:txBody>
      </p:sp>
      <p:sp>
        <p:nvSpPr>
          <p:cNvPr id="1357" name="shape 1357"/>
          <p:cNvSpPr/>
          <p:nvPr/>
        </p:nvSpPr>
        <p:spPr>
          <a:xfrm>
            <a:off x="3785616" y="1828800"/>
            <a:ext cx="1517904" cy="2377440"/>
          </a:xfrm>
          <a:prstGeom prst="roundRect">
            <a:avLst>
              <a:gd name="adj" fmla="val 9000"/>
            </a:avLst>
          </a:prstGeom>
          <a:solidFill>
            <a:srgbClr val="FBE9EB"/>
          </a:solidFill>
          <a:ln>
            <a:noFill/>
          </a:ln>
        </p:spPr>
        <p:txBody>
          <a:bodyPr wrap="square" lIns="91440" tIns="91440" rIns="91440" bIns="91440" anchor="ctr">
            <a:noAutofit/>
          </a:bodyPr>
          <a:lstStyle/>
          <a:p>
            <a:pPr algn="ctr">
              <a:spcBef>
                <a:spcPts val="0"/>
              </a:spcBef>
              <a:spcAft>
                <a:spcPts val="300"/>
              </a:spcAft>
              <a:buNone/>
            </a:pPr>
            <a:r>
              <a:rPr lang="en-US" sz="1200" b="1" i="0">
                <a:solidFill>
                  <a:srgbClr val="0E2745"/>
                </a:solidFill>
                <a:latin typeface="Calibri"/>
                <a:ea typeface="Calibri"/>
                <a:cs typeface="Calibri"/>
              </a:rPr>
              <a:t>Improve the agent</a:t>
            </a:r>
          </a:p>
          <a:p>
            <a:pPr algn="ctr">
              <a:spcBef>
                <a:spcPts val="0"/>
              </a:spcBef>
              <a:spcAft>
                <a:spcPts val="300"/>
              </a:spcAft>
              <a:buNone/>
            </a:pPr>
            <a:r>
              <a:rPr lang="en-US" sz="1000" b="0" i="0">
                <a:solidFill>
                  <a:srgbClr val="0E2745"/>
                </a:solidFill>
                <a:latin typeface="Calibri"/>
                <a:ea typeface="Calibri"/>
                <a:cs typeface="Calibri"/>
              </a:rPr>
              <a:t>edit  provided </a:t>
            </a:r>
            <a:r>
              <a:rPr lang="en-US" sz="1000" b="0" i="0" err="1">
                <a:solidFill>
                  <a:srgbClr val="0E2745"/>
                </a:solidFill>
                <a:latin typeface="Courier New" panose="02070309020205020404" pitchFamily="49" charset="0"/>
                <a:ea typeface="Calibri"/>
                <a:cs typeface="Courier New" panose="02070309020205020404" pitchFamily="49" charset="0"/>
              </a:rPr>
              <a:t>Agent.md</a:t>
            </a:r>
            <a:r>
              <a:rPr lang="en-US" sz="1000" b="0" i="0">
                <a:solidFill>
                  <a:srgbClr val="0E2745"/>
                </a:solidFill>
                <a:latin typeface="Calibri"/>
                <a:ea typeface="Calibri"/>
                <a:cs typeface="Calibri"/>
              </a:rPr>
              <a:t> (or </a:t>
            </a:r>
            <a:r>
              <a:rPr lang="en-US" sz="1000" b="0" i="0">
                <a:solidFill>
                  <a:srgbClr val="0E2745"/>
                </a:solidFill>
                <a:latin typeface="Courier New" panose="02070309020205020404" pitchFamily="49" charset="0"/>
                <a:ea typeface="Calibri"/>
                <a:cs typeface="Courier New" panose="02070309020205020404" pitchFamily="49" charset="0"/>
              </a:rPr>
              <a:t>trainset.json</a:t>
            </a:r>
            <a:r>
              <a:rPr lang="en-US" sz="1000" b="0" i="0">
                <a:solidFill>
                  <a:srgbClr val="0E2745"/>
                </a:solidFill>
                <a:latin typeface="Calibri"/>
                <a:ea typeface="Calibri"/>
                <a:cs typeface="Calibri"/>
              </a:rPr>
              <a:t>) on your laptop</a:t>
            </a:r>
          </a:p>
          <a:p>
            <a:pPr algn="ctr">
              <a:spcBef>
                <a:spcPts val="0"/>
              </a:spcBef>
              <a:spcAft>
                <a:spcPts val="0"/>
              </a:spcAft>
              <a:buNone/>
            </a:pPr>
            <a:r>
              <a:rPr lang="en-US" sz="850" b="0" i="0">
                <a:solidFill>
                  <a:srgbClr val="5D6C7B"/>
                </a:solidFill>
                <a:latin typeface="Courier New"/>
                <a:ea typeface="Courier New"/>
                <a:cs typeface="Courier New"/>
              </a:rPr>
              <a:t>rules, examples, feedback</a:t>
            </a:r>
          </a:p>
        </p:txBody>
      </p:sp>
      <p:sp>
        <p:nvSpPr>
          <p:cNvPr id="1358" name="arrow 1358"/>
          <p:cNvSpPr/>
          <p:nvPr/>
        </p:nvSpPr>
        <p:spPr>
          <a:xfrm>
            <a:off x="5303520" y="2880360"/>
            <a:ext cx="146304" cy="274320"/>
          </a:xfrm>
          <a:prstGeom prst="rightArrow">
            <a:avLst/>
          </a:prstGeom>
          <a:solidFill>
            <a:srgbClr val="4F81BD"/>
          </a:solidFill>
          <a:ln>
            <a:noFill/>
          </a:ln>
        </p:spPr>
        <p:txBody>
          <a:bodyPr/>
          <a:lstStyle/>
          <a:p>
            <a:endParaRPr lang="en-US"/>
          </a:p>
        </p:txBody>
      </p:sp>
      <p:sp>
        <p:nvSpPr>
          <p:cNvPr id="1359" name="shape 1359"/>
          <p:cNvSpPr/>
          <p:nvPr/>
        </p:nvSpPr>
        <p:spPr>
          <a:xfrm>
            <a:off x="5961888" y="1143000"/>
            <a:ext cx="548640" cy="54864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600" b="1" i="0">
                <a:solidFill>
                  <a:srgbClr val="FFFFFF"/>
                </a:solidFill>
                <a:latin typeface="Calibri"/>
                <a:ea typeface="Calibri"/>
                <a:cs typeface="Calibri"/>
              </a:rPr>
              <a:t>4</a:t>
            </a:r>
          </a:p>
        </p:txBody>
      </p:sp>
      <p:sp>
        <p:nvSpPr>
          <p:cNvPr id="1360" name="shape 1360"/>
          <p:cNvSpPr/>
          <p:nvPr/>
        </p:nvSpPr>
        <p:spPr>
          <a:xfrm>
            <a:off x="5449824" y="1828800"/>
            <a:ext cx="1517904" cy="2377440"/>
          </a:xfrm>
          <a:prstGeom prst="roundRect">
            <a:avLst>
              <a:gd name="adj" fmla="val 9000"/>
            </a:avLst>
          </a:prstGeom>
          <a:solidFill>
            <a:srgbClr val="F3F6FA"/>
          </a:solidFill>
          <a:ln>
            <a:noFill/>
          </a:ln>
        </p:spPr>
        <p:txBody>
          <a:bodyPr wrap="square" lIns="91440" tIns="91440" rIns="91440" bIns="91440" anchor="ctr">
            <a:noAutofit/>
          </a:bodyPr>
          <a:lstStyle/>
          <a:p>
            <a:pPr algn="ctr">
              <a:spcBef>
                <a:spcPts val="0"/>
              </a:spcBef>
              <a:spcAft>
                <a:spcPts val="300"/>
              </a:spcAft>
              <a:buNone/>
            </a:pPr>
            <a:r>
              <a:rPr lang="en-US" sz="1200" b="1" i="0">
                <a:solidFill>
                  <a:srgbClr val="0E2745"/>
                </a:solidFill>
                <a:latin typeface="Calibri"/>
                <a:ea typeface="Calibri"/>
                <a:cs typeface="Calibri"/>
              </a:rPr>
              <a:t>Run again, compare</a:t>
            </a:r>
          </a:p>
          <a:p>
            <a:pPr algn="ctr">
              <a:spcBef>
                <a:spcPts val="0"/>
              </a:spcBef>
              <a:spcAft>
                <a:spcPts val="300"/>
              </a:spcAft>
              <a:buNone/>
            </a:pPr>
            <a:r>
              <a:rPr lang="en-US" sz="1000" b="0" i="0">
                <a:solidFill>
                  <a:srgbClr val="0E2745"/>
                </a:solidFill>
                <a:latin typeface="Calibri"/>
                <a:ea typeface="Calibri"/>
                <a:cs typeface="Calibri"/>
              </a:rPr>
              <a:t>better result? fewer iterations? fewer tokens?</a:t>
            </a:r>
          </a:p>
          <a:p>
            <a:pPr algn="ctr">
              <a:spcBef>
                <a:spcPts val="0"/>
              </a:spcBef>
              <a:spcAft>
                <a:spcPts val="0"/>
              </a:spcAft>
              <a:buNone/>
            </a:pPr>
            <a:r>
              <a:rPr lang="en-US" sz="850" b="0" i="0">
                <a:solidFill>
                  <a:srgbClr val="5D6C7B"/>
                </a:solidFill>
                <a:latin typeface="Courier New"/>
                <a:ea typeface="Courier New"/>
                <a:cs typeface="Courier New"/>
              </a:rPr>
              <a:t>same command</a:t>
            </a:r>
          </a:p>
        </p:txBody>
      </p:sp>
      <p:sp>
        <p:nvSpPr>
          <p:cNvPr id="1361" name="arrow 1361"/>
          <p:cNvSpPr/>
          <p:nvPr/>
        </p:nvSpPr>
        <p:spPr>
          <a:xfrm>
            <a:off x="6967728" y="2880360"/>
            <a:ext cx="146304" cy="274320"/>
          </a:xfrm>
          <a:prstGeom prst="rightArrow">
            <a:avLst/>
          </a:prstGeom>
          <a:solidFill>
            <a:srgbClr val="4F81BD"/>
          </a:solidFill>
          <a:ln>
            <a:noFill/>
          </a:ln>
        </p:spPr>
        <p:txBody>
          <a:bodyPr/>
          <a:lstStyle/>
          <a:p>
            <a:endParaRPr lang="en-US"/>
          </a:p>
        </p:txBody>
      </p:sp>
      <p:sp>
        <p:nvSpPr>
          <p:cNvPr id="1362" name="shape 1362"/>
          <p:cNvSpPr/>
          <p:nvPr/>
        </p:nvSpPr>
        <p:spPr>
          <a:xfrm>
            <a:off x="7626096" y="1143000"/>
            <a:ext cx="548640" cy="54864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600" b="1" i="0">
                <a:solidFill>
                  <a:srgbClr val="FFFFFF"/>
                </a:solidFill>
                <a:latin typeface="Calibri"/>
                <a:ea typeface="Calibri"/>
                <a:cs typeface="Calibri"/>
              </a:rPr>
              <a:t>5</a:t>
            </a:r>
          </a:p>
        </p:txBody>
      </p:sp>
      <p:sp>
        <p:nvSpPr>
          <p:cNvPr id="1363" name="shape 1363"/>
          <p:cNvSpPr/>
          <p:nvPr/>
        </p:nvSpPr>
        <p:spPr>
          <a:xfrm>
            <a:off x="7114032" y="1828800"/>
            <a:ext cx="1517904" cy="2377440"/>
          </a:xfrm>
          <a:prstGeom prst="roundRect">
            <a:avLst>
              <a:gd name="adj" fmla="val 9000"/>
            </a:avLst>
          </a:prstGeom>
          <a:solidFill>
            <a:srgbClr val="F3F6FA"/>
          </a:solidFill>
          <a:ln>
            <a:noFill/>
          </a:ln>
        </p:spPr>
        <p:txBody>
          <a:bodyPr wrap="square" lIns="91440" tIns="91440" rIns="91440" bIns="91440" anchor="ctr">
            <a:noAutofit/>
          </a:bodyPr>
          <a:lstStyle/>
          <a:p>
            <a:pPr algn="ctr">
              <a:spcBef>
                <a:spcPts val="0"/>
              </a:spcBef>
              <a:spcAft>
                <a:spcPts val="300"/>
              </a:spcAft>
              <a:buNone/>
            </a:pPr>
            <a:r>
              <a:rPr lang="en-US" sz="1200" b="1" i="0">
                <a:solidFill>
                  <a:srgbClr val="0E2745"/>
                </a:solidFill>
                <a:latin typeface="Calibri"/>
                <a:ea typeface="Calibri"/>
                <a:cs typeface="Calibri"/>
              </a:rPr>
              <a:t>Peek at solution/</a:t>
            </a:r>
          </a:p>
          <a:p>
            <a:pPr algn="ctr">
              <a:spcBef>
                <a:spcPts val="0"/>
              </a:spcBef>
              <a:spcAft>
                <a:spcPts val="300"/>
              </a:spcAft>
              <a:buNone/>
            </a:pPr>
            <a:r>
              <a:rPr lang="en-US" sz="1000" b="0" i="0">
                <a:solidFill>
                  <a:srgbClr val="0E2745"/>
                </a:solidFill>
                <a:latin typeface="Calibri"/>
                <a:ea typeface="Calibri"/>
                <a:cs typeface="Calibri"/>
              </a:rPr>
              <a:t>our golden prompts – only after trying yourself</a:t>
            </a:r>
          </a:p>
          <a:p>
            <a:pPr algn="ctr">
              <a:spcBef>
                <a:spcPts val="0"/>
              </a:spcBef>
              <a:spcAft>
                <a:spcPts val="0"/>
              </a:spcAft>
              <a:buNone/>
            </a:pPr>
            <a:r>
              <a:rPr lang="en-US" sz="850" b="0" i="0">
                <a:solidFill>
                  <a:srgbClr val="5D6C7B"/>
                </a:solidFill>
                <a:latin typeface="Courier New"/>
                <a:ea typeface="Courier New"/>
                <a:cs typeface="Courier New"/>
              </a:rPr>
              <a:t>cd ../solution</a:t>
            </a:r>
          </a:p>
        </p:txBody>
      </p:sp>
      <p:sp>
        <p:nvSpPr>
          <p:cNvPr id="1364" name="shape 1364"/>
          <p:cNvSpPr/>
          <p:nvPr/>
        </p:nvSpPr>
        <p:spPr>
          <a:xfrm>
            <a:off x="457200" y="4480560"/>
            <a:ext cx="8229600" cy="1005840"/>
          </a:xfrm>
          <a:prstGeom prst="roundRect">
            <a:avLst>
              <a:gd name="adj" fmla="val 9000"/>
            </a:avLst>
          </a:prstGeom>
          <a:solidFill>
            <a:srgbClr val="FFFFFF"/>
          </a:solidFill>
          <a:ln w="12700">
            <a:solidFill>
              <a:srgbClr val="C9D6E6"/>
            </a:solidFill>
          </a:ln>
        </p:spPr>
        <p:txBody>
          <a:bodyPr wrap="square" lIns="164592" tIns="164592" rIns="164592" bIns="164592" anchor="ctr">
            <a:noAutofit/>
          </a:bodyPr>
          <a:lstStyle/>
          <a:p>
            <a:pPr algn="l">
              <a:spcBef>
                <a:spcPts val="0"/>
              </a:spcBef>
              <a:spcAft>
                <a:spcPts val="0"/>
              </a:spcAft>
              <a:buNone/>
            </a:pPr>
            <a:r>
              <a:rPr lang="en-US" sz="1150" b="1" i="0">
                <a:solidFill>
                  <a:srgbClr val="B91F2D"/>
                </a:solidFill>
                <a:latin typeface="Calibri"/>
                <a:ea typeface="Calibri"/>
                <a:cs typeface="Calibri"/>
              </a:rPr>
              <a:t>Step 3 is the skill you learn today: </a:t>
            </a:r>
            <a:r>
              <a:rPr lang="en-US" sz="1100" b="0" i="0">
                <a:solidFill>
                  <a:srgbClr val="0E2745"/>
                </a:solidFill>
                <a:latin typeface="Calibri"/>
                <a:ea typeface="Calibri"/>
                <a:cs typeface="Calibri"/>
              </a:rPr>
              <a:t>you never edit the Python scripts. You only change what the agent is told – and measure whether it helped.</a:t>
            </a:r>
          </a:p>
        </p:txBody>
      </p:sp>
      <p:sp>
        <p:nvSpPr>
          <p:cNvPr id="1365" name="checkpoint 1365"/>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same 5 steps in Part 1, 2, 3 and 4 – the follow-along slides walk you through each</a:t>
            </a:r>
          </a:p>
        </p:txBody>
      </p:sp>
    </p:spTree>
    <p:extLst>
      <p:ext uri="{BB962C8B-B14F-4D97-AF65-F5344CB8AC3E}">
        <p14:creationId xmlns:p14="http://schemas.microsoft.com/office/powerpoint/2010/main" val="496440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 – overview: two ways to improve an agent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27</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417461439"/>
              </p:ext>
            </p:extLst>
          </p:nvPr>
        </p:nvGraphicFramePr>
        <p:xfrm>
          <a:off x="412375" y="1376678"/>
          <a:ext cx="8435790" cy="2496566"/>
        </p:xfrm>
        <a:graphic>
          <a:graphicData uri="http://schemas.openxmlformats.org/drawingml/2006/table">
            <a:tbl>
              <a:tblPr firstRow="1" bandRow="1">
                <a:tableStyleId>{3C2FFA5D-87B4-456A-9821-1D502468CF0F}</a:tableStyleId>
              </a:tblPr>
              <a:tblGrid>
                <a:gridCol w="1737360">
                  <a:extLst>
                    <a:ext uri="{9D8B030D-6E8A-4147-A177-3AD203B41FA5}">
                      <a16:colId xmlns:a16="http://schemas.microsoft.com/office/drawing/2014/main" val="2743157295"/>
                    </a:ext>
                  </a:extLst>
                </a:gridCol>
                <a:gridCol w="3657600">
                  <a:extLst>
                    <a:ext uri="{9D8B030D-6E8A-4147-A177-3AD203B41FA5}">
                      <a16:colId xmlns:a16="http://schemas.microsoft.com/office/drawing/2014/main" val="3671494132"/>
                    </a:ext>
                  </a:extLst>
                </a:gridCol>
                <a:gridCol w="30408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Task</a:t>
                      </a:r>
                    </a:p>
                  </a:txBody>
                  <a:tcPr anchor="ctr"/>
                </a:tc>
                <a:tc>
                  <a:txBody>
                    <a:bodyPr/>
                    <a:lstStyle/>
                    <a:p>
                      <a:pPr algn="ctr"/>
                      <a:r>
                        <a:rPr lang="en-US" sz="2000">
                          <a:solidFill>
                            <a:schemeClr val="bg1"/>
                          </a:solidFill>
                        </a:rPr>
                        <a:t>Agents &amp; models</a:t>
                      </a:r>
                    </a:p>
                  </a:txBody>
                  <a:tcPr anchor="ctr"/>
                </a:tc>
                <a:tc>
                  <a:txBody>
                    <a:bodyPr/>
                    <a:lstStyle/>
                    <a:p>
                      <a:pPr algn="ctr"/>
                      <a:r>
                        <a:rPr lang="en-US" sz="2000">
                          <a:solidFill>
                            <a:schemeClr val="bg1"/>
                          </a:solidFill>
                        </a:rPr>
                        <a:t>What to look for?</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1.1  Sentiment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DSPy refines the prompt from YOUR labeled examples (trainset.json) · local llama3.1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Does the refined agent beat the baseline?</a:t>
                      </a:r>
                    </a:p>
                  </a:txBody>
                  <a:tcPr anchor="ctr"/>
                </a:tc>
                <a:extLst>
                  <a:ext uri="{0D108BD9-81ED-4DB2-BD59-A6C34878D82A}">
                    <a16:rowId xmlns:a16="http://schemas.microsoft.com/office/drawing/2014/main" val="666777034"/>
                  </a:ext>
                </a:extLst>
              </a:tr>
              <a:tr h="791083">
                <a:tc>
                  <a:txBody>
                    <a:bodyPr/>
                    <a:lstStyle/>
                    <a:p>
                      <a:r>
                        <a:rPr lang="en-US" b="1">
                          <a:solidFill>
                            <a:schemeClr val="tx1"/>
                          </a:solidFill>
                        </a:rPr>
                        <a:t>Task 1.2  Testbench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The agent writes a testbench from a spec; 31 mutants, one correct (Agent.md) · Gemini Flash Lite</a:t>
                      </a:r>
                    </a:p>
                  </a:txBody>
                  <a:tcPr anchor="ctr"/>
                </a:tc>
                <a:tc>
                  <a:txBody>
                    <a:bodyPr/>
                    <a:lstStyle/>
                    <a:p>
                      <a:pPr lvl="0" algn="ctr">
                        <a:lnSpc>
                          <a:spcPct val="115000"/>
                        </a:lnSpc>
                        <a:buClr>
                          <a:srgbClr val="FFFFFF"/>
                        </a:buClr>
                        <a:buSzPts val="1344"/>
                      </a:pPr>
                      <a:r>
                        <a:rPr lang="en-US" sz="1400">
                          <a:solidFill>
                            <a:schemeClr val="tx1"/>
                          </a:solidFill>
                          <a:sym typeface="Roboto"/>
                        </a:rPr>
                        <a:t>Does exactly 1 mutant pass? One pass vs the loop</a:t>
                      </a:r>
                    </a:p>
                  </a:txBody>
                  <a:tcPr anchor="ctr"/>
                </a:tc>
                <a:extLst>
                  <a:ext uri="{0D108BD9-81ED-4DB2-BD59-A6C34878D82A}">
                    <a16:rowId xmlns:a16="http://schemas.microsoft.com/office/drawing/2014/main" val="104503666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Every task: first our golden run from solution/, then your turn in problem/. You never edit the Python scripts.</a:t>
            </a:r>
            <a:endParaRPr sz="1200" b="0">
              <a:solidFill>
                <a:srgbClr val="506573"/>
              </a:solidFill>
              <a:latin typeface="Courier New" panose="02070309020205020404" pitchFamily="49" charset="0"/>
              <a:ea typeface="Arial"/>
              <a:cs typeface="Courier New" panose="020703090202050204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1C4F51F-FE0A-1790-6307-4F8DFC4F6517}"/>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61682331-A321-B574-BEAC-BA72ADDA7CF6}"/>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D124296C-BDF8-13B1-4768-7D58444BAD85}"/>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1.1: Run </a:t>
            </a:r>
            <a:r>
              <a:rPr lang="en-US" sz="2400" b="1" err="1">
                <a:solidFill>
                  <a:srgbClr val="17365D"/>
                </a:solidFill>
                <a:latin typeface="Calibri"/>
                <a:ea typeface="Calibri"/>
                <a:cs typeface="Calibri"/>
              </a:rPr>
              <a:t>our</a:t>
            </a:r>
            <a:r>
              <a:rPr lang="en-US" sz="2400" b="1">
                <a:solidFill>
                  <a:srgbClr val="17365D"/>
                </a:solidFill>
                <a:latin typeface="Calibri"/>
                <a:ea typeface="Calibri"/>
                <a:cs typeface="Calibri"/>
              </a:rPr>
              <a:t> AI Models</a:t>
            </a:r>
          </a:p>
        </p:txBody>
      </p:sp>
      <p:sp>
        <p:nvSpPr>
          <p:cNvPr id="4" name="Rectangle 3">
            <a:extLst>
              <a:ext uri="{FF2B5EF4-FFF2-40B4-BE49-F238E27FC236}">
                <a16:creationId xmlns:a16="http://schemas.microsoft.com/office/drawing/2014/main" id="{7B6DD906-67EE-2362-A598-F7002F33E55E}"/>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72C9B5D2-6C0F-D2C0-36C8-47A5618F8D8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28</a:t>
            </a:fld>
            <a:endParaRPr sz="750" b="0">
              <a:solidFill>
                <a:srgbClr val="5B6573"/>
              </a:solidFill>
              <a:latin typeface="Calibri"/>
              <a:ea typeface="Calibri"/>
              <a:cs typeface="Calibri"/>
            </a:endParaRPr>
          </a:p>
        </p:txBody>
      </p:sp>
      <p:sp>
        <p:nvSpPr>
          <p:cNvPr id="7" name="Rounded Rectangle 6">
            <a:extLst>
              <a:ext uri="{FF2B5EF4-FFF2-40B4-BE49-F238E27FC236}">
                <a16:creationId xmlns:a16="http://schemas.microsoft.com/office/drawing/2014/main" id="{4B99969C-C3E4-AB52-7D27-552BAF6AA21F}"/>
              </a:ext>
            </a:extLst>
          </p:cNvPr>
          <p:cNvSpPr>
            <a:spLocks noGrp="1"/>
          </p:cNvSpPr>
          <p:nvPr/>
        </p:nvSpPr>
        <p:spPr>
          <a:xfrm>
            <a:off x="781050" y="1162049"/>
            <a:ext cx="7239000" cy="981075"/>
          </a:xfrm>
          <a:prstGeom prst="roundRect">
            <a:avLst>
              <a:gd name="adj" fmla="val 7767"/>
            </a:avLst>
          </a:prstGeom>
          <a:solidFill>
            <a:srgbClr val="0E2745"/>
          </a:solidFill>
          <a:ln w="0">
            <a:noFill/>
          </a:ln>
        </p:spPr>
        <p:txBody>
          <a:bodyPr/>
          <a:lstStyle/>
          <a:p>
            <a:endParaRPr/>
          </a:p>
        </p:txBody>
      </p:sp>
      <p:sp>
        <p:nvSpPr>
          <p:cNvPr id="8" name="Rectangle 7">
            <a:extLst>
              <a:ext uri="{FF2B5EF4-FFF2-40B4-BE49-F238E27FC236}">
                <a16:creationId xmlns:a16="http://schemas.microsoft.com/office/drawing/2014/main" id="{1F3D1237-2EEA-58C8-5A18-C1330EF77881}"/>
              </a:ext>
            </a:extLst>
          </p:cNvPr>
          <p:cNvSpPr>
            <a:spLocks noGrp="1"/>
          </p:cNvSpPr>
          <p:nvPr/>
        </p:nvSpPr>
        <p:spPr>
          <a:xfrm>
            <a:off x="1181100" y="1381125"/>
            <a:ext cx="6429375" cy="542925"/>
          </a:xfrm>
          <a:prstGeom prst="rect">
            <a:avLst/>
          </a:prstGeom>
          <a:noFill/>
          <a:ln w="0">
            <a:noFill/>
          </a:ln>
        </p:spPr>
        <p:txBody>
          <a:bodyPr wrap="square" lIns="0" tIns="0" rIns="0" bIns="0" anchor="ctr">
            <a:noAutofit/>
          </a:bodyPr>
          <a:lstStyle/>
          <a:p>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Sentiment analysis classifies the tone of text as </a:t>
            </a:r>
            <a:endParaRPr lang="en-US" sz="1650" b="1">
              <a:solidFill>
                <a:srgbClr val="FFFFFF"/>
              </a:solidFill>
              <a:latin typeface="Calibri"/>
              <a:ea typeface="Calibri"/>
              <a:cs typeface="Calibri"/>
            </a:endParaRPr>
          </a:p>
          <a:p>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positive, neutral, or negative.</a:t>
            </a:r>
          </a:p>
        </p:txBody>
      </p:sp>
      <p:sp>
        <p:nvSpPr>
          <p:cNvPr id="9" name="Rounded Rectangle 8">
            <a:extLst>
              <a:ext uri="{FF2B5EF4-FFF2-40B4-BE49-F238E27FC236}">
                <a16:creationId xmlns:a16="http://schemas.microsoft.com/office/drawing/2014/main" id="{9C67DF58-1FC2-408E-CF4E-B22BC64A020F}"/>
              </a:ext>
            </a:extLst>
          </p:cNvPr>
          <p:cNvSpPr>
            <a:spLocks noGrp="1"/>
          </p:cNvSpPr>
          <p:nvPr/>
        </p:nvSpPr>
        <p:spPr>
          <a:xfrm>
            <a:off x="626845" y="2447925"/>
            <a:ext cx="8136155" cy="4000500"/>
          </a:xfrm>
          <a:prstGeom prst="roundRect">
            <a:avLst>
              <a:gd name="adj" fmla="val 5714"/>
            </a:avLst>
          </a:prstGeom>
          <a:solidFill>
            <a:srgbClr val="F3F6FA"/>
          </a:solidFill>
          <a:ln w="0">
            <a:noFill/>
          </a:ln>
        </p:spPr>
        <p:txBody>
          <a:bodyPr/>
          <a:lstStyle/>
          <a:p>
            <a:endParaRPr/>
          </a:p>
        </p:txBody>
      </p:sp>
      <p:sp>
        <p:nvSpPr>
          <p:cNvPr id="80" name="Examples heading">
            <a:extLst>
              <a:ext uri="{FF2B5EF4-FFF2-40B4-BE49-F238E27FC236}">
                <a16:creationId xmlns:a16="http://schemas.microsoft.com/office/drawing/2014/main" id="{8F67B36A-96B8-44C6-B4AF-F16A57E027F8}"/>
              </a:ext>
            </a:extLst>
          </p:cNvPr>
          <p:cNvSpPr>
            <a:spLocks noGrp="1"/>
          </p:cNvSpPr>
          <p:nvPr/>
        </p:nvSpPr>
        <p:spPr>
          <a:xfrm>
            <a:off x="876300" y="2562225"/>
            <a:ext cx="7334250" cy="361950"/>
          </a:xfrm>
          <a:prstGeom prst="rect">
            <a:avLst/>
          </a:prstGeom>
          <a:noFill/>
          <a:ln w="0">
            <a:noFill/>
          </a:ln>
        </p:spPr>
        <p:txBody>
          <a:bodyPr wrap="none" lIns="0" tIns="0" rIns="0" bIns="0" anchor="ctr">
            <a:noAutofit/>
          </a:bodyPr>
          <a:lstStyle/>
          <a:p>
            <a:pPr algn="l">
              <a:defRPr sz="1500" b="1">
                <a:solidFill>
                  <a:srgbClr val="17345A"/>
                </a:solidFill>
                <a:latin typeface="Calibri"/>
                <a:ea typeface="Calibri"/>
                <a:cs typeface="Calibri"/>
              </a:defRPr>
            </a:pPr>
            <a:r>
              <a:rPr sz="1500" b="1">
                <a:solidFill>
                  <a:srgbClr val="17345A"/>
                </a:solidFill>
                <a:latin typeface="Calibri"/>
                <a:ea typeface="Calibri"/>
                <a:cs typeface="Calibri"/>
              </a:rPr>
              <a:t>Illustrative examples</a:t>
            </a:r>
          </a:p>
        </p:txBody>
      </p:sp>
      <p:sp>
        <p:nvSpPr>
          <p:cNvPr id="81" name="Input header">
            <a:extLst>
              <a:ext uri="{FF2B5EF4-FFF2-40B4-BE49-F238E27FC236}">
                <a16:creationId xmlns:a16="http://schemas.microsoft.com/office/drawing/2014/main" id="{A1A5A4EF-D8B0-48B5-8147-F8E952209B6C}"/>
              </a:ext>
            </a:extLst>
          </p:cNvPr>
          <p:cNvSpPr>
            <a:spLocks noGrp="1"/>
          </p:cNvSpPr>
          <p:nvPr/>
        </p:nvSpPr>
        <p:spPr>
          <a:xfrm>
            <a:off x="942975" y="2962275"/>
            <a:ext cx="6191250" cy="228600"/>
          </a:xfrm>
          <a:prstGeom prst="rect">
            <a:avLst/>
          </a:prstGeom>
          <a:noFill/>
          <a:ln w="0">
            <a:noFill/>
          </a:ln>
        </p:spPr>
        <p:txBody>
          <a:bodyPr wrap="none" lIns="0" tIns="0" rIns="0" bIns="0" anchor="ctr">
            <a:noAutofit/>
          </a:bodyPr>
          <a:lstStyle/>
          <a:p>
            <a:pPr algn="l">
              <a:defRPr sz="1050" b="1">
                <a:solidFill>
                  <a:srgbClr val="5C6675"/>
                </a:solidFill>
                <a:latin typeface="Calibri"/>
                <a:ea typeface="Calibri"/>
                <a:cs typeface="Calibri"/>
              </a:defRPr>
            </a:pPr>
            <a:r>
              <a:rPr sz="1050" b="1">
                <a:solidFill>
                  <a:srgbClr val="5C6675"/>
                </a:solidFill>
                <a:latin typeface="Calibri"/>
                <a:ea typeface="Calibri"/>
                <a:cs typeface="Calibri"/>
              </a:rPr>
              <a:t>TEXT</a:t>
            </a:r>
          </a:p>
        </p:txBody>
      </p:sp>
      <p:sp>
        <p:nvSpPr>
          <p:cNvPr id="82" name="Label header">
            <a:extLst>
              <a:ext uri="{FF2B5EF4-FFF2-40B4-BE49-F238E27FC236}">
                <a16:creationId xmlns:a16="http://schemas.microsoft.com/office/drawing/2014/main" id="{733DDCAB-1F48-45D2-B333-3530582079E7}"/>
              </a:ext>
            </a:extLst>
          </p:cNvPr>
          <p:cNvSpPr>
            <a:spLocks noGrp="1"/>
          </p:cNvSpPr>
          <p:nvPr/>
        </p:nvSpPr>
        <p:spPr>
          <a:xfrm>
            <a:off x="7000875" y="2962275"/>
            <a:ext cx="1238250" cy="228600"/>
          </a:xfrm>
          <a:prstGeom prst="rect">
            <a:avLst/>
          </a:prstGeom>
          <a:noFill/>
          <a:ln w="0">
            <a:noFill/>
          </a:ln>
        </p:spPr>
        <p:txBody>
          <a:bodyPr wrap="none" lIns="0" tIns="0" rIns="0" bIns="0" anchor="ctr">
            <a:noAutofit/>
          </a:bodyPr>
          <a:lstStyle/>
          <a:p>
            <a:pPr algn="l">
              <a:defRPr sz="1050" b="1">
                <a:solidFill>
                  <a:srgbClr val="5C6675"/>
                </a:solidFill>
                <a:latin typeface="Calibri"/>
                <a:ea typeface="Calibri"/>
                <a:cs typeface="Calibri"/>
              </a:defRPr>
            </a:pPr>
            <a:r>
              <a:rPr sz="1050" b="1">
                <a:solidFill>
                  <a:srgbClr val="5C6675"/>
                </a:solidFill>
                <a:latin typeface="Calibri"/>
                <a:ea typeface="Calibri"/>
                <a:cs typeface="Calibri"/>
              </a:rPr>
              <a:t>LABEL</a:t>
            </a:r>
          </a:p>
        </p:txBody>
      </p:sp>
      <p:sp>
        <p:nvSpPr>
          <p:cNvPr id="83" name="Example separator">
            <a:extLst>
              <a:ext uri="{FF2B5EF4-FFF2-40B4-BE49-F238E27FC236}">
                <a16:creationId xmlns:a16="http://schemas.microsoft.com/office/drawing/2014/main" id="{B1AB3DF1-9271-49CD-82DF-B38A64D1A54E}"/>
              </a:ext>
            </a:extLst>
          </p:cNvPr>
          <p:cNvSpPr>
            <a:spLocks noGrp="1"/>
          </p:cNvSpPr>
          <p:nvPr/>
        </p:nvSpPr>
        <p:spPr>
          <a:xfrm>
            <a:off x="876300" y="3238500"/>
            <a:ext cx="7381875" cy="9525"/>
          </a:xfrm>
          <a:prstGeom prst="rect">
            <a:avLst/>
          </a:prstGeom>
          <a:solidFill>
            <a:srgbClr val="C9D1DC"/>
          </a:solidFill>
          <a:ln w="0">
            <a:noFill/>
          </a:ln>
        </p:spPr>
        <p:txBody>
          <a:bodyPr/>
          <a:lstStyle/>
          <a:p>
            <a:endParaRPr lang="en-GR"/>
          </a:p>
        </p:txBody>
      </p:sp>
      <p:sp>
        <p:nvSpPr>
          <p:cNvPr id="84" name="Example text 1">
            <a:extLst>
              <a:ext uri="{FF2B5EF4-FFF2-40B4-BE49-F238E27FC236}">
                <a16:creationId xmlns:a16="http://schemas.microsoft.com/office/drawing/2014/main" id="{66A1DFE4-DA3C-49EC-A601-8221EC3919EF}"/>
              </a:ext>
            </a:extLst>
          </p:cNvPr>
          <p:cNvSpPr>
            <a:spLocks noGrp="1"/>
          </p:cNvSpPr>
          <p:nvPr/>
        </p:nvSpPr>
        <p:spPr>
          <a:xfrm>
            <a:off x="942975" y="3333750"/>
            <a:ext cx="5953125" cy="495300"/>
          </a:xfrm>
          <a:prstGeom prst="rect">
            <a:avLst/>
          </a:prstGeom>
          <a:noFill/>
          <a:ln w="0">
            <a:noFill/>
          </a:ln>
        </p:spPr>
        <p:txBody>
          <a:bodyPr wrap="none" lIns="0" tIns="0" rIns="0" bIns="0" anchor="ctr">
            <a:noAutofit/>
          </a:bodyPr>
          <a:lstStyle/>
          <a:p>
            <a:pPr algn="l">
              <a:defRPr sz="1725" b="0">
                <a:solidFill>
                  <a:srgbClr val="102C4E"/>
                </a:solidFill>
                <a:latin typeface="Calibri"/>
                <a:ea typeface="Calibri"/>
                <a:cs typeface="Calibri"/>
              </a:defRPr>
            </a:pPr>
            <a:r>
              <a:rPr sz="1725" b="0">
                <a:solidFill>
                  <a:srgbClr val="102C4E"/>
                </a:solidFill>
                <a:latin typeface="Calibri"/>
                <a:ea typeface="Calibri"/>
                <a:cs typeface="Calibri"/>
              </a:rPr>
              <a:t>My job is well-paid</a:t>
            </a:r>
          </a:p>
        </p:txBody>
      </p:sp>
      <p:sp>
        <p:nvSpPr>
          <p:cNvPr id="85" name="Example label 1">
            <a:extLst>
              <a:ext uri="{FF2B5EF4-FFF2-40B4-BE49-F238E27FC236}">
                <a16:creationId xmlns:a16="http://schemas.microsoft.com/office/drawing/2014/main" id="{9562CE52-EB2F-4982-BF47-E63B1A35FE58}"/>
              </a:ext>
            </a:extLst>
          </p:cNvPr>
          <p:cNvSpPr>
            <a:spLocks noGrp="1"/>
          </p:cNvSpPr>
          <p:nvPr/>
        </p:nvSpPr>
        <p:spPr>
          <a:xfrm>
            <a:off x="7000875" y="3333750"/>
            <a:ext cx="1190625" cy="495300"/>
          </a:xfrm>
          <a:prstGeom prst="rect">
            <a:avLst/>
          </a:prstGeom>
          <a:noFill/>
          <a:ln w="0">
            <a:noFill/>
          </a:ln>
        </p:spPr>
        <p:txBody>
          <a:bodyPr wrap="none" lIns="0" tIns="0" rIns="0" bIns="0" anchor="ctr">
            <a:noAutofit/>
          </a:bodyPr>
          <a:lstStyle/>
          <a:p>
            <a:pPr algn="l">
              <a:defRPr sz="1650" b="1">
                <a:solidFill>
                  <a:srgbClr val="17345A"/>
                </a:solidFill>
                <a:latin typeface="Calibri"/>
                <a:ea typeface="Calibri"/>
                <a:cs typeface="Calibri"/>
              </a:defRPr>
            </a:pPr>
            <a:r>
              <a:rPr sz="1650" b="1">
                <a:solidFill>
                  <a:srgbClr val="17345A"/>
                </a:solidFill>
                <a:latin typeface="Calibri"/>
                <a:ea typeface="Calibri"/>
                <a:cs typeface="Calibri"/>
              </a:rPr>
              <a:t>Positive</a:t>
            </a:r>
          </a:p>
        </p:txBody>
      </p:sp>
      <p:sp>
        <p:nvSpPr>
          <p:cNvPr id="86" name="Example separator">
            <a:extLst>
              <a:ext uri="{FF2B5EF4-FFF2-40B4-BE49-F238E27FC236}">
                <a16:creationId xmlns:a16="http://schemas.microsoft.com/office/drawing/2014/main" id="{A1FED16B-F96F-4C94-90D7-EF5D3D96F294}"/>
              </a:ext>
            </a:extLst>
          </p:cNvPr>
          <p:cNvSpPr>
            <a:spLocks noGrp="1"/>
          </p:cNvSpPr>
          <p:nvPr/>
        </p:nvSpPr>
        <p:spPr>
          <a:xfrm>
            <a:off x="876300" y="3886200"/>
            <a:ext cx="7381875" cy="9525"/>
          </a:xfrm>
          <a:prstGeom prst="rect">
            <a:avLst/>
          </a:prstGeom>
          <a:solidFill>
            <a:srgbClr val="C9D1DC"/>
          </a:solidFill>
          <a:ln w="0">
            <a:noFill/>
          </a:ln>
        </p:spPr>
        <p:txBody>
          <a:bodyPr/>
          <a:lstStyle/>
          <a:p>
            <a:endParaRPr lang="en-GR"/>
          </a:p>
        </p:txBody>
      </p:sp>
      <p:sp>
        <p:nvSpPr>
          <p:cNvPr id="87" name="Example text 2">
            <a:extLst>
              <a:ext uri="{FF2B5EF4-FFF2-40B4-BE49-F238E27FC236}">
                <a16:creationId xmlns:a16="http://schemas.microsoft.com/office/drawing/2014/main" id="{26BE0DE0-CE20-4C03-844A-4F2640304893}"/>
              </a:ext>
            </a:extLst>
          </p:cNvPr>
          <p:cNvSpPr>
            <a:spLocks noGrp="1"/>
          </p:cNvSpPr>
          <p:nvPr/>
        </p:nvSpPr>
        <p:spPr>
          <a:xfrm>
            <a:off x="942975" y="3981450"/>
            <a:ext cx="5953125" cy="495300"/>
          </a:xfrm>
          <a:prstGeom prst="rect">
            <a:avLst/>
          </a:prstGeom>
          <a:noFill/>
          <a:ln w="0">
            <a:noFill/>
          </a:ln>
        </p:spPr>
        <p:txBody>
          <a:bodyPr wrap="none" lIns="0" tIns="0" rIns="0" bIns="0" anchor="ctr">
            <a:noAutofit/>
          </a:bodyPr>
          <a:lstStyle/>
          <a:p>
            <a:pPr algn="l">
              <a:defRPr sz="1725" b="0">
                <a:solidFill>
                  <a:srgbClr val="102C4E"/>
                </a:solidFill>
                <a:latin typeface="Calibri"/>
                <a:ea typeface="Calibri"/>
                <a:cs typeface="Calibri"/>
              </a:defRPr>
            </a:pPr>
            <a:r>
              <a:rPr sz="1725" b="0">
                <a:solidFill>
                  <a:srgbClr val="102C4E"/>
                </a:solidFill>
                <a:latin typeface="Calibri"/>
                <a:ea typeface="Calibri"/>
                <a:cs typeface="Calibri"/>
              </a:rPr>
              <a:t>The sky is blue</a:t>
            </a:r>
          </a:p>
        </p:txBody>
      </p:sp>
      <p:sp>
        <p:nvSpPr>
          <p:cNvPr id="88" name="Example label 2">
            <a:extLst>
              <a:ext uri="{FF2B5EF4-FFF2-40B4-BE49-F238E27FC236}">
                <a16:creationId xmlns:a16="http://schemas.microsoft.com/office/drawing/2014/main" id="{BAB80E08-B34C-4B28-B557-CA312F19F4C8}"/>
              </a:ext>
            </a:extLst>
          </p:cNvPr>
          <p:cNvSpPr>
            <a:spLocks noGrp="1"/>
          </p:cNvSpPr>
          <p:nvPr/>
        </p:nvSpPr>
        <p:spPr>
          <a:xfrm>
            <a:off x="7000875" y="3981450"/>
            <a:ext cx="1190625" cy="495300"/>
          </a:xfrm>
          <a:prstGeom prst="rect">
            <a:avLst/>
          </a:prstGeom>
          <a:noFill/>
          <a:ln w="0">
            <a:noFill/>
          </a:ln>
        </p:spPr>
        <p:txBody>
          <a:bodyPr wrap="none" lIns="0" tIns="0" rIns="0" bIns="0" anchor="ctr">
            <a:noAutofit/>
          </a:bodyPr>
          <a:lstStyle/>
          <a:p>
            <a:pPr algn="l">
              <a:defRPr sz="1650" b="1">
                <a:solidFill>
                  <a:srgbClr val="17345A"/>
                </a:solidFill>
                <a:latin typeface="Calibri"/>
                <a:ea typeface="Calibri"/>
                <a:cs typeface="Calibri"/>
              </a:defRPr>
            </a:pPr>
            <a:r>
              <a:rPr sz="1650" b="1">
                <a:solidFill>
                  <a:srgbClr val="17345A"/>
                </a:solidFill>
                <a:latin typeface="Calibri"/>
                <a:ea typeface="Calibri"/>
                <a:cs typeface="Calibri"/>
              </a:rPr>
              <a:t>Neutral</a:t>
            </a:r>
          </a:p>
        </p:txBody>
      </p:sp>
      <p:sp>
        <p:nvSpPr>
          <p:cNvPr id="89" name="Example separator">
            <a:extLst>
              <a:ext uri="{FF2B5EF4-FFF2-40B4-BE49-F238E27FC236}">
                <a16:creationId xmlns:a16="http://schemas.microsoft.com/office/drawing/2014/main" id="{4AC75426-39F9-457A-B18F-08F190BAA653}"/>
              </a:ext>
            </a:extLst>
          </p:cNvPr>
          <p:cNvSpPr>
            <a:spLocks noGrp="1"/>
          </p:cNvSpPr>
          <p:nvPr/>
        </p:nvSpPr>
        <p:spPr>
          <a:xfrm>
            <a:off x="876300" y="4533900"/>
            <a:ext cx="7381875" cy="9525"/>
          </a:xfrm>
          <a:prstGeom prst="rect">
            <a:avLst/>
          </a:prstGeom>
          <a:solidFill>
            <a:srgbClr val="C9D1DC"/>
          </a:solidFill>
          <a:ln w="0">
            <a:noFill/>
          </a:ln>
        </p:spPr>
        <p:txBody>
          <a:bodyPr/>
          <a:lstStyle/>
          <a:p>
            <a:endParaRPr lang="en-GR"/>
          </a:p>
        </p:txBody>
      </p:sp>
      <p:sp>
        <p:nvSpPr>
          <p:cNvPr id="90" name="Example text 3">
            <a:extLst>
              <a:ext uri="{FF2B5EF4-FFF2-40B4-BE49-F238E27FC236}">
                <a16:creationId xmlns:a16="http://schemas.microsoft.com/office/drawing/2014/main" id="{7BEE0E57-8889-487C-9273-B22A190B9C2C}"/>
              </a:ext>
            </a:extLst>
          </p:cNvPr>
          <p:cNvSpPr>
            <a:spLocks noGrp="1"/>
          </p:cNvSpPr>
          <p:nvPr/>
        </p:nvSpPr>
        <p:spPr>
          <a:xfrm>
            <a:off x="942975" y="4629150"/>
            <a:ext cx="5953125" cy="495300"/>
          </a:xfrm>
          <a:prstGeom prst="rect">
            <a:avLst/>
          </a:prstGeom>
          <a:noFill/>
          <a:ln w="0">
            <a:noFill/>
          </a:ln>
        </p:spPr>
        <p:txBody>
          <a:bodyPr wrap="none" lIns="0" tIns="0" rIns="0" bIns="0" anchor="ctr">
            <a:noAutofit/>
          </a:bodyPr>
          <a:lstStyle/>
          <a:p>
            <a:pPr algn="l">
              <a:defRPr sz="1725" b="0">
                <a:solidFill>
                  <a:srgbClr val="102C4E"/>
                </a:solidFill>
                <a:latin typeface="Calibri"/>
                <a:ea typeface="Calibri"/>
                <a:cs typeface="Calibri"/>
              </a:defRPr>
            </a:pPr>
            <a:r>
              <a:rPr sz="1725" b="0">
                <a:solidFill>
                  <a:srgbClr val="102C4E"/>
                </a:solidFill>
                <a:latin typeface="Calibri"/>
                <a:ea typeface="Calibri"/>
                <a:cs typeface="Calibri"/>
              </a:rPr>
              <a:t>The coffee in the office is disgusting</a:t>
            </a:r>
          </a:p>
        </p:txBody>
      </p:sp>
      <p:sp>
        <p:nvSpPr>
          <p:cNvPr id="91" name="Example label 3">
            <a:extLst>
              <a:ext uri="{FF2B5EF4-FFF2-40B4-BE49-F238E27FC236}">
                <a16:creationId xmlns:a16="http://schemas.microsoft.com/office/drawing/2014/main" id="{CB93231F-12FD-4433-B419-9982D4B856B0}"/>
              </a:ext>
            </a:extLst>
          </p:cNvPr>
          <p:cNvSpPr>
            <a:spLocks noGrp="1"/>
          </p:cNvSpPr>
          <p:nvPr/>
        </p:nvSpPr>
        <p:spPr>
          <a:xfrm>
            <a:off x="7000875" y="4629150"/>
            <a:ext cx="1190625" cy="495300"/>
          </a:xfrm>
          <a:prstGeom prst="rect">
            <a:avLst/>
          </a:prstGeom>
          <a:noFill/>
          <a:ln w="0">
            <a:noFill/>
          </a:ln>
        </p:spPr>
        <p:txBody>
          <a:bodyPr wrap="none" lIns="0" tIns="0" rIns="0" bIns="0" anchor="ctr">
            <a:noAutofit/>
          </a:bodyPr>
          <a:lstStyle/>
          <a:p>
            <a:pPr algn="l">
              <a:defRPr sz="1650" b="1">
                <a:solidFill>
                  <a:srgbClr val="BB1E2D"/>
                </a:solidFill>
                <a:latin typeface="Calibri"/>
                <a:ea typeface="Calibri"/>
                <a:cs typeface="Calibri"/>
              </a:defRPr>
            </a:pPr>
            <a:r>
              <a:rPr sz="1650" b="1">
                <a:solidFill>
                  <a:srgbClr val="BB1E2D"/>
                </a:solidFill>
                <a:latin typeface="Calibri"/>
                <a:ea typeface="Calibri"/>
                <a:cs typeface="Calibri"/>
              </a:rPr>
              <a:t>Negative</a:t>
            </a:r>
          </a:p>
        </p:txBody>
      </p:sp>
      <p:sp>
        <p:nvSpPr>
          <p:cNvPr id="92" name="Example separator">
            <a:extLst>
              <a:ext uri="{FF2B5EF4-FFF2-40B4-BE49-F238E27FC236}">
                <a16:creationId xmlns:a16="http://schemas.microsoft.com/office/drawing/2014/main" id="{69E1490A-4F82-4AA5-8EC5-D10D17B8D385}"/>
              </a:ext>
            </a:extLst>
          </p:cNvPr>
          <p:cNvSpPr>
            <a:spLocks noGrp="1"/>
          </p:cNvSpPr>
          <p:nvPr/>
        </p:nvSpPr>
        <p:spPr>
          <a:xfrm>
            <a:off x="876300" y="5181600"/>
            <a:ext cx="7381875" cy="9525"/>
          </a:xfrm>
          <a:prstGeom prst="rect">
            <a:avLst/>
          </a:prstGeom>
          <a:solidFill>
            <a:srgbClr val="C9D1DC"/>
          </a:solidFill>
          <a:ln w="0">
            <a:noFill/>
          </a:ln>
        </p:spPr>
        <p:txBody>
          <a:bodyPr/>
          <a:lstStyle/>
          <a:p>
            <a:endParaRPr lang="en-GR"/>
          </a:p>
        </p:txBody>
      </p:sp>
      <p:sp>
        <p:nvSpPr>
          <p:cNvPr id="93" name="Prompting guidance">
            <a:extLst>
              <a:ext uri="{FF2B5EF4-FFF2-40B4-BE49-F238E27FC236}">
                <a16:creationId xmlns:a16="http://schemas.microsoft.com/office/drawing/2014/main" id="{376C0061-C4D9-4FFC-84A1-4E691827EA64}"/>
              </a:ext>
            </a:extLst>
          </p:cNvPr>
          <p:cNvSpPr>
            <a:spLocks noGrp="1"/>
          </p:cNvSpPr>
          <p:nvPr/>
        </p:nvSpPr>
        <p:spPr>
          <a:xfrm>
            <a:off x="942975" y="5467350"/>
            <a:ext cx="7239000" cy="523875"/>
          </a:xfrm>
          <a:prstGeom prst="rect">
            <a:avLst/>
          </a:prstGeom>
          <a:noFill/>
          <a:ln w="0">
            <a:noFill/>
          </a:ln>
        </p:spPr>
        <p:txBody>
          <a:bodyPr wrap="none" lIns="0" tIns="0" rIns="0" bIns="0" anchor="ctr">
            <a:noAutofit/>
          </a:bodyPr>
          <a:lstStyle/>
          <a:p>
            <a:pPr algn="l">
              <a:defRPr sz="1425" b="0">
                <a:solidFill>
                  <a:srgbClr val="5C6675"/>
                </a:solidFill>
                <a:latin typeface="Calibri"/>
                <a:ea typeface="Calibri"/>
                <a:cs typeface="Calibri"/>
              </a:defRPr>
            </a:pPr>
            <a:r>
              <a:rPr sz="1425" b="0">
                <a:solidFill>
                  <a:srgbClr val="5C6675"/>
                </a:solidFill>
                <a:latin typeface="Calibri"/>
                <a:ea typeface="Calibri"/>
                <a:cs typeface="Calibri"/>
              </a:rPr>
              <a:t>Give the agent labeled examples, then test it on new text.</a:t>
            </a:r>
          </a:p>
        </p:txBody>
      </p:sp>
    </p:spTree>
    <p:extLst>
      <p:ext uri="{BB962C8B-B14F-4D97-AF65-F5344CB8AC3E}">
        <p14:creationId xmlns:p14="http://schemas.microsoft.com/office/powerpoint/2010/main" val="1092851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BB82-8145-2B2B-8BCE-45ECEFABB9D3}"/>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3574760E-53D0-94DF-361E-5E79DEC85D78}"/>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3018F97E-DED2-4B0A-E4B4-61791182C73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E7C4FFC9-03A1-8F8B-0FCA-C6FB33000183}"/>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1.1: Run our AI Models</a:t>
            </a:r>
            <a:endParaRPr lang="en-US"/>
          </a:p>
        </p:txBody>
      </p:sp>
      <p:sp>
        <p:nvSpPr>
          <p:cNvPr id="4" name="Rectangle 3">
            <a:extLst>
              <a:ext uri="{FF2B5EF4-FFF2-40B4-BE49-F238E27FC236}">
                <a16:creationId xmlns:a16="http://schemas.microsoft.com/office/drawing/2014/main" id="{461ED718-A7EE-83D8-D8E1-31513FA13297}"/>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259F65E0-3F28-D674-6668-8DAA6EB17E57}"/>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29</a:t>
            </a:fld>
            <a:endParaRPr sz="750" b="0">
              <a:solidFill>
                <a:srgbClr val="5B6573"/>
              </a:solidFill>
              <a:latin typeface="Calibri"/>
              <a:ea typeface="Calibri"/>
              <a:cs typeface="Calibri"/>
            </a:endParaRPr>
          </a:p>
        </p:txBody>
      </p:sp>
      <p:sp>
        <p:nvSpPr>
          <p:cNvPr id="9" name="Rounded Rectangle 8">
            <a:extLst>
              <a:ext uri="{FF2B5EF4-FFF2-40B4-BE49-F238E27FC236}">
                <a16:creationId xmlns:a16="http://schemas.microsoft.com/office/drawing/2014/main" id="{71A5AE84-4C04-2569-79F5-373ECE07CEA6}"/>
              </a:ext>
            </a:extLst>
          </p:cNvPr>
          <p:cNvSpPr>
            <a:spLocks noGrp="1"/>
          </p:cNvSpPr>
          <p:nvPr/>
        </p:nvSpPr>
        <p:spPr>
          <a:xfrm>
            <a:off x="1234265" y="1096646"/>
            <a:ext cx="6819843" cy="58344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0" name="Rectangle 9">
            <a:extLst>
              <a:ext uri="{FF2B5EF4-FFF2-40B4-BE49-F238E27FC236}">
                <a16:creationId xmlns:a16="http://schemas.microsoft.com/office/drawing/2014/main" id="{CE2BFC01-0DF4-02DC-5E69-00DB7958B2EC}"/>
              </a:ext>
            </a:extLst>
          </p:cNvPr>
          <p:cNvSpPr>
            <a:spLocks noGrp="1"/>
          </p:cNvSpPr>
          <p:nvPr/>
        </p:nvSpPr>
        <p:spPr>
          <a:xfrm>
            <a:off x="999877" y="1097916"/>
            <a:ext cx="6963498" cy="570865"/>
          </a:xfrm>
          <a:prstGeom prst="rect">
            <a:avLst/>
          </a:prstGeom>
          <a:noFill/>
          <a:ln w="0">
            <a:noFill/>
          </a:ln>
        </p:spPr>
        <p:txBody>
          <a:bodyPr lIns="91440" tIns="45720" rIns="91440" bIns="45720" anchor="ctr">
            <a:normAutofit fontScale="97348" lnSpcReduction="10000"/>
          </a:bodyPr>
          <a:lstStyle/>
          <a:p>
            <a:pPr algn="ctr">
              <a:defRPr sz="1650" b="1">
                <a:solidFill>
                  <a:srgbClr val="FFFFFF"/>
                </a:solidFill>
                <a:latin typeface="Calibri"/>
                <a:ea typeface="Calibri"/>
                <a:cs typeface="Calibri"/>
              </a:defRPr>
            </a:pPr>
            <a:r>
              <a:rPr lang="en-US" sz="1650" err="1">
                <a:solidFill>
                  <a:srgbClr val="FFFFFF"/>
                </a:solidFill>
                <a:latin typeface="Arial Nova"/>
                <a:ea typeface="Calibri"/>
                <a:cs typeface="Times New Roman"/>
              </a:rPr>
              <a:t>Inspec</a:t>
            </a:r>
            <a:r>
              <a:rPr lang="en-US" sz="1650">
                <a:solidFill>
                  <a:srgbClr val="FFFFFF"/>
                </a:solidFill>
                <a:latin typeface="Arial Nova"/>
                <a:ea typeface="Calibri"/>
                <a:cs typeface="Times New Roman"/>
              </a:rPr>
              <a:t>t the </a:t>
            </a:r>
            <a:r>
              <a:rPr lang="en-US">
                <a:solidFill>
                  <a:srgbClr val="FFC000"/>
                </a:solidFill>
                <a:latin typeface="Courier New"/>
                <a:ea typeface="Calibri"/>
                <a:cs typeface="Courier New"/>
              </a:rPr>
              <a:t>Agent.md</a:t>
            </a:r>
            <a:r>
              <a:rPr lang="en-US" sz="1650" i="1">
                <a:solidFill>
                  <a:srgbClr val="FFC000"/>
                </a:solidFill>
                <a:latin typeface="Courier New"/>
                <a:ea typeface="Calibri"/>
                <a:cs typeface="Courier New"/>
              </a:rPr>
              <a:t> </a:t>
            </a:r>
            <a:r>
              <a:rPr lang="en-US" sz="1650">
                <a:solidFill>
                  <a:srgbClr val="FFFFFF"/>
                </a:solidFill>
                <a:latin typeface="Arial Nova"/>
                <a:ea typeface="Calibri"/>
                <a:cs typeface="Times New Roman"/>
              </a:rPr>
              <a:t>file in the </a:t>
            </a:r>
            <a:r>
              <a:rPr lang="en-US" sz="1650">
                <a:solidFill>
                  <a:srgbClr val="FFC000"/>
                </a:solidFill>
                <a:latin typeface="Courier New"/>
                <a:ea typeface="Calibri"/>
                <a:cs typeface="Courier New"/>
              </a:rPr>
              <a:t>scripts/part1/</a:t>
            </a:r>
            <a:r>
              <a:rPr lang="en-US" sz="1650" err="1">
                <a:solidFill>
                  <a:srgbClr val="FFC000"/>
                </a:solidFill>
                <a:latin typeface="Courier New"/>
                <a:ea typeface="Calibri"/>
                <a:cs typeface="Courier New"/>
              </a:rPr>
              <a:t>sentiment_analysis</a:t>
            </a:r>
            <a:r>
              <a:rPr lang="en-US" sz="1650">
                <a:solidFill>
                  <a:srgbClr val="FFC000"/>
                </a:solidFill>
                <a:latin typeface="Courier New"/>
                <a:ea typeface="Calibri"/>
                <a:cs typeface="Courier New"/>
              </a:rPr>
              <a:t>/solution</a:t>
            </a:r>
            <a:r>
              <a:rPr lang="en-US" sz="1650">
                <a:solidFill>
                  <a:srgbClr val="FFFFFF"/>
                </a:solidFill>
                <a:latin typeface="Arial Nova"/>
                <a:ea typeface="Calibri"/>
                <a:cs typeface="Times New Roman"/>
              </a:rPr>
              <a:t> directory </a:t>
            </a:r>
          </a:p>
        </p:txBody>
      </p:sp>
      <p:sp>
        <p:nvSpPr>
          <p:cNvPr id="8" name="decomposition arrow">
            <a:extLst>
              <a:ext uri="{FF2B5EF4-FFF2-40B4-BE49-F238E27FC236}">
                <a16:creationId xmlns:a16="http://schemas.microsoft.com/office/drawing/2014/main" id="{97337F38-FDD6-DDAA-AC19-E0D15A886140}"/>
              </a:ext>
            </a:extLst>
          </p:cNvPr>
          <p:cNvSpPr>
            <a:spLocks noGrp="1"/>
          </p:cNvSpPr>
          <p:nvPr/>
        </p:nvSpPr>
        <p:spPr>
          <a:xfrm rot="16200000">
            <a:off x="5563014" y="2207437"/>
            <a:ext cx="174566" cy="1164809"/>
          </a:xfrm>
          <a:prstGeom prst="downArrow">
            <a:avLst/>
          </a:prstGeom>
          <a:solidFill>
            <a:srgbClr val="4F81BD"/>
          </a:solidFill>
          <a:ln w="0">
            <a:noFill/>
          </a:ln>
        </p:spPr>
        <p:txBody>
          <a:bodyPr/>
          <a:lstStyle/>
          <a:p>
            <a:endParaRPr lang="en-GR"/>
          </a:p>
        </p:txBody>
      </p:sp>
      <p:sp>
        <p:nvSpPr>
          <p:cNvPr id="11" name="decomposition: Validation gate: artifact + status +">
            <a:extLst>
              <a:ext uri="{FF2B5EF4-FFF2-40B4-BE49-F238E27FC236}">
                <a16:creationId xmlns:a16="http://schemas.microsoft.com/office/drawing/2014/main" id="{AA62B10A-6A1B-AF4A-A3CB-80DE3FFEDD0E}"/>
              </a:ext>
            </a:extLst>
          </p:cNvPr>
          <p:cNvSpPr>
            <a:spLocks noGrp="1"/>
          </p:cNvSpPr>
          <p:nvPr/>
        </p:nvSpPr>
        <p:spPr>
          <a:xfrm>
            <a:off x="6474634" y="2335473"/>
            <a:ext cx="1996742" cy="909114"/>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Clearly defined agent objectives</a:t>
            </a:r>
            <a:endParaRPr sz="1350" b="1">
              <a:solidFill>
                <a:schemeClr val="bg1"/>
              </a:solidFill>
              <a:latin typeface="Calibri"/>
              <a:ea typeface="Calibri"/>
              <a:cs typeface="Calibri"/>
            </a:endParaRPr>
          </a:p>
        </p:txBody>
      </p:sp>
      <p:sp>
        <p:nvSpPr>
          <p:cNvPr id="12" name="decomposition arrow">
            <a:extLst>
              <a:ext uri="{FF2B5EF4-FFF2-40B4-BE49-F238E27FC236}">
                <a16:creationId xmlns:a16="http://schemas.microsoft.com/office/drawing/2014/main" id="{20ED00BA-FEDF-DBAA-1679-9B0B0AAD2486}"/>
              </a:ext>
            </a:extLst>
          </p:cNvPr>
          <p:cNvSpPr>
            <a:spLocks noGrp="1"/>
          </p:cNvSpPr>
          <p:nvPr/>
        </p:nvSpPr>
        <p:spPr>
          <a:xfrm rot="16921339">
            <a:off x="5758192" y="3553868"/>
            <a:ext cx="210807" cy="1146034"/>
          </a:xfrm>
          <a:prstGeom prst="downArrow">
            <a:avLst/>
          </a:prstGeom>
          <a:solidFill>
            <a:srgbClr val="4F81BD"/>
          </a:solidFill>
          <a:ln w="0">
            <a:noFill/>
          </a:ln>
        </p:spPr>
        <p:txBody>
          <a:bodyPr/>
          <a:lstStyle/>
          <a:p>
            <a:endParaRPr lang="en-GR"/>
          </a:p>
        </p:txBody>
      </p:sp>
      <p:sp>
        <p:nvSpPr>
          <p:cNvPr id="13" name="decomposition: Validation gate: artifact + status +">
            <a:extLst>
              <a:ext uri="{FF2B5EF4-FFF2-40B4-BE49-F238E27FC236}">
                <a16:creationId xmlns:a16="http://schemas.microsoft.com/office/drawing/2014/main" id="{E9F20F7F-1740-8F23-9045-7A84C67943AA}"/>
              </a:ext>
            </a:extLst>
          </p:cNvPr>
          <p:cNvSpPr>
            <a:spLocks noGrp="1"/>
          </p:cNvSpPr>
          <p:nvPr/>
        </p:nvSpPr>
        <p:spPr>
          <a:xfrm>
            <a:off x="6791501" y="4095535"/>
            <a:ext cx="1853735" cy="800662"/>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Bounding the problem by setting rules</a:t>
            </a:r>
            <a:endParaRPr sz="1350" b="1">
              <a:solidFill>
                <a:schemeClr val="bg1"/>
              </a:solidFill>
              <a:latin typeface="Calibri"/>
              <a:ea typeface="Calibri"/>
              <a:cs typeface="Calibri"/>
            </a:endParaRPr>
          </a:p>
        </p:txBody>
      </p:sp>
      <p:sp>
        <p:nvSpPr>
          <p:cNvPr id="14" name="decomposition arrow">
            <a:extLst>
              <a:ext uri="{FF2B5EF4-FFF2-40B4-BE49-F238E27FC236}">
                <a16:creationId xmlns:a16="http://schemas.microsoft.com/office/drawing/2014/main" id="{0CED62F8-C540-8E67-8E90-0CEA69DE89CA}"/>
              </a:ext>
            </a:extLst>
          </p:cNvPr>
          <p:cNvSpPr>
            <a:spLocks noGrp="1"/>
          </p:cNvSpPr>
          <p:nvPr/>
        </p:nvSpPr>
        <p:spPr>
          <a:xfrm rot="16921339">
            <a:off x="5645763" y="5023147"/>
            <a:ext cx="210807" cy="1146034"/>
          </a:xfrm>
          <a:prstGeom prst="downArrow">
            <a:avLst/>
          </a:prstGeom>
          <a:solidFill>
            <a:srgbClr val="4F81BD"/>
          </a:solidFill>
          <a:ln w="0">
            <a:noFill/>
          </a:ln>
        </p:spPr>
        <p:txBody>
          <a:bodyPr/>
          <a:lstStyle/>
          <a:p>
            <a:endParaRPr lang="en-GR"/>
          </a:p>
        </p:txBody>
      </p:sp>
      <p:sp>
        <p:nvSpPr>
          <p:cNvPr id="15" name="decomposition: Validation gate: artifact + status +">
            <a:extLst>
              <a:ext uri="{FF2B5EF4-FFF2-40B4-BE49-F238E27FC236}">
                <a16:creationId xmlns:a16="http://schemas.microsoft.com/office/drawing/2014/main" id="{F09980AC-A7FB-5FD0-A88F-AE3A7B6797D4}"/>
              </a:ext>
            </a:extLst>
          </p:cNvPr>
          <p:cNvSpPr>
            <a:spLocks noGrp="1"/>
          </p:cNvSpPr>
          <p:nvPr/>
        </p:nvSpPr>
        <p:spPr>
          <a:xfrm>
            <a:off x="6496192" y="5412414"/>
            <a:ext cx="1853735" cy="800662"/>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Providing the input and </a:t>
            </a:r>
            <a:r>
              <a:rPr lang="en-US" sz="1350" b="1" err="1">
                <a:solidFill>
                  <a:schemeClr val="bg1"/>
                </a:solidFill>
                <a:latin typeface="Calibri"/>
                <a:ea typeface="Calibri"/>
                <a:cs typeface="Calibri"/>
              </a:rPr>
              <a:t>output</a:t>
            </a:r>
            <a:r>
              <a:rPr lang="en-US" sz="1350" b="1">
                <a:solidFill>
                  <a:schemeClr val="bg1"/>
                </a:solidFill>
                <a:latin typeface="Calibri"/>
                <a:ea typeface="Calibri"/>
                <a:cs typeface="Calibri"/>
              </a:rPr>
              <a:t> format of our choice</a:t>
            </a:r>
            <a:endParaRPr sz="1350" b="1">
              <a:solidFill>
                <a:schemeClr val="bg1"/>
              </a:solidFill>
              <a:latin typeface="Calibri"/>
              <a:ea typeface="Calibri"/>
              <a:cs typeface="Calibri"/>
            </a:endParaRPr>
          </a:p>
        </p:txBody>
      </p:sp>
      <p:pic>
        <p:nvPicPr>
          <p:cNvPr id="6" name="Picture 5">
            <a:extLst>
              <a:ext uri="{FF2B5EF4-FFF2-40B4-BE49-F238E27FC236}">
                <a16:creationId xmlns:a16="http://schemas.microsoft.com/office/drawing/2014/main" id="{2111A3C1-3058-49C0-ACBA-59499137B4F3}"/>
              </a:ext>
            </a:extLst>
          </p:cNvPr>
          <p:cNvPicPr>
            <a:picLocks noChangeAspect="1"/>
          </p:cNvPicPr>
          <p:nvPr/>
        </p:nvPicPr>
        <p:blipFill>
          <a:blip r:embed="rId3"/>
          <a:stretch>
            <a:fillRect/>
          </a:stretch>
        </p:blipFill>
        <p:spPr>
          <a:xfrm>
            <a:off x="243840" y="2279529"/>
            <a:ext cx="5618480" cy="3924543"/>
          </a:xfrm>
          <a:prstGeom prst="rect">
            <a:avLst/>
          </a:prstGeom>
        </p:spPr>
      </p:pic>
    </p:spTree>
    <p:extLst>
      <p:ext uri="{BB962C8B-B14F-4D97-AF65-F5344CB8AC3E}">
        <p14:creationId xmlns:p14="http://schemas.microsoft.com/office/powerpoint/2010/main" val="715226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865EB-8664-D1D4-77D1-DDE89D3ECBA2}"/>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31FE3289-CAF6-223B-068A-FFFFF746CF6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A164FC2D-BB23-6F31-2C15-4D503E2FF24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1BB36429-4331-104A-D48F-C9EFF25B6511}"/>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1.1: Run our AI Models</a:t>
            </a:r>
            <a:endParaRPr lang="en-US"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0DA67AF2-93F2-1EA7-0F1C-77A5A5A7181E}"/>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3BCAC0B1-D667-E1DD-09E4-4485082E6763}"/>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30</a:t>
            </a:fld>
            <a:endParaRPr sz="750" b="0">
              <a:solidFill>
                <a:srgbClr val="5B6573"/>
              </a:solidFill>
              <a:latin typeface="Calibri"/>
              <a:ea typeface="Calibri"/>
              <a:cs typeface="Calibri"/>
            </a:endParaRPr>
          </a:p>
        </p:txBody>
      </p:sp>
      <p:sp>
        <p:nvSpPr>
          <p:cNvPr id="9" name="Rounded Rectangle 8">
            <a:extLst>
              <a:ext uri="{FF2B5EF4-FFF2-40B4-BE49-F238E27FC236}">
                <a16:creationId xmlns:a16="http://schemas.microsoft.com/office/drawing/2014/main" id="{FCD5ECFC-F5A6-0F30-A9A0-87AF28F0A43B}"/>
              </a:ext>
            </a:extLst>
          </p:cNvPr>
          <p:cNvSpPr>
            <a:spLocks noGrp="1"/>
          </p:cNvSpPr>
          <p:nvPr/>
        </p:nvSpPr>
        <p:spPr>
          <a:xfrm>
            <a:off x="1471266" y="1087583"/>
            <a:ext cx="5887142" cy="871044"/>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0" name="Rectangle 9">
            <a:extLst>
              <a:ext uri="{FF2B5EF4-FFF2-40B4-BE49-F238E27FC236}">
                <a16:creationId xmlns:a16="http://schemas.microsoft.com/office/drawing/2014/main" id="{F5F7C5CC-6539-D37A-3C64-CBD6D6EA2813}"/>
              </a:ext>
            </a:extLst>
          </p:cNvPr>
          <p:cNvSpPr>
            <a:spLocks noGrp="1"/>
          </p:cNvSpPr>
          <p:nvPr/>
        </p:nvSpPr>
        <p:spPr>
          <a:xfrm>
            <a:off x="98136" y="1228726"/>
            <a:ext cx="8711736" cy="581025"/>
          </a:xfrm>
          <a:prstGeom prst="rect">
            <a:avLst/>
          </a:prstGeom>
          <a:noFill/>
          <a:ln w="0">
            <a:noFill/>
          </a:ln>
        </p:spPr>
        <p:txBody>
          <a:bodyPr lIns="91440" tIns="45720" rIns="91440" bIns="45720" anchor="ctr">
            <a:normAutofit fontScale="97348"/>
          </a:bodyPr>
          <a:lstStyle/>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Read the test dataset in the </a:t>
            </a:r>
            <a:r>
              <a:rPr lang="en-US" sz="1650" err="1">
                <a:solidFill>
                  <a:srgbClr val="FFC000"/>
                </a:solidFill>
                <a:latin typeface="Courier New"/>
                <a:ea typeface="Calibri"/>
                <a:cs typeface="Courier New"/>
              </a:rPr>
              <a:t>testset.json</a:t>
            </a:r>
            <a:r>
              <a:rPr lang="en-US" sz="1650">
                <a:solidFill>
                  <a:srgbClr val="FFC000"/>
                </a:solidFill>
                <a:latin typeface="Arial Nova"/>
                <a:ea typeface="Calibri"/>
                <a:cs typeface="Times New Roman"/>
              </a:rPr>
              <a:t> </a:t>
            </a:r>
            <a:r>
              <a:rPr lang="en-US" sz="1650">
                <a:solidFill>
                  <a:srgbClr val="FFFFFF"/>
                </a:solidFill>
                <a:latin typeface="Arial Nova"/>
                <a:ea typeface="Calibri"/>
                <a:cs typeface="Times New Roman"/>
              </a:rPr>
              <a:t>file and </a:t>
            </a:r>
          </a:p>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write your own training set in the </a:t>
            </a:r>
            <a:r>
              <a:rPr lang="en-US" sz="1650" err="1">
                <a:solidFill>
                  <a:srgbClr val="FFC000"/>
                </a:solidFill>
                <a:latin typeface="Courier New"/>
                <a:ea typeface="Calibri"/>
                <a:cs typeface="Courier New"/>
              </a:rPr>
              <a:t>trainset.json</a:t>
            </a:r>
            <a:r>
              <a:rPr lang="en-US" sz="1650">
                <a:solidFill>
                  <a:srgbClr val="FFC000"/>
                </a:solidFill>
                <a:latin typeface="Arial Nova"/>
                <a:ea typeface="Calibri"/>
                <a:cs typeface="Times New Roman"/>
              </a:rPr>
              <a:t> </a:t>
            </a:r>
            <a:r>
              <a:rPr lang="en-US" sz="1650">
                <a:solidFill>
                  <a:srgbClr val="FFFFFF"/>
                </a:solidFill>
                <a:latin typeface="Arial Nova"/>
                <a:ea typeface="Calibri"/>
                <a:cs typeface="Times New Roman"/>
              </a:rPr>
              <a:t>file</a:t>
            </a:r>
          </a:p>
        </p:txBody>
      </p:sp>
      <p:pic>
        <p:nvPicPr>
          <p:cNvPr id="6" name="Picture 5">
            <a:extLst>
              <a:ext uri="{FF2B5EF4-FFF2-40B4-BE49-F238E27FC236}">
                <a16:creationId xmlns:a16="http://schemas.microsoft.com/office/drawing/2014/main" id="{FD97DEDC-D2C1-B746-C7E8-DF5E78408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36" y="3273425"/>
            <a:ext cx="5207000" cy="3327400"/>
          </a:xfrm>
          <a:prstGeom prst="rect">
            <a:avLst/>
          </a:prstGeom>
        </p:spPr>
      </p:pic>
      <p:sp>
        <p:nvSpPr>
          <p:cNvPr id="18" name="TextBox 17">
            <a:extLst>
              <a:ext uri="{FF2B5EF4-FFF2-40B4-BE49-F238E27FC236}">
                <a16:creationId xmlns:a16="http://schemas.microsoft.com/office/drawing/2014/main" id="{69FBBAC1-E3A3-C6DF-29FA-E444209ADEF2}"/>
              </a:ext>
            </a:extLst>
          </p:cNvPr>
          <p:cNvSpPr txBox="1"/>
          <p:nvPr/>
        </p:nvSpPr>
        <p:spPr>
          <a:xfrm>
            <a:off x="1454727" y="2881051"/>
            <a:ext cx="4572000" cy="346249"/>
          </a:xfrm>
          <a:prstGeom prst="rect">
            <a:avLst/>
          </a:prstGeom>
          <a:noFill/>
        </p:spPr>
        <p:txBody>
          <a:bodyPr wrap="square">
            <a:spAutoFit/>
          </a:bodyPr>
          <a:lstStyle/>
          <a:p>
            <a:r>
              <a:rPr lang="en-US" sz="1650" b="1" u="sng">
                <a:latin typeface="Arial Nova" panose="020B0304020202020204" pitchFamily="34" charset="0"/>
                <a:ea typeface="Calibri"/>
                <a:cs typeface="Times New Roman" panose="02020603050405020304" pitchFamily="18" charset="0"/>
              </a:rPr>
              <a:t>Test Dataset</a:t>
            </a:r>
            <a:endParaRPr lang="en-GR" b="1" u="sng"/>
          </a:p>
        </p:txBody>
      </p:sp>
      <p:pic>
        <p:nvPicPr>
          <p:cNvPr id="20" name="Picture 19">
            <a:extLst>
              <a:ext uri="{FF2B5EF4-FFF2-40B4-BE49-F238E27FC236}">
                <a16:creationId xmlns:a16="http://schemas.microsoft.com/office/drawing/2014/main" id="{9EE6BDCB-B0BF-0A31-FE74-BC7F90D3EA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6450" y="4149724"/>
            <a:ext cx="2590800" cy="1308100"/>
          </a:xfrm>
          <a:prstGeom prst="rect">
            <a:avLst/>
          </a:prstGeom>
        </p:spPr>
      </p:pic>
      <p:sp>
        <p:nvSpPr>
          <p:cNvPr id="23" name="TextBox 22">
            <a:extLst>
              <a:ext uri="{FF2B5EF4-FFF2-40B4-BE49-F238E27FC236}">
                <a16:creationId xmlns:a16="http://schemas.microsoft.com/office/drawing/2014/main" id="{DDB8972C-5BCB-3C5D-BFD4-631BBEC1B859}"/>
              </a:ext>
            </a:extLst>
          </p:cNvPr>
          <p:cNvSpPr txBox="1"/>
          <p:nvPr/>
        </p:nvSpPr>
        <p:spPr>
          <a:xfrm>
            <a:off x="6317455" y="3481299"/>
            <a:ext cx="4572000" cy="346249"/>
          </a:xfrm>
          <a:prstGeom prst="rect">
            <a:avLst/>
          </a:prstGeom>
          <a:noFill/>
        </p:spPr>
        <p:txBody>
          <a:bodyPr wrap="square">
            <a:spAutoFit/>
          </a:bodyPr>
          <a:lstStyle/>
          <a:p>
            <a:r>
              <a:rPr lang="en-US" sz="1650" b="1" u="sng">
                <a:latin typeface="Arial Nova" panose="020B0304020202020204" pitchFamily="34" charset="0"/>
                <a:ea typeface="Calibri"/>
                <a:cs typeface="Times New Roman" panose="02020603050405020304" pitchFamily="18" charset="0"/>
              </a:rPr>
              <a:t>Training Dataset</a:t>
            </a:r>
            <a:endParaRPr lang="en-GR" sz="1800" b="1" u="sng"/>
          </a:p>
        </p:txBody>
      </p:sp>
    </p:spTree>
    <p:extLst>
      <p:ext uri="{BB962C8B-B14F-4D97-AF65-F5344CB8AC3E}">
        <p14:creationId xmlns:p14="http://schemas.microsoft.com/office/powerpoint/2010/main" val="2899471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18EDE-9C21-DD5D-A25A-E27ADD8766C5}"/>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266CB3EA-836A-690D-9702-35151CB3D90B}"/>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EE86FDAA-0BB5-CBA6-0679-2B505810D447}"/>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48176E20-E5FE-FD5A-A262-3BCCD51A8B2F}"/>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1.1 – our golden run: the sentiment agent</a:t>
            </a:r>
            <a:endParaRPr lang="en-US"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BCD45F0-04C9-DA71-72BD-A3AE6BC18FC3}"/>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F7D9C77F-BBB5-8E0F-7F64-D9DE9D6B823C}"/>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31</a:t>
            </a:fld>
            <a:endParaRPr sz="750" b="0">
              <a:solidFill>
                <a:srgbClr val="5B6573"/>
              </a:solidFill>
              <a:latin typeface="Calibri"/>
              <a:ea typeface="Calibri"/>
              <a:cs typeface="Calibri"/>
            </a:endParaRPr>
          </a:p>
        </p:txBody>
      </p:sp>
      <p:sp>
        <p:nvSpPr>
          <p:cNvPr id="9" name="Rounded Rectangle 8">
            <a:extLst>
              <a:ext uri="{FF2B5EF4-FFF2-40B4-BE49-F238E27FC236}">
                <a16:creationId xmlns:a16="http://schemas.microsoft.com/office/drawing/2014/main" id="{E22D75C5-E23C-E7C1-CE0C-A714C848C87F}"/>
              </a:ext>
            </a:extLst>
          </p:cNvPr>
          <p:cNvSpPr>
            <a:spLocks noGrp="1"/>
          </p:cNvSpPr>
          <p:nvPr/>
        </p:nvSpPr>
        <p:spPr>
          <a:xfrm>
            <a:off x="488831" y="1076326"/>
            <a:ext cx="8384392" cy="602445"/>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0" name="Rectangle 9">
            <a:extLst>
              <a:ext uri="{FF2B5EF4-FFF2-40B4-BE49-F238E27FC236}">
                <a16:creationId xmlns:a16="http://schemas.microsoft.com/office/drawing/2014/main" id="{A9EEB2CF-7E10-E6A7-86D8-64BEBE05FB89}"/>
              </a:ext>
            </a:extLst>
          </p:cNvPr>
          <p:cNvSpPr>
            <a:spLocks noGrp="1"/>
          </p:cNvSpPr>
          <p:nvPr/>
        </p:nvSpPr>
        <p:spPr>
          <a:xfrm>
            <a:off x="482500" y="1077087"/>
            <a:ext cx="8391227" cy="606354"/>
          </a:xfrm>
          <a:prstGeom prst="rect">
            <a:avLst/>
          </a:prstGeom>
          <a:noFill/>
          <a:ln w="0">
            <a:noFill/>
          </a:ln>
        </p:spPr>
        <p:txBody>
          <a:bodyPr lIns="91440" tIns="45720" rIns="91440" bIns="45720" anchor="ctr">
            <a:normAutofit fontScale="97348"/>
          </a:bodyPr>
          <a:lstStyle/>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Run the sentiment analysis script and modify the </a:t>
            </a:r>
            <a:r>
              <a:rPr lang="en-US" sz="1650" err="1">
                <a:solidFill>
                  <a:srgbClr val="FFFFFF"/>
                </a:solidFill>
                <a:latin typeface="Courier New"/>
                <a:ea typeface="Calibri"/>
                <a:cs typeface="Courier New"/>
              </a:rPr>
              <a:t>trainset.json</a:t>
            </a:r>
            <a:r>
              <a:rPr lang="en-US" sz="1650">
                <a:solidFill>
                  <a:srgbClr val="FFFFFF"/>
                </a:solidFill>
                <a:latin typeface="Arial Nova"/>
                <a:ea typeface="Calibri"/>
                <a:cs typeface="Times New Roman"/>
              </a:rPr>
              <a:t> to pass all the tests</a:t>
            </a:r>
          </a:p>
        </p:txBody>
      </p:sp>
      <p:pic>
        <p:nvPicPr>
          <p:cNvPr id="16" name="Picture 15" descr="Blank screen when I launch the new windows terminal. · Issue #13841 ·  microsoft/terminal">
            <a:extLst>
              <a:ext uri="{FF2B5EF4-FFF2-40B4-BE49-F238E27FC236}">
                <a16:creationId xmlns:a16="http://schemas.microsoft.com/office/drawing/2014/main" id="{13AD90B0-8546-6793-53E4-EAEAE2A1369F}"/>
              </a:ext>
            </a:extLst>
          </p:cNvPr>
          <p:cNvPicPr>
            <a:picLocks noChangeAspect="1"/>
          </p:cNvPicPr>
          <p:nvPr/>
        </p:nvPicPr>
        <p:blipFill>
          <a:blip r:embed="rId3"/>
          <a:stretch>
            <a:fillRect/>
          </a:stretch>
        </p:blipFill>
        <p:spPr>
          <a:xfrm>
            <a:off x="162791" y="3244334"/>
            <a:ext cx="3827318" cy="1562617"/>
          </a:xfrm>
          <a:prstGeom prst="rect">
            <a:avLst/>
          </a:prstGeom>
        </p:spPr>
      </p:pic>
      <p:sp>
        <p:nvSpPr>
          <p:cNvPr id="17" name="decomposition arrow">
            <a:extLst>
              <a:ext uri="{FF2B5EF4-FFF2-40B4-BE49-F238E27FC236}">
                <a16:creationId xmlns:a16="http://schemas.microsoft.com/office/drawing/2014/main" id="{01262EBD-2749-FEA8-8AB6-57EFDC8016CE}"/>
              </a:ext>
            </a:extLst>
          </p:cNvPr>
          <p:cNvSpPr>
            <a:spLocks noGrp="1"/>
          </p:cNvSpPr>
          <p:nvPr/>
        </p:nvSpPr>
        <p:spPr>
          <a:xfrm rot="16200000">
            <a:off x="4320911" y="3794114"/>
            <a:ext cx="210807" cy="538722"/>
          </a:xfrm>
          <a:prstGeom prst="downArrow">
            <a:avLst/>
          </a:prstGeom>
          <a:solidFill>
            <a:srgbClr val="4F81BD"/>
          </a:solidFill>
          <a:ln w="0">
            <a:noFill/>
          </a:ln>
        </p:spPr>
        <p:txBody>
          <a:bodyPr/>
          <a:lstStyle/>
          <a:p>
            <a:endParaRPr lang="en-GR"/>
          </a:p>
        </p:txBody>
      </p:sp>
      <p:sp>
        <p:nvSpPr>
          <p:cNvPr id="19" name="TextBox 18">
            <a:extLst>
              <a:ext uri="{FF2B5EF4-FFF2-40B4-BE49-F238E27FC236}">
                <a16:creationId xmlns:a16="http://schemas.microsoft.com/office/drawing/2014/main" id="{A7D01200-44A1-627B-CA59-8337F90D8A26}"/>
              </a:ext>
            </a:extLst>
          </p:cNvPr>
          <p:cNvSpPr txBox="1"/>
          <p:nvPr/>
        </p:nvSpPr>
        <p:spPr>
          <a:xfrm>
            <a:off x="-145686" y="3773405"/>
            <a:ext cx="4572000" cy="369332"/>
          </a:xfrm>
          <a:prstGeom prst="rect">
            <a:avLst/>
          </a:prstGeom>
          <a:noFill/>
        </p:spPr>
        <p:txBody>
          <a:bodyPr wrap="square" lIns="91440" tIns="45720" rIns="91440" bIns="45720" anchor="t">
            <a:spAutoFit/>
          </a:bodyPr>
          <a:lstStyle/>
          <a:p>
            <a:pPr algn="ctr"/>
            <a:r>
              <a:rPr lang="en-GB" sz="1800">
                <a:solidFill>
                  <a:schemeClr val="bg1"/>
                </a:solidFill>
                <a:latin typeface="Courier New"/>
                <a:cs typeface="Courier New"/>
              </a:rPr>
              <a:t>python3 </a:t>
            </a:r>
            <a:r>
              <a:rPr lang="en-GB">
                <a:solidFill>
                  <a:schemeClr val="bg1"/>
                </a:solidFill>
                <a:latin typeface="Courier New"/>
                <a:cs typeface="Courier New"/>
              </a:rPr>
              <a:t>main.py</a:t>
            </a:r>
            <a:endParaRPr lang="en-US" sz="1800">
              <a:solidFill>
                <a:schemeClr val="bg1"/>
              </a:solidFill>
              <a:latin typeface="Courier New"/>
              <a:cs typeface="Courier New"/>
            </a:endParaRPr>
          </a:p>
        </p:txBody>
      </p:sp>
      <p:sp>
        <p:nvSpPr>
          <p:cNvPr id="20" name="decomposition: Validation gate: artifact + status +">
            <a:extLst>
              <a:ext uri="{FF2B5EF4-FFF2-40B4-BE49-F238E27FC236}">
                <a16:creationId xmlns:a16="http://schemas.microsoft.com/office/drawing/2014/main" id="{73A7B8DC-A2C8-1E37-7921-BB5BFC37DE56}"/>
              </a:ext>
            </a:extLst>
          </p:cNvPr>
          <p:cNvSpPr>
            <a:spLocks noGrp="1"/>
          </p:cNvSpPr>
          <p:nvPr/>
        </p:nvSpPr>
        <p:spPr>
          <a:xfrm>
            <a:off x="6004990" y="2395792"/>
            <a:ext cx="2099919" cy="503800"/>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Expected Outcome</a:t>
            </a:r>
            <a:endParaRPr sz="1350" b="1">
              <a:solidFill>
                <a:schemeClr val="bg1"/>
              </a:solidFill>
              <a:latin typeface="Calibri"/>
              <a:ea typeface="Calibri"/>
              <a:cs typeface="Calibri"/>
            </a:endParaRPr>
          </a:p>
        </p:txBody>
      </p:sp>
      <p:sp>
        <p:nvSpPr>
          <p:cNvPr id="1226" name="terminal 1226"/>
          <p:cNvSpPr/>
          <p:nvPr/>
        </p:nvSpPr>
        <p:spPr>
          <a:xfrm>
            <a:off x="4663440" y="3017520"/>
            <a:ext cx="4114800" cy="22860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[6/6] ✅ PASS</a:t>
            </a:r>
          </a:p>
          <a:p>
            <a:pPr algn="l">
              <a:lnSpc>
                <a:spcPct val="100000"/>
              </a:lnSpc>
              <a:spcBef>
                <a:spcPts val="0"/>
              </a:spcBef>
              <a:spcAft>
                <a:spcPts val="0"/>
              </a:spcAft>
              <a:buNone/>
            </a:pPr>
            <a:r>
              <a:rPr lang="en-US" sz="950" b="0" i="0">
                <a:solidFill>
                  <a:srgbClr val="FFFFFF"/>
                </a:solidFill>
                <a:latin typeface="Courier New"/>
                <a:ea typeface="Courier New"/>
                <a:cs typeface="Courier New"/>
              </a:rPr>
              <a:t>Sentence:   "The app requires 4GB of RAM…"</a:t>
            </a:r>
          </a:p>
          <a:p>
            <a:pPr algn="l">
              <a:lnSpc>
                <a:spcPct val="100000"/>
              </a:lnSpc>
              <a:spcBef>
                <a:spcPts val="0"/>
              </a:spcBef>
              <a:spcAft>
                <a:spcPts val="0"/>
              </a:spcAft>
              <a:buNone/>
            </a:pPr>
            <a:r>
              <a:rPr lang="en-US" sz="950" b="0" i="0">
                <a:solidFill>
                  <a:srgbClr val="FFFFFF"/>
                </a:solidFill>
                <a:latin typeface="Courier New"/>
                <a:ea typeface="Courier New"/>
                <a:cs typeface="Courier New"/>
              </a:rPr>
              <a:t>Expected:   Neutral</a:t>
            </a:r>
          </a:p>
          <a:p>
            <a:pPr algn="l">
              <a:lnSpc>
                <a:spcPct val="100000"/>
              </a:lnSpc>
              <a:spcBef>
                <a:spcPts val="0"/>
              </a:spcBef>
              <a:spcAft>
                <a:spcPts val="0"/>
              </a:spcAft>
              <a:buNone/>
            </a:pPr>
            <a:r>
              <a:rPr lang="en-US" sz="950" b="0" i="0">
                <a:solidFill>
                  <a:srgbClr val="FFFFFF"/>
                </a:solidFill>
                <a:latin typeface="Courier New"/>
                <a:ea typeface="Courier New"/>
                <a:cs typeface="Courier New"/>
              </a:rPr>
              <a:t>Predicted:  Neutral</a:t>
            </a:r>
          </a:p>
          <a:p>
            <a:pPr algn="l">
              <a:lnSpc>
                <a:spcPct val="100000"/>
              </a:lnSpc>
              <a:spcBef>
                <a:spcPts val="0"/>
              </a:spcBef>
              <a:spcAft>
                <a:spcPts val="0"/>
              </a:spcAft>
              <a:buNone/>
            </a:pPr>
            <a:r>
              <a:rPr lang="en-US" sz="950" b="0" i="0">
                <a:solidFill>
                  <a:srgbClr val="FFFFFF"/>
                </a:solidFill>
                <a:latin typeface="Courier New"/>
                <a:ea typeface="Courier New"/>
                <a:cs typeface="Courier New"/>
              </a:rPr>
              <a:t>Tokens:     In: 412 | Out: 96 | Total: 508</a:t>
            </a:r>
          </a:p>
          <a:p>
            <a:pPr algn="l">
              <a:lnSpc>
                <a:spcPct val="100000"/>
              </a:lnSpc>
              <a:spcBef>
                <a:spcPts val="0"/>
              </a:spcBef>
              <a:spcAft>
                <a:spcPts val="0"/>
              </a:spcAft>
              <a:buNone/>
            </a:pPr>
            <a:r>
              <a:rPr lang="en-US" sz="950" b="0" i="0">
                <a:solidFill>
                  <a:srgbClr val="FFFFFF"/>
                </a:solidFill>
                <a:latin typeface="Courier New"/>
                <a:ea typeface="Courier New"/>
                <a:cs typeface="Courier New"/>
              </a:rPr>
              <a:t>----------------------------------------</a:t>
            </a:r>
          </a:p>
          <a:p>
            <a:pPr algn="l">
              <a:lnSpc>
                <a:spcPct val="100000"/>
              </a:lnSpc>
              <a:spcBef>
                <a:spcPts val="0"/>
              </a:spcBef>
              <a:spcAft>
                <a:spcPts val="0"/>
              </a:spcAft>
              <a:buNone/>
            </a:pPr>
            <a:r>
              <a:rPr lang="en-US" sz="950" b="0" i="0">
                <a:solidFill>
                  <a:srgbClr val="FFFFFF"/>
                </a:solidFill>
                <a:latin typeface="Courier New"/>
                <a:ea typeface="Courier New"/>
                <a:cs typeface="Courier New"/>
              </a:rPr>
              <a:t>  EVALUATION, TOKENS &amp; THROUGHPUT SUMMARY</a:t>
            </a:r>
          </a:p>
          <a:p>
            <a:pPr algn="l">
              <a:lnSpc>
                <a:spcPct val="100000"/>
              </a:lnSpc>
              <a:spcBef>
                <a:spcPts val="0"/>
              </a:spcBef>
              <a:spcAft>
                <a:spcPts val="0"/>
              </a:spcAft>
              <a:buNone/>
            </a:pPr>
            <a:r>
              <a:rPr lang="en-US" sz="950" b="0" i="0">
                <a:solidFill>
                  <a:srgbClr val="FFFFFF"/>
                </a:solidFill>
                <a:latin typeface="Courier New"/>
                <a:ea typeface="Courier New"/>
                <a:cs typeface="Courier New"/>
              </a:rPr>
              <a:t>Untrained Baseline Accuracy: 66.7%</a:t>
            </a:r>
          </a:p>
          <a:p>
            <a:pPr algn="l">
              <a:lnSpc>
                <a:spcPct val="100000"/>
              </a:lnSpc>
              <a:spcBef>
                <a:spcPts val="0"/>
              </a:spcBef>
              <a:spcAft>
                <a:spcPts val="0"/>
              </a:spcAft>
              <a:buNone/>
            </a:pPr>
            <a:r>
              <a:rPr lang="en-US" sz="950" b="0" i="0">
                <a:solidFill>
                  <a:srgbClr val="7EC699"/>
                </a:solidFill>
                <a:latin typeface="Courier New"/>
                <a:ea typeface="Courier New"/>
                <a:cs typeface="Courier New"/>
              </a:rPr>
              <a:t>DSPy Compiled Accuracy:     83.3%</a:t>
            </a:r>
          </a:p>
          <a:p>
            <a:pPr algn="l">
              <a:lnSpc>
                <a:spcPct val="100000"/>
              </a:lnSpc>
              <a:spcBef>
                <a:spcPts val="0"/>
              </a:spcBef>
              <a:spcAft>
                <a:spcPts val="0"/>
              </a:spcAft>
              <a:buNone/>
            </a:pPr>
            <a:r>
              <a:rPr lang="en-US" sz="950" b="0" i="0">
                <a:solidFill>
                  <a:srgbClr val="7EC699"/>
                </a:solidFill>
                <a:latin typeface="Courier New"/>
                <a:ea typeface="Courier New"/>
                <a:cs typeface="Courier New"/>
              </a:rPr>
              <a:t>Net Accuracy Improvement:   +16.7%</a:t>
            </a:r>
          </a:p>
          <a:p>
            <a:pPr algn="l">
              <a:lnSpc>
                <a:spcPct val="100000"/>
              </a:lnSpc>
              <a:spcBef>
                <a:spcPts val="0"/>
              </a:spcBef>
              <a:spcAft>
                <a:spcPts val="0"/>
              </a:spcAft>
              <a:buNone/>
            </a:pPr>
            <a:r>
              <a:rPr lang="en-US" sz="950" b="0" i="0">
                <a:solidFill>
                  <a:srgbClr val="FFFFFF"/>
                </a:solidFill>
                <a:latin typeface="Courier New"/>
                <a:ea typeface="Courier New"/>
                <a:cs typeface="Courier New"/>
              </a:rPr>
              <a:t>SCRIPT TOTAL:  6913 tokens | 21.40s</a:t>
            </a:r>
          </a:p>
        </p:txBody>
      </p:sp>
      <p:sp>
        <p:nvSpPr>
          <p:cNvPr id="1227" name="text 1227"/>
          <p:cNvSpPr txBox="1"/>
          <p:nvPr/>
        </p:nvSpPr>
        <p:spPr>
          <a:xfrm>
            <a:off x="4663440" y="5349240"/>
            <a:ext cx="4114800" cy="228600"/>
          </a:xfrm>
          <a:prstGeom prst="rect">
            <a:avLst/>
          </a:prstGeom>
          <a:noFill/>
          <a:ln>
            <a:noFill/>
          </a:ln>
        </p:spPr>
        <p:txBody>
          <a:bodyPr wrap="square" lIns="18288" tIns="18288" rIns="18288" bIns="18288" anchor="t">
            <a:noAutofit/>
          </a:bodyPr>
          <a:lstStyle/>
          <a:p>
            <a:pPr algn="r">
              <a:spcBef>
                <a:spcPts val="0"/>
              </a:spcBef>
              <a:spcAft>
                <a:spcPts val="0"/>
              </a:spcAft>
              <a:buNone/>
            </a:pPr>
            <a:r>
              <a:rPr lang="en-US" sz="850" b="0" i="1">
                <a:solidFill>
                  <a:srgbClr val="5D6C7B"/>
                </a:solidFill>
                <a:latin typeface="Calibri"/>
                <a:ea typeface="Calibri"/>
                <a:cs typeface="Calibri"/>
              </a:rPr>
              <a:t>illustrative output – your numbers will differ</a:t>
            </a:r>
          </a:p>
        </p:txBody>
      </p:sp>
      <p:sp>
        <p:nvSpPr>
          <p:cNvPr id="1228" name="text 1228"/>
          <p:cNvSpPr txBox="1"/>
          <p:nvPr/>
        </p:nvSpPr>
        <p:spPr>
          <a:xfrm>
            <a:off x="274320" y="4983480"/>
            <a:ext cx="3749039" cy="1188720"/>
          </a:xfrm>
          <a:prstGeom prst="rect">
            <a:avLst/>
          </a:prstGeom>
          <a:noFill/>
          <a:ln>
            <a:noFill/>
          </a:ln>
        </p:spPr>
        <p:txBody>
          <a:bodyPr wrap="square" lIns="18288" tIns="18288" rIns="18288" bIns="18288" anchor="t">
            <a:noAutofit/>
          </a:bodyPr>
          <a:lstStyle/>
          <a:p>
            <a:pPr algn="l">
              <a:spcBef>
                <a:spcPts val="0"/>
              </a:spcBef>
              <a:spcAft>
                <a:spcPts val="200"/>
              </a:spcAft>
              <a:buNone/>
            </a:pPr>
            <a:r>
              <a:rPr lang="en-US" sz="1150" b="1" i="0">
                <a:solidFill>
                  <a:srgbClr val="0E2745"/>
                </a:solidFill>
                <a:latin typeface="Calibri"/>
                <a:ea typeface="Calibri"/>
                <a:cs typeface="Calibri"/>
              </a:rPr>
              <a:t>Goal: compiled accuracy &gt; baseline</a:t>
            </a:r>
          </a:p>
          <a:p>
            <a:pPr algn="l">
              <a:spcBef>
                <a:spcPts val="0"/>
              </a:spcBef>
              <a:spcAft>
                <a:spcPts val="0"/>
              </a:spcAft>
              <a:buNone/>
            </a:pPr>
            <a:r>
              <a:rPr lang="en-US" sz="1000" b="0" i="0">
                <a:solidFill>
                  <a:srgbClr val="5D6C7B"/>
                </a:solidFill>
                <a:latin typeface="Calibri"/>
                <a:ea typeface="Calibri"/>
                <a:cs typeface="Calibri"/>
              </a:rPr>
              <a:t>Each line shows the reasoning, the latency and the tokens of one call</a:t>
            </a:r>
          </a:p>
        </p:txBody>
      </p:sp>
    </p:spTree>
    <p:extLst>
      <p:ext uri="{BB962C8B-B14F-4D97-AF65-F5344CB8AC3E}">
        <p14:creationId xmlns:p14="http://schemas.microsoft.com/office/powerpoint/2010/main" val="1123561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1.1 – your turn: build the training set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32</a:t>
            </a:fld>
            <a:endParaRPr sz="750" b="0">
              <a:solidFill>
                <a:srgbClr val="5B6573"/>
              </a:solidFill>
              <a:latin typeface="Calibri"/>
              <a:ea typeface="Calibri"/>
              <a:cs typeface="Calibri"/>
            </a:endParaRPr>
          </a:p>
        </p:txBody>
      </p:sp>
      <p:sp>
        <p:nvSpPr>
          <p:cNvPr id="1366" name="step row 1366"/>
          <p:cNvSpPr/>
          <p:nvPr/>
        </p:nvSpPr>
        <p:spPr>
          <a:xfrm>
            <a:off x="457200" y="1024128"/>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67" name="shape 1367"/>
          <p:cNvSpPr/>
          <p:nvPr/>
        </p:nvSpPr>
        <p:spPr>
          <a:xfrm>
            <a:off x="566928" y="1170432"/>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368" name="step text 1368"/>
          <p:cNvSpPr txBox="1"/>
          <p:nvPr/>
        </p:nvSpPr>
        <p:spPr>
          <a:xfrm>
            <a:off x="1078992" y="1060704"/>
            <a:ext cx="324612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exercise</a:t>
            </a:r>
          </a:p>
          <a:p>
            <a:pPr algn="l">
              <a:spcBef>
                <a:spcPts val="0"/>
              </a:spcBef>
              <a:spcAft>
                <a:spcPts val="0"/>
              </a:spcAft>
              <a:buNone/>
            </a:pPr>
            <a:r>
              <a:rPr lang="en-US" sz="950" b="0" i="0">
                <a:solidFill>
                  <a:srgbClr val="5D6C7B"/>
                </a:solidFill>
                <a:latin typeface="Calibri"/>
                <a:ea typeface="Calibri"/>
                <a:cs typeface="Calibri"/>
              </a:rPr>
              <a:t>inside the container. You change only trainset.json; testset.json is the exam</a:t>
            </a:r>
          </a:p>
        </p:txBody>
      </p:sp>
      <p:sp>
        <p:nvSpPr>
          <p:cNvPr id="1369" name="terminal 1369"/>
          <p:cNvSpPr/>
          <p:nvPr/>
        </p:nvSpPr>
        <p:spPr>
          <a:xfrm>
            <a:off x="4389120" y="1088136"/>
            <a:ext cx="420624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/home/scripts/part1/sentiment_analysis/problem</a:t>
            </a:r>
          </a:p>
          <a:p>
            <a:pPr algn="l">
              <a:lnSpc>
                <a:spcPct val="100000"/>
              </a:lnSpc>
              <a:spcBef>
                <a:spcPts val="0"/>
              </a:spcBef>
              <a:spcAft>
                <a:spcPts val="0"/>
              </a:spcAft>
              <a:buNone/>
            </a:pPr>
            <a:r>
              <a:rPr lang="en-US" sz="950" b="0" i="0">
                <a:solidFill>
                  <a:srgbClr val="FFFFFF"/>
                </a:solidFill>
                <a:latin typeface="Courier New"/>
                <a:ea typeface="Courier New"/>
                <a:cs typeface="Courier New"/>
              </a:rPr>
              <a:t>ls</a:t>
            </a:r>
          </a:p>
        </p:txBody>
      </p:sp>
      <p:sp>
        <p:nvSpPr>
          <p:cNvPr id="1370" name="step row 1370"/>
          <p:cNvSpPr/>
          <p:nvPr/>
        </p:nvSpPr>
        <p:spPr>
          <a:xfrm>
            <a:off x="457200" y="1810512"/>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71" name="shape 1371"/>
          <p:cNvSpPr/>
          <p:nvPr/>
        </p:nvSpPr>
        <p:spPr>
          <a:xfrm>
            <a:off x="566928" y="1956815"/>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372" name="step text 1372"/>
          <p:cNvSpPr txBox="1"/>
          <p:nvPr/>
        </p:nvSpPr>
        <p:spPr>
          <a:xfrm>
            <a:off x="1078992" y="1847088"/>
            <a:ext cx="324612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the baseline</a:t>
            </a:r>
          </a:p>
          <a:p>
            <a:pPr algn="l">
              <a:spcBef>
                <a:spcPts val="0"/>
              </a:spcBef>
              <a:spcAft>
                <a:spcPts val="0"/>
              </a:spcAft>
              <a:buNone/>
            </a:pPr>
            <a:r>
              <a:rPr lang="en-US" sz="950" b="0" i="0">
                <a:solidFill>
                  <a:srgbClr val="5D6C7B"/>
                </a:solidFill>
                <a:latin typeface="Calibri"/>
                <a:ea typeface="Calibri"/>
                <a:cs typeface="Calibri"/>
              </a:rPr>
              <a:t>nothing changed yet. Write down  Untrained Baseline Accuracy: …  – the number to beat</a:t>
            </a:r>
          </a:p>
        </p:txBody>
      </p:sp>
      <p:sp>
        <p:nvSpPr>
          <p:cNvPr id="1373" name="terminal 1373"/>
          <p:cNvSpPr/>
          <p:nvPr/>
        </p:nvSpPr>
        <p:spPr>
          <a:xfrm>
            <a:off x="4389120" y="1874519"/>
            <a:ext cx="420624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main.py</a:t>
            </a:r>
          </a:p>
        </p:txBody>
      </p:sp>
      <p:sp>
        <p:nvSpPr>
          <p:cNvPr id="1374" name="step row 1374"/>
          <p:cNvSpPr/>
          <p:nvPr/>
        </p:nvSpPr>
        <p:spPr>
          <a:xfrm>
            <a:off x="457200" y="2596896"/>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75" name="shape 1375"/>
          <p:cNvSpPr/>
          <p:nvPr/>
        </p:nvSpPr>
        <p:spPr>
          <a:xfrm>
            <a:off x="566928" y="27431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376" name="step text 1376"/>
          <p:cNvSpPr txBox="1"/>
          <p:nvPr/>
        </p:nvSpPr>
        <p:spPr>
          <a:xfrm>
            <a:off x="1078992" y="2633472"/>
            <a:ext cx="749808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Teach by examples</a:t>
            </a:r>
          </a:p>
          <a:p>
            <a:pPr algn="l">
              <a:spcBef>
                <a:spcPts val="0"/>
              </a:spcBef>
              <a:spcAft>
                <a:spcPts val="0"/>
              </a:spcAft>
              <a:buNone/>
            </a:pPr>
            <a:r>
              <a:rPr lang="en-US" sz="950" b="0" i="0">
                <a:solidFill>
                  <a:srgbClr val="5D6C7B"/>
                </a:solidFill>
                <a:latin typeface="Calibri"/>
                <a:ea typeface="Calibri"/>
                <a:cs typeface="Calibri"/>
              </a:rPr>
              <a:t>on your laptop open scripts/part1/sentiment_analysis/problem/trainset.json. Add about 6 sentences with their label: 2 Positive, 2 Neutral, 2 Negative. Pick tricky ones (negation, sarcasm). Never copy test sentences. Save.</a:t>
            </a:r>
          </a:p>
        </p:txBody>
      </p:sp>
      <p:sp>
        <p:nvSpPr>
          <p:cNvPr id="1377" name="step row 1377"/>
          <p:cNvSpPr/>
          <p:nvPr/>
        </p:nvSpPr>
        <p:spPr>
          <a:xfrm>
            <a:off x="457200" y="3383279"/>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78" name="shape 1378"/>
          <p:cNvSpPr/>
          <p:nvPr/>
        </p:nvSpPr>
        <p:spPr>
          <a:xfrm>
            <a:off x="566928" y="3529584"/>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379" name="step text 1379"/>
          <p:cNvSpPr txBox="1"/>
          <p:nvPr/>
        </p:nvSpPr>
        <p:spPr>
          <a:xfrm>
            <a:off x="1078992" y="3419856"/>
            <a:ext cx="324612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again</a:t>
            </a:r>
          </a:p>
          <a:p>
            <a:pPr algn="l">
              <a:spcBef>
                <a:spcPts val="0"/>
              </a:spcBef>
              <a:spcAft>
                <a:spcPts val="0"/>
              </a:spcAft>
              <a:buNone/>
            </a:pPr>
            <a:r>
              <a:rPr lang="en-US" sz="950" b="0" i="0">
                <a:solidFill>
                  <a:srgbClr val="5D6C7B"/>
                </a:solidFill>
                <a:latin typeface="Calibri"/>
                <a:ea typeface="Calibri"/>
                <a:cs typeface="Calibri"/>
              </a:rPr>
              <a:t>DSPy compiles your examples into the prompt. Write down  DSPy Compiled Accuracy: …  and compare with step 2</a:t>
            </a:r>
          </a:p>
        </p:txBody>
      </p:sp>
      <p:sp>
        <p:nvSpPr>
          <p:cNvPr id="1380" name="terminal 1380"/>
          <p:cNvSpPr/>
          <p:nvPr/>
        </p:nvSpPr>
        <p:spPr>
          <a:xfrm>
            <a:off x="4389120" y="3447287"/>
            <a:ext cx="420624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main.py</a:t>
            </a:r>
          </a:p>
        </p:txBody>
      </p:sp>
      <p:sp>
        <p:nvSpPr>
          <p:cNvPr id="1381" name="step row 1381"/>
          <p:cNvSpPr/>
          <p:nvPr/>
        </p:nvSpPr>
        <p:spPr>
          <a:xfrm>
            <a:off x="457200" y="4169663"/>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82" name="shape 1382"/>
          <p:cNvSpPr/>
          <p:nvPr/>
        </p:nvSpPr>
        <p:spPr>
          <a:xfrm>
            <a:off x="566928" y="4315968"/>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383" name="step text 1383"/>
          <p:cNvSpPr txBox="1"/>
          <p:nvPr/>
        </p:nvSpPr>
        <p:spPr>
          <a:xfrm>
            <a:off x="1078992" y="4206240"/>
            <a:ext cx="324612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Compare with ours</a:t>
            </a:r>
          </a:p>
          <a:p>
            <a:pPr algn="l">
              <a:spcBef>
                <a:spcPts val="0"/>
              </a:spcBef>
              <a:spcAft>
                <a:spcPts val="0"/>
              </a:spcAft>
              <a:buNone/>
            </a:pPr>
            <a:r>
              <a:rPr lang="en-US" sz="950" b="0" i="0">
                <a:solidFill>
                  <a:srgbClr val="5D6C7B"/>
                </a:solidFill>
                <a:latin typeface="Calibri"/>
                <a:ea typeface="Calibri"/>
                <a:cs typeface="Calibri"/>
              </a:rPr>
              <a:t>the same script with our training set. Is yours better?</a:t>
            </a:r>
          </a:p>
        </p:txBody>
      </p:sp>
      <p:sp>
        <p:nvSpPr>
          <p:cNvPr id="1384" name="terminal 1384"/>
          <p:cNvSpPr/>
          <p:nvPr/>
        </p:nvSpPr>
        <p:spPr>
          <a:xfrm>
            <a:off x="4389120" y="4233672"/>
            <a:ext cx="420624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../solution</a:t>
            </a:r>
          </a:p>
          <a:p>
            <a:pPr algn="l">
              <a:lnSpc>
                <a:spcPct val="100000"/>
              </a:lnSpc>
              <a:spcBef>
                <a:spcPts val="0"/>
              </a:spcBef>
              <a:spcAft>
                <a:spcPts val="0"/>
              </a:spcAft>
              <a:buNone/>
            </a:pPr>
            <a:r>
              <a:rPr lang="en-US" sz="950" b="0" i="0">
                <a:solidFill>
                  <a:srgbClr val="FFFFFF"/>
                </a:solidFill>
                <a:latin typeface="Courier New"/>
                <a:ea typeface="Courier New"/>
                <a:cs typeface="Courier New"/>
              </a:rPr>
              <a:t>python3 main.py</a:t>
            </a:r>
          </a:p>
        </p:txBody>
      </p:sp>
      <p:sp>
        <p:nvSpPr>
          <p:cNvPr id="1385" name="checkpoint 1385"/>
          <p:cNvSpPr/>
          <p:nvPr/>
        </p:nvSpPr>
        <p:spPr>
          <a:xfrm>
            <a:off x="495300" y="5791961"/>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100" b="1" i="0">
                <a:solidFill>
                  <a:srgbClr val="FFFFFF"/>
                </a:solidFill>
                <a:latin typeface="Calibri"/>
                <a:ea typeface="Calibri"/>
                <a:cs typeface="Calibri"/>
              </a:rPr>
              <a:t>✓  CHECKPOINT  </a:t>
            </a:r>
            <a:r>
              <a:rPr lang="en-US" sz="1050" b="1" i="0" err="1">
                <a:solidFill>
                  <a:srgbClr val="FFFFFF"/>
                </a:solidFill>
                <a:latin typeface="Calibri"/>
                <a:ea typeface="Calibri"/>
                <a:cs typeface="Calibri"/>
              </a:rPr>
              <a:t>DSPy</a:t>
            </a:r>
            <a:r>
              <a:rPr lang="en-US" sz="1050" b="1" i="0">
                <a:solidFill>
                  <a:srgbClr val="FFFFFF"/>
                </a:solidFill>
                <a:latin typeface="Calibri"/>
                <a:ea typeface="Calibri"/>
                <a:cs typeface="Calibri"/>
              </a:rPr>
              <a:t>-optimized accuracy ≥ un-optimized baseline, and you know which test sentence was the hardest</a:t>
            </a:r>
          </a:p>
        </p:txBody>
      </p:sp>
      <p:sp>
        <p:nvSpPr>
          <p:cNvPr id="1033" name="shape 1033"/>
          <p:cNvSpPr/>
          <p:nvPr/>
        </p:nvSpPr>
        <p:spPr>
          <a:xfrm>
            <a:off x="457200" y="4956048"/>
            <a:ext cx="8229600" cy="685800"/>
          </a:xfrm>
          <a:prstGeom prst="roundRect">
            <a:avLst>
              <a:gd name="adj" fmla="val 10000"/>
            </a:avLst>
          </a:prstGeom>
          <a:solidFill>
            <a:srgbClr val="F3F6FA"/>
          </a:solidFill>
          <a:ln>
            <a:noFill/>
          </a:ln>
        </p:spPr>
        <p:txBody>
          <a:bodyPr wrap="square" lIns="128016" tIns="128016" rIns="128016" bIns="128016" anchor="ctr">
            <a:noAutofit/>
          </a:bodyPr>
          <a:lstStyle/>
          <a:p>
            <a:pPr algn="l">
              <a:spcBef>
                <a:spcPts val="0"/>
              </a:spcBef>
              <a:spcAft>
                <a:spcPts val="0"/>
              </a:spcAft>
              <a:buNone/>
            </a:pPr>
            <a:r>
              <a:rPr lang="en-US" sz="1050" b="1" i="0">
                <a:solidFill>
                  <a:srgbClr val="0E2745"/>
                </a:solidFill>
                <a:latin typeface="Calibri"/>
                <a:ea typeface="Calibri"/>
                <a:cs typeface="Calibri"/>
              </a:rPr>
              <a:t>Two numbers, same test set:  </a:t>
            </a:r>
            <a:r>
              <a:rPr lang="en-US" sz="1050" b="1" i="0">
                <a:solidFill>
                  <a:srgbClr val="5D6C7B"/>
                </a:solidFill>
                <a:latin typeface="Calibri"/>
                <a:ea typeface="Calibri"/>
                <a:cs typeface="Calibri"/>
              </a:rPr>
              <a:t>Untrained Baseline</a:t>
            </a:r>
            <a:r>
              <a:rPr lang="en-US" sz="1050" b="0" i="0">
                <a:solidFill>
                  <a:srgbClr val="0E2745"/>
                </a:solidFill>
                <a:latin typeface="Calibri"/>
                <a:ea typeface="Calibri"/>
                <a:cs typeface="Calibri"/>
              </a:rPr>
              <a:t> = the agent without optimization (Agent.md only).  </a:t>
            </a:r>
            <a:r>
              <a:rPr lang="en-US" sz="1050" b="1" i="0">
                <a:solidFill>
                  <a:srgbClr val="2E7D4F"/>
                </a:solidFill>
                <a:latin typeface="Calibri"/>
                <a:ea typeface="Calibri"/>
                <a:cs typeface="Calibri"/>
              </a:rPr>
              <a:t>DSPy Compiled</a:t>
            </a:r>
            <a:r>
              <a:rPr lang="en-US" sz="1050" b="0" i="0">
                <a:solidFill>
                  <a:srgbClr val="0E2745"/>
                </a:solidFill>
                <a:latin typeface="Calibri"/>
                <a:ea typeface="Calibri"/>
                <a:cs typeface="Calibri"/>
              </a:rPr>
              <a:t> = the same agent after DSPy optimized its prompt with your examples. The difference is what the optimization bought.</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8" name="Add-in 7">
                <a:extLst>
                  <a:ext uri="{FF2B5EF4-FFF2-40B4-BE49-F238E27FC236}">
                    <a16:creationId xmlns:a16="http://schemas.microsoft.com/office/drawing/2014/main" id="{F6C28995-FFCB-0787-7942-66CE0AFB77C3}"/>
                  </a:ext>
                </a:extLst>
              </p:cNvPr>
              <p:cNvGraphicFramePr>
                <a:graphicFrameLocks noGrp="1"/>
              </p:cNvGraphicFramePr>
              <p:nvPr>
                <p:extLst>
                  <p:ext uri="{D42A27DB-BD31-4B8C-83A1-F6EECF244321}">
                    <p14:modId xmlns:p14="http://schemas.microsoft.com/office/powerpoint/2010/main" val="1607647122"/>
                  </p:ext>
                </p:extLst>
              </p:nvPr>
            </p:nvGraphicFramePr>
            <p:xfrm>
              <a:off x="7524871" y="575633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8" name="Add-in 7">
                <a:extLst>
                  <a:ext uri="{FF2B5EF4-FFF2-40B4-BE49-F238E27FC236}">
                    <a16:creationId xmlns:a16="http://schemas.microsoft.com/office/drawing/2014/main" id="{F6C28995-FFCB-0787-7942-66CE0AFB77C3}"/>
                  </a:ext>
                </a:extLst>
              </p:cNvPr>
              <p:cNvPicPr>
                <a:picLocks noGrp="1" noRot="1" noChangeAspect="1" noMove="1" noResize="1" noEditPoints="1" noAdjustHandles="1" noChangeArrowheads="1" noChangeShapeType="1"/>
              </p:cNvPicPr>
              <p:nvPr/>
            </p:nvPicPr>
            <p:blipFill>
              <a:blip r:embed="rId4"/>
              <a:stretch>
                <a:fillRect/>
              </a:stretch>
            </p:blipFill>
            <p:spPr>
              <a:xfrm>
                <a:off x="7524871" y="5756338"/>
                <a:ext cx="4654855" cy="1936624"/>
              </a:xfrm>
              <a:prstGeom prst="rect">
                <a:avLst/>
              </a:prstGeom>
            </p:spPr>
          </p:pic>
        </mc:Fallback>
      </mc:AlternateContent>
      <p:pic>
        <p:nvPicPr>
          <p:cNvPr id="6" name="Picture 5" descr="Stopwatch on white background">
            <a:extLst>
              <a:ext uri="{FF2B5EF4-FFF2-40B4-BE49-F238E27FC236}">
                <a16:creationId xmlns:a16="http://schemas.microsoft.com/office/drawing/2014/main" id="{C3EB562F-82E4-4A2D-5202-8EA93BD585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extLst>
      <p:ext uri="{BB962C8B-B14F-4D97-AF65-F5344CB8AC3E}">
        <p14:creationId xmlns:p14="http://schemas.microsoft.com/office/powerpoint/2010/main" val="496440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21A5-B979-8744-5A8D-3CE6A917608C}"/>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5ECFAE8-76E8-8E3A-0845-33BB750D63B8}"/>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41BBAF28-C3F5-3AE5-B206-E4FD8024A03B}"/>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78384E6F-EDA2-271D-737E-3863DDB31E0E}"/>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The Google verification problem</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5131332-AC10-50E2-7B09-02D4CE35D79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009B2612-BD15-37A8-C11B-773B9E7A2818}"/>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33</a:t>
            </a:fld>
            <a:endParaRPr sz="750" b="0">
              <a:solidFill>
                <a:srgbClr val="5B6573"/>
              </a:solidFill>
              <a:latin typeface="Calibri"/>
              <a:ea typeface="Calibri"/>
              <a:cs typeface="Calibri"/>
            </a:endParaRPr>
          </a:p>
        </p:txBody>
      </p:sp>
      <p:sp>
        <p:nvSpPr>
          <p:cNvPr id="1032" name="text 1032"/>
          <p:cNvSpPr txBox="1"/>
          <p:nvPr/>
        </p:nvSpPr>
        <p:spPr>
          <a:xfrm>
            <a:off x="457200" y="960120"/>
            <a:ext cx="8229600" cy="45720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200" b="1" i="0">
                <a:solidFill>
                  <a:srgbClr val="0E2745"/>
                </a:solidFill>
                <a:latin typeface="Calibri"/>
                <a:ea typeface="Calibri"/>
                <a:cs typeface="Calibri"/>
              </a:rPr>
              <a:t>A hackathon problem by Google at ICLAD 2025: </a:t>
            </a:r>
            <a:r>
              <a:rPr lang="en-US" sz="1200" b="0" i="0">
                <a:solidFill>
                  <a:srgbClr val="0E2745"/>
                </a:solidFill>
                <a:latin typeface="Calibri"/>
                <a:ea typeface="Calibri"/>
                <a:cs typeface="Calibri"/>
              </a:rPr>
              <a:t>can an AI agent write a testbench from a specification written in plain English?</a:t>
            </a:r>
          </a:p>
        </p:txBody>
      </p:sp>
      <p:sp>
        <p:nvSpPr>
          <p:cNvPr id="1033" name="shape 1033"/>
          <p:cNvSpPr/>
          <p:nvPr/>
        </p:nvSpPr>
        <p:spPr>
          <a:xfrm>
            <a:off x="457200" y="1600200"/>
            <a:ext cx="1600200" cy="1234440"/>
          </a:xfrm>
          <a:prstGeom prst="roundRect">
            <a:avLst>
              <a:gd name="adj" fmla="val 9000"/>
            </a:avLst>
          </a:prstGeom>
          <a:solidFill>
            <a:srgbClr val="F3F6FA"/>
          </a:solidFill>
          <a:ln w="12700">
            <a:solidFill>
              <a:srgbClr val="C9D6E6"/>
            </a:solidFill>
          </a:ln>
        </p:spPr>
        <p:txBody>
          <a:bodyPr wrap="square" lIns="73152" tIns="73152" rIns="73152" bIns="73152" anchor="ctr">
            <a:noAutofit/>
          </a:bodyPr>
          <a:lstStyle/>
          <a:p>
            <a:pPr algn="ctr">
              <a:spcBef>
                <a:spcPts val="0"/>
              </a:spcBef>
              <a:spcAft>
                <a:spcPts val="150"/>
              </a:spcAft>
              <a:buNone/>
            </a:pPr>
            <a:r>
              <a:rPr lang="en-US" sz="1000" b="1" i="0">
                <a:solidFill>
                  <a:srgbClr val="0E2745"/>
                </a:solidFill>
                <a:latin typeface="Courier New"/>
                <a:ea typeface="Courier New"/>
                <a:cs typeface="Courier New"/>
              </a:rPr>
              <a:t>specification.md</a:t>
            </a:r>
          </a:p>
          <a:p>
            <a:pPr algn="ctr">
              <a:spcBef>
                <a:spcPts val="0"/>
              </a:spcBef>
              <a:spcAft>
                <a:spcPts val="0"/>
              </a:spcAft>
              <a:buNone/>
            </a:pPr>
            <a:r>
              <a:rPr lang="en-US" sz="950" b="0" i="0">
                <a:solidFill>
                  <a:srgbClr val="5D6C7B"/>
                </a:solidFill>
                <a:latin typeface="Calibri"/>
                <a:ea typeface="Calibri"/>
                <a:cs typeface="Calibri"/>
              </a:rPr>
              <a:t>what the module must do, in plain English</a:t>
            </a:r>
          </a:p>
        </p:txBody>
      </p:sp>
      <p:sp>
        <p:nvSpPr>
          <p:cNvPr id="1034" name="arrow 1034"/>
          <p:cNvSpPr/>
          <p:nvPr/>
        </p:nvSpPr>
        <p:spPr>
          <a:xfrm>
            <a:off x="2103120" y="2075688"/>
            <a:ext cx="320040" cy="292608"/>
          </a:xfrm>
          <a:prstGeom prst="rightArrow">
            <a:avLst/>
          </a:prstGeom>
          <a:solidFill>
            <a:srgbClr val="4F81BD"/>
          </a:solidFill>
          <a:ln>
            <a:noFill/>
          </a:ln>
        </p:spPr>
        <p:txBody>
          <a:bodyPr/>
          <a:lstStyle/>
          <a:p>
            <a:endParaRPr lang="en-US"/>
          </a:p>
        </p:txBody>
      </p:sp>
      <p:sp>
        <p:nvSpPr>
          <p:cNvPr id="1035" name="shape 1035"/>
          <p:cNvSpPr/>
          <p:nvPr/>
        </p:nvSpPr>
        <p:spPr>
          <a:xfrm>
            <a:off x="2468880" y="1600200"/>
            <a:ext cx="1371600" cy="1234440"/>
          </a:xfrm>
          <a:prstGeom prst="roundRect">
            <a:avLst>
              <a:gd name="adj" fmla="val 9000"/>
            </a:avLst>
          </a:prstGeom>
          <a:solidFill>
            <a:srgbClr val="0E2745"/>
          </a:solidFill>
          <a:ln>
            <a:noFill/>
          </a:ln>
        </p:spPr>
        <p:txBody>
          <a:bodyPr wrap="square" lIns="73152" tIns="73152" rIns="73152" bIns="73152" anchor="ctr">
            <a:noAutofit/>
          </a:bodyPr>
          <a:lstStyle/>
          <a:p>
            <a:pPr algn="ctr">
              <a:spcBef>
                <a:spcPts val="0"/>
              </a:spcBef>
              <a:spcAft>
                <a:spcPts val="150"/>
              </a:spcAft>
              <a:buNone/>
            </a:pPr>
            <a:r>
              <a:rPr lang="en-US" sz="1150" b="1" i="0">
                <a:solidFill>
                  <a:srgbClr val="FFFFFF"/>
                </a:solidFill>
                <a:latin typeface="Calibri"/>
                <a:ea typeface="Calibri"/>
                <a:cs typeface="Calibri"/>
              </a:rPr>
              <a:t>Your agent</a:t>
            </a:r>
          </a:p>
          <a:p>
            <a:pPr algn="ctr">
              <a:spcBef>
                <a:spcPts val="0"/>
              </a:spcBef>
              <a:spcAft>
                <a:spcPts val="0"/>
              </a:spcAft>
              <a:buNone/>
            </a:pPr>
            <a:r>
              <a:rPr lang="en-US" sz="950" b="0" i="0">
                <a:solidFill>
                  <a:srgbClr val="CADCFC"/>
                </a:solidFill>
                <a:latin typeface="Calibri"/>
                <a:ea typeface="Calibri"/>
                <a:cs typeface="Calibri"/>
              </a:rPr>
              <a:t>Agent.md + model</a:t>
            </a:r>
          </a:p>
        </p:txBody>
      </p:sp>
      <p:sp>
        <p:nvSpPr>
          <p:cNvPr id="1036" name="arrow 1036"/>
          <p:cNvSpPr/>
          <p:nvPr/>
        </p:nvSpPr>
        <p:spPr>
          <a:xfrm>
            <a:off x="3886200" y="2075688"/>
            <a:ext cx="320040" cy="292608"/>
          </a:xfrm>
          <a:prstGeom prst="rightArrow">
            <a:avLst/>
          </a:prstGeom>
          <a:solidFill>
            <a:srgbClr val="4F81BD"/>
          </a:solidFill>
          <a:ln>
            <a:noFill/>
          </a:ln>
        </p:spPr>
        <p:txBody>
          <a:bodyPr/>
          <a:lstStyle/>
          <a:p>
            <a:endParaRPr lang="en-US"/>
          </a:p>
        </p:txBody>
      </p:sp>
      <p:sp>
        <p:nvSpPr>
          <p:cNvPr id="1037" name="shape 1037"/>
          <p:cNvSpPr/>
          <p:nvPr/>
        </p:nvSpPr>
        <p:spPr>
          <a:xfrm>
            <a:off x="4251960" y="1600200"/>
            <a:ext cx="1143000" cy="1234440"/>
          </a:xfrm>
          <a:prstGeom prst="roundRect">
            <a:avLst>
              <a:gd name="adj" fmla="val 9000"/>
            </a:avLst>
          </a:prstGeom>
          <a:solidFill>
            <a:srgbClr val="E6EEF7"/>
          </a:solidFill>
          <a:ln w="12700">
            <a:solidFill>
              <a:srgbClr val="4F81BD"/>
            </a:solidFill>
          </a:ln>
        </p:spPr>
        <p:txBody>
          <a:bodyPr wrap="square" lIns="73152" tIns="73152" rIns="73152" bIns="73152" anchor="ctr">
            <a:noAutofit/>
          </a:bodyPr>
          <a:lstStyle/>
          <a:p>
            <a:pPr algn="ctr">
              <a:spcBef>
                <a:spcPts val="0"/>
              </a:spcBef>
              <a:spcAft>
                <a:spcPts val="150"/>
              </a:spcAft>
              <a:buNone/>
            </a:pPr>
            <a:r>
              <a:rPr lang="en-US" sz="1150" b="1" i="0">
                <a:solidFill>
                  <a:srgbClr val="0E2745"/>
                </a:solidFill>
                <a:latin typeface="Courier New"/>
                <a:ea typeface="Courier New"/>
                <a:cs typeface="Courier New"/>
              </a:rPr>
              <a:t>tb.v</a:t>
            </a:r>
          </a:p>
          <a:p>
            <a:pPr algn="ctr">
              <a:spcBef>
                <a:spcPts val="0"/>
              </a:spcBef>
              <a:spcAft>
                <a:spcPts val="0"/>
              </a:spcAft>
              <a:buNone/>
            </a:pPr>
            <a:r>
              <a:rPr lang="en-US" sz="950" b="0" i="0">
                <a:solidFill>
                  <a:srgbClr val="5D6C7B"/>
                </a:solidFill>
                <a:latin typeface="Calibri"/>
                <a:ea typeface="Calibri"/>
                <a:cs typeface="Calibri"/>
              </a:rPr>
              <a:t>the testbench it writes</a:t>
            </a:r>
          </a:p>
        </p:txBody>
      </p:sp>
      <p:sp>
        <p:nvSpPr>
          <p:cNvPr id="1038" name="arrow 1038"/>
          <p:cNvSpPr/>
          <p:nvPr/>
        </p:nvSpPr>
        <p:spPr>
          <a:xfrm>
            <a:off x="5440680" y="2075688"/>
            <a:ext cx="320040" cy="292608"/>
          </a:xfrm>
          <a:prstGeom prst="rightArrow">
            <a:avLst/>
          </a:prstGeom>
          <a:solidFill>
            <a:srgbClr val="4F81BD"/>
          </a:solidFill>
          <a:ln>
            <a:noFill/>
          </a:ln>
        </p:spPr>
        <p:txBody>
          <a:bodyPr/>
          <a:lstStyle/>
          <a:p>
            <a:endParaRPr lang="en-US"/>
          </a:p>
        </p:txBody>
      </p:sp>
      <p:sp>
        <p:nvSpPr>
          <p:cNvPr id="1039" name="shape 1039"/>
          <p:cNvSpPr/>
          <p:nvPr/>
        </p:nvSpPr>
        <p:spPr>
          <a:xfrm>
            <a:off x="5852160"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0" name="shape 1040"/>
          <p:cNvSpPr/>
          <p:nvPr/>
        </p:nvSpPr>
        <p:spPr>
          <a:xfrm>
            <a:off x="6190488"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1" name="shape 1041"/>
          <p:cNvSpPr/>
          <p:nvPr/>
        </p:nvSpPr>
        <p:spPr>
          <a:xfrm>
            <a:off x="6528816"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2" name="shape 1042"/>
          <p:cNvSpPr/>
          <p:nvPr/>
        </p:nvSpPr>
        <p:spPr>
          <a:xfrm>
            <a:off x="6867144"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3" name="shape 1043"/>
          <p:cNvSpPr/>
          <p:nvPr/>
        </p:nvSpPr>
        <p:spPr>
          <a:xfrm>
            <a:off x="7205472"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4" name="shape 1044"/>
          <p:cNvSpPr/>
          <p:nvPr/>
        </p:nvSpPr>
        <p:spPr>
          <a:xfrm>
            <a:off x="7543800"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5" name="shape 1045"/>
          <p:cNvSpPr/>
          <p:nvPr/>
        </p:nvSpPr>
        <p:spPr>
          <a:xfrm>
            <a:off x="7882128"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6" name="shape 1046"/>
          <p:cNvSpPr/>
          <p:nvPr/>
        </p:nvSpPr>
        <p:spPr>
          <a:xfrm>
            <a:off x="8220456" y="1572768"/>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7" name="shape 1047"/>
          <p:cNvSpPr/>
          <p:nvPr/>
        </p:nvSpPr>
        <p:spPr>
          <a:xfrm>
            <a:off x="5852160"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8" name="shape 1048"/>
          <p:cNvSpPr/>
          <p:nvPr/>
        </p:nvSpPr>
        <p:spPr>
          <a:xfrm>
            <a:off x="6190488"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49" name="shape 1049"/>
          <p:cNvSpPr/>
          <p:nvPr/>
        </p:nvSpPr>
        <p:spPr>
          <a:xfrm>
            <a:off x="6528816"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0" name="shape 1050"/>
          <p:cNvSpPr/>
          <p:nvPr/>
        </p:nvSpPr>
        <p:spPr>
          <a:xfrm>
            <a:off x="6867144"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1" name="shape 1051"/>
          <p:cNvSpPr/>
          <p:nvPr/>
        </p:nvSpPr>
        <p:spPr>
          <a:xfrm>
            <a:off x="7205472"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2" name="shape 1052"/>
          <p:cNvSpPr/>
          <p:nvPr/>
        </p:nvSpPr>
        <p:spPr>
          <a:xfrm>
            <a:off x="7543800" y="1911095"/>
            <a:ext cx="283464" cy="283464"/>
          </a:xfrm>
          <a:prstGeom prst="roundRect">
            <a:avLst>
              <a:gd name="adj" fmla="val 20000"/>
            </a:avLst>
          </a:prstGeom>
          <a:solidFill>
            <a:srgbClr val="2E7D4F"/>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3" name="shape 1053"/>
          <p:cNvSpPr/>
          <p:nvPr/>
        </p:nvSpPr>
        <p:spPr>
          <a:xfrm>
            <a:off x="7882128"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4" name="shape 1054"/>
          <p:cNvSpPr/>
          <p:nvPr/>
        </p:nvSpPr>
        <p:spPr>
          <a:xfrm>
            <a:off x="8220456" y="1911095"/>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5" name="shape 1055"/>
          <p:cNvSpPr/>
          <p:nvPr/>
        </p:nvSpPr>
        <p:spPr>
          <a:xfrm>
            <a:off x="5852160"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6" name="shape 1056"/>
          <p:cNvSpPr/>
          <p:nvPr/>
        </p:nvSpPr>
        <p:spPr>
          <a:xfrm>
            <a:off x="6190488"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7" name="shape 1057"/>
          <p:cNvSpPr/>
          <p:nvPr/>
        </p:nvSpPr>
        <p:spPr>
          <a:xfrm>
            <a:off x="6528816"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8" name="shape 1058"/>
          <p:cNvSpPr/>
          <p:nvPr/>
        </p:nvSpPr>
        <p:spPr>
          <a:xfrm>
            <a:off x="6867144"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59" name="shape 1059"/>
          <p:cNvSpPr/>
          <p:nvPr/>
        </p:nvSpPr>
        <p:spPr>
          <a:xfrm>
            <a:off x="7205472"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0" name="shape 1060"/>
          <p:cNvSpPr/>
          <p:nvPr/>
        </p:nvSpPr>
        <p:spPr>
          <a:xfrm>
            <a:off x="7543800"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1" name="shape 1061"/>
          <p:cNvSpPr/>
          <p:nvPr/>
        </p:nvSpPr>
        <p:spPr>
          <a:xfrm>
            <a:off x="7882128"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2" name="shape 1062"/>
          <p:cNvSpPr/>
          <p:nvPr/>
        </p:nvSpPr>
        <p:spPr>
          <a:xfrm>
            <a:off x="8220456" y="2249424"/>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3" name="shape 1063"/>
          <p:cNvSpPr/>
          <p:nvPr/>
        </p:nvSpPr>
        <p:spPr>
          <a:xfrm>
            <a:off x="5852160"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4" name="shape 1064"/>
          <p:cNvSpPr/>
          <p:nvPr/>
        </p:nvSpPr>
        <p:spPr>
          <a:xfrm>
            <a:off x="6190488"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5" name="shape 1065"/>
          <p:cNvSpPr/>
          <p:nvPr/>
        </p:nvSpPr>
        <p:spPr>
          <a:xfrm>
            <a:off x="6528816"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6" name="shape 1066"/>
          <p:cNvSpPr/>
          <p:nvPr/>
        </p:nvSpPr>
        <p:spPr>
          <a:xfrm>
            <a:off x="6867144"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7" name="shape 1067"/>
          <p:cNvSpPr/>
          <p:nvPr/>
        </p:nvSpPr>
        <p:spPr>
          <a:xfrm>
            <a:off x="7205472"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8" name="shape 1068"/>
          <p:cNvSpPr/>
          <p:nvPr/>
        </p:nvSpPr>
        <p:spPr>
          <a:xfrm>
            <a:off x="7543800"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69" name="shape 1069"/>
          <p:cNvSpPr/>
          <p:nvPr/>
        </p:nvSpPr>
        <p:spPr>
          <a:xfrm>
            <a:off x="7882128" y="2587752"/>
            <a:ext cx="283464" cy="283464"/>
          </a:xfrm>
          <a:prstGeom prst="roundRect">
            <a:avLst>
              <a:gd name="adj" fmla="val 20000"/>
            </a:avLst>
          </a:prstGeom>
          <a:solidFill>
            <a:srgbClr val="C0504D"/>
          </a:solidFill>
          <a:ln>
            <a:noFill/>
          </a:ln>
        </p:spPr>
        <p:txBody>
          <a:bodyPr wrap="square" lIns="0" tIns="0" rIns="0" bIns="0" anchor="ctr">
            <a:noAutofit/>
          </a:bodyPr>
          <a:lstStyle/>
          <a:p>
            <a:pPr algn="ctr">
              <a:spcBef>
                <a:spcPts val="0"/>
              </a:spcBef>
              <a:spcAft>
                <a:spcPts val="0"/>
              </a:spcAft>
              <a:buNone/>
            </a:pPr>
            <a:r>
              <a:rPr lang="en-US" sz="900" b="1" i="0">
                <a:solidFill>
                  <a:srgbClr val="FFFFFF"/>
                </a:solidFill>
                <a:latin typeface="Calibri"/>
                <a:ea typeface="Calibri"/>
                <a:cs typeface="Calibri"/>
              </a:rPr>
              <a:t>✗</a:t>
            </a:r>
          </a:p>
        </p:txBody>
      </p:sp>
      <p:sp>
        <p:nvSpPr>
          <p:cNvPr id="1070" name="text 1070"/>
          <p:cNvSpPr txBox="1"/>
          <p:nvPr/>
        </p:nvSpPr>
        <p:spPr>
          <a:xfrm>
            <a:off x="5852160" y="2926080"/>
            <a:ext cx="2743200" cy="45720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50" b="1" i="0">
                <a:solidFill>
                  <a:srgbClr val="0E2745"/>
                </a:solidFill>
                <a:latin typeface="Calibri"/>
                <a:ea typeface="Calibri"/>
                <a:cs typeface="Calibri"/>
              </a:rPr>
              <a:t>31 implementations (mutants): exactly ONE is correct</a:t>
            </a:r>
          </a:p>
        </p:txBody>
      </p:sp>
      <p:sp>
        <p:nvSpPr>
          <p:cNvPr id="1071" name="shape 1071"/>
          <p:cNvSpPr/>
          <p:nvPr/>
        </p:nvSpPr>
        <p:spPr>
          <a:xfrm>
            <a:off x="457200" y="3520440"/>
            <a:ext cx="4937760" cy="1325880"/>
          </a:xfrm>
          <a:prstGeom prst="roundRect">
            <a:avLst>
              <a:gd name="adj" fmla="val 8000"/>
            </a:avLst>
          </a:prstGeom>
          <a:solidFill>
            <a:srgbClr val="FBE9EB"/>
          </a:solidFill>
          <a:ln>
            <a:noFill/>
          </a:ln>
        </p:spPr>
        <p:txBody>
          <a:bodyPr wrap="square" lIns="164592" tIns="164592" rIns="164592" bIns="164592" anchor="ctr">
            <a:noAutofit/>
          </a:bodyPr>
          <a:lstStyle/>
          <a:p>
            <a:pPr algn="l">
              <a:spcBef>
                <a:spcPts val="0"/>
              </a:spcBef>
              <a:spcAft>
                <a:spcPts val="200"/>
              </a:spcAft>
              <a:buNone/>
            </a:pPr>
            <a:r>
              <a:rPr lang="en-US" sz="1250" b="1" i="0">
                <a:solidFill>
                  <a:srgbClr val="B91F2D"/>
                </a:solidFill>
                <a:latin typeface="Calibri"/>
                <a:ea typeface="Calibri"/>
                <a:cs typeface="Calibri"/>
              </a:rPr>
              <a:t>The goal</a:t>
            </a:r>
          </a:p>
          <a:p>
            <a:pPr algn="l">
              <a:spcBef>
                <a:spcPts val="0"/>
              </a:spcBef>
              <a:spcAft>
                <a:spcPts val="0"/>
              </a:spcAft>
              <a:buNone/>
            </a:pPr>
            <a:r>
              <a:rPr lang="en-US" sz="1050" b="0" i="0">
                <a:solidFill>
                  <a:srgbClr val="0E2745"/>
                </a:solidFill>
                <a:latin typeface="Calibri"/>
                <a:ea typeface="Calibri"/>
                <a:cs typeface="Calibri"/>
              </a:rPr>
              <a:t>The testbench must PASS the one correct implementation and FAIL all 30 buggy ones. The agent never sees which one is correct – only how many passed.</a:t>
            </a:r>
          </a:p>
        </p:txBody>
      </p:sp>
      <p:sp>
        <p:nvSpPr>
          <p:cNvPr id="1072" name="shape 1072"/>
          <p:cNvSpPr/>
          <p:nvPr/>
        </p:nvSpPr>
        <p:spPr>
          <a:xfrm>
            <a:off x="5577840" y="3520440"/>
            <a:ext cx="3108960" cy="1325880"/>
          </a:xfrm>
          <a:prstGeom prst="roundRect">
            <a:avLst>
              <a:gd name="adj" fmla="val 8000"/>
            </a:avLst>
          </a:prstGeom>
          <a:solidFill>
            <a:srgbClr val="F3F6FA"/>
          </a:solidFill>
          <a:ln>
            <a:noFill/>
          </a:ln>
        </p:spPr>
        <p:txBody>
          <a:bodyPr wrap="square" lIns="164592" tIns="164592" rIns="164592" bIns="164592" anchor="ctr">
            <a:noAutofit/>
          </a:bodyPr>
          <a:lstStyle/>
          <a:p>
            <a:pPr algn="l">
              <a:spcBef>
                <a:spcPts val="0"/>
              </a:spcBef>
              <a:spcAft>
                <a:spcPts val="150"/>
              </a:spcAft>
              <a:buNone/>
            </a:pPr>
            <a:r>
              <a:rPr lang="en-US" sz="1100" b="1" i="0">
                <a:solidFill>
                  <a:srgbClr val="0E2745"/>
                </a:solidFill>
                <a:latin typeface="Calibri"/>
                <a:ea typeface="Calibri"/>
                <a:cs typeface="Calibri"/>
              </a:rPr>
              <a:t>Mutants passed</a:t>
            </a:r>
          </a:p>
          <a:p>
            <a:pPr algn="l">
              <a:spcBef>
                <a:spcPts val="0"/>
              </a:spcBef>
              <a:spcAft>
                <a:spcPts val="80"/>
              </a:spcAft>
              <a:buNone/>
            </a:pPr>
            <a:r>
              <a:rPr lang="en-US" sz="1050" b="1" i="0">
                <a:solidFill>
                  <a:srgbClr val="2E7D4F"/>
                </a:solidFill>
                <a:latin typeface="Calibri"/>
                <a:ea typeface="Calibri"/>
                <a:cs typeface="Calibri"/>
              </a:rPr>
              <a:t>= 1  </a:t>
            </a:r>
            <a:r>
              <a:rPr lang="en-US" sz="1000" b="0" i="0">
                <a:solidFill>
                  <a:srgbClr val="0E2745"/>
                </a:solidFill>
                <a:latin typeface="Calibri"/>
                <a:ea typeface="Calibri"/>
                <a:cs typeface="Calibri"/>
              </a:rPr>
              <a:t>correct testbench</a:t>
            </a:r>
          </a:p>
          <a:p>
            <a:pPr algn="l">
              <a:spcBef>
                <a:spcPts val="0"/>
              </a:spcBef>
              <a:spcAft>
                <a:spcPts val="80"/>
              </a:spcAft>
              <a:buNone/>
            </a:pPr>
            <a:r>
              <a:rPr lang="en-US" sz="1050" b="1" i="0">
                <a:solidFill>
                  <a:srgbClr val="C27C0E"/>
                </a:solidFill>
                <a:latin typeface="Calibri"/>
                <a:ea typeface="Calibri"/>
                <a:cs typeface="Calibri"/>
              </a:rPr>
              <a:t>&gt; 1  </a:t>
            </a:r>
            <a:r>
              <a:rPr lang="en-US" sz="1000" b="0" i="0">
                <a:solidFill>
                  <a:srgbClr val="0E2745"/>
                </a:solidFill>
                <a:latin typeface="Calibri"/>
                <a:ea typeface="Calibri"/>
                <a:cs typeface="Calibri"/>
              </a:rPr>
              <a:t>too weak: add checks</a:t>
            </a:r>
          </a:p>
          <a:p>
            <a:pPr algn="l">
              <a:spcBef>
                <a:spcPts val="0"/>
              </a:spcBef>
              <a:spcAft>
                <a:spcPts val="0"/>
              </a:spcAft>
              <a:buNone/>
            </a:pPr>
            <a:r>
              <a:rPr lang="en-US" sz="1050" b="1" i="0">
                <a:solidFill>
                  <a:srgbClr val="B91F2D"/>
                </a:solidFill>
                <a:latin typeface="Calibri"/>
                <a:ea typeface="Calibri"/>
                <a:cs typeface="Calibri"/>
              </a:rPr>
              <a:t>= 0  </a:t>
            </a:r>
            <a:r>
              <a:rPr lang="en-US" sz="1000" b="0" i="0">
                <a:solidFill>
                  <a:srgbClr val="0E2745"/>
                </a:solidFill>
                <a:latin typeface="Calibri"/>
                <a:ea typeface="Calibri"/>
                <a:cs typeface="Calibri"/>
              </a:rPr>
              <a:t>wrong or too strict</a:t>
            </a:r>
          </a:p>
        </p:txBody>
      </p:sp>
      <p:sp>
        <p:nvSpPr>
          <p:cNvPr id="1073" name="text 1073"/>
          <p:cNvSpPr txBox="1"/>
          <p:nvPr/>
        </p:nvSpPr>
        <p:spPr>
          <a:xfrm>
            <a:off x="457200" y="5001768"/>
            <a:ext cx="8229600" cy="2743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050" b="1" i="0">
                <a:solidFill>
                  <a:srgbClr val="17365D"/>
                </a:solidFill>
                <a:latin typeface="Calibri"/>
                <a:ea typeface="Calibri"/>
                <a:cs typeface="Calibri"/>
              </a:rPr>
              <a:t>10 designs, roughly from simple to complex</a:t>
            </a:r>
          </a:p>
        </p:txBody>
      </p:sp>
      <p:sp>
        <p:nvSpPr>
          <p:cNvPr id="1074" name="shape 1074"/>
          <p:cNvSpPr/>
          <p:nvPr/>
        </p:nvSpPr>
        <p:spPr>
          <a:xfrm>
            <a:off x="457200" y="532180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enc_bin2gray</a:t>
            </a:r>
          </a:p>
        </p:txBody>
      </p:sp>
      <p:sp>
        <p:nvSpPr>
          <p:cNvPr id="1075" name="shape 1075"/>
          <p:cNvSpPr/>
          <p:nvPr/>
        </p:nvSpPr>
        <p:spPr>
          <a:xfrm>
            <a:off x="2112264" y="532180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enc_bin2onehot</a:t>
            </a:r>
          </a:p>
        </p:txBody>
      </p:sp>
      <p:sp>
        <p:nvSpPr>
          <p:cNvPr id="1076" name="shape 1076"/>
          <p:cNvSpPr/>
          <p:nvPr/>
        </p:nvSpPr>
        <p:spPr>
          <a:xfrm>
            <a:off x="3767328" y="532180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shift_left</a:t>
            </a:r>
          </a:p>
        </p:txBody>
      </p:sp>
      <p:sp>
        <p:nvSpPr>
          <p:cNvPr id="1077" name="shape 1077"/>
          <p:cNvSpPr/>
          <p:nvPr/>
        </p:nvSpPr>
        <p:spPr>
          <a:xfrm>
            <a:off x="5422392" y="532180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shift_right</a:t>
            </a:r>
          </a:p>
        </p:txBody>
      </p:sp>
      <p:sp>
        <p:nvSpPr>
          <p:cNvPr id="1078" name="shape 1078"/>
          <p:cNvSpPr/>
          <p:nvPr/>
        </p:nvSpPr>
        <p:spPr>
          <a:xfrm>
            <a:off x="7077456" y="532180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counter</a:t>
            </a:r>
          </a:p>
        </p:txBody>
      </p:sp>
      <p:sp>
        <p:nvSpPr>
          <p:cNvPr id="1079" name="shape 1079"/>
          <p:cNvSpPr/>
          <p:nvPr/>
        </p:nvSpPr>
        <p:spPr>
          <a:xfrm>
            <a:off x="457200" y="568756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lfsr</a:t>
            </a:r>
          </a:p>
        </p:txBody>
      </p:sp>
      <p:sp>
        <p:nvSpPr>
          <p:cNvPr id="1080" name="shape 1080"/>
          <p:cNvSpPr/>
          <p:nvPr/>
        </p:nvSpPr>
        <p:spPr>
          <a:xfrm>
            <a:off x="2112264" y="568756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ecc_sed_encoder</a:t>
            </a:r>
          </a:p>
        </p:txBody>
      </p:sp>
      <p:sp>
        <p:nvSpPr>
          <p:cNvPr id="1081" name="shape 1081"/>
          <p:cNvSpPr/>
          <p:nvPr/>
        </p:nvSpPr>
        <p:spPr>
          <a:xfrm>
            <a:off x="3767328" y="568756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credit_receiver</a:t>
            </a:r>
          </a:p>
        </p:txBody>
      </p:sp>
      <p:sp>
        <p:nvSpPr>
          <p:cNvPr id="1082" name="shape 1082"/>
          <p:cNvSpPr/>
          <p:nvPr/>
        </p:nvSpPr>
        <p:spPr>
          <a:xfrm>
            <a:off x="5422392" y="568756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820" b="1" i="0">
                <a:solidFill>
                  <a:srgbClr val="0E2745"/>
                </a:solidFill>
                <a:latin typeface="Courier New"/>
                <a:ea typeface="Courier New"/>
                <a:cs typeface="Courier New"/>
              </a:rPr>
              <a:t>fifo_flops</a:t>
            </a:r>
          </a:p>
        </p:txBody>
      </p:sp>
      <p:sp>
        <p:nvSpPr>
          <p:cNvPr id="1083" name="shape 1083"/>
          <p:cNvSpPr/>
          <p:nvPr/>
        </p:nvSpPr>
        <p:spPr>
          <a:xfrm>
            <a:off x="7077456" y="5687568"/>
            <a:ext cx="1581912" cy="301752"/>
          </a:xfrm>
          <a:prstGeom prst="roundRect">
            <a:avLst>
              <a:gd name="adj" fmla="val 30000"/>
            </a:avLst>
          </a:prstGeom>
          <a:solidFill>
            <a:srgbClr val="FFFFFF"/>
          </a:solidFill>
          <a:ln w="12700">
            <a:solidFill>
              <a:srgbClr val="C9D6E6"/>
            </a:solidFill>
          </a:ln>
        </p:spPr>
        <p:txBody>
          <a:bodyPr wrap="square" lIns="9144" tIns="9144" rIns="9144" bIns="9144" anchor="ctr">
            <a:noAutofit/>
          </a:bodyPr>
          <a:lstStyle/>
          <a:p>
            <a:pPr algn="ctr">
              <a:spcBef>
                <a:spcPts val="0"/>
              </a:spcBef>
              <a:spcAft>
                <a:spcPts val="0"/>
              </a:spcAft>
              <a:buNone/>
            </a:pPr>
            <a:r>
              <a:rPr lang="en-US" sz="760" b="1" i="0">
                <a:solidFill>
                  <a:srgbClr val="0E2745"/>
                </a:solidFill>
                <a:latin typeface="Courier New"/>
                <a:ea typeface="Courier New"/>
                <a:cs typeface="Courier New"/>
              </a:rPr>
              <a:t>cdc_fifo_flops_push_credit</a:t>
            </a:r>
          </a:p>
        </p:txBody>
      </p:sp>
      <p:sp>
        <p:nvSpPr>
          <p:cNvPr id="1084" name="text 1084"/>
          <p:cNvSpPr txBox="1"/>
          <p:nvPr/>
        </p:nvSpPr>
        <p:spPr>
          <a:xfrm>
            <a:off x="457200" y="6053328"/>
            <a:ext cx="8229600" cy="32004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0E2745"/>
                </a:solidFill>
                <a:latin typeface="Calibri"/>
                <a:ea typeface="Calibri"/>
                <a:cs typeface="Calibri"/>
              </a:rPr>
              <a:t>Next slides: </a:t>
            </a:r>
            <a:r>
              <a:rPr lang="en-US" sz="1050" b="0" i="0">
                <a:solidFill>
                  <a:srgbClr val="0E2745"/>
                </a:solidFill>
                <a:latin typeface="Calibri"/>
                <a:ea typeface="Calibri"/>
                <a:cs typeface="Calibri"/>
              </a:rPr>
              <a:t>first the human runs the tools, then the agent runs them itself (single pass → iterative loop).</a:t>
            </a:r>
          </a:p>
        </p:txBody>
      </p:sp>
    </p:spTree>
    <p:extLst>
      <p:ext uri="{BB962C8B-B14F-4D97-AF65-F5344CB8AC3E}">
        <p14:creationId xmlns:p14="http://schemas.microsoft.com/office/powerpoint/2010/main" val="2126607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9850-7D3C-921B-63BE-3D8B3BBE2FD0}"/>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3DCD3C8-E0B8-2AE3-31DE-6DA2DAB60530}"/>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FCF30695-4B73-B201-9D54-5F4AD4B97650}"/>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927D8291-76D9-8F8B-4F0C-4A585F5BDCBF}"/>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The Google verification problem</a:t>
            </a:r>
            <a:endParaRPr lang="en-US"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E2B15539-53F0-B664-C701-E436344C8C2D}"/>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8B9AF0DE-E89E-EF0B-4356-BC093E08D946}"/>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34</a:t>
            </a:fld>
            <a:endParaRPr sz="750" b="0">
              <a:solidFill>
                <a:srgbClr val="5B6573"/>
              </a:solidFill>
              <a:latin typeface="Calibri"/>
              <a:ea typeface="Calibri"/>
              <a:cs typeface="Calibri"/>
            </a:endParaRPr>
          </a:p>
        </p:txBody>
      </p:sp>
      <p:sp>
        <p:nvSpPr>
          <p:cNvPr id="80" name="diagram: Golden design and reference checks stay ">
            <a:extLst>
              <a:ext uri="{FF2B5EF4-FFF2-40B4-BE49-F238E27FC236}">
                <a16:creationId xmlns:a16="http://schemas.microsoft.com/office/drawing/2014/main" id="{0D569D5F-6579-7EE4-9A25-F6A58FE26C93}"/>
              </a:ext>
            </a:extLst>
          </p:cNvPr>
          <p:cNvSpPr>
            <a:spLocks noGrp="1"/>
          </p:cNvSpPr>
          <p:nvPr/>
        </p:nvSpPr>
        <p:spPr>
          <a:xfrm>
            <a:off x="695325" y="1047750"/>
            <a:ext cx="7762875" cy="333375"/>
          </a:xfrm>
          <a:prstGeom prst="rect">
            <a:avLst/>
          </a:prstGeom>
          <a:noFill/>
          <a:ln w="0">
            <a:noFill/>
          </a:ln>
        </p:spPr>
        <p:txBody>
          <a:bodyPr lIns="28575" tIns="9525" rIns="28575" bIns="9525" anchor="ctr">
            <a:normAutofit/>
          </a:bodyPr>
          <a:lstStyle/>
          <a:p>
            <a:pPr algn="ctr">
              <a:defRPr sz="1425" b="1">
                <a:solidFill>
                  <a:srgbClr val="17365D"/>
                </a:solidFill>
                <a:latin typeface="Calibri"/>
                <a:ea typeface="Calibri"/>
                <a:cs typeface="Calibri"/>
              </a:defRPr>
            </a:pPr>
            <a:r>
              <a:rPr lang="en-US" sz="1425" b="1">
                <a:solidFill>
                  <a:srgbClr val="17365D"/>
                </a:solidFill>
                <a:latin typeface="Calibri"/>
                <a:ea typeface="Calibri"/>
                <a:cs typeface="Calibri"/>
              </a:rPr>
              <a:t>Agent writes the Testbench of an RTL</a:t>
            </a:r>
          </a:p>
        </p:txBody>
      </p:sp>
      <p:sp>
        <p:nvSpPr>
          <p:cNvPr id="81" name="diagram: Golden RTL + specification">
            <a:extLst>
              <a:ext uri="{FF2B5EF4-FFF2-40B4-BE49-F238E27FC236}">
                <a16:creationId xmlns:a16="http://schemas.microsoft.com/office/drawing/2014/main" id="{C903E493-4971-E235-D29D-0C874BF0DACD}"/>
              </a:ext>
            </a:extLst>
          </p:cNvPr>
          <p:cNvSpPr>
            <a:spLocks noGrp="1"/>
          </p:cNvSpPr>
          <p:nvPr/>
        </p:nvSpPr>
        <p:spPr>
          <a:xfrm>
            <a:off x="638175"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RTL</a:t>
            </a:r>
          </a:p>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a:t>
            </a:r>
          </a:p>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Specification</a:t>
            </a:r>
          </a:p>
        </p:txBody>
      </p:sp>
      <p:sp>
        <p:nvSpPr>
          <p:cNvPr id="82" name="diagram: Agent drafts candidate TB">
            <a:extLst>
              <a:ext uri="{FF2B5EF4-FFF2-40B4-BE49-F238E27FC236}">
                <a16:creationId xmlns:a16="http://schemas.microsoft.com/office/drawing/2014/main" id="{A22CE69D-7547-21FD-B603-E95242D83FA1}"/>
              </a:ext>
            </a:extLst>
          </p:cNvPr>
          <p:cNvSpPr>
            <a:spLocks noGrp="1"/>
          </p:cNvSpPr>
          <p:nvPr/>
        </p:nvSpPr>
        <p:spPr>
          <a:xfrm>
            <a:off x="2343150"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Agent drafts candidate TB</a:t>
            </a:r>
          </a:p>
        </p:txBody>
      </p:sp>
      <p:sp>
        <p:nvSpPr>
          <p:cNvPr id="85" name="diagram: Human validates with golden TB">
            <a:extLst>
              <a:ext uri="{FF2B5EF4-FFF2-40B4-BE49-F238E27FC236}">
                <a16:creationId xmlns:a16="http://schemas.microsoft.com/office/drawing/2014/main" id="{C64CD934-3A70-5110-33B7-0829E277110F}"/>
              </a:ext>
            </a:extLst>
          </p:cNvPr>
          <p:cNvSpPr>
            <a:spLocks noGrp="1"/>
          </p:cNvSpPr>
          <p:nvPr/>
        </p:nvSpPr>
        <p:spPr>
          <a:xfrm>
            <a:off x="7458075" y="2114550"/>
            <a:ext cx="1143000" cy="1000125"/>
          </a:xfrm>
          <a:prstGeom prst="roundRect">
            <a:avLst>
              <a:gd name="adj" fmla="val 9524"/>
            </a:avLst>
          </a:prstGeom>
          <a:solidFill>
            <a:srgbClr val="F8E3E5"/>
          </a:solidFill>
          <a:ln w="13335">
            <a:solidFill>
              <a:srgbClr val="C82132"/>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Human validates with golden TB</a:t>
            </a:r>
          </a:p>
        </p:txBody>
      </p:sp>
      <p:sp>
        <p:nvSpPr>
          <p:cNvPr id="86" name="diagram arrow">
            <a:extLst>
              <a:ext uri="{FF2B5EF4-FFF2-40B4-BE49-F238E27FC236}">
                <a16:creationId xmlns:a16="http://schemas.microsoft.com/office/drawing/2014/main" id="{E4A134C1-0D2A-8B11-00E7-A78E1A92F3A0}"/>
              </a:ext>
            </a:extLst>
          </p:cNvPr>
          <p:cNvSpPr>
            <a:spLocks noGrp="1"/>
          </p:cNvSpPr>
          <p:nvPr/>
        </p:nvSpPr>
        <p:spPr>
          <a:xfrm>
            <a:off x="1914525" y="2524125"/>
            <a:ext cx="295275" cy="152400"/>
          </a:xfrm>
          <a:prstGeom prst="rightArrow">
            <a:avLst/>
          </a:prstGeom>
          <a:solidFill>
            <a:srgbClr val="4F81BD"/>
          </a:solidFill>
          <a:ln w="0">
            <a:noFill/>
          </a:ln>
        </p:spPr>
        <p:txBody>
          <a:bodyPr/>
          <a:lstStyle/>
          <a:p>
            <a:endParaRPr lang="en-GR"/>
          </a:p>
        </p:txBody>
      </p:sp>
      <p:sp>
        <p:nvSpPr>
          <p:cNvPr id="89" name="diagram arrow">
            <a:extLst>
              <a:ext uri="{FF2B5EF4-FFF2-40B4-BE49-F238E27FC236}">
                <a16:creationId xmlns:a16="http://schemas.microsoft.com/office/drawing/2014/main" id="{5D7EBC60-CB8F-6530-98A1-CC5866BA76B1}"/>
              </a:ext>
            </a:extLst>
          </p:cNvPr>
          <p:cNvSpPr>
            <a:spLocks noGrp="1"/>
          </p:cNvSpPr>
          <p:nvPr/>
        </p:nvSpPr>
        <p:spPr>
          <a:xfrm>
            <a:off x="7029450" y="2524125"/>
            <a:ext cx="295275" cy="152400"/>
          </a:xfrm>
          <a:prstGeom prst="rightArrow">
            <a:avLst/>
          </a:prstGeom>
          <a:solidFill>
            <a:srgbClr val="C82132"/>
          </a:solidFill>
          <a:ln w="0">
            <a:noFill/>
          </a:ln>
        </p:spPr>
        <p:txBody>
          <a:bodyPr/>
          <a:lstStyle/>
          <a:p>
            <a:endParaRPr lang="en-GR"/>
          </a:p>
        </p:txBody>
      </p:sp>
      <p:sp>
        <p:nvSpPr>
          <p:cNvPr id="90" name="diagram: If checks fail: revise candidate TB and ">
            <a:extLst>
              <a:ext uri="{FF2B5EF4-FFF2-40B4-BE49-F238E27FC236}">
                <a16:creationId xmlns:a16="http://schemas.microsoft.com/office/drawing/2014/main" id="{584DE047-05C8-15FE-EB23-EC02FD894081}"/>
              </a:ext>
            </a:extLst>
          </p:cNvPr>
          <p:cNvSpPr>
            <a:spLocks noGrp="1"/>
          </p:cNvSpPr>
          <p:nvPr/>
        </p:nvSpPr>
        <p:spPr>
          <a:xfrm>
            <a:off x="2501462" y="3385594"/>
            <a:ext cx="4362450" cy="361950"/>
          </a:xfrm>
          <a:prstGeom prst="rect">
            <a:avLst/>
          </a:prstGeom>
          <a:noFill/>
          <a:ln w="0">
            <a:noFill/>
          </a:ln>
        </p:spPr>
        <p:txBody>
          <a:bodyPr lIns="28575" tIns="9525" rIns="28575" bIns="9525"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If checks fail: revise candidate TB and rerun</a:t>
            </a:r>
          </a:p>
        </p:txBody>
      </p:sp>
      <p:sp>
        <p:nvSpPr>
          <p:cNvPr id="5" name="TextBox 4">
            <a:extLst>
              <a:ext uri="{FF2B5EF4-FFF2-40B4-BE49-F238E27FC236}">
                <a16:creationId xmlns:a16="http://schemas.microsoft.com/office/drawing/2014/main" id="{6258CDE8-8756-F060-0EB5-68C5B848147D}"/>
              </a:ext>
            </a:extLst>
          </p:cNvPr>
          <p:cNvSpPr txBox="1"/>
          <p:nvPr/>
        </p:nvSpPr>
        <p:spPr>
          <a:xfrm>
            <a:off x="2404438" y="4507593"/>
            <a:ext cx="4692676"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000">
                <a:latin typeface="Calibri" panose="020F0502020204030204" pitchFamily="34" charset="0"/>
                <a:ea typeface="Calibri" panose="020F0502020204030204" pitchFamily="34" charset="0"/>
                <a:cs typeface="Calibri" panose="020F0502020204030204" pitchFamily="34" charset="0"/>
              </a:rPr>
              <a:t>Agent writes the testbench</a:t>
            </a:r>
          </a:p>
          <a:p>
            <a:pPr algn="ctr"/>
            <a:r>
              <a:rPr lang="en-US" sz="2000">
                <a:latin typeface="Calibri" panose="020F0502020204030204" pitchFamily="34" charset="0"/>
                <a:ea typeface="Calibri" panose="020F0502020204030204" pitchFamily="34" charset="0"/>
                <a:cs typeface="Calibri" panose="020F0502020204030204" pitchFamily="34" charset="0"/>
              </a:rPr>
              <a:t>Human validates</a:t>
            </a:r>
            <a:r>
              <a:rPr lang="en-GB" sz="2000">
                <a:latin typeface="Calibri" panose="020F0502020204030204" pitchFamily="34" charset="0"/>
                <a:ea typeface="Calibri" panose="020F0502020204030204" pitchFamily="34" charset="0"/>
                <a:cs typeface="Calibri" panose="020F0502020204030204" pitchFamily="34" charset="0"/>
              </a:rPr>
              <a:t> syntax errors/synthesis</a:t>
            </a:r>
            <a:endParaRPr lang="en-US" sz="2000">
              <a:latin typeface="Calibri" panose="020F0502020204030204" pitchFamily="34" charset="0"/>
              <a:ea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8679B68A-7835-A620-9861-6F5BC4F4DE92}"/>
              </a:ext>
            </a:extLst>
          </p:cNvPr>
          <p:cNvCxnSpPr>
            <a:cxnSpLocks/>
          </p:cNvCxnSpPr>
          <p:nvPr/>
        </p:nvCxnSpPr>
        <p:spPr>
          <a:xfrm rot="5400000">
            <a:off x="4676337" y="1429794"/>
            <a:ext cx="12700" cy="3409950"/>
          </a:xfrm>
          <a:prstGeom prst="bentConnector3">
            <a:avLst>
              <a:gd name="adj1" fmla="val 1800000"/>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diagram: Human validates with golden TB">
            <a:extLst>
              <a:ext uri="{FF2B5EF4-FFF2-40B4-BE49-F238E27FC236}">
                <a16:creationId xmlns:a16="http://schemas.microsoft.com/office/drawing/2014/main" id="{C847BCB4-5BCA-904C-B3B1-476BE25E2179}"/>
              </a:ext>
            </a:extLst>
          </p:cNvPr>
          <p:cNvSpPr>
            <a:spLocks noGrp="1"/>
          </p:cNvSpPr>
          <p:nvPr/>
        </p:nvSpPr>
        <p:spPr>
          <a:xfrm>
            <a:off x="4048125" y="2128294"/>
            <a:ext cx="1143000" cy="1000125"/>
          </a:xfrm>
          <a:prstGeom prst="roundRect">
            <a:avLst>
              <a:gd name="adj" fmla="val 9524"/>
            </a:avLst>
          </a:prstGeom>
          <a:solidFill>
            <a:srgbClr val="F8E3E5"/>
          </a:solidFill>
          <a:ln w="13335">
            <a:solidFill>
              <a:srgbClr val="C82132"/>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Human </a:t>
            </a:r>
            <a:r>
              <a:rPr lang="en-US" sz="1125" b="1">
                <a:solidFill>
                  <a:srgbClr val="17365D"/>
                </a:solidFill>
                <a:latin typeface="Calibri"/>
                <a:ea typeface="Calibri"/>
                <a:cs typeface="Calibri"/>
              </a:rPr>
              <a:t>runs Icarus and </a:t>
            </a:r>
            <a:r>
              <a:rPr lang="en-US" sz="1125" b="1" err="1">
                <a:solidFill>
                  <a:srgbClr val="17365D"/>
                </a:solidFill>
                <a:latin typeface="Calibri"/>
                <a:ea typeface="Calibri"/>
                <a:cs typeface="Calibri"/>
              </a:rPr>
              <a:t>Yosys</a:t>
            </a:r>
            <a:endParaRPr sz="1125" b="1">
              <a:solidFill>
                <a:srgbClr val="17365D"/>
              </a:solidFill>
              <a:latin typeface="Calibri"/>
              <a:ea typeface="Calibri"/>
              <a:cs typeface="Calibri"/>
            </a:endParaRPr>
          </a:p>
        </p:txBody>
      </p:sp>
      <p:sp>
        <p:nvSpPr>
          <p:cNvPr id="8" name="diagram arrow">
            <a:extLst>
              <a:ext uri="{FF2B5EF4-FFF2-40B4-BE49-F238E27FC236}">
                <a16:creationId xmlns:a16="http://schemas.microsoft.com/office/drawing/2014/main" id="{9FA87356-20CD-F5FE-0BF5-A8C58972C6C7}"/>
              </a:ext>
            </a:extLst>
          </p:cNvPr>
          <p:cNvSpPr>
            <a:spLocks noGrp="1"/>
          </p:cNvSpPr>
          <p:nvPr/>
        </p:nvSpPr>
        <p:spPr>
          <a:xfrm>
            <a:off x="3619500" y="2537869"/>
            <a:ext cx="295275" cy="152400"/>
          </a:xfrm>
          <a:prstGeom prst="rightArrow">
            <a:avLst/>
          </a:prstGeom>
          <a:solidFill>
            <a:srgbClr val="C82132"/>
          </a:solidFill>
          <a:ln w="0">
            <a:noFill/>
          </a:ln>
        </p:spPr>
        <p:txBody>
          <a:bodyPr/>
          <a:lstStyle/>
          <a:p>
            <a:endParaRPr lang="en-GR"/>
          </a:p>
        </p:txBody>
      </p:sp>
      <p:sp>
        <p:nvSpPr>
          <p:cNvPr id="9" name="diagram: Human validates with golden TB">
            <a:extLst>
              <a:ext uri="{FF2B5EF4-FFF2-40B4-BE49-F238E27FC236}">
                <a16:creationId xmlns:a16="http://schemas.microsoft.com/office/drawing/2014/main" id="{6C1C4951-D4EF-9309-3994-5B7C0C915700}"/>
              </a:ext>
            </a:extLst>
          </p:cNvPr>
          <p:cNvSpPr>
            <a:spLocks noGrp="1"/>
          </p:cNvSpPr>
          <p:nvPr/>
        </p:nvSpPr>
        <p:spPr>
          <a:xfrm>
            <a:off x="5753100" y="2128294"/>
            <a:ext cx="1143000" cy="1000125"/>
          </a:xfrm>
          <a:prstGeom prst="roundRect">
            <a:avLst>
              <a:gd name="adj" fmla="val 9524"/>
            </a:avLst>
          </a:prstGeom>
          <a:solidFill>
            <a:srgbClr val="F8E3E5"/>
          </a:solidFill>
          <a:ln w="13335">
            <a:solidFill>
              <a:srgbClr val="C82132"/>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Human </a:t>
            </a:r>
            <a:r>
              <a:rPr lang="en-US" sz="1125" b="1">
                <a:solidFill>
                  <a:srgbClr val="17365D"/>
                </a:solidFill>
                <a:latin typeface="Calibri"/>
                <a:ea typeface="Calibri"/>
                <a:cs typeface="Calibri"/>
              </a:rPr>
              <a:t>reads the exit codes</a:t>
            </a:r>
            <a:endParaRPr sz="1125" b="1">
              <a:solidFill>
                <a:srgbClr val="17365D"/>
              </a:solidFill>
              <a:latin typeface="Calibri"/>
              <a:ea typeface="Calibri"/>
              <a:cs typeface="Calibri"/>
            </a:endParaRPr>
          </a:p>
        </p:txBody>
      </p:sp>
      <p:sp>
        <p:nvSpPr>
          <p:cNvPr id="10" name="diagram arrow">
            <a:extLst>
              <a:ext uri="{FF2B5EF4-FFF2-40B4-BE49-F238E27FC236}">
                <a16:creationId xmlns:a16="http://schemas.microsoft.com/office/drawing/2014/main" id="{1DD664A6-8BA0-C0E1-EA0F-D4D0FC5F684E}"/>
              </a:ext>
            </a:extLst>
          </p:cNvPr>
          <p:cNvSpPr>
            <a:spLocks noGrp="1"/>
          </p:cNvSpPr>
          <p:nvPr/>
        </p:nvSpPr>
        <p:spPr>
          <a:xfrm>
            <a:off x="5324475" y="2537869"/>
            <a:ext cx="295275" cy="152400"/>
          </a:xfrm>
          <a:prstGeom prst="rightArrow">
            <a:avLst/>
          </a:prstGeom>
          <a:solidFill>
            <a:srgbClr val="C82132"/>
          </a:solidFill>
          <a:ln w="0">
            <a:noFill/>
          </a:ln>
        </p:spPr>
        <p:txBody>
          <a:bodyPr/>
          <a:lstStyle/>
          <a:p>
            <a:endParaRPr lang="en-GR"/>
          </a:p>
        </p:txBody>
      </p:sp>
    </p:spTree>
    <p:extLst>
      <p:ext uri="{BB962C8B-B14F-4D97-AF65-F5344CB8AC3E}">
        <p14:creationId xmlns:p14="http://schemas.microsoft.com/office/powerpoint/2010/main" val="1081988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366E-25DB-4E19-C3C9-C7B8C5BD309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9D5FB955-E04A-0DD6-15A6-7510C909B591}"/>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7D2F441F-F56B-A9B5-0BCD-29DC0767B93E}"/>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1D85A807-B19B-C037-720D-461A8DD51BD3}"/>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The Google verification problem</a:t>
            </a:r>
            <a:endParaRPr lang="en-US"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2A63A6D4-2BA3-1E7D-0EE5-E43CB4E2CE95}"/>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12AEA519-6A48-91E8-9CAB-645F05BBDD20}"/>
              </a:ext>
            </a:extLst>
          </p:cNvPr>
          <p:cNvSpPr>
            <a:spLocks noGrp="1"/>
          </p:cNvSpPr>
          <p:nvPr/>
        </p:nvSpPr>
        <p:spPr>
          <a:xfrm>
            <a:off x="8446770" y="63976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35</a:t>
            </a:fld>
            <a:endParaRPr sz="750" b="0">
              <a:solidFill>
                <a:srgbClr val="5B6573"/>
              </a:solidFill>
              <a:latin typeface="Calibri"/>
              <a:ea typeface="Calibri"/>
              <a:cs typeface="Calibri"/>
            </a:endParaRPr>
          </a:p>
        </p:txBody>
      </p:sp>
      <p:sp>
        <p:nvSpPr>
          <p:cNvPr id="9" name="Rounded Rectangle 8">
            <a:extLst>
              <a:ext uri="{FF2B5EF4-FFF2-40B4-BE49-F238E27FC236}">
                <a16:creationId xmlns:a16="http://schemas.microsoft.com/office/drawing/2014/main" id="{6F08CCF5-76B0-7FFC-5CC2-269AF479E10E}"/>
              </a:ext>
            </a:extLst>
          </p:cNvPr>
          <p:cNvSpPr>
            <a:spLocks noGrp="1"/>
          </p:cNvSpPr>
          <p:nvPr/>
        </p:nvSpPr>
        <p:spPr>
          <a:xfrm>
            <a:off x="1691465" y="1208406"/>
            <a:ext cx="6027363" cy="63424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0" name="Rectangle 9">
            <a:extLst>
              <a:ext uri="{FF2B5EF4-FFF2-40B4-BE49-F238E27FC236}">
                <a16:creationId xmlns:a16="http://schemas.microsoft.com/office/drawing/2014/main" id="{5D087163-BC3D-3BF0-2571-927CE15B489A}"/>
              </a:ext>
            </a:extLst>
          </p:cNvPr>
          <p:cNvSpPr>
            <a:spLocks noGrp="1"/>
          </p:cNvSpPr>
          <p:nvPr/>
        </p:nvSpPr>
        <p:spPr>
          <a:xfrm>
            <a:off x="1690757" y="1209676"/>
            <a:ext cx="5876378" cy="621665"/>
          </a:xfrm>
          <a:prstGeom prst="rect">
            <a:avLst/>
          </a:prstGeom>
          <a:noFill/>
          <a:ln w="0">
            <a:noFill/>
          </a:ln>
        </p:spPr>
        <p:txBody>
          <a:bodyPr lIns="91440" tIns="45720" rIns="91440" bIns="45720" anchor="ctr">
            <a:normAutofit fontScale="89848"/>
          </a:bodyPr>
          <a:lstStyle/>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Modify the </a:t>
            </a:r>
            <a:r>
              <a:rPr lang="en-US">
                <a:solidFill>
                  <a:srgbClr val="FFC000"/>
                </a:solidFill>
                <a:latin typeface="Courier New"/>
                <a:ea typeface="Calibri"/>
                <a:cs typeface="Courier New"/>
              </a:rPr>
              <a:t>Agent.md</a:t>
            </a:r>
            <a:r>
              <a:rPr lang="en-US" sz="1650" i="1">
                <a:solidFill>
                  <a:srgbClr val="FFC000"/>
                </a:solidFill>
                <a:latin typeface="Courier New"/>
                <a:ea typeface="Calibri"/>
                <a:cs typeface="Courier New"/>
              </a:rPr>
              <a:t> </a:t>
            </a:r>
            <a:r>
              <a:rPr lang="en-US" sz="1650">
                <a:solidFill>
                  <a:srgbClr val="FFFFFF"/>
                </a:solidFill>
                <a:latin typeface="Arial Nova"/>
                <a:ea typeface="Calibri"/>
                <a:cs typeface="Times New Roman"/>
              </a:rPr>
              <a:t>file in the </a:t>
            </a:r>
            <a:r>
              <a:rPr lang="en-US" sz="1650">
                <a:solidFill>
                  <a:srgbClr val="FFC000"/>
                </a:solidFill>
                <a:latin typeface="Courier New"/>
                <a:ea typeface="Calibri"/>
                <a:cs typeface="Courier New"/>
              </a:rPr>
              <a:t>scripts/part1/</a:t>
            </a:r>
            <a:r>
              <a:rPr lang="en-US" sz="1650" err="1">
                <a:solidFill>
                  <a:srgbClr val="FFC000"/>
                </a:solidFill>
                <a:latin typeface="Courier New"/>
                <a:ea typeface="Calibri"/>
                <a:cs typeface="Courier New"/>
              </a:rPr>
              <a:t>google_verification</a:t>
            </a:r>
            <a:r>
              <a:rPr lang="en-US" sz="1650">
                <a:solidFill>
                  <a:srgbClr val="FFC000"/>
                </a:solidFill>
                <a:latin typeface="Courier New"/>
                <a:ea typeface="Calibri"/>
                <a:cs typeface="Courier New"/>
              </a:rPr>
              <a:t>/problem </a:t>
            </a:r>
            <a:r>
              <a:rPr lang="en-US" sz="1650">
                <a:solidFill>
                  <a:srgbClr val="FFFFFF"/>
                </a:solidFill>
                <a:latin typeface="Arial Nova"/>
                <a:ea typeface="Calibri"/>
                <a:cs typeface="Times New Roman"/>
              </a:rPr>
              <a:t>directory </a:t>
            </a:r>
          </a:p>
        </p:txBody>
      </p:sp>
      <p:sp>
        <p:nvSpPr>
          <p:cNvPr id="5" name="Rounded Rectangle 8">
            <a:extLst>
              <a:ext uri="{FF2B5EF4-FFF2-40B4-BE49-F238E27FC236}">
                <a16:creationId xmlns:a16="http://schemas.microsoft.com/office/drawing/2014/main" id="{482B026B-E1D4-4C19-150B-C79724F05100}"/>
              </a:ext>
            </a:extLst>
          </p:cNvPr>
          <p:cNvSpPr>
            <a:spLocks noGrp="1"/>
          </p:cNvSpPr>
          <p:nvPr/>
        </p:nvSpPr>
        <p:spPr>
          <a:xfrm>
            <a:off x="919305" y="2011046"/>
            <a:ext cx="7652963" cy="63424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7" name="Rectangle 6">
            <a:extLst>
              <a:ext uri="{FF2B5EF4-FFF2-40B4-BE49-F238E27FC236}">
                <a16:creationId xmlns:a16="http://schemas.microsoft.com/office/drawing/2014/main" id="{8F8CE295-7D2E-7678-F4AC-7A0B2EE7191E}"/>
              </a:ext>
            </a:extLst>
          </p:cNvPr>
          <p:cNvSpPr>
            <a:spLocks noGrp="1"/>
          </p:cNvSpPr>
          <p:nvPr/>
        </p:nvSpPr>
        <p:spPr>
          <a:xfrm>
            <a:off x="918596" y="2012316"/>
            <a:ext cx="7654378" cy="581025"/>
          </a:xfrm>
          <a:prstGeom prst="rect">
            <a:avLst/>
          </a:prstGeom>
          <a:noFill/>
          <a:ln w="0">
            <a:noFill/>
          </a:ln>
        </p:spPr>
        <p:txBody>
          <a:bodyPr lIns="91440" tIns="45720" rIns="91440" bIns="45720" anchor="ctr">
            <a:normAutofit fontScale="97348"/>
          </a:bodyPr>
          <a:lstStyle/>
          <a:p>
            <a:pPr algn="ctr">
              <a:defRPr sz="1650" b="1">
                <a:solidFill>
                  <a:srgbClr val="FFFFFF"/>
                </a:solidFill>
                <a:latin typeface="Calibri"/>
                <a:ea typeface="Calibri"/>
                <a:cs typeface="Calibri"/>
              </a:defRPr>
            </a:pPr>
            <a:r>
              <a:rPr lang="en-US" sz="1650">
                <a:solidFill>
                  <a:srgbClr val="FFC000"/>
                </a:solidFill>
                <a:latin typeface="Arial Nova"/>
                <a:ea typeface="Calibri"/>
                <a:cs typeface="Times New Roman"/>
              </a:rPr>
              <a:t>Fill the blanks</a:t>
            </a:r>
            <a:r>
              <a:rPr lang="en-US" sz="1650">
                <a:solidFill>
                  <a:srgbClr val="FFFFFF"/>
                </a:solidFill>
                <a:latin typeface="Arial Nova"/>
                <a:ea typeface="Calibri"/>
                <a:cs typeface="Times New Roman"/>
              </a:rPr>
              <a:t> in order to prompt refine the agent</a:t>
            </a:r>
            <a:endParaRPr lang="en-US"/>
          </a:p>
        </p:txBody>
      </p:sp>
      <p:sp>
        <p:nvSpPr>
          <p:cNvPr id="16" name="Rounded Rectangle 8">
            <a:extLst>
              <a:ext uri="{FF2B5EF4-FFF2-40B4-BE49-F238E27FC236}">
                <a16:creationId xmlns:a16="http://schemas.microsoft.com/office/drawing/2014/main" id="{757C247B-039D-4620-4795-CBAE968A71ED}"/>
              </a:ext>
            </a:extLst>
          </p:cNvPr>
          <p:cNvSpPr>
            <a:spLocks noGrp="1"/>
          </p:cNvSpPr>
          <p:nvPr/>
        </p:nvSpPr>
        <p:spPr>
          <a:xfrm>
            <a:off x="157305" y="5821046"/>
            <a:ext cx="8821363" cy="674889"/>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7" name="Rectangle 16">
            <a:extLst>
              <a:ext uri="{FF2B5EF4-FFF2-40B4-BE49-F238E27FC236}">
                <a16:creationId xmlns:a16="http://schemas.microsoft.com/office/drawing/2014/main" id="{4FDA11A3-2E18-F9D3-5A05-2F43778F0001}"/>
              </a:ext>
            </a:extLst>
          </p:cNvPr>
          <p:cNvSpPr>
            <a:spLocks noGrp="1"/>
          </p:cNvSpPr>
          <p:nvPr/>
        </p:nvSpPr>
        <p:spPr>
          <a:xfrm>
            <a:off x="-320925" y="5862956"/>
            <a:ext cx="10133418" cy="581025"/>
          </a:xfrm>
          <a:prstGeom prst="rect">
            <a:avLst/>
          </a:prstGeom>
          <a:noFill/>
          <a:ln w="0">
            <a:noFill/>
          </a:ln>
        </p:spPr>
        <p:txBody>
          <a:bodyPr lIns="91440" tIns="45720" rIns="91440" bIns="45720" anchor="ctr">
            <a:normAutofit fontScale="97348"/>
          </a:bodyPr>
          <a:lstStyle/>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Models know a lot already: it </a:t>
            </a:r>
            <a:r>
              <a:rPr lang="en-US" sz="1650">
                <a:solidFill>
                  <a:srgbClr val="FFC000"/>
                </a:solidFill>
                <a:latin typeface="Arial Nova"/>
                <a:ea typeface="Calibri"/>
                <a:cs typeface="Times New Roman"/>
              </a:rPr>
              <a:t>may</a:t>
            </a:r>
            <a:r>
              <a:rPr lang="en-US" sz="1650">
                <a:solidFill>
                  <a:srgbClr val="FFFFFF"/>
                </a:solidFill>
                <a:latin typeface="Arial Nova"/>
                <a:ea typeface="Calibri"/>
                <a:cs typeface="Times New Roman"/>
              </a:rPr>
              <a:t> work even </a:t>
            </a:r>
            <a:r>
              <a:rPr lang="en-US" sz="1650" err="1">
                <a:solidFill>
                  <a:srgbClr val="FFFFFF"/>
                </a:solidFill>
                <a:latin typeface="Arial Nova"/>
                <a:ea typeface="Calibri"/>
                <a:cs typeface="Times New Roman"/>
              </a:rPr>
              <a:t>witho</a:t>
            </a:r>
            <a:r>
              <a:rPr lang="en-US" sz="1650">
                <a:solidFill>
                  <a:srgbClr val="FFFFFF"/>
                </a:solidFill>
                <a:latin typeface="Arial Nova"/>
                <a:ea typeface="Calibri"/>
                <a:cs typeface="Times New Roman"/>
              </a:rPr>
              <a:t>ut prompt refinement</a:t>
            </a:r>
            <a:endParaRPr lang="en-US"/>
          </a:p>
        </p:txBody>
      </p:sp>
      <p:pic>
        <p:nvPicPr>
          <p:cNvPr id="19" name="Picture 18">
            <a:extLst>
              <a:ext uri="{FF2B5EF4-FFF2-40B4-BE49-F238E27FC236}">
                <a16:creationId xmlns:a16="http://schemas.microsoft.com/office/drawing/2014/main" id="{38F8316C-7B82-D4D3-3EDF-93C1B5F1B1B9}"/>
              </a:ext>
            </a:extLst>
          </p:cNvPr>
          <p:cNvPicPr>
            <a:picLocks noChangeAspect="1"/>
          </p:cNvPicPr>
          <p:nvPr/>
        </p:nvPicPr>
        <p:blipFill>
          <a:blip r:embed="rId3"/>
          <a:stretch>
            <a:fillRect/>
          </a:stretch>
        </p:blipFill>
        <p:spPr>
          <a:xfrm>
            <a:off x="1300480" y="3433291"/>
            <a:ext cx="6817360" cy="1332538"/>
          </a:xfrm>
          <a:prstGeom prst="rect">
            <a:avLst/>
          </a:prstGeom>
        </p:spPr>
      </p:pic>
    </p:spTree>
    <p:extLst>
      <p:ext uri="{BB962C8B-B14F-4D97-AF65-F5344CB8AC3E}">
        <p14:creationId xmlns:p14="http://schemas.microsoft.com/office/powerpoint/2010/main" val="3171504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1F35-2F28-28C4-8D94-E7EB42FA7A6E}"/>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28A77F77-A836-707C-70DE-FBF66E61DB8B}"/>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812E8267-9675-3971-EBFC-A686FE390D70}"/>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5C4610D-5BC1-5E71-B062-94561D54AF7B}"/>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 our golden run: a single pass</a:t>
            </a:r>
            <a:endParaRPr lang="en-GB"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257AFDD6-77E6-9D23-788D-4D9EF0664CD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8C91F2F5-6296-E70F-F2BE-9D752E9758FB}"/>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36</a:t>
            </a:fld>
            <a:endParaRPr sz="750" b="0">
              <a:solidFill>
                <a:srgbClr val="5B6573"/>
              </a:solidFill>
              <a:latin typeface="Calibri"/>
              <a:ea typeface="Calibri"/>
              <a:cs typeface="Calibri"/>
            </a:endParaRPr>
          </a:p>
        </p:txBody>
      </p:sp>
      <p:pic>
        <p:nvPicPr>
          <p:cNvPr id="5" name="Picture 4" descr="Blank screen when I launch the new windows terminal. · Issue #13841 ·  microsoft/terminal">
            <a:extLst>
              <a:ext uri="{FF2B5EF4-FFF2-40B4-BE49-F238E27FC236}">
                <a16:creationId xmlns:a16="http://schemas.microsoft.com/office/drawing/2014/main" id="{160F3245-D5E4-F3DA-B42E-646935E55767}"/>
              </a:ext>
            </a:extLst>
          </p:cNvPr>
          <p:cNvPicPr>
            <a:picLocks noChangeAspect="1"/>
          </p:cNvPicPr>
          <p:nvPr/>
        </p:nvPicPr>
        <p:blipFill>
          <a:blip r:embed="rId3"/>
          <a:stretch>
            <a:fillRect/>
          </a:stretch>
        </p:blipFill>
        <p:spPr>
          <a:xfrm>
            <a:off x="162791" y="3244334"/>
            <a:ext cx="3827318" cy="1562617"/>
          </a:xfrm>
          <a:prstGeom prst="rect">
            <a:avLst/>
          </a:prstGeom>
        </p:spPr>
      </p:pic>
      <p:sp>
        <p:nvSpPr>
          <p:cNvPr id="6" name="TextBox 5">
            <a:extLst>
              <a:ext uri="{FF2B5EF4-FFF2-40B4-BE49-F238E27FC236}">
                <a16:creationId xmlns:a16="http://schemas.microsoft.com/office/drawing/2014/main" id="{A75FB431-FE37-159B-ACAF-F40BF223E965}"/>
              </a:ext>
            </a:extLst>
          </p:cNvPr>
          <p:cNvSpPr txBox="1"/>
          <p:nvPr/>
        </p:nvSpPr>
        <p:spPr>
          <a:xfrm>
            <a:off x="-1071099" y="3833852"/>
            <a:ext cx="6137493" cy="369332"/>
          </a:xfrm>
          <a:prstGeom prst="rect">
            <a:avLst/>
          </a:prstGeom>
          <a:noFill/>
        </p:spPr>
        <p:txBody>
          <a:bodyPr wrap="square" rtlCol="0">
            <a:spAutoFit/>
          </a:bodyPr>
          <a:lstStyle/>
          <a:p>
            <a:pPr algn="ctr"/>
            <a:r>
              <a:rPr lang="en-GB">
                <a:solidFill>
                  <a:schemeClr val="bg1"/>
                </a:solidFill>
                <a:latin typeface="Times New Roman" panose="02020603050405020304" pitchFamily="18" charset="0"/>
                <a:cs typeface="Times New Roman" panose="02020603050405020304" pitchFamily="18" charset="0"/>
              </a:rPr>
              <a:t>python3 </a:t>
            </a:r>
            <a:r>
              <a:rPr lang="en-GB" err="1">
                <a:solidFill>
                  <a:schemeClr val="bg1"/>
                </a:solidFill>
                <a:latin typeface="Times New Roman" panose="02020603050405020304" pitchFamily="18" charset="0"/>
                <a:cs typeface="Times New Roman" panose="02020603050405020304" pitchFamily="18" charset="0"/>
              </a:rPr>
              <a:t>single_pass.py</a:t>
            </a:r>
            <a:r>
              <a:rPr lang="en-GB">
                <a:solidFill>
                  <a:schemeClr val="bg1"/>
                </a:solidFill>
                <a:latin typeface="Times New Roman" panose="02020603050405020304" pitchFamily="18" charset="0"/>
                <a:cs typeface="Times New Roman" panose="02020603050405020304" pitchFamily="18" charset="0"/>
              </a:rPr>
              <a:t> enc_bin2gray</a:t>
            </a:r>
            <a:endParaRPr lang="en-GR">
              <a:solidFill>
                <a:schemeClr val="bg1"/>
              </a:solidFill>
              <a:latin typeface="Times New Roman" panose="02020603050405020304" pitchFamily="18" charset="0"/>
              <a:cs typeface="Times New Roman" panose="02020603050405020304" pitchFamily="18" charset="0"/>
            </a:endParaRPr>
          </a:p>
        </p:txBody>
      </p:sp>
      <p:sp>
        <p:nvSpPr>
          <p:cNvPr id="7" name="decomposition arrow">
            <a:extLst>
              <a:ext uri="{FF2B5EF4-FFF2-40B4-BE49-F238E27FC236}">
                <a16:creationId xmlns:a16="http://schemas.microsoft.com/office/drawing/2014/main" id="{A1C27B8D-F0E8-8B5E-9940-4856D359D986}"/>
              </a:ext>
            </a:extLst>
          </p:cNvPr>
          <p:cNvSpPr>
            <a:spLocks noGrp="1"/>
          </p:cNvSpPr>
          <p:nvPr/>
        </p:nvSpPr>
        <p:spPr>
          <a:xfrm rot="16200000">
            <a:off x="4320911" y="3794114"/>
            <a:ext cx="210807" cy="538722"/>
          </a:xfrm>
          <a:prstGeom prst="downArrow">
            <a:avLst/>
          </a:prstGeom>
          <a:solidFill>
            <a:srgbClr val="4F81BD"/>
          </a:solidFill>
          <a:ln w="0">
            <a:noFill/>
          </a:ln>
        </p:spPr>
        <p:txBody>
          <a:bodyPr/>
          <a:lstStyle/>
          <a:p>
            <a:endParaRPr lang="en-GR"/>
          </a:p>
        </p:txBody>
      </p:sp>
      <p:sp>
        <p:nvSpPr>
          <p:cNvPr id="8" name="decomposition: Validation gate: artifact + status +">
            <a:extLst>
              <a:ext uri="{FF2B5EF4-FFF2-40B4-BE49-F238E27FC236}">
                <a16:creationId xmlns:a16="http://schemas.microsoft.com/office/drawing/2014/main" id="{36D899C5-B6E1-C2F3-9045-49B00FC51698}"/>
              </a:ext>
            </a:extLst>
          </p:cNvPr>
          <p:cNvSpPr>
            <a:spLocks noGrp="1"/>
          </p:cNvSpPr>
          <p:nvPr/>
        </p:nvSpPr>
        <p:spPr>
          <a:xfrm>
            <a:off x="5670880" y="2368244"/>
            <a:ext cx="2099919" cy="503800"/>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Expected Outcome</a:t>
            </a:r>
            <a:endParaRPr sz="1350" b="1">
              <a:solidFill>
                <a:schemeClr val="bg1"/>
              </a:solidFill>
              <a:latin typeface="Calibri"/>
              <a:ea typeface="Calibri"/>
              <a:cs typeface="Calibri"/>
            </a:endParaRPr>
          </a:p>
        </p:txBody>
      </p:sp>
      <p:sp>
        <p:nvSpPr>
          <p:cNvPr id="11" name="Rounded Rectangle 10">
            <a:extLst>
              <a:ext uri="{FF2B5EF4-FFF2-40B4-BE49-F238E27FC236}">
                <a16:creationId xmlns:a16="http://schemas.microsoft.com/office/drawing/2014/main" id="{B98D3D78-5C3A-E7CF-A183-E2451EAEF8B4}"/>
              </a:ext>
            </a:extLst>
          </p:cNvPr>
          <p:cNvSpPr>
            <a:spLocks noGrp="1"/>
          </p:cNvSpPr>
          <p:nvPr/>
        </p:nvSpPr>
        <p:spPr>
          <a:xfrm>
            <a:off x="770769" y="906718"/>
            <a:ext cx="7849813" cy="1060450"/>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3" name="Rectangle 12">
            <a:extLst>
              <a:ext uri="{FF2B5EF4-FFF2-40B4-BE49-F238E27FC236}">
                <a16:creationId xmlns:a16="http://schemas.microsoft.com/office/drawing/2014/main" id="{D4B66DD1-815A-10BB-2B94-8A31EE200767}"/>
              </a:ext>
            </a:extLst>
          </p:cNvPr>
          <p:cNvSpPr>
            <a:spLocks noGrp="1"/>
          </p:cNvSpPr>
          <p:nvPr/>
        </p:nvSpPr>
        <p:spPr>
          <a:xfrm>
            <a:off x="167446" y="1155004"/>
            <a:ext cx="9046298" cy="829311"/>
          </a:xfrm>
          <a:prstGeom prst="rect">
            <a:avLst/>
          </a:prstGeom>
          <a:noFill/>
          <a:ln w="0">
            <a:noFill/>
          </a:ln>
        </p:spPr>
        <p:txBody>
          <a:bodyPr lIns="91440" tIns="45720" rIns="91440" bIns="45720" anchor="ctr">
            <a:normAutofit fontScale="82348" lnSpcReduction="20000"/>
          </a:bodyPr>
          <a:lstStyle/>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Run the agent to solve the google problem</a:t>
            </a:r>
          </a:p>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You can try to solve it for different target RTLs</a:t>
            </a:r>
          </a:p>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Just write </a:t>
            </a:r>
            <a:r>
              <a:rPr lang="en-US" sz="1650">
                <a:solidFill>
                  <a:srgbClr val="FFC000"/>
                </a:solidFill>
                <a:latin typeface="Arial Nova"/>
                <a:ea typeface="Calibri"/>
                <a:cs typeface="Times New Roman"/>
              </a:rPr>
              <a:t>python3 single_pass.py &lt;design&gt;</a:t>
            </a:r>
          </a:p>
          <a:p>
            <a:pPr algn="ctr">
              <a:defRPr sz="1650" b="1">
                <a:solidFill>
                  <a:srgbClr val="FFFFFF"/>
                </a:solidFill>
                <a:latin typeface="Calibri"/>
                <a:ea typeface="Calibri"/>
                <a:cs typeface="Calibri"/>
              </a:defRPr>
            </a:pPr>
            <a:r>
              <a:rPr lang="en-US" sz="1650">
                <a:solidFill>
                  <a:schemeClr val="bg1"/>
                </a:solidFill>
                <a:latin typeface="Arial Nova"/>
                <a:ea typeface="Calibri"/>
                <a:cs typeface="Times New Roman"/>
              </a:rPr>
              <a:t>Inside the scripts/part1/</a:t>
            </a:r>
            <a:r>
              <a:rPr lang="en-US" sz="1650" err="1">
                <a:solidFill>
                  <a:srgbClr val="FFC000"/>
                </a:solidFill>
                <a:latin typeface="Courier New"/>
                <a:ea typeface="Calibri"/>
                <a:cs typeface="Courier New"/>
              </a:rPr>
              <a:t>google_verification</a:t>
            </a:r>
            <a:r>
              <a:rPr lang="en-US" sz="1650">
                <a:solidFill>
                  <a:srgbClr val="FFC000"/>
                </a:solidFill>
                <a:latin typeface="Courier New"/>
                <a:ea typeface="Calibri"/>
                <a:cs typeface="Courier New"/>
              </a:rPr>
              <a:t> directory</a:t>
            </a:r>
          </a:p>
          <a:p>
            <a:pPr algn="ctr">
              <a:defRPr sz="1650" b="1">
                <a:solidFill>
                  <a:srgbClr val="FFFFFF"/>
                </a:solidFill>
                <a:latin typeface="Calibri"/>
                <a:ea typeface="Calibri"/>
                <a:cs typeface="Calibri"/>
              </a:defRPr>
            </a:pPr>
            <a:endParaRPr lang="en-US" sz="1650">
              <a:solidFill>
                <a:srgbClr val="FFFFFF"/>
              </a:solidFill>
              <a:latin typeface="Arial Nova" panose="020B0304020202020204" pitchFamily="34" charset="0"/>
              <a:ea typeface="Calibri"/>
              <a:cs typeface="Times New Roman" panose="02020603050405020304" pitchFamily="18" charset="0"/>
            </a:endParaRPr>
          </a:p>
        </p:txBody>
      </p:sp>
      <p:sp>
        <p:nvSpPr>
          <p:cNvPr id="1229" name="terminal 1229"/>
          <p:cNvSpPr/>
          <p:nvPr/>
        </p:nvSpPr>
        <p:spPr>
          <a:xfrm>
            <a:off x="4663440" y="3017520"/>
            <a:ext cx="4114800" cy="173736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Generating Testbench via </a:t>
            </a:r>
            <a:r>
              <a:rPr lang="en-US" sz="900" b="0" i="0" err="1">
                <a:solidFill>
                  <a:srgbClr val="FFFFFF"/>
                </a:solidFill>
                <a:latin typeface="Courier New"/>
                <a:ea typeface="Courier New"/>
                <a:cs typeface="Courier New"/>
              </a:rPr>
              <a:t>DSPy</a:t>
            </a:r>
            <a:r>
              <a:rPr lang="en-US" sz="900" b="0" i="0">
                <a:solidFill>
                  <a:srgbClr val="FFFFFF"/>
                </a:solidFill>
                <a:latin typeface="Courier New"/>
                <a:ea typeface="Courier New"/>
                <a:cs typeface="Courier New"/>
              </a:rPr>
              <a:t> for 'enc_bin2gray'...</a:t>
            </a:r>
          </a:p>
          <a:p>
            <a:pPr algn="l">
              <a:lnSpc>
                <a:spcPct val="100000"/>
              </a:lnSpc>
              <a:spcBef>
                <a:spcPts val="0"/>
              </a:spcBef>
              <a:spcAft>
                <a:spcPts val="0"/>
              </a:spcAft>
              <a:buNone/>
            </a:pPr>
            <a:r>
              <a:rPr lang="en-US" sz="900" b="0" i="0">
                <a:solidFill>
                  <a:srgbClr val="FFFFFF"/>
                </a:solidFill>
                <a:latin typeface="Courier New"/>
                <a:ea typeface="Courier New"/>
                <a:cs typeface="Courier New"/>
              </a:rPr>
              <a:t>======= EVALUATION &amp; PERFORMANCE SUMMARY =======</a:t>
            </a:r>
          </a:p>
          <a:p>
            <a:pPr algn="l">
              <a:lnSpc>
                <a:spcPct val="100000"/>
              </a:lnSpc>
              <a:spcBef>
                <a:spcPts val="0"/>
              </a:spcBef>
              <a:spcAft>
                <a:spcPts val="0"/>
              </a:spcAft>
              <a:buNone/>
            </a:pPr>
            <a:r>
              <a:rPr lang="en-US" sz="900" b="0" i="0">
                <a:solidFill>
                  <a:srgbClr val="FFFFFF"/>
                </a:solidFill>
                <a:latin typeface="Courier New"/>
                <a:ea typeface="Courier New"/>
                <a:cs typeface="Courier New"/>
              </a:rPr>
              <a:t>Design Folder:   enc_bin2gray</a:t>
            </a:r>
          </a:p>
          <a:p>
            <a:pPr algn="l">
              <a:lnSpc>
                <a:spcPct val="100000"/>
              </a:lnSpc>
              <a:spcBef>
                <a:spcPts val="0"/>
              </a:spcBef>
              <a:spcAft>
                <a:spcPts val="0"/>
              </a:spcAft>
              <a:buNone/>
            </a:pPr>
            <a:r>
              <a:rPr lang="en-US" sz="900" b="0" i="0">
                <a:solidFill>
                  <a:srgbClr val="7EC699"/>
                </a:solidFill>
                <a:latin typeface="Courier New"/>
                <a:ea typeface="Courier New"/>
                <a:cs typeface="Courier New"/>
              </a:rPr>
              <a:t>Mutants Passed:  1</a:t>
            </a:r>
          </a:p>
          <a:p>
            <a:pPr algn="l">
              <a:lnSpc>
                <a:spcPct val="100000"/>
              </a:lnSpc>
              <a:spcBef>
                <a:spcPts val="0"/>
              </a:spcBef>
              <a:spcAft>
                <a:spcPts val="0"/>
              </a:spcAft>
              <a:buNone/>
            </a:pPr>
            <a:r>
              <a:rPr lang="en-US" sz="900" b="0" i="0">
                <a:solidFill>
                  <a:srgbClr val="FFFFFF"/>
                </a:solidFill>
                <a:latin typeface="Courier New"/>
                <a:ea typeface="Courier New"/>
                <a:cs typeface="Courier New"/>
              </a:rPr>
              <a:t>Golden TB Saved: .../enc_bin2gray/</a:t>
            </a:r>
            <a:r>
              <a:rPr lang="en-US" sz="900" b="0" i="0" err="1">
                <a:solidFill>
                  <a:srgbClr val="FFFFFF"/>
                </a:solidFill>
                <a:latin typeface="Courier New"/>
                <a:ea typeface="Courier New"/>
                <a:cs typeface="Courier New"/>
              </a:rPr>
              <a:t>golden.tb</a:t>
            </a:r>
            <a:endParaRPr lang="en-US" sz="900" b="0" i="0">
              <a:solidFill>
                <a:srgbClr val="FFFFFF"/>
              </a:solidFill>
              <a:latin typeface="Courier New"/>
              <a:ea typeface="Courier New"/>
              <a:cs typeface="Courier New"/>
            </a:endParaRPr>
          </a:p>
          <a:p>
            <a:pPr algn="l">
              <a:lnSpc>
                <a:spcPct val="100000"/>
              </a:lnSpc>
              <a:spcBef>
                <a:spcPts val="0"/>
              </a:spcBef>
              <a:spcAft>
                <a:spcPts val="0"/>
              </a:spcAft>
              <a:buNone/>
            </a:pPr>
            <a:r>
              <a:rPr lang="en-US" sz="900" b="0" i="0">
                <a:solidFill>
                  <a:srgbClr val="FFFFFF"/>
                </a:solidFill>
                <a:latin typeface="Courier New"/>
                <a:ea typeface="Courier New"/>
                <a:cs typeface="Courier New"/>
              </a:rPr>
              <a:t>Generation Time: 14.30 seconds</a:t>
            </a:r>
          </a:p>
          <a:p>
            <a:pPr algn="l">
              <a:lnSpc>
                <a:spcPct val="100000"/>
              </a:lnSpc>
              <a:spcBef>
                <a:spcPts val="0"/>
              </a:spcBef>
              <a:spcAft>
                <a:spcPts val="0"/>
              </a:spcAft>
              <a:buNone/>
            </a:pPr>
            <a:r>
              <a:rPr lang="en-US" sz="900" b="0" i="0">
                <a:solidFill>
                  <a:srgbClr val="FFFFFF"/>
                </a:solidFill>
                <a:latin typeface="Courier New"/>
                <a:ea typeface="Courier New"/>
                <a:cs typeface="Courier New"/>
              </a:rPr>
              <a:t>Token Usage:     Prompt: 1874 | Completion: 912</a:t>
            </a:r>
          </a:p>
          <a:p>
            <a:pPr algn="l">
              <a:lnSpc>
                <a:spcPct val="100000"/>
              </a:lnSpc>
              <a:spcBef>
                <a:spcPts val="0"/>
              </a:spcBef>
              <a:spcAft>
                <a:spcPts val="0"/>
              </a:spcAft>
              <a:buNone/>
            </a:pPr>
            <a:r>
              <a:rPr lang="en-US" sz="900" b="0" i="0">
                <a:solidFill>
                  <a:srgbClr val="FFFFFF"/>
                </a:solidFill>
                <a:latin typeface="Courier New"/>
                <a:ea typeface="Courier New"/>
                <a:cs typeface="Courier New"/>
              </a:rPr>
              <a:t>Throughput:      38,996.1 TPM (649.94 TPS)</a:t>
            </a:r>
          </a:p>
        </p:txBody>
      </p:sp>
      <p:sp>
        <p:nvSpPr>
          <p:cNvPr id="1230" name="text 1230"/>
          <p:cNvSpPr txBox="1"/>
          <p:nvPr/>
        </p:nvSpPr>
        <p:spPr>
          <a:xfrm>
            <a:off x="4663440" y="4800600"/>
            <a:ext cx="4114800" cy="228600"/>
          </a:xfrm>
          <a:prstGeom prst="rect">
            <a:avLst/>
          </a:prstGeom>
          <a:noFill/>
          <a:ln>
            <a:noFill/>
          </a:ln>
        </p:spPr>
        <p:txBody>
          <a:bodyPr wrap="square" lIns="18288" tIns="18288" rIns="18288" bIns="18288" anchor="t">
            <a:noAutofit/>
          </a:bodyPr>
          <a:lstStyle/>
          <a:p>
            <a:pPr algn="r">
              <a:spcBef>
                <a:spcPts val="0"/>
              </a:spcBef>
              <a:spcAft>
                <a:spcPts val="0"/>
              </a:spcAft>
              <a:buNone/>
            </a:pPr>
            <a:r>
              <a:rPr lang="en-US" sz="850" b="0" i="1">
                <a:solidFill>
                  <a:srgbClr val="5D6C7B"/>
                </a:solidFill>
                <a:latin typeface="Calibri"/>
                <a:ea typeface="Calibri"/>
                <a:cs typeface="Calibri"/>
              </a:rPr>
              <a:t>illustrative output – your numbers will differ</a:t>
            </a:r>
          </a:p>
        </p:txBody>
      </p:sp>
      <p:sp>
        <p:nvSpPr>
          <p:cNvPr id="1231" name="shape 1231"/>
          <p:cNvSpPr/>
          <p:nvPr/>
        </p:nvSpPr>
        <p:spPr>
          <a:xfrm>
            <a:off x="27432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2E7D4F"/>
                </a:solidFill>
                <a:latin typeface="Calibri"/>
                <a:ea typeface="Calibri"/>
                <a:cs typeface="Calibri"/>
              </a:rPr>
              <a:t>Mutants passed = 1  </a:t>
            </a:r>
            <a:r>
              <a:rPr lang="en-US" sz="950" b="0" i="0">
                <a:solidFill>
                  <a:srgbClr val="0E2745"/>
                </a:solidFill>
                <a:latin typeface="Calibri"/>
                <a:ea typeface="Calibri"/>
                <a:cs typeface="Calibri"/>
              </a:rPr>
              <a:t>the TB isolates the correct RTL</a:t>
            </a:r>
          </a:p>
        </p:txBody>
      </p:sp>
      <p:sp>
        <p:nvSpPr>
          <p:cNvPr id="1232" name="shape 1232"/>
          <p:cNvSpPr/>
          <p:nvPr/>
        </p:nvSpPr>
        <p:spPr>
          <a:xfrm>
            <a:off x="310896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C27C0E"/>
                </a:solidFill>
                <a:latin typeface="Calibri"/>
                <a:ea typeface="Calibri"/>
                <a:cs typeface="Calibri"/>
              </a:rPr>
              <a:t>Mutants passed &gt; 1  </a:t>
            </a:r>
            <a:r>
              <a:rPr lang="en-US" sz="950" b="0" i="0">
                <a:solidFill>
                  <a:srgbClr val="0E2745"/>
                </a:solidFill>
                <a:latin typeface="Calibri"/>
                <a:ea typeface="Calibri"/>
                <a:cs typeface="Calibri"/>
              </a:rPr>
              <a:t>too weak: add checks</a:t>
            </a:r>
          </a:p>
        </p:txBody>
      </p:sp>
      <p:sp>
        <p:nvSpPr>
          <p:cNvPr id="1233" name="shape 1233"/>
          <p:cNvSpPr/>
          <p:nvPr/>
        </p:nvSpPr>
        <p:spPr>
          <a:xfrm>
            <a:off x="594360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B91F2D"/>
                </a:solidFill>
                <a:latin typeface="Calibri"/>
                <a:ea typeface="Calibri"/>
                <a:cs typeface="Calibri"/>
              </a:rPr>
              <a:t>Mutants passed = 0  </a:t>
            </a:r>
            <a:r>
              <a:rPr lang="en-US" sz="950" b="0" i="0">
                <a:solidFill>
                  <a:srgbClr val="0E2745"/>
                </a:solidFill>
                <a:latin typeface="Calibri"/>
                <a:ea typeface="Calibri"/>
                <a:cs typeface="Calibri"/>
              </a:rPr>
              <a:t>wrong or too strict</a:t>
            </a:r>
          </a:p>
        </p:txBody>
      </p:sp>
    </p:spTree>
    <p:extLst>
      <p:ext uri="{BB962C8B-B14F-4D97-AF65-F5344CB8AC3E}">
        <p14:creationId xmlns:p14="http://schemas.microsoft.com/office/powerpoint/2010/main" val="1459628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3574760E-53D0-94DF-361E-5E79DEC85D78}"/>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3018F97E-DED2-4B0A-E4B4-61791182C739}"/>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E7C4FFC9-03A1-8F8B-0FCA-C6FB33000183}"/>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The Google verification problem</a:t>
            </a:r>
            <a:endParaRPr lang="en-US"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61ED718-A7EE-83D8-D8E1-31513FA13297}"/>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259F65E0-3F28-D674-6668-8DAA6EB17E57}"/>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37</a:t>
            </a:fld>
            <a:endParaRPr sz="750" b="0">
              <a:solidFill>
                <a:srgbClr val="5B6573"/>
              </a:solidFill>
              <a:latin typeface="Calibri"/>
              <a:ea typeface="Calibri"/>
              <a:cs typeface="Calibri"/>
            </a:endParaRPr>
          </a:p>
        </p:txBody>
      </p:sp>
      <p:sp>
        <p:nvSpPr>
          <p:cNvPr id="80" name="diagram: Golden design and reference checks stay ">
            <a:extLst>
              <a:ext uri="{FF2B5EF4-FFF2-40B4-BE49-F238E27FC236}">
                <a16:creationId xmlns:a16="http://schemas.microsoft.com/office/drawing/2014/main" id="{FCA10642-F456-4B35-B482-7D37C92312F4}"/>
              </a:ext>
            </a:extLst>
          </p:cNvPr>
          <p:cNvSpPr>
            <a:spLocks noGrp="1"/>
          </p:cNvSpPr>
          <p:nvPr/>
        </p:nvSpPr>
        <p:spPr>
          <a:xfrm>
            <a:off x="695325" y="1047750"/>
            <a:ext cx="7762875" cy="333375"/>
          </a:xfrm>
          <a:prstGeom prst="rect">
            <a:avLst/>
          </a:prstGeom>
          <a:noFill/>
          <a:ln w="0">
            <a:noFill/>
          </a:ln>
        </p:spPr>
        <p:txBody>
          <a:bodyPr lIns="28575" tIns="9525" rIns="28575" bIns="9525" anchor="ctr">
            <a:normAutofit/>
          </a:bodyPr>
          <a:lstStyle/>
          <a:p>
            <a:pPr algn="ctr">
              <a:defRPr sz="1425" b="1">
                <a:solidFill>
                  <a:srgbClr val="17365D"/>
                </a:solidFill>
                <a:latin typeface="Calibri"/>
                <a:ea typeface="Calibri"/>
                <a:cs typeface="Calibri"/>
              </a:defRPr>
            </a:pPr>
            <a:r>
              <a:rPr lang="en-GR" sz="1425" b="1">
                <a:solidFill>
                  <a:srgbClr val="17365D"/>
                </a:solidFill>
                <a:latin typeface="Calibri"/>
              </a:rPr>
              <a:t>Single-Agent Closed-Loop Self-Correction</a:t>
            </a:r>
            <a:endParaRPr lang="en-US" sz="1425" b="1">
              <a:solidFill>
                <a:srgbClr val="17365D"/>
              </a:solidFill>
              <a:latin typeface="Calibri"/>
              <a:ea typeface="Calibri"/>
              <a:cs typeface="Calibri"/>
            </a:endParaRPr>
          </a:p>
        </p:txBody>
      </p:sp>
      <p:sp>
        <p:nvSpPr>
          <p:cNvPr id="81" name="diagram: Golden RTL + specification">
            <a:extLst>
              <a:ext uri="{FF2B5EF4-FFF2-40B4-BE49-F238E27FC236}">
                <a16:creationId xmlns:a16="http://schemas.microsoft.com/office/drawing/2014/main" id="{AA458518-25D7-49A0-8787-BCBDC634DA53}"/>
              </a:ext>
            </a:extLst>
          </p:cNvPr>
          <p:cNvSpPr>
            <a:spLocks noGrp="1"/>
          </p:cNvSpPr>
          <p:nvPr/>
        </p:nvSpPr>
        <p:spPr>
          <a:xfrm>
            <a:off x="638175"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RTL</a:t>
            </a:r>
          </a:p>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a:t>
            </a:r>
          </a:p>
          <a:p>
            <a:pPr algn="ctr">
              <a:defRPr sz="1125" b="1">
                <a:solidFill>
                  <a:srgbClr val="17365D"/>
                </a:solidFill>
                <a:latin typeface="Calibri"/>
                <a:ea typeface="Calibri"/>
                <a:cs typeface="Calibri"/>
              </a:defRPr>
            </a:pPr>
            <a:r>
              <a:rPr lang="en-US" sz="1125" b="1">
                <a:solidFill>
                  <a:srgbClr val="17365D"/>
                </a:solidFill>
                <a:latin typeface="Calibri"/>
                <a:ea typeface="Calibri"/>
                <a:cs typeface="Calibri"/>
              </a:rPr>
              <a:t>Specification</a:t>
            </a:r>
          </a:p>
        </p:txBody>
      </p:sp>
      <p:sp>
        <p:nvSpPr>
          <p:cNvPr id="82" name="diagram: Agent drafts candidate TB">
            <a:extLst>
              <a:ext uri="{FF2B5EF4-FFF2-40B4-BE49-F238E27FC236}">
                <a16:creationId xmlns:a16="http://schemas.microsoft.com/office/drawing/2014/main" id="{F3144321-E6D6-4710-B3A8-9F1737245E89}"/>
              </a:ext>
            </a:extLst>
          </p:cNvPr>
          <p:cNvSpPr>
            <a:spLocks noGrp="1"/>
          </p:cNvSpPr>
          <p:nvPr/>
        </p:nvSpPr>
        <p:spPr>
          <a:xfrm>
            <a:off x="2343150"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Agent drafts candidate TB</a:t>
            </a:r>
          </a:p>
        </p:txBody>
      </p:sp>
      <p:sp>
        <p:nvSpPr>
          <p:cNvPr id="83" name="diagram: Icarus + Yosys checks">
            <a:extLst>
              <a:ext uri="{FF2B5EF4-FFF2-40B4-BE49-F238E27FC236}">
                <a16:creationId xmlns:a16="http://schemas.microsoft.com/office/drawing/2014/main" id="{A09A65B3-284E-4125-886B-FC5D3813A9B9}"/>
              </a:ext>
            </a:extLst>
          </p:cNvPr>
          <p:cNvSpPr>
            <a:spLocks noGrp="1"/>
          </p:cNvSpPr>
          <p:nvPr/>
        </p:nvSpPr>
        <p:spPr>
          <a:xfrm>
            <a:off x="4048125"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Icarus + Yosys checks</a:t>
            </a:r>
          </a:p>
        </p:txBody>
      </p:sp>
      <p:sp>
        <p:nvSpPr>
          <p:cNvPr id="84" name="diagram: Parse failures + exit codes">
            <a:extLst>
              <a:ext uri="{FF2B5EF4-FFF2-40B4-BE49-F238E27FC236}">
                <a16:creationId xmlns:a16="http://schemas.microsoft.com/office/drawing/2014/main" id="{1DC97219-A2E4-4A9D-BB01-E2F18F095C14}"/>
              </a:ext>
            </a:extLst>
          </p:cNvPr>
          <p:cNvSpPr>
            <a:spLocks noGrp="1"/>
          </p:cNvSpPr>
          <p:nvPr/>
        </p:nvSpPr>
        <p:spPr>
          <a:xfrm>
            <a:off x="5753100" y="2114550"/>
            <a:ext cx="1143000" cy="1000125"/>
          </a:xfrm>
          <a:prstGeom prst="roundRect">
            <a:avLst>
              <a:gd name="adj" fmla="val 9524"/>
            </a:avLst>
          </a:prstGeom>
          <a:solidFill>
            <a:srgbClr val="DCE7F3"/>
          </a:solidFill>
          <a:ln w="13335">
            <a:solidFill>
              <a:srgbClr val="4F81BD"/>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Parse failures + exit codes</a:t>
            </a:r>
          </a:p>
        </p:txBody>
      </p:sp>
      <p:sp>
        <p:nvSpPr>
          <p:cNvPr id="85" name="diagram: Human validates with golden TB">
            <a:extLst>
              <a:ext uri="{FF2B5EF4-FFF2-40B4-BE49-F238E27FC236}">
                <a16:creationId xmlns:a16="http://schemas.microsoft.com/office/drawing/2014/main" id="{08A40415-9F5A-463A-B13D-925E63B271F4}"/>
              </a:ext>
            </a:extLst>
          </p:cNvPr>
          <p:cNvSpPr>
            <a:spLocks noGrp="1"/>
          </p:cNvSpPr>
          <p:nvPr/>
        </p:nvSpPr>
        <p:spPr>
          <a:xfrm>
            <a:off x="7458075" y="2114550"/>
            <a:ext cx="1143000" cy="1000125"/>
          </a:xfrm>
          <a:prstGeom prst="roundRect">
            <a:avLst>
              <a:gd name="adj" fmla="val 9524"/>
            </a:avLst>
          </a:prstGeom>
          <a:solidFill>
            <a:srgbClr val="F8E3E5"/>
          </a:solidFill>
          <a:ln w="13335">
            <a:solidFill>
              <a:srgbClr val="C82132"/>
            </a:solidFill>
            <a:prstDash val="solid"/>
          </a:ln>
        </p:spPr>
        <p:txBody>
          <a:bodyPr lIns="66675" tIns="38100" rIns="66675" bIns="38100" anchor="ctr">
            <a:normAutofit/>
          </a:bodyPr>
          <a:lstStyle/>
          <a:p>
            <a:pPr algn="ctr">
              <a:defRPr sz="1125" b="1">
                <a:solidFill>
                  <a:srgbClr val="17365D"/>
                </a:solidFill>
                <a:latin typeface="Calibri"/>
                <a:ea typeface="Calibri"/>
                <a:cs typeface="Calibri"/>
              </a:defRPr>
            </a:pPr>
            <a:r>
              <a:rPr sz="1125" b="1">
                <a:solidFill>
                  <a:srgbClr val="17365D"/>
                </a:solidFill>
                <a:latin typeface="Calibri"/>
                <a:ea typeface="Calibri"/>
                <a:cs typeface="Calibri"/>
              </a:rPr>
              <a:t>Human validates with golden TB</a:t>
            </a:r>
          </a:p>
        </p:txBody>
      </p:sp>
      <p:sp>
        <p:nvSpPr>
          <p:cNvPr id="86" name="diagram arrow">
            <a:extLst>
              <a:ext uri="{FF2B5EF4-FFF2-40B4-BE49-F238E27FC236}">
                <a16:creationId xmlns:a16="http://schemas.microsoft.com/office/drawing/2014/main" id="{7B51A983-11E1-4B13-BC70-6ADA458B9189}"/>
              </a:ext>
            </a:extLst>
          </p:cNvPr>
          <p:cNvSpPr>
            <a:spLocks noGrp="1"/>
          </p:cNvSpPr>
          <p:nvPr/>
        </p:nvSpPr>
        <p:spPr>
          <a:xfrm>
            <a:off x="1914525" y="2524125"/>
            <a:ext cx="295275" cy="152400"/>
          </a:xfrm>
          <a:prstGeom prst="rightArrow">
            <a:avLst/>
          </a:prstGeom>
          <a:solidFill>
            <a:srgbClr val="4F81BD"/>
          </a:solidFill>
          <a:ln w="0">
            <a:noFill/>
          </a:ln>
        </p:spPr>
        <p:txBody>
          <a:bodyPr/>
          <a:lstStyle/>
          <a:p>
            <a:endParaRPr lang="en-GR"/>
          </a:p>
        </p:txBody>
      </p:sp>
      <p:sp>
        <p:nvSpPr>
          <p:cNvPr id="87" name="diagram arrow">
            <a:extLst>
              <a:ext uri="{FF2B5EF4-FFF2-40B4-BE49-F238E27FC236}">
                <a16:creationId xmlns:a16="http://schemas.microsoft.com/office/drawing/2014/main" id="{2FC5FD54-3624-4695-9C46-B3E5AF78642A}"/>
              </a:ext>
            </a:extLst>
          </p:cNvPr>
          <p:cNvSpPr>
            <a:spLocks noGrp="1"/>
          </p:cNvSpPr>
          <p:nvPr/>
        </p:nvSpPr>
        <p:spPr>
          <a:xfrm>
            <a:off x="3619500" y="2524125"/>
            <a:ext cx="295275" cy="152400"/>
          </a:xfrm>
          <a:prstGeom prst="rightArrow">
            <a:avLst/>
          </a:prstGeom>
          <a:solidFill>
            <a:srgbClr val="4F81BD"/>
          </a:solidFill>
          <a:ln w="0">
            <a:noFill/>
          </a:ln>
        </p:spPr>
        <p:txBody>
          <a:bodyPr/>
          <a:lstStyle/>
          <a:p>
            <a:endParaRPr lang="en-GR"/>
          </a:p>
        </p:txBody>
      </p:sp>
      <p:sp>
        <p:nvSpPr>
          <p:cNvPr id="88" name="diagram arrow">
            <a:extLst>
              <a:ext uri="{FF2B5EF4-FFF2-40B4-BE49-F238E27FC236}">
                <a16:creationId xmlns:a16="http://schemas.microsoft.com/office/drawing/2014/main" id="{D72C62AA-0751-44C0-AA1C-659B61E037F5}"/>
              </a:ext>
            </a:extLst>
          </p:cNvPr>
          <p:cNvSpPr>
            <a:spLocks noGrp="1"/>
          </p:cNvSpPr>
          <p:nvPr/>
        </p:nvSpPr>
        <p:spPr>
          <a:xfrm>
            <a:off x="5324475" y="2524125"/>
            <a:ext cx="295275" cy="152400"/>
          </a:xfrm>
          <a:prstGeom prst="rightArrow">
            <a:avLst/>
          </a:prstGeom>
          <a:solidFill>
            <a:srgbClr val="4F81BD"/>
          </a:solidFill>
          <a:ln w="0">
            <a:noFill/>
          </a:ln>
        </p:spPr>
        <p:txBody>
          <a:bodyPr/>
          <a:lstStyle/>
          <a:p>
            <a:endParaRPr lang="en-GR"/>
          </a:p>
        </p:txBody>
      </p:sp>
      <p:sp>
        <p:nvSpPr>
          <p:cNvPr id="89" name="diagram arrow">
            <a:extLst>
              <a:ext uri="{FF2B5EF4-FFF2-40B4-BE49-F238E27FC236}">
                <a16:creationId xmlns:a16="http://schemas.microsoft.com/office/drawing/2014/main" id="{6A57C2D3-DAA2-49BE-ABB2-36D34D0831FB}"/>
              </a:ext>
            </a:extLst>
          </p:cNvPr>
          <p:cNvSpPr>
            <a:spLocks noGrp="1"/>
          </p:cNvSpPr>
          <p:nvPr/>
        </p:nvSpPr>
        <p:spPr>
          <a:xfrm>
            <a:off x="7029450" y="2524125"/>
            <a:ext cx="295275" cy="152400"/>
          </a:xfrm>
          <a:prstGeom prst="rightArrow">
            <a:avLst/>
          </a:prstGeom>
          <a:solidFill>
            <a:srgbClr val="C82132"/>
          </a:solidFill>
          <a:ln w="0">
            <a:noFill/>
          </a:ln>
        </p:spPr>
        <p:txBody>
          <a:bodyPr/>
          <a:lstStyle/>
          <a:p>
            <a:endParaRPr lang="en-GR"/>
          </a:p>
        </p:txBody>
      </p:sp>
      <p:sp>
        <p:nvSpPr>
          <p:cNvPr id="90" name="diagram: If checks fail: revise candidate TB and ">
            <a:extLst>
              <a:ext uri="{FF2B5EF4-FFF2-40B4-BE49-F238E27FC236}">
                <a16:creationId xmlns:a16="http://schemas.microsoft.com/office/drawing/2014/main" id="{3BAD9EA3-7A5C-4D0D-A95D-B48BD56C6FB6}"/>
              </a:ext>
            </a:extLst>
          </p:cNvPr>
          <p:cNvSpPr>
            <a:spLocks noGrp="1"/>
          </p:cNvSpPr>
          <p:nvPr/>
        </p:nvSpPr>
        <p:spPr>
          <a:xfrm>
            <a:off x="2569551" y="3366922"/>
            <a:ext cx="4362450" cy="361950"/>
          </a:xfrm>
          <a:prstGeom prst="rect">
            <a:avLst/>
          </a:prstGeom>
          <a:noFill/>
          <a:ln w="0">
            <a:noFill/>
          </a:ln>
        </p:spPr>
        <p:txBody>
          <a:bodyPr lIns="28575" tIns="9525" rIns="28575" bIns="9525"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If checks fail: revise candidate TB and rerun</a:t>
            </a:r>
          </a:p>
        </p:txBody>
      </p:sp>
      <p:sp>
        <p:nvSpPr>
          <p:cNvPr id="5" name="TextBox 4">
            <a:extLst>
              <a:ext uri="{FF2B5EF4-FFF2-40B4-BE49-F238E27FC236}">
                <a16:creationId xmlns:a16="http://schemas.microsoft.com/office/drawing/2014/main" id="{B89BC6D6-A54F-D3BE-29EC-759BD50E75D6}"/>
              </a:ext>
            </a:extLst>
          </p:cNvPr>
          <p:cNvSpPr txBox="1"/>
          <p:nvPr/>
        </p:nvSpPr>
        <p:spPr>
          <a:xfrm>
            <a:off x="1453581" y="4427607"/>
            <a:ext cx="6236838"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000">
                <a:latin typeface="Calibri" panose="020F0502020204030204" pitchFamily="34" charset="0"/>
                <a:ea typeface="Calibri" panose="020F0502020204030204" pitchFamily="34" charset="0"/>
                <a:cs typeface="Calibri" panose="020F0502020204030204" pitchFamily="34" charset="0"/>
              </a:rPr>
              <a:t>Automated Agentic AI flow – the tools are run by agents</a:t>
            </a:r>
          </a:p>
          <a:p>
            <a:pPr algn="ctr"/>
            <a:r>
              <a:rPr lang="en-US" sz="2000">
                <a:latin typeface="Calibri" panose="020F0502020204030204" pitchFamily="34" charset="0"/>
                <a:ea typeface="Calibri" panose="020F0502020204030204" pitchFamily="34" charset="0"/>
                <a:cs typeface="Calibri" panose="020F0502020204030204" pitchFamily="34" charset="0"/>
              </a:rPr>
              <a:t>Human still needs to validate functionality</a:t>
            </a:r>
            <a:endParaRPr lang="en-GB" sz="2000">
              <a:latin typeface="Calibri" panose="020F0502020204030204" pitchFamily="34" charset="0"/>
              <a:ea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2570DAB3-C01E-7E4D-F6AB-A1A792ABF008}"/>
              </a:ext>
            </a:extLst>
          </p:cNvPr>
          <p:cNvCxnSpPr>
            <a:stCxn id="84" idx="2"/>
            <a:endCxn id="82" idx="2"/>
          </p:cNvCxnSpPr>
          <p:nvPr/>
        </p:nvCxnSpPr>
        <p:spPr>
          <a:xfrm rot="5400000">
            <a:off x="4619625" y="1409700"/>
            <a:ext cx="12700" cy="3409950"/>
          </a:xfrm>
          <a:prstGeom prst="bentConnector3">
            <a:avLst>
              <a:gd name="adj1" fmla="val 1800000"/>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5-point Star 7">
            <a:extLst>
              <a:ext uri="{FF2B5EF4-FFF2-40B4-BE49-F238E27FC236}">
                <a16:creationId xmlns:a16="http://schemas.microsoft.com/office/drawing/2014/main" id="{E5099AB3-C9C2-0E61-9CFE-E93AA795A4E6}"/>
              </a:ext>
            </a:extLst>
          </p:cNvPr>
          <p:cNvSpPr/>
          <p:nvPr/>
        </p:nvSpPr>
        <p:spPr>
          <a:xfrm>
            <a:off x="7371625" y="4254055"/>
            <a:ext cx="257900" cy="26138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Tree>
    <p:extLst>
      <p:ext uri="{BB962C8B-B14F-4D97-AF65-F5344CB8AC3E}">
        <p14:creationId xmlns:p14="http://schemas.microsoft.com/office/powerpoint/2010/main" val="2264888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CBF8-8B9E-28C5-7591-64B296714AC6}"/>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2C4A2DC7-D57D-0C13-8F21-A5CE669B6F1F}"/>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F81DCBA-FE5A-2EF6-BAC3-2B6A3DFC1764}"/>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5DF12F0-5EC3-764F-A840-8ADA9C92759C}"/>
              </a:ext>
            </a:extLst>
          </p:cNvPr>
          <p:cNvSpPr>
            <a:spLocks noGrp="1"/>
          </p:cNvSpPr>
          <p:nvPr/>
        </p:nvSpPr>
        <p:spPr>
          <a:xfrm>
            <a:off x="495300" y="257175"/>
            <a:ext cx="7524750" cy="514350"/>
          </a:xfrm>
          <a:prstGeom prst="rect">
            <a:avLst/>
          </a:prstGeom>
          <a:noFill/>
          <a:ln w="0">
            <a:noFill/>
          </a:ln>
        </p:spPr>
        <p:txBody>
          <a:bodyPr lIns="91440" tIns="45720" rIns="91440" bIns="45720"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Task 1.2 – our golden run: the loop</a:t>
            </a:r>
            <a:endParaRPr lang="en-GB" sz="2400">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C09058D0-2942-C9FC-DC04-B0263666E3F2}"/>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485121E-7C7F-357A-FD34-3383B6C943FF}"/>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38</a:t>
            </a:fld>
            <a:endParaRPr sz="750" b="0">
              <a:solidFill>
                <a:srgbClr val="5B6573"/>
              </a:solidFill>
              <a:latin typeface="Calibri"/>
              <a:ea typeface="Calibri"/>
              <a:cs typeface="Calibri"/>
            </a:endParaRPr>
          </a:p>
        </p:txBody>
      </p:sp>
      <p:pic>
        <p:nvPicPr>
          <p:cNvPr id="5" name="Picture 4" descr="Blank screen when I launch the new windows terminal. · Issue #13841 ·  microsoft/terminal">
            <a:extLst>
              <a:ext uri="{FF2B5EF4-FFF2-40B4-BE49-F238E27FC236}">
                <a16:creationId xmlns:a16="http://schemas.microsoft.com/office/drawing/2014/main" id="{62834957-659A-6C2A-6286-EE35155E683F}"/>
              </a:ext>
            </a:extLst>
          </p:cNvPr>
          <p:cNvPicPr>
            <a:picLocks noChangeAspect="1"/>
          </p:cNvPicPr>
          <p:nvPr/>
        </p:nvPicPr>
        <p:blipFill>
          <a:blip r:embed="rId3"/>
          <a:stretch>
            <a:fillRect/>
          </a:stretch>
        </p:blipFill>
        <p:spPr>
          <a:xfrm>
            <a:off x="162791" y="3244334"/>
            <a:ext cx="3827318" cy="1562617"/>
          </a:xfrm>
          <a:prstGeom prst="rect">
            <a:avLst/>
          </a:prstGeom>
        </p:spPr>
      </p:pic>
      <p:sp>
        <p:nvSpPr>
          <p:cNvPr id="6" name="TextBox 5">
            <a:extLst>
              <a:ext uri="{FF2B5EF4-FFF2-40B4-BE49-F238E27FC236}">
                <a16:creationId xmlns:a16="http://schemas.microsoft.com/office/drawing/2014/main" id="{E8CA0D5B-9532-F081-4339-25BD941F1A13}"/>
              </a:ext>
            </a:extLst>
          </p:cNvPr>
          <p:cNvSpPr txBox="1"/>
          <p:nvPr/>
        </p:nvSpPr>
        <p:spPr>
          <a:xfrm>
            <a:off x="-1071099" y="3833852"/>
            <a:ext cx="6137493" cy="369332"/>
          </a:xfrm>
          <a:prstGeom prst="rect">
            <a:avLst/>
          </a:prstGeom>
          <a:noFill/>
        </p:spPr>
        <p:txBody>
          <a:bodyPr wrap="square" rtlCol="0">
            <a:spAutoFit/>
          </a:bodyPr>
          <a:lstStyle/>
          <a:p>
            <a:pPr algn="ctr"/>
            <a:r>
              <a:rPr lang="en-GB">
                <a:solidFill>
                  <a:schemeClr val="bg1"/>
                </a:solidFill>
                <a:latin typeface="Times New Roman" panose="02020603050405020304" pitchFamily="18" charset="0"/>
                <a:cs typeface="Times New Roman" panose="02020603050405020304" pitchFamily="18" charset="0"/>
              </a:rPr>
              <a:t>python3 </a:t>
            </a:r>
            <a:r>
              <a:rPr lang="en-GB" err="1">
                <a:solidFill>
                  <a:schemeClr val="bg1"/>
                </a:solidFill>
                <a:latin typeface="Times New Roman" panose="02020603050405020304" pitchFamily="18" charset="0"/>
                <a:cs typeface="Times New Roman" panose="02020603050405020304" pitchFamily="18" charset="0"/>
              </a:rPr>
              <a:t>iterative.py</a:t>
            </a:r>
            <a:r>
              <a:rPr lang="en-GB">
                <a:solidFill>
                  <a:schemeClr val="bg1"/>
                </a:solidFill>
                <a:latin typeface="Times New Roman" panose="02020603050405020304" pitchFamily="18" charset="0"/>
                <a:cs typeface="Times New Roman" panose="02020603050405020304" pitchFamily="18" charset="0"/>
              </a:rPr>
              <a:t> enc_bin2gray</a:t>
            </a:r>
            <a:endParaRPr lang="en-GR">
              <a:solidFill>
                <a:schemeClr val="bg1"/>
              </a:solidFill>
              <a:latin typeface="Times New Roman" panose="02020603050405020304" pitchFamily="18" charset="0"/>
              <a:cs typeface="Times New Roman" panose="02020603050405020304" pitchFamily="18" charset="0"/>
            </a:endParaRPr>
          </a:p>
        </p:txBody>
      </p:sp>
      <p:sp>
        <p:nvSpPr>
          <p:cNvPr id="7" name="decomposition arrow">
            <a:extLst>
              <a:ext uri="{FF2B5EF4-FFF2-40B4-BE49-F238E27FC236}">
                <a16:creationId xmlns:a16="http://schemas.microsoft.com/office/drawing/2014/main" id="{99608DE0-68D9-2960-3E0F-A43513839EA1}"/>
              </a:ext>
            </a:extLst>
          </p:cNvPr>
          <p:cNvSpPr>
            <a:spLocks noGrp="1"/>
          </p:cNvSpPr>
          <p:nvPr/>
        </p:nvSpPr>
        <p:spPr>
          <a:xfrm rot="16200000">
            <a:off x="4320911" y="3794114"/>
            <a:ext cx="210807" cy="538722"/>
          </a:xfrm>
          <a:prstGeom prst="downArrow">
            <a:avLst/>
          </a:prstGeom>
          <a:solidFill>
            <a:srgbClr val="4F81BD"/>
          </a:solidFill>
          <a:ln w="0">
            <a:noFill/>
          </a:ln>
        </p:spPr>
        <p:txBody>
          <a:bodyPr/>
          <a:lstStyle/>
          <a:p>
            <a:endParaRPr lang="en-GR"/>
          </a:p>
        </p:txBody>
      </p:sp>
      <p:sp>
        <p:nvSpPr>
          <p:cNvPr id="8" name="decomposition: Validation gate: artifact + status +">
            <a:extLst>
              <a:ext uri="{FF2B5EF4-FFF2-40B4-BE49-F238E27FC236}">
                <a16:creationId xmlns:a16="http://schemas.microsoft.com/office/drawing/2014/main" id="{9FC88143-7E59-1C35-0CBC-E4BF6756BA96}"/>
              </a:ext>
            </a:extLst>
          </p:cNvPr>
          <p:cNvSpPr>
            <a:spLocks noGrp="1"/>
          </p:cNvSpPr>
          <p:nvPr/>
        </p:nvSpPr>
        <p:spPr>
          <a:xfrm>
            <a:off x="5670880" y="2368244"/>
            <a:ext cx="2099919" cy="503800"/>
          </a:xfrm>
          <a:prstGeom prst="roundRect">
            <a:avLst>
              <a:gd name="adj" fmla="val 16129"/>
            </a:avLst>
          </a:prstGeom>
          <a:ln/>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anchor="ctr">
            <a:normAutofit/>
          </a:bodyPr>
          <a:lstStyle/>
          <a:p>
            <a:pPr algn="ctr">
              <a:defRPr sz="1350" b="1">
                <a:solidFill>
                  <a:srgbClr val="17365D"/>
                </a:solidFill>
                <a:latin typeface="Calibri"/>
                <a:ea typeface="Calibri"/>
                <a:cs typeface="Calibri"/>
              </a:defRPr>
            </a:pPr>
            <a:r>
              <a:rPr lang="en-US" sz="1350" b="1">
                <a:solidFill>
                  <a:schemeClr val="bg1"/>
                </a:solidFill>
                <a:latin typeface="Calibri"/>
                <a:ea typeface="Calibri"/>
                <a:cs typeface="Calibri"/>
              </a:rPr>
              <a:t>Expected Outcome</a:t>
            </a:r>
            <a:endParaRPr sz="1350" b="1">
              <a:solidFill>
                <a:schemeClr val="bg1"/>
              </a:solidFill>
              <a:latin typeface="Calibri"/>
              <a:ea typeface="Calibri"/>
              <a:cs typeface="Calibri"/>
            </a:endParaRPr>
          </a:p>
        </p:txBody>
      </p:sp>
      <p:sp>
        <p:nvSpPr>
          <p:cNvPr id="11" name="Rounded Rectangle 10">
            <a:extLst>
              <a:ext uri="{FF2B5EF4-FFF2-40B4-BE49-F238E27FC236}">
                <a16:creationId xmlns:a16="http://schemas.microsoft.com/office/drawing/2014/main" id="{D6339F6E-42D6-E4CE-6508-59F604C50F8A}"/>
              </a:ext>
            </a:extLst>
          </p:cNvPr>
          <p:cNvSpPr>
            <a:spLocks noGrp="1"/>
          </p:cNvSpPr>
          <p:nvPr/>
        </p:nvSpPr>
        <p:spPr>
          <a:xfrm>
            <a:off x="770769" y="906718"/>
            <a:ext cx="7849813" cy="1060450"/>
          </a:xfrm>
          <a:prstGeom prst="roundRect">
            <a:avLst>
              <a:gd name="adj" fmla="val 7767"/>
            </a:avLst>
          </a:prstGeom>
          <a:solidFill>
            <a:srgbClr val="0E2745"/>
          </a:solidFill>
          <a:ln w="0">
            <a:noFill/>
          </a:ln>
        </p:spPr>
        <p:txBody>
          <a:bodyPr/>
          <a:lstStyle/>
          <a:p>
            <a:endParaRPr lang="en-GR">
              <a:solidFill>
                <a:schemeClr val="accent4"/>
              </a:solidFill>
            </a:endParaRPr>
          </a:p>
        </p:txBody>
      </p:sp>
      <p:sp>
        <p:nvSpPr>
          <p:cNvPr id="13" name="Rectangle 12">
            <a:extLst>
              <a:ext uri="{FF2B5EF4-FFF2-40B4-BE49-F238E27FC236}">
                <a16:creationId xmlns:a16="http://schemas.microsoft.com/office/drawing/2014/main" id="{36F82C62-6799-2383-FA33-CB845E9646C5}"/>
              </a:ext>
            </a:extLst>
          </p:cNvPr>
          <p:cNvSpPr>
            <a:spLocks noGrp="1"/>
          </p:cNvSpPr>
          <p:nvPr/>
        </p:nvSpPr>
        <p:spPr>
          <a:xfrm>
            <a:off x="167446" y="1155004"/>
            <a:ext cx="9046298" cy="829311"/>
          </a:xfrm>
          <a:prstGeom prst="rect">
            <a:avLst/>
          </a:prstGeom>
          <a:noFill/>
          <a:ln w="0">
            <a:noFill/>
          </a:ln>
        </p:spPr>
        <p:txBody>
          <a:bodyPr lIns="91440" tIns="45720" rIns="91440" bIns="45720" anchor="ctr">
            <a:normAutofit fontScale="82348" lnSpcReduction="20000"/>
          </a:bodyPr>
          <a:lstStyle/>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Now the agent loops: the tool results go back to it</a:t>
            </a:r>
          </a:p>
          <a:p>
            <a:pPr algn="ctr">
              <a:defRPr sz="1650" b="1">
                <a:solidFill>
                  <a:srgbClr val="FFFFFF"/>
                </a:solidFill>
                <a:latin typeface="Calibri"/>
                <a:ea typeface="Calibri"/>
                <a:cs typeface="Calibri"/>
              </a:defRPr>
            </a:pPr>
            <a:r>
              <a:rPr lang="en-US" sz="1650">
                <a:solidFill>
                  <a:srgbClr val="FFFFFF"/>
                </a:solidFill>
                <a:latin typeface="Arial Nova" panose="020B0304020202020204" pitchFamily="34" charset="0"/>
                <a:ea typeface="Calibri"/>
                <a:cs typeface="Times New Roman" panose="02020603050405020304" pitchFamily="18" charset="0"/>
              </a:rPr>
              <a:t>It corrects its own testbench, up to 10 iterations</a:t>
            </a:r>
          </a:p>
          <a:p>
            <a:pPr algn="ctr">
              <a:defRPr sz="1650" b="1">
                <a:solidFill>
                  <a:srgbClr val="FFFFFF"/>
                </a:solidFill>
                <a:latin typeface="Calibri"/>
                <a:ea typeface="Calibri"/>
                <a:cs typeface="Calibri"/>
              </a:defRPr>
            </a:pPr>
            <a:r>
              <a:rPr lang="en-US" sz="1650">
                <a:solidFill>
                  <a:srgbClr val="FFFFFF"/>
                </a:solidFill>
                <a:latin typeface="Arial Nova"/>
                <a:ea typeface="Calibri"/>
                <a:cs typeface="Times New Roman"/>
              </a:rPr>
              <a:t>Just write </a:t>
            </a:r>
            <a:r>
              <a:rPr lang="en-US" sz="1650">
                <a:solidFill>
                  <a:srgbClr val="FFC000"/>
                </a:solidFill>
                <a:latin typeface="Arial Nova"/>
                <a:ea typeface="Calibri"/>
                <a:cs typeface="Times New Roman"/>
              </a:rPr>
              <a:t>python3 iterative.py &lt;design&gt;</a:t>
            </a:r>
          </a:p>
          <a:p>
            <a:pPr algn="ctr">
              <a:defRPr sz="1650" b="1">
                <a:solidFill>
                  <a:srgbClr val="FFFFFF"/>
                </a:solidFill>
                <a:latin typeface="Calibri"/>
                <a:ea typeface="Calibri"/>
                <a:cs typeface="Calibri"/>
              </a:defRPr>
            </a:pPr>
            <a:r>
              <a:rPr lang="en-US" sz="1650">
                <a:solidFill>
                  <a:schemeClr val="bg1"/>
                </a:solidFill>
                <a:latin typeface="Arial Nova"/>
                <a:ea typeface="Calibri"/>
                <a:cs typeface="Times New Roman"/>
              </a:rPr>
              <a:t>Inside the </a:t>
            </a:r>
            <a:r>
              <a:rPr lang="en-US" sz="1650">
                <a:solidFill>
                  <a:srgbClr val="FFC000"/>
                </a:solidFill>
                <a:latin typeface="Courier New"/>
                <a:ea typeface="Calibri"/>
                <a:cs typeface="Courier New"/>
              </a:rPr>
              <a:t>scripts/part1/</a:t>
            </a:r>
            <a:r>
              <a:rPr lang="en-US" sz="1650" err="1">
                <a:solidFill>
                  <a:srgbClr val="FFC000"/>
                </a:solidFill>
                <a:latin typeface="Courier New"/>
                <a:ea typeface="Calibri"/>
                <a:cs typeface="Courier New"/>
              </a:rPr>
              <a:t>google_verification</a:t>
            </a:r>
            <a:r>
              <a:rPr lang="en-US" sz="1650">
                <a:solidFill>
                  <a:srgbClr val="FFC000"/>
                </a:solidFill>
                <a:latin typeface="Courier New"/>
                <a:ea typeface="Calibri"/>
                <a:cs typeface="Courier New"/>
              </a:rPr>
              <a:t> directory</a:t>
            </a:r>
          </a:p>
          <a:p>
            <a:pPr algn="ctr">
              <a:defRPr sz="1650" b="1">
                <a:solidFill>
                  <a:srgbClr val="FFFFFF"/>
                </a:solidFill>
                <a:latin typeface="Calibri"/>
                <a:ea typeface="Calibri"/>
                <a:cs typeface="Calibri"/>
              </a:defRPr>
            </a:pPr>
            <a:endParaRPr lang="en-US" sz="1650">
              <a:solidFill>
                <a:srgbClr val="FFFFFF"/>
              </a:solidFill>
              <a:latin typeface="Arial Nova" panose="020B0304020202020204" pitchFamily="34" charset="0"/>
              <a:ea typeface="Calibri"/>
              <a:cs typeface="Times New Roman" panose="02020603050405020304" pitchFamily="18" charset="0"/>
            </a:endParaRPr>
          </a:p>
        </p:txBody>
      </p:sp>
      <p:sp>
        <p:nvSpPr>
          <p:cNvPr id="1229" name="terminal 1229">
            <a:extLst>
              <a:ext uri="{FF2B5EF4-FFF2-40B4-BE49-F238E27FC236}">
                <a16:creationId xmlns:a16="http://schemas.microsoft.com/office/drawing/2014/main" id="{4CFE6061-3364-1981-A749-B137234EC4CD}"/>
              </a:ext>
            </a:extLst>
          </p:cNvPr>
          <p:cNvSpPr/>
          <p:nvPr/>
        </p:nvSpPr>
        <p:spPr>
          <a:xfrm>
            <a:off x="4663440" y="3017520"/>
            <a:ext cx="4114800" cy="173736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 Iteration 1/10 ========</a:t>
            </a:r>
          </a:p>
          <a:p>
            <a:pPr algn="l">
              <a:lnSpc>
                <a:spcPct val="100000"/>
              </a:lnSpc>
              <a:spcBef>
                <a:spcPts val="0"/>
              </a:spcBef>
              <a:spcAft>
                <a:spcPts val="0"/>
              </a:spcAft>
              <a:buNone/>
            </a:pPr>
            <a:r>
              <a:rPr lang="en-US" sz="900" b="0" i="0">
                <a:solidFill>
                  <a:srgbClr val="FFFFFF"/>
                </a:solidFill>
                <a:latin typeface="Courier New"/>
                <a:ea typeface="Courier New"/>
                <a:cs typeface="Courier New"/>
              </a:rPr>
              <a:t>Outcome:         4 mutant(s) passed.</a:t>
            </a:r>
          </a:p>
          <a:p>
            <a:pPr algn="l">
              <a:lnSpc>
                <a:spcPct val="100000"/>
              </a:lnSpc>
              <a:spcBef>
                <a:spcPts val="0"/>
              </a:spcBef>
              <a:spcAft>
                <a:spcPts val="0"/>
              </a:spcAft>
              <a:buNone/>
            </a:pPr>
            <a:r>
              <a:rPr lang="en-US" sz="900" b="0" i="0">
                <a:solidFill>
                  <a:srgbClr val="FFFFFF"/>
                </a:solidFill>
                <a:latin typeface="Courier New"/>
                <a:ea typeface="Courier New"/>
                <a:cs typeface="Courier New"/>
              </a:rPr>
              <a:t>======== Iteration 2/10 ========</a:t>
            </a:r>
          </a:p>
          <a:p>
            <a:pPr algn="l">
              <a:lnSpc>
                <a:spcPct val="100000"/>
              </a:lnSpc>
              <a:spcBef>
                <a:spcPts val="0"/>
              </a:spcBef>
              <a:spcAft>
                <a:spcPts val="0"/>
              </a:spcAft>
              <a:buNone/>
            </a:pPr>
            <a:r>
              <a:rPr lang="en-US" sz="900" b="0" i="0">
                <a:solidFill>
                  <a:srgbClr val="FFFFFF"/>
                </a:solidFill>
                <a:latin typeface="Courier New"/>
                <a:ea typeface="Courier New"/>
                <a:cs typeface="Courier New"/>
              </a:rPr>
              <a:t>Outcome:         1 mutant(s) passed.</a:t>
            </a:r>
          </a:p>
          <a:p>
            <a:pPr algn="l">
              <a:lnSpc>
                <a:spcPct val="100000"/>
              </a:lnSpc>
              <a:spcBef>
                <a:spcPts val="0"/>
              </a:spcBef>
              <a:spcAft>
                <a:spcPts val="0"/>
              </a:spcAft>
              <a:buNone/>
            </a:pPr>
            <a:r>
              <a:rPr lang="en-US" sz="900" b="0" i="0">
                <a:solidFill>
                  <a:srgbClr val="FFFFFF"/>
                </a:solidFill>
                <a:latin typeface="Courier New"/>
                <a:ea typeface="Courier New"/>
                <a:cs typeface="Courier New"/>
              </a:rPr>
              <a:t>SUCCESS! Exactly 1 mutant isolated</a:t>
            </a:r>
          </a:p>
          <a:p>
            <a:pPr algn="l">
              <a:lnSpc>
                <a:spcPct val="100000"/>
              </a:lnSpc>
              <a:spcBef>
                <a:spcPts val="0"/>
              </a:spcBef>
              <a:spcAft>
                <a:spcPts val="0"/>
              </a:spcAft>
              <a:buNone/>
            </a:pPr>
            <a:r>
              <a:rPr lang="en-US" sz="900" b="0" i="0">
                <a:solidFill>
                  <a:srgbClr val="FFFFFF"/>
                </a:solidFill>
                <a:latin typeface="Courier New"/>
                <a:ea typeface="Courier New"/>
                <a:cs typeface="Courier New"/>
              </a:rPr>
              <a:t>in 2 iteration(s).</a:t>
            </a:r>
          </a:p>
          <a:p>
            <a:pPr algn="l">
              <a:lnSpc>
                <a:spcPct val="100000"/>
              </a:lnSpc>
              <a:spcBef>
                <a:spcPts val="0"/>
              </a:spcBef>
              <a:spcAft>
                <a:spcPts val="0"/>
              </a:spcAft>
              <a:buNone/>
            </a:pPr>
            <a:r>
              <a:rPr lang="en-US" sz="900" b="0" i="0">
                <a:solidFill>
                  <a:srgbClr val="FFFFFF"/>
                </a:solidFill>
                <a:latin typeface="Courier New"/>
                <a:ea typeface="Courier New"/>
                <a:cs typeface="Courier New"/>
              </a:rPr>
              <a:t>==== CUMULATIVE ITERATIVE RUN SUMMARY ====</a:t>
            </a:r>
          </a:p>
          <a:p>
            <a:pPr algn="l">
              <a:lnSpc>
                <a:spcPct val="100000"/>
              </a:lnSpc>
              <a:spcBef>
                <a:spcPts val="0"/>
              </a:spcBef>
              <a:spcAft>
                <a:spcPts val="0"/>
              </a:spcAft>
              <a:buNone/>
            </a:pPr>
            <a:r>
              <a:rPr lang="en-US" sz="900" b="0" i="0">
                <a:solidFill>
                  <a:srgbClr val="FFFFFF"/>
                </a:solidFill>
                <a:latin typeface="Courier New"/>
                <a:ea typeface="Courier New"/>
                <a:cs typeface="Courier New"/>
              </a:rPr>
              <a:t>Target Design:    enc_bin2gray</a:t>
            </a:r>
          </a:p>
        </p:txBody>
      </p:sp>
      <p:sp>
        <p:nvSpPr>
          <p:cNvPr id="1230" name="text 1230">
            <a:extLst>
              <a:ext uri="{FF2B5EF4-FFF2-40B4-BE49-F238E27FC236}">
                <a16:creationId xmlns:a16="http://schemas.microsoft.com/office/drawing/2014/main" id="{0A574FCD-84BB-6812-6FBF-40C87AFE64CF}"/>
              </a:ext>
            </a:extLst>
          </p:cNvPr>
          <p:cNvSpPr txBox="1"/>
          <p:nvPr/>
        </p:nvSpPr>
        <p:spPr>
          <a:xfrm>
            <a:off x="4663440" y="4800600"/>
            <a:ext cx="4114800" cy="228600"/>
          </a:xfrm>
          <a:prstGeom prst="rect">
            <a:avLst/>
          </a:prstGeom>
          <a:noFill/>
          <a:ln>
            <a:noFill/>
          </a:ln>
        </p:spPr>
        <p:txBody>
          <a:bodyPr wrap="square" lIns="18288" tIns="18288" rIns="18288" bIns="18288" anchor="t">
            <a:noAutofit/>
          </a:bodyPr>
          <a:lstStyle/>
          <a:p>
            <a:pPr algn="r">
              <a:spcBef>
                <a:spcPts val="0"/>
              </a:spcBef>
              <a:spcAft>
                <a:spcPts val="0"/>
              </a:spcAft>
              <a:buNone/>
            </a:pPr>
            <a:r>
              <a:rPr lang="en-US" sz="850" b="0" i="1">
                <a:solidFill>
                  <a:srgbClr val="5D6C7B"/>
                </a:solidFill>
                <a:latin typeface="Calibri"/>
                <a:ea typeface="Calibri"/>
                <a:cs typeface="Calibri"/>
              </a:rPr>
              <a:t>illustrative output – your numbers will differ</a:t>
            </a:r>
          </a:p>
        </p:txBody>
      </p:sp>
      <p:sp>
        <p:nvSpPr>
          <p:cNvPr id="1231" name="shape 1231">
            <a:extLst>
              <a:ext uri="{FF2B5EF4-FFF2-40B4-BE49-F238E27FC236}">
                <a16:creationId xmlns:a16="http://schemas.microsoft.com/office/drawing/2014/main" id="{D3F61AB7-9B29-2480-D19E-EDF6B8B6E314}"/>
              </a:ext>
            </a:extLst>
          </p:cNvPr>
          <p:cNvSpPr/>
          <p:nvPr/>
        </p:nvSpPr>
        <p:spPr>
          <a:xfrm>
            <a:off x="27432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2E7D4F"/>
                </a:solidFill>
                <a:latin typeface="Calibri"/>
                <a:ea typeface="Calibri"/>
                <a:cs typeface="Calibri"/>
              </a:rPr>
              <a:t>Mutants passed = 1  </a:t>
            </a:r>
            <a:r>
              <a:rPr lang="en-US" sz="950" b="0" i="0">
                <a:solidFill>
                  <a:srgbClr val="0E2745"/>
                </a:solidFill>
                <a:latin typeface="Calibri"/>
                <a:ea typeface="Calibri"/>
                <a:cs typeface="Calibri"/>
              </a:rPr>
              <a:t>the TB isolates the correct RTL</a:t>
            </a:r>
          </a:p>
        </p:txBody>
      </p:sp>
      <p:sp>
        <p:nvSpPr>
          <p:cNvPr id="1232" name="shape 1232">
            <a:extLst>
              <a:ext uri="{FF2B5EF4-FFF2-40B4-BE49-F238E27FC236}">
                <a16:creationId xmlns:a16="http://schemas.microsoft.com/office/drawing/2014/main" id="{1B376489-37A8-691F-E521-CAC802DB351B}"/>
              </a:ext>
            </a:extLst>
          </p:cNvPr>
          <p:cNvSpPr/>
          <p:nvPr/>
        </p:nvSpPr>
        <p:spPr>
          <a:xfrm>
            <a:off x="310896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C27C0E"/>
                </a:solidFill>
                <a:latin typeface="Calibri"/>
                <a:ea typeface="Calibri"/>
                <a:cs typeface="Calibri"/>
              </a:rPr>
              <a:t>Mutants passed &gt; 1  </a:t>
            </a:r>
            <a:r>
              <a:rPr lang="en-US" sz="950" b="0" i="0">
                <a:solidFill>
                  <a:srgbClr val="0E2745"/>
                </a:solidFill>
                <a:latin typeface="Calibri"/>
                <a:ea typeface="Calibri"/>
                <a:cs typeface="Calibri"/>
              </a:rPr>
              <a:t>too weak: add checks</a:t>
            </a:r>
          </a:p>
        </p:txBody>
      </p:sp>
      <p:sp>
        <p:nvSpPr>
          <p:cNvPr id="1233" name="shape 1233">
            <a:extLst>
              <a:ext uri="{FF2B5EF4-FFF2-40B4-BE49-F238E27FC236}">
                <a16:creationId xmlns:a16="http://schemas.microsoft.com/office/drawing/2014/main" id="{1E6018C1-7A0B-7494-5721-3C68F2BC8CCD}"/>
              </a:ext>
            </a:extLst>
          </p:cNvPr>
          <p:cNvSpPr/>
          <p:nvPr/>
        </p:nvSpPr>
        <p:spPr>
          <a:xfrm>
            <a:off x="5943600" y="5715000"/>
            <a:ext cx="2697480" cy="548640"/>
          </a:xfrm>
          <a:prstGeom prst="roundRect">
            <a:avLst>
              <a:gd name="adj" fmla="val 12000"/>
            </a:avLst>
          </a:prstGeom>
          <a:solidFill>
            <a:srgbClr val="F3F6FA"/>
          </a:solidFill>
          <a:ln>
            <a:noFill/>
          </a:ln>
        </p:spPr>
        <p:txBody>
          <a:bodyPr wrap="square" lIns="45720" tIns="45720" rIns="45720" bIns="45720" anchor="ctr">
            <a:noAutofit/>
          </a:bodyPr>
          <a:lstStyle/>
          <a:p>
            <a:pPr algn="ctr">
              <a:spcBef>
                <a:spcPts val="0"/>
              </a:spcBef>
              <a:spcAft>
                <a:spcPts val="0"/>
              </a:spcAft>
              <a:buNone/>
            </a:pPr>
            <a:r>
              <a:rPr lang="en-US" sz="1000" b="1" i="0">
                <a:solidFill>
                  <a:srgbClr val="B91F2D"/>
                </a:solidFill>
                <a:latin typeface="Calibri"/>
                <a:ea typeface="Calibri"/>
                <a:cs typeface="Calibri"/>
              </a:rPr>
              <a:t>Mutants passed = 0  </a:t>
            </a:r>
            <a:r>
              <a:rPr lang="en-US" sz="950" b="0" i="0">
                <a:solidFill>
                  <a:srgbClr val="0E2745"/>
                </a:solidFill>
                <a:latin typeface="Calibri"/>
                <a:ea typeface="Calibri"/>
                <a:cs typeface="Calibri"/>
              </a:rPr>
              <a:t>wrong or too strict</a:t>
            </a:r>
          </a:p>
        </p:txBody>
      </p:sp>
    </p:spTree>
    <p:extLst>
      <p:ext uri="{BB962C8B-B14F-4D97-AF65-F5344CB8AC3E}">
        <p14:creationId xmlns:p14="http://schemas.microsoft.com/office/powerpoint/2010/main" val="4224882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1.2 – your turn: fill the prompt, run both</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39</a:t>
            </a:fld>
            <a:endParaRPr sz="750" b="0">
              <a:solidFill>
                <a:srgbClr val="5B6573"/>
              </a:solidFill>
              <a:latin typeface="Calibri"/>
              <a:ea typeface="Calibri"/>
              <a:cs typeface="Calibri"/>
            </a:endParaRPr>
          </a:p>
        </p:txBody>
      </p:sp>
      <p:sp>
        <p:nvSpPr>
          <p:cNvPr id="1386" name="step row 1386"/>
          <p:cNvSpPr/>
          <p:nvPr/>
        </p:nvSpPr>
        <p:spPr>
          <a:xfrm>
            <a:off x="457200" y="1024128"/>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87" name="shape 1387"/>
          <p:cNvSpPr/>
          <p:nvPr/>
        </p:nvSpPr>
        <p:spPr>
          <a:xfrm>
            <a:off x="566928" y="1170432"/>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388" name="step text 1388"/>
          <p:cNvSpPr txBox="1"/>
          <p:nvPr/>
        </p:nvSpPr>
        <p:spPr>
          <a:xfrm>
            <a:off x="1078992" y="1060704"/>
            <a:ext cx="310896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exercise</a:t>
            </a:r>
          </a:p>
          <a:p>
            <a:pPr algn="l">
              <a:spcBef>
                <a:spcPts val="0"/>
              </a:spcBef>
              <a:spcAft>
                <a:spcPts val="0"/>
              </a:spcAft>
              <a:buNone/>
            </a:pPr>
            <a:r>
              <a:rPr lang="en-US" sz="950" b="0" i="0">
                <a:solidFill>
                  <a:srgbClr val="5D6C7B"/>
                </a:solidFill>
                <a:latin typeface="Calibri"/>
                <a:ea typeface="Calibri"/>
                <a:cs typeface="Calibri"/>
              </a:rPr>
              <a:t>inside the container. enc_bin2gray holds specification.md and 31 files mutant_*.v: only ONE is correct</a:t>
            </a:r>
          </a:p>
        </p:txBody>
      </p:sp>
      <p:sp>
        <p:nvSpPr>
          <p:cNvPr id="1389" name="terminal 1389"/>
          <p:cNvSpPr/>
          <p:nvPr/>
        </p:nvSpPr>
        <p:spPr>
          <a:xfrm>
            <a:off x="4251960" y="1088136"/>
            <a:ext cx="434340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/home/scripts/part1/google_verification/problem</a:t>
            </a:r>
          </a:p>
          <a:p>
            <a:pPr algn="l">
              <a:lnSpc>
                <a:spcPct val="100000"/>
              </a:lnSpc>
              <a:spcBef>
                <a:spcPts val="0"/>
              </a:spcBef>
              <a:spcAft>
                <a:spcPts val="0"/>
              </a:spcAft>
              <a:buNone/>
            </a:pPr>
            <a:r>
              <a:rPr lang="en-US" sz="950" b="0" i="0">
                <a:solidFill>
                  <a:srgbClr val="FFFFFF"/>
                </a:solidFill>
                <a:latin typeface="Courier New"/>
                <a:ea typeface="Courier New"/>
                <a:cs typeface="Courier New"/>
              </a:rPr>
              <a:t>ls enc_bin2gray</a:t>
            </a:r>
          </a:p>
        </p:txBody>
      </p:sp>
      <p:sp>
        <p:nvSpPr>
          <p:cNvPr id="1390" name="step row 1390"/>
          <p:cNvSpPr/>
          <p:nvPr/>
        </p:nvSpPr>
        <p:spPr>
          <a:xfrm>
            <a:off x="457200" y="1810512"/>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91" name="shape 1391"/>
          <p:cNvSpPr/>
          <p:nvPr/>
        </p:nvSpPr>
        <p:spPr>
          <a:xfrm>
            <a:off x="566928" y="1956815"/>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392" name="step text 1392"/>
          <p:cNvSpPr txBox="1"/>
          <p:nvPr/>
        </p:nvSpPr>
        <p:spPr>
          <a:xfrm>
            <a:off x="1078992" y="1847088"/>
            <a:ext cx="749808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Fill the blanks in the prompt</a:t>
            </a:r>
          </a:p>
          <a:p>
            <a:pPr algn="l">
              <a:spcBef>
                <a:spcPts val="0"/>
              </a:spcBef>
              <a:spcAft>
                <a:spcPts val="0"/>
              </a:spcAft>
              <a:buNone/>
            </a:pPr>
            <a:r>
              <a:rPr lang="en-US" sz="950" b="0" i="0">
                <a:solidFill>
                  <a:srgbClr val="5D6C7B"/>
                </a:solidFill>
                <a:latin typeface="Calibri"/>
                <a:ea typeface="Calibri"/>
                <a:cs typeface="Calibri"/>
              </a:rPr>
              <a:t>on your laptop open scripts/part1/google_verification/problem/Agent.md. Replace every &lt;Fill here&gt;: who the agent is, its objective, what the testbench is used for. Add rules of your own if you want. Save. Golden: ../solution/Agent.md</a:t>
            </a:r>
          </a:p>
        </p:txBody>
      </p:sp>
      <p:sp>
        <p:nvSpPr>
          <p:cNvPr id="1393" name="step row 1393"/>
          <p:cNvSpPr/>
          <p:nvPr/>
        </p:nvSpPr>
        <p:spPr>
          <a:xfrm>
            <a:off x="457200" y="2596896"/>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94" name="shape 1394"/>
          <p:cNvSpPr/>
          <p:nvPr/>
        </p:nvSpPr>
        <p:spPr>
          <a:xfrm>
            <a:off x="566928" y="27431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395" name="step text 1395"/>
          <p:cNvSpPr txBox="1"/>
          <p:nvPr/>
        </p:nvSpPr>
        <p:spPr>
          <a:xfrm>
            <a:off x="1078992" y="2633472"/>
            <a:ext cx="310896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One shot</a:t>
            </a:r>
          </a:p>
          <a:p>
            <a:pPr algn="l">
              <a:spcBef>
                <a:spcPts val="0"/>
              </a:spcBef>
              <a:spcAft>
                <a:spcPts val="0"/>
              </a:spcAft>
              <a:buNone/>
            </a:pPr>
            <a:r>
              <a:rPr lang="en-US" sz="950" b="0" i="0">
                <a:solidFill>
                  <a:srgbClr val="5D6C7B"/>
                </a:solidFill>
                <a:latin typeface="Calibri"/>
                <a:ea typeface="Calibri"/>
                <a:cs typeface="Calibri"/>
              </a:rPr>
              <a:t>the agent writes one testbench. Read  Mutants Passed:  1 = perfect · more than 1 = too weak · 0 = wrong or too strict</a:t>
            </a:r>
          </a:p>
        </p:txBody>
      </p:sp>
      <p:sp>
        <p:nvSpPr>
          <p:cNvPr id="1396" name="terminal 1396"/>
          <p:cNvSpPr/>
          <p:nvPr/>
        </p:nvSpPr>
        <p:spPr>
          <a:xfrm>
            <a:off x="4251960" y="2660903"/>
            <a:ext cx="434340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single_pass.py enc_bin2gray</a:t>
            </a:r>
          </a:p>
        </p:txBody>
      </p:sp>
      <p:sp>
        <p:nvSpPr>
          <p:cNvPr id="1397" name="step row 1397"/>
          <p:cNvSpPr/>
          <p:nvPr/>
        </p:nvSpPr>
        <p:spPr>
          <a:xfrm>
            <a:off x="457200" y="3383279"/>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398" name="shape 1398"/>
          <p:cNvSpPr/>
          <p:nvPr/>
        </p:nvSpPr>
        <p:spPr>
          <a:xfrm>
            <a:off x="566928" y="3529584"/>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399" name="step text 1399"/>
          <p:cNvSpPr txBox="1"/>
          <p:nvPr/>
        </p:nvSpPr>
        <p:spPr>
          <a:xfrm>
            <a:off x="1078992" y="3419856"/>
            <a:ext cx="310896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The agentic loop</a:t>
            </a:r>
          </a:p>
          <a:p>
            <a:pPr algn="l">
              <a:spcBef>
                <a:spcPts val="0"/>
              </a:spcBef>
              <a:spcAft>
                <a:spcPts val="0"/>
              </a:spcAft>
              <a:buNone/>
            </a:pPr>
            <a:r>
              <a:rPr lang="en-US" sz="950" b="0" i="0">
                <a:solidFill>
                  <a:srgbClr val="5D6C7B"/>
                </a:solidFill>
                <a:latin typeface="Calibri"/>
                <a:ea typeface="Calibri"/>
                <a:cs typeface="Calibri"/>
              </a:rPr>
              <a:t>now the tool results go back to the agent, up to 10 times, until exactly 1 mutant passes</a:t>
            </a:r>
          </a:p>
        </p:txBody>
      </p:sp>
      <p:sp>
        <p:nvSpPr>
          <p:cNvPr id="1400" name="terminal 1400"/>
          <p:cNvSpPr/>
          <p:nvPr/>
        </p:nvSpPr>
        <p:spPr>
          <a:xfrm>
            <a:off x="4251960" y="3447287"/>
            <a:ext cx="434340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iterative.py enc_bin2gray</a:t>
            </a:r>
          </a:p>
        </p:txBody>
      </p:sp>
      <p:sp>
        <p:nvSpPr>
          <p:cNvPr id="1401" name="step row 1401"/>
          <p:cNvSpPr/>
          <p:nvPr/>
        </p:nvSpPr>
        <p:spPr>
          <a:xfrm>
            <a:off x="457200" y="4169663"/>
            <a:ext cx="8229600" cy="694944"/>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02" name="shape 1402"/>
          <p:cNvSpPr/>
          <p:nvPr/>
        </p:nvSpPr>
        <p:spPr>
          <a:xfrm>
            <a:off x="566928" y="4315968"/>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03" name="step text 1403"/>
          <p:cNvSpPr txBox="1"/>
          <p:nvPr/>
        </p:nvSpPr>
        <p:spPr>
          <a:xfrm>
            <a:off x="1078992" y="4206240"/>
            <a:ext cx="3108960" cy="621792"/>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it again later?</a:t>
            </a:r>
          </a:p>
          <a:p>
            <a:pPr algn="l">
              <a:spcBef>
                <a:spcPts val="0"/>
              </a:spcBef>
              <a:spcAft>
                <a:spcPts val="0"/>
              </a:spcAft>
              <a:buNone/>
            </a:pPr>
            <a:r>
              <a:rPr lang="en-US" sz="950" b="0" i="0">
                <a:solidFill>
                  <a:srgbClr val="5D6C7B"/>
                </a:solidFill>
                <a:latin typeface="Calibri"/>
                <a:ea typeface="Calibri"/>
                <a:cs typeface="Calibri"/>
              </a:rPr>
              <a:t>the scripts skip a design that already has a golden testbench: --force runs it anyway</a:t>
            </a:r>
          </a:p>
        </p:txBody>
      </p:sp>
      <p:sp>
        <p:nvSpPr>
          <p:cNvPr id="1404" name="terminal 1404"/>
          <p:cNvSpPr/>
          <p:nvPr/>
        </p:nvSpPr>
        <p:spPr>
          <a:xfrm>
            <a:off x="4251960" y="4233672"/>
            <a:ext cx="4343400" cy="566928"/>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single_pass.py enc_bin2gray --force</a:t>
            </a:r>
          </a:p>
        </p:txBody>
      </p:sp>
      <p:sp>
        <p:nvSpPr>
          <p:cNvPr id="1405" name="checkpoint 1405"/>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exactly 1 mutant passes. Then try a harder design: fifo_flops or counter</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Add-in 5">
                <a:extLst>
                  <a:ext uri="{FF2B5EF4-FFF2-40B4-BE49-F238E27FC236}">
                    <a16:creationId xmlns:a16="http://schemas.microsoft.com/office/drawing/2014/main" id="{EAA85D36-B4C1-56EC-0B47-A6946277A68B}"/>
                  </a:ext>
                </a:extLst>
              </p:cNvPr>
              <p:cNvGraphicFramePr>
                <a:graphicFrameLocks noGrp="1"/>
              </p:cNvGraphicFramePr>
              <p:nvPr>
                <p:extLst>
                  <p:ext uri="{D42A27DB-BD31-4B8C-83A1-F6EECF244321}">
                    <p14:modId xmlns:p14="http://schemas.microsoft.com/office/powerpoint/2010/main" val="3951716179"/>
                  </p:ext>
                </p:extLst>
              </p:nvPr>
            </p:nvGraphicFramePr>
            <p:xfrm>
              <a:off x="6895857" y="5711382"/>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Add-in 5">
                <a:extLst>
                  <a:ext uri="{FF2B5EF4-FFF2-40B4-BE49-F238E27FC236}">
                    <a16:creationId xmlns:a16="http://schemas.microsoft.com/office/drawing/2014/main" id="{EAA85D36-B4C1-56EC-0B47-A6946277A68B}"/>
                  </a:ext>
                </a:extLst>
              </p:cNvPr>
              <p:cNvPicPr>
                <a:picLocks noGrp="1" noRot="1" noChangeAspect="1" noMove="1" noResize="1" noEditPoints="1" noAdjustHandles="1" noChangeArrowheads="1" noChangeShapeType="1"/>
              </p:cNvPicPr>
              <p:nvPr/>
            </p:nvPicPr>
            <p:blipFill>
              <a:blip r:embed="rId4"/>
              <a:stretch>
                <a:fillRect/>
              </a:stretch>
            </p:blipFill>
            <p:spPr>
              <a:xfrm>
                <a:off x="6895857" y="5711382"/>
                <a:ext cx="4654855" cy="1936624"/>
              </a:xfrm>
              <a:prstGeom prst="rect">
                <a:avLst/>
              </a:prstGeom>
            </p:spPr>
          </p:pic>
        </mc:Fallback>
      </mc:AlternateContent>
      <p:pic>
        <p:nvPicPr>
          <p:cNvPr id="7" name="Picture 6" descr="Stopwatch on white background">
            <a:extLst>
              <a:ext uri="{FF2B5EF4-FFF2-40B4-BE49-F238E27FC236}">
                <a16:creationId xmlns:a16="http://schemas.microsoft.com/office/drawing/2014/main" id="{008DD56E-41D6-6654-48E9-291A896474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extLst>
      <p:ext uri="{BB962C8B-B14F-4D97-AF65-F5344CB8AC3E}">
        <p14:creationId xmlns:p14="http://schemas.microsoft.com/office/powerpoint/2010/main" val="496440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Stuck? Quick fixes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1</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40</a:t>
            </a:fld>
            <a:endParaRPr sz="750" b="0">
              <a:solidFill>
                <a:srgbClr val="5B6573"/>
              </a:solidFill>
              <a:latin typeface="Calibri"/>
              <a:ea typeface="Calibri"/>
              <a:cs typeface="Calibri"/>
            </a:endParaRPr>
          </a:p>
        </p:txBody>
      </p:sp>
      <p:sp>
        <p:nvSpPr>
          <p:cNvPr id="1406" name="shape 1406"/>
          <p:cNvSpPr/>
          <p:nvPr/>
        </p:nvSpPr>
        <p:spPr>
          <a:xfrm>
            <a:off x="457200" y="1024128"/>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07" name="text 1407"/>
          <p:cNvSpPr txBox="1"/>
          <p:nvPr/>
        </p:nvSpPr>
        <p:spPr>
          <a:xfrm>
            <a:off x="594360" y="1051560"/>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API key … not set</a:t>
            </a:r>
          </a:p>
          <a:p>
            <a:pPr algn="l">
              <a:spcBef>
                <a:spcPts val="0"/>
              </a:spcBef>
              <a:spcAft>
                <a:spcPts val="0"/>
              </a:spcAft>
              <a:buNone/>
            </a:pPr>
            <a:r>
              <a:rPr lang="en-US" sz="880" b="0" i="0">
                <a:solidFill>
                  <a:srgbClr val="5D6C7B"/>
                </a:solidFill>
                <a:latin typeface="Calibri"/>
                <a:ea typeface="Calibri"/>
                <a:cs typeface="Calibri"/>
              </a:rPr>
              <a:t>edit scripts/api_keys.sh on your laptop, then:</a:t>
            </a:r>
          </a:p>
        </p:txBody>
      </p:sp>
      <p:sp>
        <p:nvSpPr>
          <p:cNvPr id="1408" name="terminal 1408"/>
          <p:cNvSpPr/>
          <p:nvPr/>
        </p:nvSpPr>
        <p:spPr>
          <a:xfrm>
            <a:off x="3977639" y="1097280"/>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source /home/scripts/api_keys.sh</a:t>
            </a:r>
          </a:p>
        </p:txBody>
      </p:sp>
      <p:sp>
        <p:nvSpPr>
          <p:cNvPr id="1409" name="shape 1409"/>
          <p:cNvSpPr/>
          <p:nvPr/>
        </p:nvSpPr>
        <p:spPr>
          <a:xfrm>
            <a:off x="457200" y="1691640"/>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10" name="text 1410"/>
          <p:cNvSpPr txBox="1"/>
          <p:nvPr/>
        </p:nvSpPr>
        <p:spPr>
          <a:xfrm>
            <a:off x="594360" y="1719072"/>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503 UNAVAILABLE / model is overloaded</a:t>
            </a:r>
          </a:p>
          <a:p>
            <a:pPr algn="l">
              <a:spcBef>
                <a:spcPts val="0"/>
              </a:spcBef>
              <a:spcAft>
                <a:spcPts val="0"/>
              </a:spcAft>
              <a:buNone/>
            </a:pPr>
            <a:r>
              <a:rPr lang="en-US" sz="880" b="0" i="0">
                <a:solidFill>
                  <a:srgbClr val="5D6C7B"/>
                </a:solidFill>
                <a:latin typeface="Calibri"/>
                <a:ea typeface="Calibri"/>
                <a:cs typeface="Calibri"/>
              </a:rPr>
              <a:t>too many people on the same model: run again, or switch model</a:t>
            </a:r>
          </a:p>
        </p:txBody>
      </p:sp>
      <p:sp>
        <p:nvSpPr>
          <p:cNvPr id="1411" name="terminal 1411"/>
          <p:cNvSpPr/>
          <p:nvPr/>
        </p:nvSpPr>
        <p:spPr>
          <a:xfrm>
            <a:off x="3977639" y="1764792"/>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--profile gemini_lite</a:t>
            </a:r>
          </a:p>
        </p:txBody>
      </p:sp>
      <p:sp>
        <p:nvSpPr>
          <p:cNvPr id="1412" name="shape 1412"/>
          <p:cNvSpPr/>
          <p:nvPr/>
        </p:nvSpPr>
        <p:spPr>
          <a:xfrm>
            <a:off x="457200" y="2359152"/>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13" name="text 1413"/>
          <p:cNvSpPr txBox="1"/>
          <p:nvPr/>
        </p:nvSpPr>
        <p:spPr>
          <a:xfrm>
            <a:off x="594360" y="2386584"/>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Run the script from its own folder</a:t>
            </a:r>
          </a:p>
          <a:p>
            <a:pPr algn="l">
              <a:spcBef>
                <a:spcPts val="0"/>
              </a:spcBef>
              <a:spcAft>
                <a:spcPts val="0"/>
              </a:spcAft>
              <a:buNone/>
            </a:pPr>
            <a:r>
              <a:rPr lang="en-US" sz="880" b="0" i="0">
                <a:solidFill>
                  <a:srgbClr val="5D6C7B"/>
                </a:solidFill>
                <a:latin typeface="Calibri"/>
                <a:ea typeface="Calibri"/>
                <a:cs typeface="Calibri"/>
              </a:rPr>
              <a:t>the flows must be started inside problem/ or solution/</a:t>
            </a:r>
          </a:p>
        </p:txBody>
      </p:sp>
      <p:sp>
        <p:nvSpPr>
          <p:cNvPr id="1414" name="terminal 1414"/>
          <p:cNvSpPr/>
          <p:nvPr/>
        </p:nvSpPr>
        <p:spPr>
          <a:xfrm>
            <a:off x="3977639" y="2432304"/>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/home/scripts/part2/problem</a:t>
            </a:r>
          </a:p>
        </p:txBody>
      </p:sp>
      <p:sp>
        <p:nvSpPr>
          <p:cNvPr id="1415" name="shape 1415"/>
          <p:cNvSpPr/>
          <p:nvPr/>
        </p:nvSpPr>
        <p:spPr>
          <a:xfrm>
            <a:off x="457200" y="3026664"/>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16" name="text 1416"/>
          <p:cNvSpPr txBox="1"/>
          <p:nvPr/>
        </p:nvSpPr>
        <p:spPr>
          <a:xfrm>
            <a:off x="594360" y="3054096"/>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Ollama: connection refused</a:t>
            </a:r>
          </a:p>
          <a:p>
            <a:pPr algn="l">
              <a:spcBef>
                <a:spcPts val="0"/>
              </a:spcBef>
              <a:spcAft>
                <a:spcPts val="0"/>
              </a:spcAft>
              <a:buNone/>
            </a:pPr>
            <a:r>
              <a:rPr lang="en-US" sz="880" b="0" i="0">
                <a:solidFill>
                  <a:srgbClr val="5D6C7B"/>
                </a:solidFill>
                <a:latin typeface="Calibri"/>
                <a:ea typeface="Calibri"/>
                <a:cs typeface="Calibri"/>
              </a:rPr>
              <a:t>start the local model server, then get the model</a:t>
            </a:r>
          </a:p>
        </p:txBody>
      </p:sp>
      <p:sp>
        <p:nvSpPr>
          <p:cNvPr id="1417" name="terminal 1417"/>
          <p:cNvSpPr/>
          <p:nvPr/>
        </p:nvSpPr>
        <p:spPr>
          <a:xfrm>
            <a:off x="3977639" y="3099816"/>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err="1">
                <a:solidFill>
                  <a:srgbClr val="FFFFFF"/>
                </a:solidFill>
                <a:latin typeface="Courier New"/>
                <a:ea typeface="Courier New"/>
                <a:cs typeface="Courier New"/>
              </a:rPr>
              <a:t>ollama</a:t>
            </a:r>
            <a:r>
              <a:rPr lang="en-US" sz="950" b="0" i="0">
                <a:solidFill>
                  <a:srgbClr val="FFFFFF"/>
                </a:solidFill>
                <a:latin typeface="Courier New"/>
                <a:ea typeface="Courier New"/>
                <a:cs typeface="Courier New"/>
              </a:rPr>
              <a:t> serve &gt; /dev/null 2&gt;&amp;1 &amp;</a:t>
            </a:r>
          </a:p>
        </p:txBody>
      </p:sp>
      <p:sp>
        <p:nvSpPr>
          <p:cNvPr id="1418" name="shape 1418"/>
          <p:cNvSpPr/>
          <p:nvPr/>
        </p:nvSpPr>
        <p:spPr>
          <a:xfrm>
            <a:off x="457200" y="3694176"/>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19" name="text 1419"/>
          <p:cNvSpPr txBox="1"/>
          <p:nvPr/>
        </p:nvSpPr>
        <p:spPr>
          <a:xfrm>
            <a:off x="594360" y="3721608"/>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Part 1 Google: nothing happens</a:t>
            </a:r>
          </a:p>
          <a:p>
            <a:pPr algn="l">
              <a:spcBef>
                <a:spcPts val="0"/>
              </a:spcBef>
              <a:spcAft>
                <a:spcPts val="0"/>
              </a:spcAft>
              <a:buNone/>
            </a:pPr>
            <a:r>
              <a:rPr lang="en-US" sz="880" b="0" i="0">
                <a:solidFill>
                  <a:srgbClr val="5D6C7B"/>
                </a:solidFill>
                <a:latin typeface="Calibri"/>
                <a:ea typeface="Calibri"/>
                <a:cs typeface="Calibri"/>
              </a:rPr>
              <a:t>a golden testbench already exists for that design</a:t>
            </a:r>
          </a:p>
        </p:txBody>
      </p:sp>
      <p:sp>
        <p:nvSpPr>
          <p:cNvPr id="1420" name="terminal 1420"/>
          <p:cNvSpPr/>
          <p:nvPr/>
        </p:nvSpPr>
        <p:spPr>
          <a:xfrm>
            <a:off x="3977639" y="3767328"/>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single_pass.py enc_bin2gray --force</a:t>
            </a:r>
          </a:p>
        </p:txBody>
      </p:sp>
      <p:sp>
        <p:nvSpPr>
          <p:cNvPr id="1421" name="shape 1421"/>
          <p:cNvSpPr/>
          <p:nvPr/>
        </p:nvSpPr>
        <p:spPr>
          <a:xfrm>
            <a:off x="457200" y="4361688"/>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22" name="text 1422"/>
          <p:cNvSpPr txBox="1"/>
          <p:nvPr/>
        </p:nvSpPr>
        <p:spPr>
          <a:xfrm>
            <a:off x="594360" y="4389120"/>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A run takes forever</a:t>
            </a:r>
          </a:p>
          <a:p>
            <a:pPr algn="l">
              <a:spcBef>
                <a:spcPts val="0"/>
              </a:spcBef>
              <a:spcAft>
                <a:spcPts val="0"/>
              </a:spcAft>
              <a:buNone/>
            </a:pPr>
            <a:r>
              <a:rPr lang="en-US" sz="880" b="0" i="0">
                <a:solidFill>
                  <a:srgbClr val="5D6C7B"/>
                </a:solidFill>
                <a:latin typeface="Calibri"/>
                <a:ea typeface="Calibri"/>
                <a:cs typeface="Calibri"/>
              </a:rPr>
              <a:t>stop it, pick a quicker design</a:t>
            </a:r>
          </a:p>
        </p:txBody>
      </p:sp>
      <p:sp>
        <p:nvSpPr>
          <p:cNvPr id="1423" name="terminal 1423"/>
          <p:cNvSpPr/>
          <p:nvPr/>
        </p:nvSpPr>
        <p:spPr>
          <a:xfrm>
            <a:off x="3977639" y="4434840"/>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Ctrl+C   then   </a:t>
            </a:r>
            <a:r>
              <a:rPr lang="en-US" sz="950">
                <a:solidFill>
                  <a:srgbClr val="FFFFFF"/>
                </a:solidFill>
                <a:latin typeface="Courier New"/>
                <a:ea typeface="Courier New"/>
                <a:cs typeface="Courier New"/>
              </a:rPr>
              <a:t>try enc_bin2gray</a:t>
            </a:r>
            <a:endParaRPr lang="en-US" sz="950" b="0" i="0">
              <a:solidFill>
                <a:srgbClr val="FFFFFF"/>
              </a:solidFill>
              <a:latin typeface="Courier New"/>
              <a:ea typeface="Courier New"/>
              <a:cs typeface="Courier New"/>
            </a:endParaRPr>
          </a:p>
        </p:txBody>
      </p:sp>
      <p:sp>
        <p:nvSpPr>
          <p:cNvPr id="1424" name="shape 1424"/>
          <p:cNvSpPr/>
          <p:nvPr/>
        </p:nvSpPr>
        <p:spPr>
          <a:xfrm>
            <a:off x="457200" y="5029200"/>
            <a:ext cx="8229600" cy="603504"/>
          </a:xfrm>
          <a:prstGeom prst="roundRect">
            <a:avLst>
              <a:gd name="adj" fmla="val 12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25" name="text 1425"/>
          <p:cNvSpPr txBox="1"/>
          <p:nvPr/>
        </p:nvSpPr>
        <p:spPr>
          <a:xfrm>
            <a:off x="594360" y="5056632"/>
            <a:ext cx="3291840" cy="548640"/>
          </a:xfrm>
          <a:prstGeom prst="rect">
            <a:avLst/>
          </a:prstGeom>
          <a:noFill/>
          <a:ln>
            <a:noFill/>
          </a:ln>
        </p:spPr>
        <p:txBody>
          <a:bodyPr wrap="square" lIns="18288" tIns="18288" rIns="18288" bIns="18288" anchor="ctr">
            <a:noAutofit/>
          </a:bodyPr>
          <a:lstStyle/>
          <a:p>
            <a:pPr algn="l">
              <a:spcBef>
                <a:spcPts val="0"/>
              </a:spcBef>
              <a:spcAft>
                <a:spcPts val="50"/>
              </a:spcAft>
              <a:buNone/>
            </a:pPr>
            <a:r>
              <a:rPr lang="en-US" sz="1050" b="1" i="0">
                <a:solidFill>
                  <a:srgbClr val="B91F2D"/>
                </a:solidFill>
                <a:latin typeface="Calibri"/>
                <a:ea typeface="Calibri"/>
                <a:cs typeface="Calibri"/>
              </a:rPr>
              <a:t>Something else</a:t>
            </a:r>
          </a:p>
          <a:p>
            <a:pPr algn="l">
              <a:spcBef>
                <a:spcPts val="0"/>
              </a:spcBef>
              <a:spcAft>
                <a:spcPts val="0"/>
              </a:spcAft>
              <a:buNone/>
            </a:pPr>
            <a:r>
              <a:rPr lang="en-US" sz="880" b="0" i="0">
                <a:solidFill>
                  <a:srgbClr val="5D6C7B"/>
                </a:solidFill>
                <a:latin typeface="Calibri"/>
                <a:ea typeface="Calibri"/>
                <a:cs typeface="Calibri"/>
              </a:rPr>
              <a:t>check the whole environment in 30 s</a:t>
            </a:r>
          </a:p>
        </p:txBody>
      </p:sp>
      <p:sp>
        <p:nvSpPr>
          <p:cNvPr id="1426" name="terminal 1426"/>
          <p:cNvSpPr/>
          <p:nvPr/>
        </p:nvSpPr>
        <p:spPr>
          <a:xfrm>
            <a:off x="3977639" y="5102352"/>
            <a:ext cx="4617720" cy="45720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/home/scripts/regression/regression.py --quick</a:t>
            </a:r>
          </a:p>
        </p:txBody>
      </p:sp>
      <p:sp>
        <p:nvSpPr>
          <p:cNvPr id="1427" name="text 1427"/>
          <p:cNvSpPr txBox="1"/>
          <p:nvPr/>
        </p:nvSpPr>
        <p:spPr>
          <a:xfrm>
            <a:off x="457200" y="5760720"/>
            <a:ext cx="8229600" cy="457200"/>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Still stuck? Raise your hand – or pair up with your neighbour and keep following.</a:t>
            </a:r>
          </a:p>
        </p:txBody>
      </p:sp>
    </p:spTree>
    <p:extLst>
      <p:ext uri="{BB962C8B-B14F-4D97-AF65-F5344CB8AC3E}">
        <p14:creationId xmlns:p14="http://schemas.microsoft.com/office/powerpoint/2010/main" val="496440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a:extLst>
            <a:ext uri="{FF2B5EF4-FFF2-40B4-BE49-F238E27FC236}">
              <a16:creationId xmlns:a16="http://schemas.microsoft.com/office/drawing/2014/main" id="{9C5DD81F-3049-08C2-870F-B616D3F9F4F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112028E-1421-7CFB-7BBB-5A0C0E5D6D2F}"/>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580E6B80-FAA2-8DF2-266A-9DBEBB0DF26C}"/>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559178CA-BB0E-A3A7-D9BE-38944DA5F0B0}"/>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Part 2</a:t>
            </a:r>
            <a:endParaRPr sz="2325" b="1">
              <a:solidFill>
                <a:srgbClr val="FFFFFF"/>
              </a:solidFill>
              <a:latin typeface="Calibri"/>
              <a:ea typeface="Calibri"/>
              <a:cs typeface="Calibri"/>
            </a:endParaRPr>
          </a:p>
        </p:txBody>
      </p:sp>
      <p:sp>
        <p:nvSpPr>
          <p:cNvPr id="4" name="Rectangle 3">
            <a:extLst>
              <a:ext uri="{FF2B5EF4-FFF2-40B4-BE49-F238E27FC236}">
                <a16:creationId xmlns:a16="http://schemas.microsoft.com/office/drawing/2014/main" id="{C67B84B5-3CF5-D90C-3F7B-3135FD1D1C8A}"/>
              </a:ext>
            </a:extLst>
          </p:cNvPr>
          <p:cNvSpPr>
            <a:spLocks noGrp="1"/>
          </p:cNvSpPr>
          <p:nvPr/>
        </p:nvSpPr>
        <p:spPr>
          <a:xfrm>
            <a:off x="523875" y="1200150"/>
            <a:ext cx="8060393" cy="1047750"/>
          </a:xfrm>
          <a:prstGeom prst="rect">
            <a:avLst/>
          </a:prstGeom>
          <a:noFill/>
          <a:ln w="0">
            <a:noFill/>
          </a:ln>
        </p:spPr>
        <p:txBody>
          <a:bodyPr anchor="ctr">
            <a:normAutofit/>
          </a:bodyPr>
          <a:lstStyle/>
          <a:p>
            <a:pPr>
              <a:defRPr sz="2550" b="1">
                <a:solidFill>
                  <a:srgbClr val="FFFFFF"/>
                </a:solidFill>
                <a:latin typeface="Calibri"/>
                <a:ea typeface="Calibri"/>
                <a:cs typeface="Calibri"/>
              </a:defRPr>
            </a:pPr>
            <a:r>
              <a:rPr lang="en-GR" sz="2550" i="1">
                <a:solidFill>
                  <a:srgbClr val="FFFFFF"/>
                </a:solidFill>
                <a:latin typeface="Calibri"/>
              </a:rPr>
              <a:t>Modular NL-to-GDSII Tasks with Models </a:t>
            </a:r>
            <a:r>
              <a:rPr lang="en-US" sz="2550" i="1">
                <a:solidFill>
                  <a:srgbClr val="FFFFFF"/>
                </a:solidFill>
                <a:latin typeface="Calibri"/>
              </a:rPr>
              <a:t>and</a:t>
            </a:r>
            <a:r>
              <a:rPr lang="en-GR" sz="2550" i="1">
                <a:solidFill>
                  <a:srgbClr val="FFFFFF"/>
                </a:solidFill>
                <a:latin typeface="Calibri"/>
              </a:rPr>
              <a:t> Feedback</a:t>
            </a:r>
            <a:endParaRPr sz="2550" b="1">
              <a:solidFill>
                <a:srgbClr val="FFFFFF"/>
              </a:solidFill>
              <a:latin typeface="Calibri"/>
              <a:ea typeface="Calibri"/>
              <a:cs typeface="Calibri"/>
            </a:endParaRPr>
          </a:p>
        </p:txBody>
      </p:sp>
      <p:sp>
        <p:nvSpPr>
          <p:cNvPr id="12" name="Rectangle 11">
            <a:extLst>
              <a:ext uri="{FF2B5EF4-FFF2-40B4-BE49-F238E27FC236}">
                <a16:creationId xmlns:a16="http://schemas.microsoft.com/office/drawing/2014/main" id="{B8EF15DD-A45B-B8B7-2FE4-41A30E101D4B}"/>
              </a:ext>
            </a:extLst>
          </p:cNvPr>
          <p:cNvSpPr>
            <a:spLocks noGrp="1"/>
          </p:cNvSpPr>
          <p:nvPr/>
        </p:nvSpPr>
        <p:spPr>
          <a:xfrm>
            <a:off x="559732" y="1724025"/>
            <a:ext cx="6238875" cy="3961000"/>
          </a:xfrm>
          <a:prstGeom prst="rect">
            <a:avLst/>
          </a:prstGeom>
          <a:noFill/>
          <a:ln w="0">
            <a:noFill/>
          </a:ln>
        </p:spPr>
        <p:txBody>
          <a:bodyPr anchor="ctr">
            <a:normAutofit/>
          </a:bodyPr>
          <a:lstStyle/>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Task decomposition</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Zero/Single-Shot vs. Iterative Loops</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SLM vs LLM for NL-to-GDSII</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Closed-Loop Verilog Self-Correction</a:t>
            </a:r>
          </a:p>
          <a:p>
            <a:pPr marL="285750" indent="-285750">
              <a:buFont typeface="Wingdings" pitchFamily="2" charset="2"/>
              <a:buChar char="Ø"/>
              <a:defRPr sz="1650" b="1">
                <a:solidFill>
                  <a:srgbClr val="DCE6F1"/>
                </a:solidFill>
                <a:latin typeface="Calibri"/>
                <a:ea typeface="Calibri"/>
                <a:cs typeface="Calibri"/>
              </a:defRPr>
            </a:pPr>
            <a:endParaRPr lang="en-GR"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ea typeface="Calibri"/>
                <a:cs typeface="Calibri"/>
              </a:rPr>
              <a:t>Validator Agent</a:t>
            </a:r>
            <a:endParaRPr sz="1650" b="1">
              <a:solidFill>
                <a:srgbClr val="DCE6F1"/>
              </a:solidFill>
              <a:latin typeface="Calibri"/>
              <a:ea typeface="Calibri"/>
              <a:cs typeface="Calibri"/>
            </a:endParaRPr>
          </a:p>
        </p:txBody>
      </p:sp>
      <p:sp>
        <p:nvSpPr>
          <p:cNvPr id="18" name="Rectangle 17">
            <a:extLst>
              <a:ext uri="{FF2B5EF4-FFF2-40B4-BE49-F238E27FC236}">
                <a16:creationId xmlns:a16="http://schemas.microsoft.com/office/drawing/2014/main" id="{C5C331AF-CE65-5EA6-436F-B47AEAD0E003}"/>
              </a:ext>
            </a:extLst>
          </p:cNvPr>
          <p:cNvSpPr>
            <a:spLocks noGrp="1"/>
          </p:cNvSpPr>
          <p:nvPr/>
        </p:nvSpPr>
        <p:spPr>
          <a:xfrm>
            <a:off x="523873" y="3009900"/>
            <a:ext cx="6238875" cy="685800"/>
          </a:xfrm>
          <a:prstGeom prst="rect">
            <a:avLst/>
          </a:prstGeom>
          <a:noFill/>
          <a:ln w="0">
            <a:noFill/>
          </a:ln>
        </p:spPr>
        <p:txBody>
          <a:bodyPr anchor="ctr">
            <a:normAutofit/>
          </a:bodyPr>
          <a:lstStyle/>
          <a:p>
            <a:pPr algn="l">
              <a:defRPr sz="1650" b="1">
                <a:solidFill>
                  <a:srgbClr val="DCE6F1"/>
                </a:solidFill>
                <a:latin typeface="Calibri"/>
                <a:ea typeface="Calibri"/>
                <a:cs typeface="Calibri"/>
              </a:defRPr>
            </a:pPr>
            <a:endParaRPr sz="1650" b="1">
              <a:solidFill>
                <a:srgbClr val="DCE6F1"/>
              </a:solidFill>
              <a:latin typeface="Calibri"/>
              <a:ea typeface="Calibri"/>
              <a:cs typeface="Calibri"/>
            </a:endParaRPr>
          </a:p>
        </p:txBody>
      </p:sp>
    </p:spTree>
    <p:extLst>
      <p:ext uri="{BB962C8B-B14F-4D97-AF65-F5344CB8AC3E}">
        <p14:creationId xmlns:p14="http://schemas.microsoft.com/office/powerpoint/2010/main" val="1574596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A5ECFAE8-76E8-8E3A-0845-33BB750D63B8}"/>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41BBAF28-C3F5-3AE5-B206-E4FD8024A03B}"/>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78384E6F-EDA2-271D-737E-3863DDB31E0E}"/>
              </a:ext>
            </a:extLst>
          </p:cNvPr>
          <p:cNvSpPr>
            <a:spLocks noGrp="1"/>
          </p:cNvSpPr>
          <p:nvPr/>
        </p:nvSpPr>
        <p:spPr>
          <a:xfrm>
            <a:off x="495300" y="257175"/>
            <a:ext cx="7524750" cy="514350"/>
          </a:xfrm>
          <a:prstGeom prst="rect">
            <a:avLst/>
          </a:prstGeom>
          <a:noFill/>
          <a:ln w="0">
            <a:noFill/>
          </a:ln>
        </p:spPr>
        <p:txBody>
          <a:bodyPr anchor="ctr">
            <a:normAutofit/>
          </a:bodyPr>
          <a:lstStyle/>
          <a:p>
            <a:pPr algn="l">
              <a:buNone/>
              <a:defRPr sz="2400" b="1">
                <a:solidFill>
                  <a:srgbClr val="17365D"/>
                </a:solidFill>
                <a:latin typeface="Calibri"/>
                <a:ea typeface="Calibri"/>
                <a:cs typeface="Calibri"/>
              </a:defRPr>
            </a:pPr>
            <a:r>
              <a:rPr sz="2400" b="1">
                <a:solidFill>
                  <a:srgbClr val="17365D"/>
                </a:solidFill>
                <a:latin typeface="Calibri"/>
                <a:ea typeface="Calibri"/>
                <a:cs typeface="Calibri"/>
              </a:rPr>
              <a:t>Why decompose an agent task?</a:t>
            </a:r>
          </a:p>
        </p:txBody>
      </p:sp>
      <p:sp>
        <p:nvSpPr>
          <p:cNvPr id="4" name="Rectangle 3">
            <a:extLst>
              <a:ext uri="{FF2B5EF4-FFF2-40B4-BE49-F238E27FC236}">
                <a16:creationId xmlns:a16="http://schemas.microsoft.com/office/drawing/2014/main" id="{45131332-AC10-50E2-7B09-02D4CE35D79B}"/>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009B2612-BD15-37A8-C11B-773B9E7A2818}"/>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42</a:t>
            </a:fld>
            <a:endParaRPr sz="750" b="0">
              <a:solidFill>
                <a:srgbClr val="5B6573"/>
              </a:solidFill>
              <a:latin typeface="Calibri"/>
              <a:ea typeface="Calibri"/>
              <a:cs typeface="Calibri"/>
            </a:endParaRPr>
          </a:p>
        </p:txBody>
      </p:sp>
      <p:sp>
        <p:nvSpPr>
          <p:cNvPr id="80" name="decomposition: Natural language design specificatio">
            <a:extLst>
              <a:ext uri="{FF2B5EF4-FFF2-40B4-BE49-F238E27FC236}">
                <a16:creationId xmlns:a16="http://schemas.microsoft.com/office/drawing/2014/main" id="{9504966B-7B34-4D77-BCCA-9485AB7BC20F}"/>
              </a:ext>
            </a:extLst>
          </p:cNvPr>
          <p:cNvSpPr>
            <a:spLocks noGrp="1"/>
          </p:cNvSpPr>
          <p:nvPr/>
        </p:nvSpPr>
        <p:spPr>
          <a:xfrm>
            <a:off x="3048000" y="1143000"/>
            <a:ext cx="3048000" cy="638175"/>
          </a:xfrm>
          <a:prstGeom prst="roundRect">
            <a:avLst>
              <a:gd name="adj" fmla="val 14925"/>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Natural language design specification</a:t>
            </a:r>
          </a:p>
        </p:txBody>
      </p:sp>
      <p:sp>
        <p:nvSpPr>
          <p:cNvPr id="81" name="decomposition connector">
            <a:extLst>
              <a:ext uri="{FF2B5EF4-FFF2-40B4-BE49-F238E27FC236}">
                <a16:creationId xmlns:a16="http://schemas.microsoft.com/office/drawing/2014/main" id="{C7079745-2CB2-4C5A-8026-2FD203C94C3D}"/>
              </a:ext>
            </a:extLst>
          </p:cNvPr>
          <p:cNvSpPr>
            <a:spLocks noGrp="1"/>
          </p:cNvSpPr>
          <p:nvPr/>
        </p:nvSpPr>
        <p:spPr>
          <a:xfrm>
            <a:off x="4572000" y="1781175"/>
            <a:ext cx="0" cy="457200"/>
          </a:xfrm>
          <a:prstGeom prst="line">
            <a:avLst/>
          </a:prstGeom>
          <a:noFill/>
          <a:ln w="28575">
            <a:solidFill>
              <a:srgbClr val="4F81BD"/>
            </a:solidFill>
            <a:prstDash val="solid"/>
          </a:ln>
        </p:spPr>
        <p:txBody>
          <a:bodyPr/>
          <a:lstStyle/>
          <a:p>
            <a:endParaRPr lang="en-GR"/>
          </a:p>
        </p:txBody>
      </p:sp>
      <p:sp>
        <p:nvSpPr>
          <p:cNvPr id="82" name="decomposition connector">
            <a:extLst>
              <a:ext uri="{FF2B5EF4-FFF2-40B4-BE49-F238E27FC236}">
                <a16:creationId xmlns:a16="http://schemas.microsoft.com/office/drawing/2014/main" id="{A9EE1A42-6969-46D1-B417-9917CFA3B943}"/>
              </a:ext>
            </a:extLst>
          </p:cNvPr>
          <p:cNvSpPr>
            <a:spLocks noGrp="1"/>
          </p:cNvSpPr>
          <p:nvPr/>
        </p:nvSpPr>
        <p:spPr>
          <a:xfrm>
            <a:off x="2295525" y="2238375"/>
            <a:ext cx="4552950" cy="0"/>
          </a:xfrm>
          <a:prstGeom prst="line">
            <a:avLst/>
          </a:prstGeom>
          <a:noFill/>
          <a:ln w="28575">
            <a:solidFill>
              <a:srgbClr val="4F81BD"/>
            </a:solidFill>
            <a:prstDash val="solid"/>
          </a:ln>
        </p:spPr>
        <p:txBody>
          <a:bodyPr/>
          <a:lstStyle/>
          <a:p>
            <a:endParaRPr lang="en-GR"/>
          </a:p>
        </p:txBody>
      </p:sp>
      <p:sp>
        <p:nvSpPr>
          <p:cNvPr id="83" name="decomposition arrow">
            <a:extLst>
              <a:ext uri="{FF2B5EF4-FFF2-40B4-BE49-F238E27FC236}">
                <a16:creationId xmlns:a16="http://schemas.microsoft.com/office/drawing/2014/main" id="{DCCC33EB-CD37-4ECD-AEC0-A27FA2AB2A20}"/>
              </a:ext>
            </a:extLst>
          </p:cNvPr>
          <p:cNvSpPr>
            <a:spLocks noGrp="1"/>
          </p:cNvSpPr>
          <p:nvPr/>
        </p:nvSpPr>
        <p:spPr>
          <a:xfrm>
            <a:off x="2209800" y="2219325"/>
            <a:ext cx="171450" cy="247650"/>
          </a:xfrm>
          <a:prstGeom prst="downArrow">
            <a:avLst/>
          </a:prstGeom>
          <a:solidFill>
            <a:srgbClr val="4F81BD"/>
          </a:solidFill>
          <a:ln w="0">
            <a:noFill/>
          </a:ln>
        </p:spPr>
        <p:txBody>
          <a:bodyPr/>
          <a:lstStyle/>
          <a:p>
            <a:endParaRPr lang="en-GR"/>
          </a:p>
        </p:txBody>
      </p:sp>
      <p:sp>
        <p:nvSpPr>
          <p:cNvPr id="84" name="decomposition arrow">
            <a:extLst>
              <a:ext uri="{FF2B5EF4-FFF2-40B4-BE49-F238E27FC236}">
                <a16:creationId xmlns:a16="http://schemas.microsoft.com/office/drawing/2014/main" id="{C402362F-68FD-4D86-8500-CFD1BC09B74A}"/>
              </a:ext>
            </a:extLst>
          </p:cNvPr>
          <p:cNvSpPr>
            <a:spLocks noGrp="1"/>
          </p:cNvSpPr>
          <p:nvPr/>
        </p:nvSpPr>
        <p:spPr>
          <a:xfrm>
            <a:off x="6762750" y="2219325"/>
            <a:ext cx="171450" cy="247650"/>
          </a:xfrm>
          <a:prstGeom prst="downArrow">
            <a:avLst/>
          </a:prstGeom>
          <a:solidFill>
            <a:srgbClr val="4F81BD"/>
          </a:solidFill>
          <a:ln w="0">
            <a:noFill/>
          </a:ln>
        </p:spPr>
        <p:txBody>
          <a:bodyPr/>
          <a:lstStyle/>
          <a:p>
            <a:endParaRPr lang="en-GR"/>
          </a:p>
        </p:txBody>
      </p:sp>
      <p:sp>
        <p:nvSpPr>
          <p:cNvPr id="85" name="decomposition: Single agent">
            <a:extLst>
              <a:ext uri="{FF2B5EF4-FFF2-40B4-BE49-F238E27FC236}">
                <a16:creationId xmlns:a16="http://schemas.microsoft.com/office/drawing/2014/main" id="{34E4B56B-6C50-4C44-BC98-BF4FC41A4EA6}"/>
              </a:ext>
            </a:extLst>
          </p:cNvPr>
          <p:cNvSpPr>
            <a:spLocks noGrp="1"/>
          </p:cNvSpPr>
          <p:nvPr/>
        </p:nvSpPr>
        <p:spPr>
          <a:xfrm>
            <a:off x="742950" y="2524125"/>
            <a:ext cx="2914650" cy="361950"/>
          </a:xfrm>
          <a:prstGeom prst="rect">
            <a:avLst/>
          </a:prstGeom>
          <a:noFill/>
          <a:ln w="0">
            <a:noFill/>
          </a:ln>
        </p:spPr>
        <p:txBody>
          <a:bodyPr lIns="28575" tIns="19050" rIns="28575" bIns="19050" anchor="ctr">
            <a:normAutofit/>
          </a:bodyPr>
          <a:lstStyle/>
          <a:p>
            <a:pPr algn="ctr">
              <a:defRPr sz="1575" b="1">
                <a:solidFill>
                  <a:srgbClr val="17365D"/>
                </a:solidFill>
                <a:latin typeface="Calibri"/>
                <a:ea typeface="Calibri"/>
                <a:cs typeface="Calibri"/>
              </a:defRPr>
            </a:pPr>
            <a:r>
              <a:rPr sz="1575" b="1">
                <a:solidFill>
                  <a:srgbClr val="17365D"/>
                </a:solidFill>
                <a:latin typeface="Calibri"/>
                <a:ea typeface="Calibri"/>
                <a:cs typeface="Calibri"/>
              </a:rPr>
              <a:t>Single agent</a:t>
            </a:r>
          </a:p>
        </p:txBody>
      </p:sp>
      <p:sp>
        <p:nvSpPr>
          <p:cNvPr id="86" name="decomposition: Decomposed agents">
            <a:extLst>
              <a:ext uri="{FF2B5EF4-FFF2-40B4-BE49-F238E27FC236}">
                <a16:creationId xmlns:a16="http://schemas.microsoft.com/office/drawing/2014/main" id="{0BD622CA-58BF-4739-BEB2-2F508BAA2C9F}"/>
              </a:ext>
            </a:extLst>
          </p:cNvPr>
          <p:cNvSpPr>
            <a:spLocks noGrp="1"/>
          </p:cNvSpPr>
          <p:nvPr/>
        </p:nvSpPr>
        <p:spPr>
          <a:xfrm>
            <a:off x="5391150" y="2524125"/>
            <a:ext cx="2952750" cy="361950"/>
          </a:xfrm>
          <a:prstGeom prst="rect">
            <a:avLst/>
          </a:prstGeom>
          <a:noFill/>
          <a:ln w="0">
            <a:noFill/>
          </a:ln>
        </p:spPr>
        <p:txBody>
          <a:bodyPr lIns="28575" tIns="19050" rIns="28575" bIns="19050" anchor="ctr">
            <a:normAutofit/>
          </a:bodyPr>
          <a:lstStyle/>
          <a:p>
            <a:pPr algn="ctr">
              <a:defRPr sz="1575" b="1">
                <a:solidFill>
                  <a:srgbClr val="17365D"/>
                </a:solidFill>
                <a:latin typeface="Calibri"/>
                <a:ea typeface="Calibri"/>
                <a:cs typeface="Calibri"/>
              </a:defRPr>
            </a:pPr>
            <a:r>
              <a:rPr sz="1575" b="1">
                <a:solidFill>
                  <a:srgbClr val="17365D"/>
                </a:solidFill>
                <a:latin typeface="Calibri"/>
                <a:ea typeface="Calibri"/>
                <a:cs typeface="Calibri"/>
              </a:rPr>
              <a:t>Decomposed agents</a:t>
            </a:r>
          </a:p>
        </p:txBody>
      </p:sp>
      <p:sp>
        <p:nvSpPr>
          <p:cNvPr id="87" name="decomposition connector">
            <a:extLst>
              <a:ext uri="{FF2B5EF4-FFF2-40B4-BE49-F238E27FC236}">
                <a16:creationId xmlns:a16="http://schemas.microsoft.com/office/drawing/2014/main" id="{E53BF5E9-1F80-4527-9E27-35F3AF5FDEA3}"/>
              </a:ext>
            </a:extLst>
          </p:cNvPr>
          <p:cNvSpPr>
            <a:spLocks noGrp="1"/>
          </p:cNvSpPr>
          <p:nvPr/>
        </p:nvSpPr>
        <p:spPr>
          <a:xfrm>
            <a:off x="4572000" y="2543175"/>
            <a:ext cx="0" cy="3228975"/>
          </a:xfrm>
          <a:prstGeom prst="line">
            <a:avLst/>
          </a:prstGeom>
          <a:noFill/>
          <a:ln w="14288">
            <a:solidFill>
              <a:srgbClr val="CAD6E3"/>
            </a:solidFill>
            <a:prstDash val="solid"/>
          </a:ln>
        </p:spPr>
        <p:txBody>
          <a:bodyPr/>
          <a:lstStyle/>
          <a:p>
            <a:endParaRPr lang="en-GR"/>
          </a:p>
        </p:txBody>
      </p:sp>
      <p:sp>
        <p:nvSpPr>
          <p:cNvPr id="88" name="decomposition: One response contains RTL, testbench">
            <a:extLst>
              <a:ext uri="{FF2B5EF4-FFF2-40B4-BE49-F238E27FC236}">
                <a16:creationId xmlns:a16="http://schemas.microsoft.com/office/drawing/2014/main" id="{89D06FA9-2B54-4999-B60D-8FEB0E3EC409}"/>
              </a:ext>
            </a:extLst>
          </p:cNvPr>
          <p:cNvSpPr>
            <a:spLocks noGrp="1"/>
          </p:cNvSpPr>
          <p:nvPr/>
        </p:nvSpPr>
        <p:spPr>
          <a:xfrm>
            <a:off x="752475" y="3048000"/>
            <a:ext cx="2895600" cy="1381125"/>
          </a:xfrm>
          <a:prstGeom prst="roundRect">
            <a:avLst>
              <a:gd name="adj" fmla="val 6897"/>
            </a:avLst>
          </a:prstGeom>
          <a:solidFill>
            <a:srgbClr val="E6EEF7"/>
          </a:solidFill>
          <a:ln w="14288">
            <a:solidFill>
              <a:srgbClr val="4F81BD"/>
            </a:solidFill>
            <a:prstDash val="solid"/>
          </a:ln>
        </p:spPr>
        <p:txBody>
          <a:bodyPr lIns="76200" tIns="38100" rIns="76200" bIns="38100" anchor="ctr">
            <a:norm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One response contains RTL, testbench, SDC and </a:t>
            </a:r>
            <a:r>
              <a:rPr sz="1425" b="1" err="1">
                <a:solidFill>
                  <a:srgbClr val="17365D"/>
                </a:solidFill>
                <a:latin typeface="Calibri"/>
                <a:ea typeface="Calibri"/>
                <a:cs typeface="Calibri"/>
              </a:rPr>
              <a:t>PnR</a:t>
            </a:r>
            <a:r>
              <a:rPr sz="1425" b="1">
                <a:solidFill>
                  <a:srgbClr val="17365D"/>
                </a:solidFill>
                <a:latin typeface="Calibri"/>
                <a:ea typeface="Calibri"/>
                <a:cs typeface="Calibri"/>
              </a:rPr>
              <a:t> settings</a:t>
            </a:r>
            <a:endParaRPr lang="en-US" sz="1425" b="1">
              <a:solidFill>
                <a:srgbClr val="17365D"/>
              </a:solidFill>
              <a:latin typeface="Calibri"/>
              <a:ea typeface="Calibri"/>
              <a:cs typeface="Calibri"/>
            </a:endParaRPr>
          </a:p>
          <a:p>
            <a:pPr algn="ctr">
              <a:defRPr sz="1425" b="1">
                <a:solidFill>
                  <a:srgbClr val="17365D"/>
                </a:solidFill>
                <a:latin typeface="Calibri"/>
                <a:ea typeface="Calibri"/>
                <a:cs typeface="Calibri"/>
              </a:defRPr>
            </a:pPr>
            <a:endParaRPr lang="en-GR" sz="1425" b="1">
              <a:solidFill>
                <a:srgbClr val="17365D"/>
              </a:solidFill>
              <a:latin typeface="Calibri"/>
              <a:ea typeface="Calibri"/>
              <a:cs typeface="Calibri"/>
            </a:endParaRPr>
          </a:p>
          <a:p>
            <a:pPr algn="ctr">
              <a:defRPr sz="1425" b="1">
                <a:solidFill>
                  <a:srgbClr val="17365D"/>
                </a:solidFill>
                <a:latin typeface="Calibri"/>
                <a:ea typeface="Calibri"/>
                <a:cs typeface="Calibri"/>
              </a:defRPr>
            </a:pPr>
            <a:r>
              <a:rPr lang="en-GR" sz="1425" i="1">
                <a:solidFill>
                  <a:srgbClr val="FF0000"/>
                </a:solidFill>
                <a:latin typeface="Calibri"/>
                <a:ea typeface="Calibri"/>
                <a:cs typeface="Calibri"/>
              </a:rPr>
              <a:t>Huge Task = More Context</a:t>
            </a:r>
            <a:endParaRPr lang="en-US" sz="1425" i="1">
              <a:solidFill>
                <a:srgbClr val="FF0000"/>
              </a:solidFill>
              <a:latin typeface="Calibri"/>
              <a:ea typeface="Calibri"/>
              <a:cs typeface="Calibri"/>
            </a:endParaRPr>
          </a:p>
        </p:txBody>
      </p:sp>
      <p:sp>
        <p:nvSpPr>
          <p:cNvPr id="90" name="decomposition: Planner defines smaller tasks and ac">
            <a:extLst>
              <a:ext uri="{FF2B5EF4-FFF2-40B4-BE49-F238E27FC236}">
                <a16:creationId xmlns:a16="http://schemas.microsoft.com/office/drawing/2014/main" id="{901594DB-5758-44A5-9554-0D52EF3653F5}"/>
              </a:ext>
            </a:extLst>
          </p:cNvPr>
          <p:cNvSpPr>
            <a:spLocks noGrp="1"/>
          </p:cNvSpPr>
          <p:nvPr/>
        </p:nvSpPr>
        <p:spPr>
          <a:xfrm>
            <a:off x="5248275" y="3048000"/>
            <a:ext cx="3095625" cy="666750"/>
          </a:xfrm>
          <a:prstGeom prst="roundRect">
            <a:avLst>
              <a:gd name="adj" fmla="val 14286"/>
            </a:avLst>
          </a:prstGeom>
          <a:solidFill>
            <a:srgbClr val="0E2A49"/>
          </a:solidFill>
          <a:ln w="14288">
            <a:solidFill>
              <a:srgbClr val="0E2A49"/>
            </a:solidFill>
            <a:prstDash val="solid"/>
          </a:ln>
        </p:spPr>
        <p:txBody>
          <a:bodyPr lIns="76200" tIns="38100" rIns="76200" bIns="38100" anchor="ctr">
            <a:normAutofit fontScale="77500" lnSpcReduction="20000"/>
          </a:bodyPr>
          <a:lstStyle/>
          <a:p>
            <a:pPr algn="ctr">
              <a:defRPr sz="1350" b="1">
                <a:solidFill>
                  <a:srgbClr val="FFFFFF"/>
                </a:solidFill>
                <a:latin typeface="Calibri"/>
                <a:ea typeface="Calibri"/>
                <a:cs typeface="Calibri"/>
              </a:defRPr>
            </a:pPr>
            <a:r>
              <a:rPr sz="1350" b="1">
                <a:solidFill>
                  <a:srgbClr val="FFFFFF"/>
                </a:solidFill>
                <a:latin typeface="Calibri"/>
                <a:ea typeface="Calibri"/>
                <a:cs typeface="Calibri"/>
              </a:rPr>
              <a:t>Planner defines smaller tasks and acceptance checks</a:t>
            </a:r>
            <a:endParaRPr lang="en-US" sz="1350" b="1">
              <a:solidFill>
                <a:srgbClr val="FFFFFF"/>
              </a:solidFill>
              <a:latin typeface="Calibri"/>
              <a:ea typeface="Calibri"/>
              <a:cs typeface="Calibri"/>
            </a:endParaRPr>
          </a:p>
          <a:p>
            <a:pPr algn="ctr">
              <a:defRPr sz="1350" b="1">
                <a:solidFill>
                  <a:srgbClr val="FFFFFF"/>
                </a:solidFill>
                <a:latin typeface="Calibri"/>
                <a:ea typeface="Calibri"/>
                <a:cs typeface="Calibri"/>
              </a:defRPr>
            </a:pPr>
            <a:endParaRPr lang="en-GR" sz="1350" b="1">
              <a:solidFill>
                <a:srgbClr val="FFFFFF"/>
              </a:solidFill>
              <a:latin typeface="Calibri"/>
              <a:ea typeface="Calibri"/>
              <a:cs typeface="Calibri"/>
            </a:endParaRPr>
          </a:p>
          <a:p>
            <a:pPr algn="ctr">
              <a:defRPr sz="1350" b="1">
                <a:solidFill>
                  <a:srgbClr val="FFFFFF"/>
                </a:solidFill>
                <a:latin typeface="Calibri"/>
                <a:ea typeface="Calibri"/>
                <a:cs typeface="Calibri"/>
              </a:defRPr>
            </a:pPr>
            <a:r>
              <a:rPr lang="en-GR" sz="1400" i="1">
                <a:solidFill>
                  <a:srgbClr val="FF0000"/>
                </a:solidFill>
                <a:latin typeface="Calibri"/>
                <a:ea typeface="Calibri"/>
                <a:cs typeface="Calibri"/>
              </a:rPr>
              <a:t>Smaller Tasks =  Less Context</a:t>
            </a:r>
            <a:endParaRPr lang="en-US" sz="1400" i="1">
              <a:solidFill>
                <a:srgbClr val="FF0000"/>
              </a:solidFill>
              <a:latin typeface="Calibri"/>
              <a:ea typeface="Calibri"/>
              <a:cs typeface="Calibri"/>
            </a:endParaRPr>
          </a:p>
          <a:p>
            <a:pPr algn="ctr">
              <a:defRPr sz="1350" b="1">
                <a:solidFill>
                  <a:srgbClr val="FFFFFF"/>
                </a:solidFill>
                <a:latin typeface="Calibri"/>
                <a:ea typeface="Calibri"/>
                <a:cs typeface="Calibri"/>
              </a:defRPr>
            </a:pPr>
            <a:endParaRPr lang="en-US" sz="1350" b="1">
              <a:solidFill>
                <a:srgbClr val="FFFFFF"/>
              </a:solidFill>
              <a:latin typeface="Calibri"/>
              <a:ea typeface="Calibri"/>
              <a:cs typeface="Calibri"/>
            </a:endParaRPr>
          </a:p>
        </p:txBody>
      </p:sp>
      <p:sp>
        <p:nvSpPr>
          <p:cNvPr id="91" name="decomposition: RTL + interface">
            <a:extLst>
              <a:ext uri="{FF2B5EF4-FFF2-40B4-BE49-F238E27FC236}">
                <a16:creationId xmlns:a16="http://schemas.microsoft.com/office/drawing/2014/main" id="{B6EFAD18-A664-4F89-9304-F102D3C17218}"/>
              </a:ext>
            </a:extLst>
          </p:cNvPr>
          <p:cNvSpPr>
            <a:spLocks noGrp="1"/>
          </p:cNvSpPr>
          <p:nvPr/>
        </p:nvSpPr>
        <p:spPr>
          <a:xfrm>
            <a:off x="5229225" y="3943350"/>
            <a:ext cx="1504950" cy="638175"/>
          </a:xfrm>
          <a:prstGeom prst="roundRect">
            <a:avLst>
              <a:gd name="adj" fmla="val 14925"/>
            </a:avLst>
          </a:prstGeom>
          <a:solidFill>
            <a:srgbClr val="E6EEF7"/>
          </a:solidFill>
          <a:ln w="14288">
            <a:solidFill>
              <a:srgbClr val="4F81BD"/>
            </a:solidFill>
            <a:prstDash val="solid"/>
          </a:ln>
        </p:spPr>
        <p:txBody>
          <a:bodyPr lIns="76200" tIns="38100" rIns="76200" bIns="38100" anchor="ctr">
            <a:norm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RTL + interface</a:t>
            </a:r>
          </a:p>
        </p:txBody>
      </p:sp>
      <p:sp>
        <p:nvSpPr>
          <p:cNvPr id="92" name="decomposition: TB + assertions">
            <a:extLst>
              <a:ext uri="{FF2B5EF4-FFF2-40B4-BE49-F238E27FC236}">
                <a16:creationId xmlns:a16="http://schemas.microsoft.com/office/drawing/2014/main" id="{84F784AF-6FD5-4229-AEF7-EE1D86C46FAD}"/>
              </a:ext>
            </a:extLst>
          </p:cNvPr>
          <p:cNvSpPr>
            <a:spLocks noGrp="1"/>
          </p:cNvSpPr>
          <p:nvPr/>
        </p:nvSpPr>
        <p:spPr>
          <a:xfrm>
            <a:off x="6838950" y="3943350"/>
            <a:ext cx="1504950" cy="638175"/>
          </a:xfrm>
          <a:prstGeom prst="roundRect">
            <a:avLst>
              <a:gd name="adj" fmla="val 14925"/>
            </a:avLst>
          </a:prstGeom>
          <a:solidFill>
            <a:srgbClr val="E6EEF7"/>
          </a:solidFill>
          <a:ln w="14288">
            <a:solidFill>
              <a:srgbClr val="4F81BD"/>
            </a:solidFill>
            <a:prstDash val="solid"/>
          </a:ln>
        </p:spPr>
        <p:txBody>
          <a:bodyPr lIns="76200" tIns="38100" rIns="76200" bIns="38100" anchor="ctr">
            <a:norm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TB + assertions</a:t>
            </a:r>
          </a:p>
        </p:txBody>
      </p:sp>
      <p:sp>
        <p:nvSpPr>
          <p:cNvPr id="93" name="decomposition: SDC + clocks">
            <a:extLst>
              <a:ext uri="{FF2B5EF4-FFF2-40B4-BE49-F238E27FC236}">
                <a16:creationId xmlns:a16="http://schemas.microsoft.com/office/drawing/2014/main" id="{41B45049-AC7F-442C-A78A-DB9F75150332}"/>
              </a:ext>
            </a:extLst>
          </p:cNvPr>
          <p:cNvSpPr>
            <a:spLocks noGrp="1"/>
          </p:cNvSpPr>
          <p:nvPr/>
        </p:nvSpPr>
        <p:spPr>
          <a:xfrm>
            <a:off x="5229225" y="4810125"/>
            <a:ext cx="1504950" cy="638175"/>
          </a:xfrm>
          <a:prstGeom prst="roundRect">
            <a:avLst>
              <a:gd name="adj" fmla="val 14925"/>
            </a:avLst>
          </a:prstGeom>
          <a:solidFill>
            <a:srgbClr val="E6EEF7"/>
          </a:solidFill>
          <a:ln w="14288">
            <a:solidFill>
              <a:srgbClr val="4F81BD"/>
            </a:solidFill>
            <a:prstDash val="solid"/>
          </a:ln>
        </p:spPr>
        <p:txBody>
          <a:bodyPr lIns="76200" tIns="38100" rIns="76200" bIns="38100" anchor="ctr">
            <a:norm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SDC + clocks</a:t>
            </a:r>
          </a:p>
        </p:txBody>
      </p:sp>
      <p:sp>
        <p:nvSpPr>
          <p:cNvPr id="94" name="decomposition: PnR settings">
            <a:extLst>
              <a:ext uri="{FF2B5EF4-FFF2-40B4-BE49-F238E27FC236}">
                <a16:creationId xmlns:a16="http://schemas.microsoft.com/office/drawing/2014/main" id="{04280EC6-54A3-42CA-9758-12F0E0F002CF}"/>
              </a:ext>
            </a:extLst>
          </p:cNvPr>
          <p:cNvSpPr>
            <a:spLocks noGrp="1"/>
          </p:cNvSpPr>
          <p:nvPr/>
        </p:nvSpPr>
        <p:spPr>
          <a:xfrm>
            <a:off x="6838950" y="4810125"/>
            <a:ext cx="1504950" cy="638175"/>
          </a:xfrm>
          <a:prstGeom prst="roundRect">
            <a:avLst>
              <a:gd name="adj" fmla="val 14925"/>
            </a:avLst>
          </a:prstGeom>
          <a:solidFill>
            <a:srgbClr val="E6EEF7"/>
          </a:solidFill>
          <a:ln w="14288">
            <a:solidFill>
              <a:srgbClr val="4F81BD"/>
            </a:solidFill>
            <a:prstDash val="solid"/>
          </a:ln>
        </p:spPr>
        <p:txBody>
          <a:bodyPr lIns="76200" tIns="38100" rIns="76200" bIns="38100" anchor="ctr">
            <a:norm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PnR settings</a:t>
            </a:r>
          </a:p>
        </p:txBody>
      </p:sp>
      <p:sp>
        <p:nvSpPr>
          <p:cNvPr id="1034" name="shape 1034"/>
          <p:cNvSpPr/>
          <p:nvPr/>
        </p:nvSpPr>
        <p:spPr>
          <a:xfrm>
            <a:off x="749808" y="4572000"/>
            <a:ext cx="2898648" cy="877824"/>
          </a:xfrm>
          <a:prstGeom prst="roundRect">
            <a:avLst>
              <a:gd name="adj" fmla="val 10000"/>
            </a:avLst>
          </a:prstGeom>
          <a:solidFill>
            <a:srgbClr val="EAF4EC"/>
          </a:solidFill>
          <a:ln w="12700">
            <a:solidFill>
              <a:srgbClr val="2E7D4F"/>
            </a:solidFill>
          </a:ln>
        </p:spPr>
        <p:txBody>
          <a:bodyPr wrap="square" lIns="91440" tIns="91440" rIns="91440" bIns="91440" anchor="ctr">
            <a:noAutofit/>
          </a:bodyPr>
          <a:lstStyle/>
          <a:p>
            <a:pPr algn="l">
              <a:spcBef>
                <a:spcPts val="0"/>
              </a:spcBef>
              <a:spcAft>
                <a:spcPts val="150"/>
              </a:spcAft>
              <a:buNone/>
            </a:pPr>
            <a:r>
              <a:rPr lang="en-US" sz="1100" b="1" i="0">
                <a:solidFill>
                  <a:srgbClr val="2E7D4F"/>
                </a:solidFill>
                <a:latin typeface="Calibri"/>
                <a:ea typeface="Calibri"/>
                <a:cs typeface="Calibri"/>
              </a:rPr>
              <a:t>+  Accuracy</a:t>
            </a:r>
          </a:p>
          <a:p>
            <a:pPr algn="l">
              <a:spcBef>
                <a:spcPts val="0"/>
              </a:spcBef>
              <a:spcAft>
                <a:spcPts val="0"/>
              </a:spcAft>
              <a:buNone/>
            </a:pPr>
            <a:r>
              <a:rPr lang="en-US" sz="950" b="0" i="0">
                <a:solidFill>
                  <a:srgbClr val="0E2745"/>
                </a:solidFill>
                <a:latin typeface="Calibri"/>
                <a:ea typeface="Calibri"/>
                <a:cs typeface="Calibri"/>
              </a:rPr>
              <a:t>Sees the whole task: with enough context it can understand it better than smaller agents</a:t>
            </a:r>
          </a:p>
        </p:txBody>
      </p:sp>
      <p:sp>
        <p:nvSpPr>
          <p:cNvPr id="1035" name="shape 1035"/>
          <p:cNvSpPr/>
          <p:nvPr/>
        </p:nvSpPr>
        <p:spPr>
          <a:xfrm>
            <a:off x="749808" y="5559552"/>
            <a:ext cx="2898648" cy="777240"/>
          </a:xfrm>
          <a:prstGeom prst="roundRect">
            <a:avLst>
              <a:gd name="adj" fmla="val 10000"/>
            </a:avLst>
          </a:prstGeom>
          <a:solidFill>
            <a:srgbClr val="FBE9EB"/>
          </a:solidFill>
          <a:ln w="12700">
            <a:solidFill>
              <a:srgbClr val="B91F2D"/>
            </a:solidFill>
          </a:ln>
        </p:spPr>
        <p:txBody>
          <a:bodyPr wrap="square" lIns="91440" tIns="91440" rIns="91440" bIns="91440" anchor="ctr">
            <a:noAutofit/>
          </a:bodyPr>
          <a:lstStyle/>
          <a:p>
            <a:pPr algn="l">
              <a:spcBef>
                <a:spcPts val="0"/>
              </a:spcBef>
              <a:spcAft>
                <a:spcPts val="150"/>
              </a:spcAft>
              <a:buNone/>
            </a:pPr>
            <a:r>
              <a:rPr lang="en-US" sz="1100" b="1" i="0">
                <a:solidFill>
                  <a:srgbClr val="B91F2D"/>
                </a:solidFill>
                <a:latin typeface="Calibri"/>
                <a:ea typeface="Calibri"/>
                <a:cs typeface="Calibri"/>
              </a:rPr>
              <a:t>−  Tokens and time</a:t>
            </a:r>
          </a:p>
          <a:p>
            <a:pPr algn="l">
              <a:spcBef>
                <a:spcPts val="0"/>
              </a:spcBef>
              <a:spcAft>
                <a:spcPts val="0"/>
              </a:spcAft>
              <a:buNone/>
            </a:pPr>
            <a:r>
              <a:rPr lang="en-US" sz="950" b="0" i="0">
                <a:solidFill>
                  <a:srgbClr val="0E2745"/>
                </a:solidFill>
                <a:latin typeface="Calibri"/>
                <a:ea typeface="Calibri"/>
                <a:cs typeface="Calibri"/>
              </a:rPr>
              <a:t>One huge prompt per call; a failure means re-checking every output</a:t>
            </a:r>
          </a:p>
        </p:txBody>
      </p:sp>
      <p:sp>
        <p:nvSpPr>
          <p:cNvPr id="1036" name="shape 1036"/>
          <p:cNvSpPr/>
          <p:nvPr/>
        </p:nvSpPr>
        <p:spPr>
          <a:xfrm>
            <a:off x="5230368" y="5559552"/>
            <a:ext cx="3118104" cy="777240"/>
          </a:xfrm>
          <a:prstGeom prst="roundRect">
            <a:avLst>
              <a:gd name="adj" fmla="val 10000"/>
            </a:avLst>
          </a:prstGeom>
          <a:solidFill>
            <a:srgbClr val="EAF4EC"/>
          </a:solidFill>
          <a:ln w="12700">
            <a:solidFill>
              <a:srgbClr val="2E7D4F"/>
            </a:solidFill>
          </a:ln>
        </p:spPr>
        <p:txBody>
          <a:bodyPr wrap="square" lIns="91440" tIns="91440" rIns="91440" bIns="91440" anchor="ctr">
            <a:noAutofit/>
          </a:bodyPr>
          <a:lstStyle/>
          <a:p>
            <a:pPr algn="l">
              <a:spcBef>
                <a:spcPts val="0"/>
              </a:spcBef>
              <a:spcAft>
                <a:spcPts val="150"/>
              </a:spcAft>
              <a:buNone/>
            </a:pPr>
            <a:r>
              <a:rPr lang="en-US" sz="1100" b="1" i="0">
                <a:solidFill>
                  <a:srgbClr val="2E7D4F"/>
                </a:solidFill>
                <a:latin typeface="Calibri"/>
                <a:ea typeface="Calibri"/>
                <a:cs typeface="Calibri"/>
              </a:rPr>
              <a:t>+  Tokens and time</a:t>
            </a:r>
          </a:p>
          <a:p>
            <a:pPr algn="l">
              <a:spcBef>
                <a:spcPts val="0"/>
              </a:spcBef>
              <a:spcAft>
                <a:spcPts val="0"/>
              </a:spcAft>
              <a:buNone/>
            </a:pPr>
            <a:r>
              <a:rPr lang="en-US" sz="950" b="0" i="0">
                <a:solidFill>
                  <a:srgbClr val="0E2745"/>
                </a:solidFill>
                <a:latin typeface="Calibri"/>
                <a:ea typeface="Calibri"/>
                <a:cs typeface="Calibri"/>
              </a:rPr>
              <a:t>Small prompts, less context: faster and cheaper; a failed task is fixed on its own</a:t>
            </a:r>
          </a:p>
        </p:txBody>
      </p:sp>
    </p:spTree>
    <p:extLst>
      <p:ext uri="{BB962C8B-B14F-4D97-AF65-F5344CB8AC3E}">
        <p14:creationId xmlns:p14="http://schemas.microsoft.com/office/powerpoint/2010/main" val="1606188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Bridging SLM–LLM Gap</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43</a:t>
            </a:fld>
            <a:endParaRPr sz="750" b="0">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A9E61476-EACC-6EFB-1B22-B8766E2C57BD}"/>
              </a:ext>
            </a:extLst>
          </p:cNvPr>
          <p:cNvSpPr>
            <a:spLocks noGrp="1"/>
          </p:cNvSpPr>
          <p:nvPr/>
        </p:nvSpPr>
        <p:spPr>
          <a:xfrm>
            <a:off x="495300" y="990600"/>
            <a:ext cx="8134350" cy="685800"/>
          </a:xfrm>
          <a:prstGeom prst="rect">
            <a:avLst/>
          </a:prstGeom>
          <a:solidFill>
            <a:srgbClr val="EEF3F9"/>
          </a:solidFill>
          <a:ln w="0">
            <a:noFill/>
          </a:ln>
        </p:spPr>
        <p:txBody>
          <a:bodyPr/>
          <a:lstStyle/>
          <a:p>
            <a:endParaRPr lang="en-GR"/>
          </a:p>
        </p:txBody>
      </p:sp>
      <p:sp>
        <p:nvSpPr>
          <p:cNvPr id="7" name="Rectangle 6">
            <a:extLst>
              <a:ext uri="{FF2B5EF4-FFF2-40B4-BE49-F238E27FC236}">
                <a16:creationId xmlns:a16="http://schemas.microsoft.com/office/drawing/2014/main" id="{D8FA65C5-9FFF-DC61-303A-BD1D473DB1B1}"/>
              </a:ext>
            </a:extLst>
          </p:cNvPr>
          <p:cNvSpPr>
            <a:spLocks noGrp="1"/>
          </p:cNvSpPr>
          <p:nvPr/>
        </p:nvSpPr>
        <p:spPr>
          <a:xfrm>
            <a:off x="495300" y="990600"/>
            <a:ext cx="66675" cy="685800"/>
          </a:xfrm>
          <a:prstGeom prst="rect">
            <a:avLst/>
          </a:prstGeom>
          <a:solidFill>
            <a:srgbClr val="B21F2D"/>
          </a:solidFill>
          <a:ln w="0">
            <a:noFill/>
          </a:ln>
        </p:spPr>
        <p:txBody>
          <a:bodyPr/>
          <a:lstStyle/>
          <a:p>
            <a:endParaRPr lang="en-GR"/>
          </a:p>
        </p:txBody>
      </p:sp>
      <p:sp>
        <p:nvSpPr>
          <p:cNvPr id="9" name="Rectangle 8">
            <a:extLst>
              <a:ext uri="{FF2B5EF4-FFF2-40B4-BE49-F238E27FC236}">
                <a16:creationId xmlns:a16="http://schemas.microsoft.com/office/drawing/2014/main" id="{3ED08687-1DFC-56C0-7CFC-77FF2D4E18A5}"/>
              </a:ext>
            </a:extLst>
          </p:cNvPr>
          <p:cNvSpPr>
            <a:spLocks noGrp="1"/>
          </p:cNvSpPr>
          <p:nvPr/>
        </p:nvSpPr>
        <p:spPr>
          <a:xfrm>
            <a:off x="742950" y="1104900"/>
            <a:ext cx="7620000" cy="468000"/>
          </a:xfrm>
          <a:prstGeom prst="rect">
            <a:avLst/>
          </a:prstGeom>
          <a:noFill/>
          <a:ln w="0">
            <a:noFill/>
          </a:ln>
        </p:spPr>
        <p:txBody>
          <a:bodyPr anchor="ctr">
            <a:noAutofit/>
          </a:bodyPr>
          <a:lstStyle/>
          <a:p>
            <a:pPr algn="ctr"/>
            <a:r>
              <a:rPr lang="en-US" sz="1600">
                <a:solidFill>
                  <a:schemeClr val="tx2">
                    <a:lumMod val="75000"/>
                  </a:schemeClr>
                </a:solidFill>
              </a:rPr>
              <a:t>How can we leverage benefits of each – SLM and LLM especially for low-cost computing?</a:t>
            </a:r>
          </a:p>
          <a:p>
            <a:pPr algn="ctr"/>
            <a:r>
              <a:rPr lang="en-US" sz="1600" b="1">
                <a:solidFill>
                  <a:schemeClr val="tx2">
                    <a:lumMod val="75000"/>
                  </a:schemeClr>
                </a:solidFill>
              </a:rPr>
              <a:t>Reduce cost of cloud tokens and offload to SLMs on Edge devices</a:t>
            </a:r>
          </a:p>
        </p:txBody>
      </p:sp>
      <p:sp>
        <p:nvSpPr>
          <p:cNvPr id="1237" name="shape 1237"/>
          <p:cNvSpPr/>
          <p:nvPr/>
        </p:nvSpPr>
        <p:spPr>
          <a:xfrm>
            <a:off x="502920" y="1920240"/>
            <a:ext cx="3383280" cy="2971800"/>
          </a:xfrm>
          <a:prstGeom prst="roundRect">
            <a:avLst>
              <a:gd name="adj" fmla="val 6000"/>
            </a:avLst>
          </a:prstGeom>
          <a:solidFill>
            <a:srgbClr val="FBE9EB"/>
          </a:solidFill>
          <a:ln w="12700">
            <a:solidFill>
              <a:srgbClr val="B91F2D"/>
            </a:solidFill>
          </a:ln>
        </p:spPr>
        <p:txBody>
          <a:bodyPr wrap="square" lIns="73152" tIns="73152" rIns="73152" bIns="73152" anchor="t">
            <a:noAutofit/>
          </a:bodyPr>
          <a:lstStyle/>
          <a:p>
            <a:pPr algn="l">
              <a:spcBef>
                <a:spcPts val="0"/>
              </a:spcBef>
              <a:spcAft>
                <a:spcPts val="0"/>
              </a:spcAft>
              <a:buNone/>
            </a:pPr>
            <a:endParaRPr lang="en-US" sz="600"/>
          </a:p>
        </p:txBody>
      </p:sp>
      <p:sp>
        <p:nvSpPr>
          <p:cNvPr id="1238" name="text 1238"/>
          <p:cNvSpPr txBox="1"/>
          <p:nvPr/>
        </p:nvSpPr>
        <p:spPr>
          <a:xfrm>
            <a:off x="685800" y="2011680"/>
            <a:ext cx="3017520" cy="41148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500" b="1" i="0">
                <a:solidFill>
                  <a:srgbClr val="B91F2D"/>
                </a:solidFill>
                <a:latin typeface="Calibri"/>
                <a:ea typeface="Calibri"/>
                <a:cs typeface="Calibri"/>
              </a:rPr>
              <a:t>☁  Cloud LLM</a:t>
            </a:r>
          </a:p>
        </p:txBody>
      </p:sp>
      <p:sp>
        <p:nvSpPr>
          <p:cNvPr id="1239" name="text 1239"/>
          <p:cNvSpPr txBox="1"/>
          <p:nvPr/>
        </p:nvSpPr>
        <p:spPr>
          <a:xfrm>
            <a:off x="685800" y="2468880"/>
            <a:ext cx="3017520" cy="32004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50" b="0" i="0">
                <a:solidFill>
                  <a:srgbClr val="5D6C7B"/>
                </a:solidFill>
                <a:latin typeface="Calibri"/>
                <a:ea typeface="Calibri"/>
                <a:cs typeface="Calibri"/>
              </a:rPr>
              <a:t>Gemini · Claude Sonnet</a:t>
            </a:r>
          </a:p>
        </p:txBody>
      </p:sp>
      <p:sp>
        <p:nvSpPr>
          <p:cNvPr id="1240" name="text 1240"/>
          <p:cNvSpPr txBox="1"/>
          <p:nvPr/>
        </p:nvSpPr>
        <p:spPr>
          <a:xfrm>
            <a:off x="731520" y="2880360"/>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2E7D4F"/>
                </a:solidFill>
                <a:latin typeface="Calibri"/>
                <a:ea typeface="Calibri"/>
                <a:cs typeface="Calibri"/>
              </a:rPr>
              <a:t>+ strong reasoning, long context</a:t>
            </a:r>
          </a:p>
        </p:txBody>
      </p:sp>
      <p:sp>
        <p:nvSpPr>
          <p:cNvPr id="1241" name="text 1241"/>
          <p:cNvSpPr txBox="1"/>
          <p:nvPr/>
        </p:nvSpPr>
        <p:spPr>
          <a:xfrm>
            <a:off x="731520" y="3319272"/>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2E7D4F"/>
                </a:solidFill>
                <a:latin typeface="Calibri"/>
                <a:ea typeface="Calibri"/>
                <a:cs typeface="Calibri"/>
              </a:rPr>
              <a:t>+ works zero-shot</a:t>
            </a:r>
          </a:p>
        </p:txBody>
      </p:sp>
      <p:sp>
        <p:nvSpPr>
          <p:cNvPr id="1242" name="text 1242"/>
          <p:cNvSpPr txBox="1"/>
          <p:nvPr/>
        </p:nvSpPr>
        <p:spPr>
          <a:xfrm>
            <a:off x="731520" y="3758183"/>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B91F2D"/>
                </a:solidFill>
                <a:latin typeface="Calibri"/>
                <a:ea typeface="Calibri"/>
                <a:cs typeface="Calibri"/>
              </a:rPr>
              <a:t>− pay per token, every iteration</a:t>
            </a:r>
          </a:p>
        </p:txBody>
      </p:sp>
      <p:sp>
        <p:nvSpPr>
          <p:cNvPr id="1243" name="text 1243"/>
          <p:cNvSpPr txBox="1"/>
          <p:nvPr/>
        </p:nvSpPr>
        <p:spPr>
          <a:xfrm>
            <a:off x="731520" y="4197096"/>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B91F2D"/>
                </a:solidFill>
                <a:latin typeface="Calibri"/>
                <a:ea typeface="Calibri"/>
                <a:cs typeface="Calibri"/>
              </a:rPr>
              <a:t>− the design leaves your company</a:t>
            </a:r>
          </a:p>
        </p:txBody>
      </p:sp>
      <p:sp>
        <p:nvSpPr>
          <p:cNvPr id="1244" name="shape 1244"/>
          <p:cNvSpPr/>
          <p:nvPr/>
        </p:nvSpPr>
        <p:spPr>
          <a:xfrm>
            <a:off x="5257800" y="1920240"/>
            <a:ext cx="3383280" cy="2971800"/>
          </a:xfrm>
          <a:prstGeom prst="roundRect">
            <a:avLst>
              <a:gd name="adj" fmla="val 6000"/>
            </a:avLst>
          </a:prstGeom>
          <a:solidFill>
            <a:srgbClr val="EAF4EC"/>
          </a:solidFill>
          <a:ln w="12700">
            <a:solidFill>
              <a:srgbClr val="2E7D4F"/>
            </a:solidFill>
          </a:ln>
        </p:spPr>
        <p:txBody>
          <a:bodyPr wrap="square" lIns="73152" tIns="73152" rIns="73152" bIns="73152" anchor="t">
            <a:noAutofit/>
          </a:bodyPr>
          <a:lstStyle/>
          <a:p>
            <a:pPr algn="l">
              <a:spcBef>
                <a:spcPts val="0"/>
              </a:spcBef>
              <a:spcAft>
                <a:spcPts val="0"/>
              </a:spcAft>
              <a:buNone/>
            </a:pPr>
            <a:endParaRPr lang="en-US" sz="600"/>
          </a:p>
        </p:txBody>
      </p:sp>
      <p:sp>
        <p:nvSpPr>
          <p:cNvPr id="1245" name="text 1245"/>
          <p:cNvSpPr txBox="1"/>
          <p:nvPr/>
        </p:nvSpPr>
        <p:spPr>
          <a:xfrm>
            <a:off x="5440680" y="2011680"/>
            <a:ext cx="3017520" cy="41148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500" b="1" i="0">
                <a:solidFill>
                  <a:srgbClr val="2E7D4F"/>
                </a:solidFill>
                <a:latin typeface="Calibri"/>
                <a:ea typeface="Calibri"/>
                <a:cs typeface="Calibri"/>
              </a:rPr>
              <a:t>💻  Local SLM</a:t>
            </a:r>
          </a:p>
        </p:txBody>
      </p:sp>
      <p:sp>
        <p:nvSpPr>
          <p:cNvPr id="1246" name="text 1246"/>
          <p:cNvSpPr txBox="1"/>
          <p:nvPr/>
        </p:nvSpPr>
        <p:spPr>
          <a:xfrm>
            <a:off x="5440680" y="2468880"/>
            <a:ext cx="3017520" cy="32004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1050" b="0" i="0">
                <a:solidFill>
                  <a:srgbClr val="5D6C7B"/>
                </a:solidFill>
                <a:latin typeface="Calibri"/>
                <a:ea typeface="Calibri"/>
                <a:cs typeface="Calibri"/>
              </a:rPr>
              <a:t>llama3.1 8B on Ollama · Claude Haiku</a:t>
            </a:r>
          </a:p>
        </p:txBody>
      </p:sp>
      <p:sp>
        <p:nvSpPr>
          <p:cNvPr id="1247" name="text 1247"/>
          <p:cNvSpPr txBox="1"/>
          <p:nvPr/>
        </p:nvSpPr>
        <p:spPr>
          <a:xfrm>
            <a:off x="5486400" y="2880360"/>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2E7D4F"/>
                </a:solidFill>
                <a:latin typeface="Calibri"/>
                <a:ea typeface="Calibri"/>
                <a:cs typeface="Calibri"/>
              </a:rPr>
              <a:t>+ free tokens, no rate limit</a:t>
            </a:r>
          </a:p>
        </p:txBody>
      </p:sp>
      <p:sp>
        <p:nvSpPr>
          <p:cNvPr id="1248" name="text 1248"/>
          <p:cNvSpPr txBox="1"/>
          <p:nvPr/>
        </p:nvSpPr>
        <p:spPr>
          <a:xfrm>
            <a:off x="5486400" y="3319272"/>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2E7D4F"/>
                </a:solidFill>
                <a:latin typeface="Calibri"/>
                <a:ea typeface="Calibri"/>
                <a:cs typeface="Calibri"/>
              </a:rPr>
              <a:t>+ private, can run air-gapped</a:t>
            </a:r>
          </a:p>
        </p:txBody>
      </p:sp>
      <p:sp>
        <p:nvSpPr>
          <p:cNvPr id="1249" name="text 1249"/>
          <p:cNvSpPr txBox="1"/>
          <p:nvPr/>
        </p:nvSpPr>
        <p:spPr>
          <a:xfrm>
            <a:off x="5486400" y="3758183"/>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B91F2D"/>
                </a:solidFill>
                <a:latin typeface="Calibri"/>
                <a:ea typeface="Calibri"/>
                <a:cs typeface="Calibri"/>
              </a:rPr>
              <a:t>− weaker reasoning</a:t>
            </a:r>
          </a:p>
        </p:txBody>
      </p:sp>
      <p:sp>
        <p:nvSpPr>
          <p:cNvPr id="1250" name="text 1250"/>
          <p:cNvSpPr txBox="1"/>
          <p:nvPr/>
        </p:nvSpPr>
        <p:spPr>
          <a:xfrm>
            <a:off x="5486400" y="4197096"/>
            <a:ext cx="301752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B91F2D"/>
                </a:solidFill>
                <a:latin typeface="Calibri"/>
                <a:ea typeface="Calibri"/>
                <a:cs typeface="Calibri"/>
              </a:rPr>
              <a:t>− needs precise prompts / examples</a:t>
            </a:r>
          </a:p>
        </p:txBody>
      </p:sp>
      <p:sp>
        <p:nvSpPr>
          <p:cNvPr id="1251" name="arrow 1251"/>
          <p:cNvSpPr/>
          <p:nvPr/>
        </p:nvSpPr>
        <p:spPr>
          <a:xfrm>
            <a:off x="4023360" y="2514600"/>
            <a:ext cx="1097280" cy="457200"/>
          </a:xfrm>
          <a:prstGeom prst="rightArrow">
            <a:avLst/>
          </a:prstGeom>
          <a:solidFill>
            <a:srgbClr val="2E7D4F"/>
          </a:solidFill>
          <a:ln>
            <a:noFill/>
          </a:ln>
        </p:spPr>
        <p:txBody>
          <a:bodyPr/>
          <a:lstStyle/>
          <a:p>
            <a:endParaRPr lang="en-US"/>
          </a:p>
        </p:txBody>
      </p:sp>
      <p:sp>
        <p:nvSpPr>
          <p:cNvPr id="1252" name="text 1252"/>
          <p:cNvSpPr txBox="1"/>
          <p:nvPr/>
        </p:nvSpPr>
        <p:spPr>
          <a:xfrm>
            <a:off x="3931920" y="2057400"/>
            <a:ext cx="1280160" cy="45720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00" b="1" i="0">
                <a:solidFill>
                  <a:srgbClr val="2E7D4F"/>
                </a:solidFill>
                <a:latin typeface="Calibri"/>
                <a:ea typeface="Calibri"/>
                <a:cs typeface="Calibri"/>
              </a:rPr>
              <a:t>offload template tasks</a:t>
            </a:r>
          </a:p>
        </p:txBody>
      </p:sp>
      <p:sp>
        <p:nvSpPr>
          <p:cNvPr id="1253" name="arrow 1253"/>
          <p:cNvSpPr/>
          <p:nvPr/>
        </p:nvSpPr>
        <p:spPr>
          <a:xfrm>
            <a:off x="4023360" y="3886200"/>
            <a:ext cx="1097280" cy="457200"/>
          </a:xfrm>
          <a:prstGeom prst="leftArrow">
            <a:avLst/>
          </a:prstGeom>
          <a:solidFill>
            <a:srgbClr val="B91F2D"/>
          </a:solidFill>
          <a:ln>
            <a:noFill/>
          </a:ln>
        </p:spPr>
        <p:txBody>
          <a:bodyPr/>
          <a:lstStyle/>
          <a:p>
            <a:endParaRPr lang="en-US"/>
          </a:p>
        </p:txBody>
      </p:sp>
      <p:sp>
        <p:nvSpPr>
          <p:cNvPr id="1254" name="text 1254"/>
          <p:cNvSpPr txBox="1"/>
          <p:nvPr/>
        </p:nvSpPr>
        <p:spPr>
          <a:xfrm>
            <a:off x="3931920" y="4370832"/>
            <a:ext cx="1280160" cy="457200"/>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00" b="1" i="0">
                <a:solidFill>
                  <a:srgbClr val="B91F2D"/>
                </a:solidFill>
                <a:latin typeface="Calibri"/>
                <a:ea typeface="Calibri"/>
                <a:cs typeface="Calibri"/>
              </a:rPr>
              <a:t>escalate what needs reasoning</a:t>
            </a:r>
          </a:p>
        </p:txBody>
      </p:sp>
      <p:sp>
        <p:nvSpPr>
          <p:cNvPr id="1255" name="shape 1255"/>
          <p:cNvSpPr/>
          <p:nvPr/>
        </p:nvSpPr>
        <p:spPr>
          <a:xfrm>
            <a:off x="502920" y="5120640"/>
            <a:ext cx="8138160" cy="1051560"/>
          </a:xfrm>
          <a:prstGeom prst="roundRect">
            <a:avLst>
              <a:gd name="adj" fmla="val 10000"/>
            </a:avLst>
          </a:prstGeom>
          <a:solidFill>
            <a:srgbClr val="0E2745"/>
          </a:solidFill>
          <a:ln>
            <a:noFill/>
          </a:ln>
        </p:spPr>
        <p:txBody>
          <a:bodyPr wrap="square" lIns="137160" tIns="137160" rIns="137160" bIns="137160" anchor="ctr">
            <a:noAutofit/>
          </a:bodyPr>
          <a:lstStyle/>
          <a:p>
            <a:pPr algn="l">
              <a:spcBef>
                <a:spcPts val="0"/>
              </a:spcBef>
              <a:spcAft>
                <a:spcPts val="200"/>
              </a:spcAft>
              <a:buNone/>
            </a:pPr>
            <a:r>
              <a:rPr lang="en-US" sz="1200" b="1" i="0">
                <a:solidFill>
                  <a:srgbClr val="FFC000"/>
                </a:solidFill>
                <a:latin typeface="Calibri"/>
                <a:ea typeface="Calibri"/>
                <a:cs typeface="Calibri"/>
              </a:rPr>
              <a:t>In this tutorial</a:t>
            </a:r>
          </a:p>
          <a:p>
            <a:pPr algn="l">
              <a:spcBef>
                <a:spcPts val="0"/>
              </a:spcBef>
              <a:spcAft>
                <a:spcPts val="0"/>
              </a:spcAft>
              <a:buNone/>
            </a:pPr>
            <a:r>
              <a:rPr lang="en-US" sz="1100" b="1" i="0">
                <a:solidFill>
                  <a:srgbClr val="FFFFFF"/>
                </a:solidFill>
                <a:latin typeface="Calibri"/>
                <a:ea typeface="Calibri"/>
                <a:cs typeface="Calibri"/>
              </a:rPr>
              <a:t>2c / 2d: TB + RTL on Gemini, SDC + config.mk on local llama3.1   ·   Part 4: Sonnet plans and corrects, Haiku executes</a:t>
            </a:r>
          </a:p>
        </p:txBody>
      </p:sp>
    </p:spTree>
    <p:extLst>
      <p:ext uri="{BB962C8B-B14F-4D97-AF65-F5344CB8AC3E}">
        <p14:creationId xmlns:p14="http://schemas.microsoft.com/office/powerpoint/2010/main" val="496440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995F5-767C-A6F6-6CED-258532C5EF64}"/>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D01D303E-8A78-170F-9044-C4E1D15E201D}"/>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3DB9AF24-9B62-CFFD-6FE8-18042A4E27B5}"/>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3FE0A8B5-98AD-5096-A8F9-2699DA6DBDFF}"/>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Bridging SLM–LLM Gap</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84652CDE-3B27-C211-B5FA-2D90414A5321}"/>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279A1F71-4151-CC76-6BEE-721F9D982694}"/>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44</a:t>
            </a:fld>
            <a:endParaRPr sz="750" b="0">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176F53E9-E6DA-B8B8-4C84-AED0965B22B4}"/>
              </a:ext>
            </a:extLst>
          </p:cNvPr>
          <p:cNvSpPr>
            <a:spLocks noGrp="1"/>
          </p:cNvSpPr>
          <p:nvPr/>
        </p:nvSpPr>
        <p:spPr>
          <a:xfrm>
            <a:off x="495300" y="990600"/>
            <a:ext cx="8134350" cy="685800"/>
          </a:xfrm>
          <a:prstGeom prst="rect">
            <a:avLst/>
          </a:prstGeom>
          <a:solidFill>
            <a:srgbClr val="EEF3F9"/>
          </a:solidFill>
          <a:ln w="0">
            <a:noFill/>
          </a:ln>
        </p:spPr>
        <p:txBody>
          <a:bodyPr/>
          <a:lstStyle/>
          <a:p>
            <a:endParaRPr lang="en-GR"/>
          </a:p>
        </p:txBody>
      </p:sp>
      <p:sp>
        <p:nvSpPr>
          <p:cNvPr id="7" name="Rectangle 6">
            <a:extLst>
              <a:ext uri="{FF2B5EF4-FFF2-40B4-BE49-F238E27FC236}">
                <a16:creationId xmlns:a16="http://schemas.microsoft.com/office/drawing/2014/main" id="{A3A6A24B-C1BE-7BD1-4166-5C043BC087FA}"/>
              </a:ext>
            </a:extLst>
          </p:cNvPr>
          <p:cNvSpPr>
            <a:spLocks noGrp="1"/>
          </p:cNvSpPr>
          <p:nvPr/>
        </p:nvSpPr>
        <p:spPr>
          <a:xfrm>
            <a:off x="495300" y="990600"/>
            <a:ext cx="66675" cy="685800"/>
          </a:xfrm>
          <a:prstGeom prst="rect">
            <a:avLst/>
          </a:prstGeom>
          <a:solidFill>
            <a:srgbClr val="B21F2D"/>
          </a:solidFill>
          <a:ln w="0">
            <a:noFill/>
          </a:ln>
        </p:spPr>
        <p:txBody>
          <a:bodyPr/>
          <a:lstStyle/>
          <a:p>
            <a:endParaRPr lang="en-GR"/>
          </a:p>
        </p:txBody>
      </p:sp>
      <p:sp>
        <p:nvSpPr>
          <p:cNvPr id="9" name="Rectangle 8">
            <a:extLst>
              <a:ext uri="{FF2B5EF4-FFF2-40B4-BE49-F238E27FC236}">
                <a16:creationId xmlns:a16="http://schemas.microsoft.com/office/drawing/2014/main" id="{A16966E4-2090-882D-2FEC-B7B64C541026}"/>
              </a:ext>
            </a:extLst>
          </p:cNvPr>
          <p:cNvSpPr>
            <a:spLocks noGrp="1"/>
          </p:cNvSpPr>
          <p:nvPr/>
        </p:nvSpPr>
        <p:spPr>
          <a:xfrm>
            <a:off x="742950" y="1104900"/>
            <a:ext cx="7620000" cy="468000"/>
          </a:xfrm>
          <a:prstGeom prst="rect">
            <a:avLst/>
          </a:prstGeom>
          <a:noFill/>
          <a:ln w="0">
            <a:noFill/>
          </a:ln>
        </p:spPr>
        <p:txBody>
          <a:bodyPr anchor="ctr">
            <a:noAutofit/>
          </a:bodyPr>
          <a:lstStyle/>
          <a:p>
            <a:pPr algn="ctr"/>
            <a:r>
              <a:rPr lang="en-US" sz="1600">
                <a:solidFill>
                  <a:schemeClr val="tx2">
                    <a:lumMod val="75000"/>
                  </a:schemeClr>
                </a:solidFill>
              </a:rPr>
              <a:t>How can we leverage benefits of each – SLM and LLM especially for low-cost computing?</a:t>
            </a:r>
          </a:p>
          <a:p>
            <a:pPr algn="ctr"/>
            <a:r>
              <a:rPr lang="en-US" sz="1600" b="1">
                <a:solidFill>
                  <a:schemeClr val="tx2">
                    <a:lumMod val="75000"/>
                  </a:schemeClr>
                </a:solidFill>
              </a:rPr>
              <a:t>Reduce cost of cloud tokens and offload to SLMs on Edge devices</a:t>
            </a:r>
          </a:p>
        </p:txBody>
      </p:sp>
      <p:sp>
        <p:nvSpPr>
          <p:cNvPr id="59" name="Rounded Rectangle 58">
            <a:extLst>
              <a:ext uri="{FF2B5EF4-FFF2-40B4-BE49-F238E27FC236}">
                <a16:creationId xmlns:a16="http://schemas.microsoft.com/office/drawing/2014/main" id="{03E67D8A-077D-9697-0528-852B77388571}"/>
              </a:ext>
            </a:extLst>
          </p:cNvPr>
          <p:cNvSpPr>
            <a:spLocks noGrp="1"/>
          </p:cNvSpPr>
          <p:nvPr/>
        </p:nvSpPr>
        <p:spPr>
          <a:xfrm>
            <a:off x="495300" y="2193706"/>
            <a:ext cx="2337547" cy="3170550"/>
          </a:xfrm>
          <a:prstGeom prst="roundRect">
            <a:avLst>
              <a:gd name="adj" fmla="val 5714"/>
            </a:avLst>
          </a:prstGeom>
          <a:solidFill>
            <a:srgbClr val="F3F6FA"/>
          </a:solidFill>
          <a:ln w="0">
            <a:noFill/>
          </a:ln>
        </p:spPr>
        <p:txBody>
          <a:bodyPr/>
          <a:lstStyle/>
          <a:p>
            <a:endParaRPr lang="en-GR"/>
          </a:p>
        </p:txBody>
      </p:sp>
      <p:sp>
        <p:nvSpPr>
          <p:cNvPr id="60" name="Rectangle 59">
            <a:extLst>
              <a:ext uri="{FF2B5EF4-FFF2-40B4-BE49-F238E27FC236}">
                <a16:creationId xmlns:a16="http://schemas.microsoft.com/office/drawing/2014/main" id="{2B777376-07ED-EDEF-C3F2-74CC26B7C131}"/>
              </a:ext>
            </a:extLst>
          </p:cNvPr>
          <p:cNvSpPr>
            <a:spLocks noGrp="1"/>
          </p:cNvSpPr>
          <p:nvPr/>
        </p:nvSpPr>
        <p:spPr>
          <a:xfrm>
            <a:off x="630890" y="2250856"/>
            <a:ext cx="2066365" cy="666750"/>
          </a:xfrm>
          <a:prstGeom prst="rect">
            <a:avLst/>
          </a:prstGeom>
          <a:noFill/>
          <a:ln w="0">
            <a:noFill/>
          </a:ln>
        </p:spPr>
        <p:txBody>
          <a:bodyPr anchor="ctr">
            <a:normAutofit fontScale="70000" lnSpcReduction="20000"/>
          </a:bodyPr>
          <a:lstStyle/>
          <a:p>
            <a:pPr algn="ctr">
              <a:defRPr sz="3150" b="1">
                <a:solidFill>
                  <a:srgbClr val="2F75B5"/>
                </a:solidFill>
                <a:latin typeface="Calibri"/>
                <a:ea typeface="Calibri"/>
                <a:cs typeface="Calibri"/>
              </a:defRPr>
            </a:pPr>
            <a:r>
              <a:rPr lang="en-US" sz="3150" b="1">
                <a:solidFill>
                  <a:srgbClr val="2F75B5"/>
                </a:solidFill>
                <a:latin typeface="Calibri"/>
                <a:ea typeface="Calibri"/>
                <a:cs typeface="Calibri"/>
              </a:rPr>
              <a:t>Hybrid Systems</a:t>
            </a:r>
            <a:endParaRPr sz="3150" b="1">
              <a:solidFill>
                <a:srgbClr val="2F75B5"/>
              </a:solidFill>
              <a:latin typeface="Calibri"/>
              <a:ea typeface="Calibri"/>
              <a:cs typeface="Calibri"/>
            </a:endParaRPr>
          </a:p>
        </p:txBody>
      </p:sp>
      <p:sp>
        <p:nvSpPr>
          <p:cNvPr id="61" name="Rectangle 60">
            <a:extLst>
              <a:ext uri="{FF2B5EF4-FFF2-40B4-BE49-F238E27FC236}">
                <a16:creationId xmlns:a16="http://schemas.microsoft.com/office/drawing/2014/main" id="{F091141A-92AE-428B-1434-F84676355B03}"/>
              </a:ext>
            </a:extLst>
          </p:cNvPr>
          <p:cNvSpPr>
            <a:spLocks noGrp="1"/>
          </p:cNvSpPr>
          <p:nvPr/>
        </p:nvSpPr>
        <p:spPr>
          <a:xfrm>
            <a:off x="630890" y="3031906"/>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Distillation learning</a:t>
            </a:r>
            <a:endParaRPr sz="1400" b="1">
              <a:solidFill>
                <a:srgbClr val="5B6573"/>
              </a:solidFill>
              <a:latin typeface="Calibri"/>
              <a:ea typeface="Calibri"/>
              <a:cs typeface="Calibri"/>
            </a:endParaRPr>
          </a:p>
        </p:txBody>
      </p:sp>
      <p:sp>
        <p:nvSpPr>
          <p:cNvPr id="63" name="Rectangle 62">
            <a:extLst>
              <a:ext uri="{FF2B5EF4-FFF2-40B4-BE49-F238E27FC236}">
                <a16:creationId xmlns:a16="http://schemas.microsoft.com/office/drawing/2014/main" id="{C74461CA-42D9-6762-B8CE-C7B5E7977B59}"/>
              </a:ext>
            </a:extLst>
          </p:cNvPr>
          <p:cNvSpPr>
            <a:spLocks noGrp="1"/>
          </p:cNvSpPr>
          <p:nvPr/>
        </p:nvSpPr>
        <p:spPr>
          <a:xfrm>
            <a:off x="685800" y="4517806"/>
            <a:ext cx="1940299"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Use different agents based on task difficulty</a:t>
            </a:r>
            <a:endParaRPr sz="1400" b="1">
              <a:solidFill>
                <a:srgbClr val="5B6573"/>
              </a:solidFill>
              <a:latin typeface="Calibri"/>
              <a:ea typeface="Calibri"/>
              <a:cs typeface="Calibri"/>
            </a:endParaRPr>
          </a:p>
        </p:txBody>
      </p:sp>
      <p:sp>
        <p:nvSpPr>
          <p:cNvPr id="65" name="Rectangle 64">
            <a:extLst>
              <a:ext uri="{FF2B5EF4-FFF2-40B4-BE49-F238E27FC236}">
                <a16:creationId xmlns:a16="http://schemas.microsoft.com/office/drawing/2014/main" id="{391C9339-825F-3B21-8108-B72B3E311479}"/>
              </a:ext>
            </a:extLst>
          </p:cNvPr>
          <p:cNvSpPr>
            <a:spLocks noGrp="1"/>
          </p:cNvSpPr>
          <p:nvPr/>
        </p:nvSpPr>
        <p:spPr>
          <a:xfrm>
            <a:off x="685801" y="3714065"/>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LLM planner + SLM executor</a:t>
            </a:r>
            <a:endParaRPr sz="1400" b="1">
              <a:solidFill>
                <a:srgbClr val="5B6573"/>
              </a:solidFill>
              <a:latin typeface="Calibri"/>
              <a:ea typeface="Calibri"/>
              <a:cs typeface="Calibri"/>
            </a:endParaRPr>
          </a:p>
        </p:txBody>
      </p:sp>
      <p:sp>
        <p:nvSpPr>
          <p:cNvPr id="78" name="Rounded Rectangle 77">
            <a:extLst>
              <a:ext uri="{FF2B5EF4-FFF2-40B4-BE49-F238E27FC236}">
                <a16:creationId xmlns:a16="http://schemas.microsoft.com/office/drawing/2014/main" id="{43FF6F42-9699-0090-9B1D-BCFB1A47DBCB}"/>
              </a:ext>
            </a:extLst>
          </p:cNvPr>
          <p:cNvSpPr>
            <a:spLocks noGrp="1"/>
          </p:cNvSpPr>
          <p:nvPr/>
        </p:nvSpPr>
        <p:spPr>
          <a:xfrm>
            <a:off x="3403226" y="2193706"/>
            <a:ext cx="2337547" cy="3170550"/>
          </a:xfrm>
          <a:prstGeom prst="roundRect">
            <a:avLst>
              <a:gd name="adj" fmla="val 5714"/>
            </a:avLst>
          </a:prstGeom>
          <a:solidFill>
            <a:srgbClr val="F3F6FA"/>
          </a:solidFill>
          <a:ln w="0">
            <a:noFill/>
          </a:ln>
        </p:spPr>
        <p:txBody>
          <a:bodyPr/>
          <a:lstStyle/>
          <a:p>
            <a:endParaRPr lang="en-GR"/>
          </a:p>
        </p:txBody>
      </p:sp>
      <p:sp>
        <p:nvSpPr>
          <p:cNvPr id="79" name="Rectangle 78">
            <a:extLst>
              <a:ext uri="{FF2B5EF4-FFF2-40B4-BE49-F238E27FC236}">
                <a16:creationId xmlns:a16="http://schemas.microsoft.com/office/drawing/2014/main" id="{99759710-ED53-575A-A950-745DC4D9D4FA}"/>
              </a:ext>
            </a:extLst>
          </p:cNvPr>
          <p:cNvSpPr>
            <a:spLocks noGrp="1"/>
          </p:cNvSpPr>
          <p:nvPr/>
        </p:nvSpPr>
        <p:spPr>
          <a:xfrm>
            <a:off x="3538816" y="2250856"/>
            <a:ext cx="2066365" cy="666750"/>
          </a:xfrm>
          <a:prstGeom prst="rect">
            <a:avLst/>
          </a:prstGeom>
          <a:noFill/>
          <a:ln w="0">
            <a:noFill/>
          </a:ln>
        </p:spPr>
        <p:txBody>
          <a:bodyPr anchor="ctr">
            <a:normAutofit fontScale="92500" lnSpcReduction="10000"/>
          </a:bodyPr>
          <a:lstStyle/>
          <a:p>
            <a:pPr algn="ctr">
              <a:defRPr sz="3150" b="1">
                <a:solidFill>
                  <a:srgbClr val="2F75B5"/>
                </a:solidFill>
                <a:latin typeface="Calibri"/>
                <a:ea typeface="Calibri"/>
                <a:cs typeface="Calibri"/>
              </a:defRPr>
            </a:pPr>
            <a:r>
              <a:rPr lang="en-US" sz="2200" b="1">
                <a:solidFill>
                  <a:srgbClr val="2F75B5"/>
                </a:solidFill>
                <a:latin typeface="Calibri"/>
                <a:ea typeface="Calibri"/>
                <a:cs typeface="Calibri"/>
              </a:rPr>
              <a:t>Task Decomposition</a:t>
            </a:r>
            <a:endParaRPr sz="2200" b="1">
              <a:solidFill>
                <a:srgbClr val="2F75B5"/>
              </a:solidFill>
              <a:latin typeface="Calibri"/>
              <a:ea typeface="Calibri"/>
              <a:cs typeface="Calibri"/>
            </a:endParaRPr>
          </a:p>
        </p:txBody>
      </p:sp>
      <p:sp>
        <p:nvSpPr>
          <p:cNvPr id="80" name="Rectangle 79">
            <a:extLst>
              <a:ext uri="{FF2B5EF4-FFF2-40B4-BE49-F238E27FC236}">
                <a16:creationId xmlns:a16="http://schemas.microsoft.com/office/drawing/2014/main" id="{331A1393-4D12-1CD6-FD50-CAA5BB7345BD}"/>
              </a:ext>
            </a:extLst>
          </p:cNvPr>
          <p:cNvSpPr>
            <a:spLocks noGrp="1"/>
          </p:cNvSpPr>
          <p:nvPr/>
        </p:nvSpPr>
        <p:spPr>
          <a:xfrm>
            <a:off x="3538816" y="3031906"/>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Divide &amp; Conquer approach</a:t>
            </a:r>
            <a:endParaRPr sz="1400" b="1">
              <a:solidFill>
                <a:srgbClr val="5B6573"/>
              </a:solidFill>
              <a:latin typeface="Calibri"/>
              <a:ea typeface="Calibri"/>
              <a:cs typeface="Calibri"/>
            </a:endParaRPr>
          </a:p>
        </p:txBody>
      </p:sp>
      <p:sp>
        <p:nvSpPr>
          <p:cNvPr id="81" name="Rectangle 80">
            <a:extLst>
              <a:ext uri="{FF2B5EF4-FFF2-40B4-BE49-F238E27FC236}">
                <a16:creationId xmlns:a16="http://schemas.microsoft.com/office/drawing/2014/main" id="{93FF6414-0B95-8142-A8B5-EE18787B8B60}"/>
              </a:ext>
            </a:extLst>
          </p:cNvPr>
          <p:cNvSpPr>
            <a:spLocks noGrp="1"/>
          </p:cNvSpPr>
          <p:nvPr/>
        </p:nvSpPr>
        <p:spPr>
          <a:xfrm>
            <a:off x="3593726" y="4517806"/>
            <a:ext cx="1940299"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Use LLMs for validation</a:t>
            </a:r>
            <a:endParaRPr sz="1400" b="1">
              <a:solidFill>
                <a:srgbClr val="5B6573"/>
              </a:solidFill>
              <a:latin typeface="Calibri"/>
              <a:ea typeface="Calibri"/>
              <a:cs typeface="Calibri"/>
            </a:endParaRPr>
          </a:p>
        </p:txBody>
      </p:sp>
      <p:sp>
        <p:nvSpPr>
          <p:cNvPr id="82" name="Rectangle 81">
            <a:extLst>
              <a:ext uri="{FF2B5EF4-FFF2-40B4-BE49-F238E27FC236}">
                <a16:creationId xmlns:a16="http://schemas.microsoft.com/office/drawing/2014/main" id="{D4B5E826-6C28-5EAE-E687-623259F70066}"/>
              </a:ext>
            </a:extLst>
          </p:cNvPr>
          <p:cNvSpPr>
            <a:spLocks noGrp="1"/>
          </p:cNvSpPr>
          <p:nvPr/>
        </p:nvSpPr>
        <p:spPr>
          <a:xfrm>
            <a:off x="3593727" y="3714065"/>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SLMs provide good results for small tasks</a:t>
            </a:r>
            <a:endParaRPr sz="1400" b="1">
              <a:solidFill>
                <a:srgbClr val="5B6573"/>
              </a:solidFill>
              <a:latin typeface="Calibri"/>
              <a:ea typeface="Calibri"/>
              <a:cs typeface="Calibri"/>
            </a:endParaRPr>
          </a:p>
        </p:txBody>
      </p:sp>
      <p:sp>
        <p:nvSpPr>
          <p:cNvPr id="83" name="Rounded Rectangle 82">
            <a:extLst>
              <a:ext uri="{FF2B5EF4-FFF2-40B4-BE49-F238E27FC236}">
                <a16:creationId xmlns:a16="http://schemas.microsoft.com/office/drawing/2014/main" id="{7CD03528-25A3-AB3A-371D-ABDAA4368756}"/>
              </a:ext>
            </a:extLst>
          </p:cNvPr>
          <p:cNvSpPr>
            <a:spLocks noGrp="1"/>
          </p:cNvSpPr>
          <p:nvPr/>
        </p:nvSpPr>
        <p:spPr>
          <a:xfrm>
            <a:off x="6311153" y="2193706"/>
            <a:ext cx="2337547" cy="3170550"/>
          </a:xfrm>
          <a:prstGeom prst="roundRect">
            <a:avLst>
              <a:gd name="adj" fmla="val 5714"/>
            </a:avLst>
          </a:prstGeom>
          <a:solidFill>
            <a:srgbClr val="F3F6FA"/>
          </a:solidFill>
          <a:ln w="0">
            <a:noFill/>
          </a:ln>
        </p:spPr>
        <p:txBody>
          <a:bodyPr/>
          <a:lstStyle/>
          <a:p>
            <a:endParaRPr lang="en-GR"/>
          </a:p>
        </p:txBody>
      </p:sp>
      <p:sp>
        <p:nvSpPr>
          <p:cNvPr id="84" name="Rectangle 83">
            <a:extLst>
              <a:ext uri="{FF2B5EF4-FFF2-40B4-BE49-F238E27FC236}">
                <a16:creationId xmlns:a16="http://schemas.microsoft.com/office/drawing/2014/main" id="{B3EA7971-C38E-B7D9-BBF3-B5EE99EA9B29}"/>
              </a:ext>
            </a:extLst>
          </p:cNvPr>
          <p:cNvSpPr>
            <a:spLocks noGrp="1"/>
          </p:cNvSpPr>
          <p:nvPr/>
        </p:nvSpPr>
        <p:spPr>
          <a:xfrm>
            <a:off x="6446743" y="2250856"/>
            <a:ext cx="2066365" cy="666750"/>
          </a:xfrm>
          <a:prstGeom prst="rect">
            <a:avLst/>
          </a:prstGeom>
          <a:noFill/>
          <a:ln w="0">
            <a:noFill/>
          </a:ln>
        </p:spPr>
        <p:txBody>
          <a:bodyPr anchor="ctr">
            <a:normAutofit/>
          </a:bodyPr>
          <a:lstStyle/>
          <a:p>
            <a:pPr algn="ctr">
              <a:defRPr sz="3150" b="1">
                <a:solidFill>
                  <a:srgbClr val="2F75B5"/>
                </a:solidFill>
                <a:latin typeface="Calibri"/>
                <a:ea typeface="Calibri"/>
                <a:cs typeface="Calibri"/>
              </a:defRPr>
            </a:pPr>
            <a:r>
              <a:rPr lang="en-US" sz="2200" b="1">
                <a:solidFill>
                  <a:srgbClr val="2F75B5"/>
                </a:solidFill>
                <a:latin typeface="Calibri"/>
                <a:ea typeface="Calibri"/>
                <a:cs typeface="Calibri"/>
              </a:rPr>
              <a:t>Multiple Agents</a:t>
            </a:r>
            <a:endParaRPr sz="2200" b="1">
              <a:solidFill>
                <a:srgbClr val="2F75B5"/>
              </a:solidFill>
              <a:latin typeface="Calibri"/>
              <a:ea typeface="Calibri"/>
              <a:cs typeface="Calibri"/>
            </a:endParaRPr>
          </a:p>
        </p:txBody>
      </p:sp>
      <p:sp>
        <p:nvSpPr>
          <p:cNvPr id="85" name="Rectangle 84">
            <a:extLst>
              <a:ext uri="{FF2B5EF4-FFF2-40B4-BE49-F238E27FC236}">
                <a16:creationId xmlns:a16="http://schemas.microsoft.com/office/drawing/2014/main" id="{C626F639-46E7-843E-1464-43F1F5A67F5F}"/>
              </a:ext>
            </a:extLst>
          </p:cNvPr>
          <p:cNvSpPr>
            <a:spLocks noGrp="1"/>
          </p:cNvSpPr>
          <p:nvPr/>
        </p:nvSpPr>
        <p:spPr>
          <a:xfrm>
            <a:off x="6446743" y="3031906"/>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Train different agents</a:t>
            </a:r>
            <a:endParaRPr sz="1400" b="1">
              <a:solidFill>
                <a:srgbClr val="5B6573"/>
              </a:solidFill>
              <a:latin typeface="Calibri"/>
              <a:ea typeface="Calibri"/>
              <a:cs typeface="Calibri"/>
            </a:endParaRPr>
          </a:p>
        </p:txBody>
      </p:sp>
      <p:sp>
        <p:nvSpPr>
          <p:cNvPr id="86" name="Rectangle 85">
            <a:extLst>
              <a:ext uri="{FF2B5EF4-FFF2-40B4-BE49-F238E27FC236}">
                <a16:creationId xmlns:a16="http://schemas.microsoft.com/office/drawing/2014/main" id="{AE8DA6B6-4E6E-3F33-32FA-30B53A0EF654}"/>
              </a:ext>
            </a:extLst>
          </p:cNvPr>
          <p:cNvSpPr>
            <a:spLocks noGrp="1"/>
          </p:cNvSpPr>
          <p:nvPr/>
        </p:nvSpPr>
        <p:spPr>
          <a:xfrm>
            <a:off x="6501653" y="4517806"/>
            <a:ext cx="1940299"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Focus on task rather than general reasoning</a:t>
            </a:r>
            <a:endParaRPr sz="1400" b="1">
              <a:solidFill>
                <a:srgbClr val="5B6573"/>
              </a:solidFill>
              <a:latin typeface="Calibri"/>
              <a:ea typeface="Calibri"/>
              <a:cs typeface="Calibri"/>
            </a:endParaRPr>
          </a:p>
        </p:txBody>
      </p:sp>
      <p:sp>
        <p:nvSpPr>
          <p:cNvPr id="87" name="Rectangle 86">
            <a:extLst>
              <a:ext uri="{FF2B5EF4-FFF2-40B4-BE49-F238E27FC236}">
                <a16:creationId xmlns:a16="http://schemas.microsoft.com/office/drawing/2014/main" id="{5208C785-1A99-894B-AC45-6D3642B7C1A6}"/>
              </a:ext>
            </a:extLst>
          </p:cNvPr>
          <p:cNvSpPr>
            <a:spLocks noGrp="1"/>
          </p:cNvSpPr>
          <p:nvPr/>
        </p:nvSpPr>
        <p:spPr>
          <a:xfrm>
            <a:off x="6501654" y="3714065"/>
            <a:ext cx="1940300" cy="457200"/>
          </a:xfrm>
          <a:prstGeom prst="rect">
            <a:avLst/>
          </a:prstGeom>
          <a:noFill/>
          <a:ln w="0">
            <a:noFill/>
          </a:ln>
        </p:spPr>
        <p:txBody>
          <a:bodyPr anchor="ctr">
            <a:noAutofit/>
          </a:bodyPr>
          <a:lstStyle/>
          <a:p>
            <a:pPr algn="ctr">
              <a:defRPr sz="1200" b="1">
                <a:solidFill>
                  <a:srgbClr val="5B6573"/>
                </a:solidFill>
                <a:latin typeface="Calibri"/>
                <a:ea typeface="Calibri"/>
                <a:cs typeface="Calibri"/>
              </a:defRPr>
            </a:pPr>
            <a:r>
              <a:rPr lang="en-US" sz="1400" b="1">
                <a:solidFill>
                  <a:srgbClr val="5B6573"/>
                </a:solidFill>
                <a:latin typeface="Calibri"/>
                <a:ea typeface="Calibri"/>
                <a:cs typeface="Calibri"/>
              </a:rPr>
              <a:t>Utilize an optimal agent for a specific task</a:t>
            </a:r>
            <a:endParaRPr sz="1400" b="1">
              <a:solidFill>
                <a:srgbClr val="5B6573"/>
              </a:solidFill>
              <a:latin typeface="Calibri"/>
              <a:ea typeface="Calibri"/>
              <a:cs typeface="Calibri"/>
            </a:endParaRPr>
          </a:p>
        </p:txBody>
      </p:sp>
      <p:sp>
        <p:nvSpPr>
          <p:cNvPr id="88" name="Rectangle 87">
            <a:extLst>
              <a:ext uri="{FF2B5EF4-FFF2-40B4-BE49-F238E27FC236}">
                <a16:creationId xmlns:a16="http://schemas.microsoft.com/office/drawing/2014/main" id="{B54A5356-E98B-A872-D171-9F8E9515969A}"/>
              </a:ext>
            </a:extLst>
          </p:cNvPr>
          <p:cNvSpPr>
            <a:spLocks noGrp="1"/>
          </p:cNvSpPr>
          <p:nvPr/>
        </p:nvSpPr>
        <p:spPr>
          <a:xfrm>
            <a:off x="1028700" y="5710797"/>
            <a:ext cx="8115300" cy="495300"/>
          </a:xfrm>
          <a:prstGeom prst="rect">
            <a:avLst/>
          </a:prstGeom>
          <a:noFill/>
          <a:ln w="0">
            <a:noFill/>
          </a:ln>
        </p:spPr>
        <p:txBody>
          <a:bodyPr>
            <a:noAutofit/>
          </a:bodyPr>
          <a:lstStyle/>
          <a:p>
            <a:pPr>
              <a:defRPr sz="1650" b="0">
                <a:solidFill>
                  <a:srgbClr val="007B78"/>
                </a:solidFill>
                <a:latin typeface="Arial"/>
                <a:ea typeface="Arial"/>
                <a:cs typeface="Arial"/>
              </a:defRPr>
            </a:pPr>
            <a:r>
              <a:rPr lang="en-US" sz="1650" b="0" i="1">
                <a:solidFill>
                  <a:schemeClr val="tx2">
                    <a:lumMod val="75000"/>
                  </a:schemeClr>
                </a:solidFill>
                <a:latin typeface="Arial"/>
                <a:ea typeface="Arial"/>
                <a:cs typeface="Arial"/>
              </a:rPr>
              <a:t>LLMs and SLMs are different tools and we want to play to their strengths</a:t>
            </a:r>
            <a:endParaRPr sz="1650" b="0" i="1">
              <a:solidFill>
                <a:schemeClr val="tx2">
                  <a:lumMod val="75000"/>
                </a:schemeClr>
              </a:solidFill>
              <a:latin typeface="Arial"/>
              <a:ea typeface="Arial"/>
              <a:cs typeface="Arial"/>
            </a:endParaRPr>
          </a:p>
        </p:txBody>
      </p:sp>
    </p:spTree>
    <p:extLst>
      <p:ext uri="{BB962C8B-B14F-4D97-AF65-F5344CB8AC3E}">
        <p14:creationId xmlns:p14="http://schemas.microsoft.com/office/powerpoint/2010/main" val="4195569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D57E-4484-33A3-F08F-CE5DE9D395F2}"/>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8589198C-5095-AE0B-B604-E7A41D1E5D7B}"/>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CDCFE373-60B2-3A8F-2E1A-2E94987DAB7C}"/>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BBD5F2D8-EA22-C051-37CF-C75A19E02A50}"/>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Agentic AI EDA Flow with Obvious Task Decomposition</a:t>
            </a:r>
          </a:p>
        </p:txBody>
      </p:sp>
      <p:sp>
        <p:nvSpPr>
          <p:cNvPr id="4" name="Rectangle 3">
            <a:extLst>
              <a:ext uri="{FF2B5EF4-FFF2-40B4-BE49-F238E27FC236}">
                <a16:creationId xmlns:a16="http://schemas.microsoft.com/office/drawing/2014/main" id="{78533EF3-E415-AB33-0D0B-AFC656D2FB2D}"/>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8DA56B04-462C-C0C0-F682-A5EAFB29AB33}"/>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45</a:t>
            </a:fld>
            <a:endParaRPr sz="750" b="0">
              <a:solidFill>
                <a:srgbClr val="5B6573"/>
              </a:solidFill>
              <a:latin typeface="Calibri"/>
              <a:ea typeface="Calibri"/>
              <a:cs typeface="Calibri"/>
            </a:endParaRPr>
          </a:p>
        </p:txBody>
      </p:sp>
      <p:sp>
        <p:nvSpPr>
          <p:cNvPr id="80" name="decomposition: Design specification">
            <a:extLst>
              <a:ext uri="{FF2B5EF4-FFF2-40B4-BE49-F238E27FC236}">
                <a16:creationId xmlns:a16="http://schemas.microsoft.com/office/drawing/2014/main" id="{C30992D4-6E28-F364-B014-2E6A5BEA7AB2}"/>
              </a:ext>
            </a:extLst>
          </p:cNvPr>
          <p:cNvSpPr>
            <a:spLocks noGrp="1"/>
          </p:cNvSpPr>
          <p:nvPr/>
        </p:nvSpPr>
        <p:spPr>
          <a:xfrm>
            <a:off x="3476625" y="1019175"/>
            <a:ext cx="2190750" cy="561975"/>
          </a:xfrm>
          <a:prstGeom prst="roundRect">
            <a:avLst>
              <a:gd name="adj" fmla="val 16949"/>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Design specification</a:t>
            </a:r>
          </a:p>
        </p:txBody>
      </p:sp>
      <p:sp>
        <p:nvSpPr>
          <p:cNvPr id="81" name="decomposition arrow">
            <a:extLst>
              <a:ext uri="{FF2B5EF4-FFF2-40B4-BE49-F238E27FC236}">
                <a16:creationId xmlns:a16="http://schemas.microsoft.com/office/drawing/2014/main" id="{4A9ABAC3-8E0D-FC19-F584-D647E9AA636E}"/>
              </a:ext>
            </a:extLst>
          </p:cNvPr>
          <p:cNvSpPr>
            <a:spLocks noGrp="1"/>
          </p:cNvSpPr>
          <p:nvPr/>
        </p:nvSpPr>
        <p:spPr>
          <a:xfrm>
            <a:off x="4495800" y="1647825"/>
            <a:ext cx="152400" cy="352425"/>
          </a:xfrm>
          <a:prstGeom prst="downArrow">
            <a:avLst/>
          </a:prstGeom>
          <a:solidFill>
            <a:srgbClr val="4F81BD"/>
          </a:solidFill>
          <a:ln w="0">
            <a:noFill/>
          </a:ln>
        </p:spPr>
        <p:txBody>
          <a:bodyPr/>
          <a:lstStyle/>
          <a:p>
            <a:endParaRPr lang="en-GR"/>
          </a:p>
        </p:txBody>
      </p:sp>
      <p:sp>
        <p:nvSpPr>
          <p:cNvPr id="82" name="decomposition: Planner: dependencies + task contrac">
            <a:extLst>
              <a:ext uri="{FF2B5EF4-FFF2-40B4-BE49-F238E27FC236}">
                <a16:creationId xmlns:a16="http://schemas.microsoft.com/office/drawing/2014/main" id="{2F6920AD-5B21-620C-B29C-FBDB93380C96}"/>
              </a:ext>
            </a:extLst>
          </p:cNvPr>
          <p:cNvSpPr>
            <a:spLocks noGrp="1"/>
          </p:cNvSpPr>
          <p:nvPr/>
        </p:nvSpPr>
        <p:spPr>
          <a:xfrm>
            <a:off x="2876550" y="2124075"/>
            <a:ext cx="3390900" cy="685800"/>
          </a:xfrm>
          <a:prstGeom prst="roundRect">
            <a:avLst>
              <a:gd name="adj" fmla="val 13889"/>
            </a:avLst>
          </a:prstGeom>
          <a:solidFill>
            <a:srgbClr val="0E2A49"/>
          </a:solidFill>
          <a:ln w="14288">
            <a:solidFill>
              <a:srgbClr val="0E2A49"/>
            </a:solidFill>
            <a:prstDash val="solid"/>
          </a:ln>
        </p:spPr>
        <p:txBody>
          <a:bodyPr lIns="76200" tIns="38100" rIns="76200" bIns="38100" anchor="ctr">
            <a:normAutofit/>
          </a:body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Planner: dependencies + task contracts</a:t>
            </a:r>
          </a:p>
        </p:txBody>
      </p:sp>
      <p:sp>
        <p:nvSpPr>
          <p:cNvPr id="83" name="decomposition connector">
            <a:extLst>
              <a:ext uri="{FF2B5EF4-FFF2-40B4-BE49-F238E27FC236}">
                <a16:creationId xmlns:a16="http://schemas.microsoft.com/office/drawing/2014/main" id="{F4D1AE08-2CB7-8343-E0E8-51D93820A689}"/>
              </a:ext>
            </a:extLst>
          </p:cNvPr>
          <p:cNvSpPr>
            <a:spLocks noGrp="1"/>
          </p:cNvSpPr>
          <p:nvPr/>
        </p:nvSpPr>
        <p:spPr>
          <a:xfrm>
            <a:off x="4572000" y="2809875"/>
            <a:ext cx="0" cy="466725"/>
          </a:xfrm>
          <a:prstGeom prst="line">
            <a:avLst/>
          </a:prstGeom>
          <a:noFill/>
          <a:ln w="28575">
            <a:solidFill>
              <a:srgbClr val="4F81BD"/>
            </a:solidFill>
            <a:prstDash val="solid"/>
          </a:ln>
        </p:spPr>
        <p:txBody>
          <a:bodyPr/>
          <a:lstStyle/>
          <a:p>
            <a:endParaRPr lang="en-GR"/>
          </a:p>
        </p:txBody>
      </p:sp>
      <p:sp>
        <p:nvSpPr>
          <p:cNvPr id="84" name="decomposition connector">
            <a:extLst>
              <a:ext uri="{FF2B5EF4-FFF2-40B4-BE49-F238E27FC236}">
                <a16:creationId xmlns:a16="http://schemas.microsoft.com/office/drawing/2014/main" id="{4E63CF0D-9805-793B-A90B-3D44673021FF}"/>
              </a:ext>
            </a:extLst>
          </p:cNvPr>
          <p:cNvSpPr>
            <a:spLocks noGrp="1"/>
          </p:cNvSpPr>
          <p:nvPr/>
        </p:nvSpPr>
        <p:spPr>
          <a:xfrm>
            <a:off x="1524000" y="3267075"/>
            <a:ext cx="6096000" cy="0"/>
          </a:xfrm>
          <a:prstGeom prst="line">
            <a:avLst/>
          </a:prstGeom>
          <a:noFill/>
          <a:ln w="28575">
            <a:solidFill>
              <a:srgbClr val="4F81BD"/>
            </a:solidFill>
            <a:prstDash val="solid"/>
          </a:ln>
        </p:spPr>
        <p:txBody>
          <a:bodyPr/>
          <a:lstStyle/>
          <a:p>
            <a:endParaRPr lang="en-GR"/>
          </a:p>
        </p:txBody>
      </p:sp>
      <p:sp>
        <p:nvSpPr>
          <p:cNvPr id="85" name="decomposition connector">
            <a:extLst>
              <a:ext uri="{FF2B5EF4-FFF2-40B4-BE49-F238E27FC236}">
                <a16:creationId xmlns:a16="http://schemas.microsoft.com/office/drawing/2014/main" id="{54250593-452C-CB5F-4B33-04AC252EA141}"/>
              </a:ext>
            </a:extLst>
          </p:cNvPr>
          <p:cNvSpPr>
            <a:spLocks noGrp="1"/>
          </p:cNvSpPr>
          <p:nvPr/>
        </p:nvSpPr>
        <p:spPr>
          <a:xfrm>
            <a:off x="1400175" y="3267075"/>
            <a:ext cx="0" cy="276225"/>
          </a:xfrm>
          <a:prstGeom prst="line">
            <a:avLst/>
          </a:prstGeom>
          <a:noFill/>
          <a:ln w="23813">
            <a:solidFill>
              <a:srgbClr val="4F81BD"/>
            </a:solidFill>
            <a:prstDash val="solid"/>
          </a:ln>
        </p:spPr>
        <p:txBody>
          <a:bodyPr/>
          <a:lstStyle/>
          <a:p>
            <a:endParaRPr lang="en-GR"/>
          </a:p>
        </p:txBody>
      </p:sp>
      <p:sp>
        <p:nvSpPr>
          <p:cNvPr id="86" name="decomposition: 01  RTL agent">
            <a:extLst>
              <a:ext uri="{FF2B5EF4-FFF2-40B4-BE49-F238E27FC236}">
                <a16:creationId xmlns:a16="http://schemas.microsoft.com/office/drawing/2014/main" id="{452C7D59-D592-F265-5205-18A15ED080BC}"/>
              </a:ext>
            </a:extLst>
          </p:cNvPr>
          <p:cNvSpPr>
            <a:spLocks noGrp="1"/>
          </p:cNvSpPr>
          <p:nvPr/>
        </p:nvSpPr>
        <p:spPr>
          <a:xfrm>
            <a:off x="5524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87" name="decomposition: Module behavior&#10;ports + latency">
            <a:extLst>
              <a:ext uri="{FF2B5EF4-FFF2-40B4-BE49-F238E27FC236}">
                <a16:creationId xmlns:a16="http://schemas.microsoft.com/office/drawing/2014/main" id="{0DC41F9D-58BA-45BF-1A66-4CBBC6D07D70}"/>
              </a:ext>
            </a:extLst>
          </p:cNvPr>
          <p:cNvSpPr>
            <a:spLocks noGrp="1"/>
          </p:cNvSpPr>
          <p:nvPr/>
        </p:nvSpPr>
        <p:spPr>
          <a:xfrm>
            <a:off x="6191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Module behavior</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ports + latency</a:t>
            </a:r>
          </a:p>
        </p:txBody>
      </p:sp>
      <p:sp>
        <p:nvSpPr>
          <p:cNvPr id="88" name="decomposition connector">
            <a:extLst>
              <a:ext uri="{FF2B5EF4-FFF2-40B4-BE49-F238E27FC236}">
                <a16:creationId xmlns:a16="http://schemas.microsoft.com/office/drawing/2014/main" id="{47CD95E4-1EBA-ADF4-8532-8BAF0F74D5F0}"/>
              </a:ext>
            </a:extLst>
          </p:cNvPr>
          <p:cNvSpPr>
            <a:spLocks noGrp="1"/>
          </p:cNvSpPr>
          <p:nvPr/>
        </p:nvSpPr>
        <p:spPr>
          <a:xfrm>
            <a:off x="3514725" y="3267075"/>
            <a:ext cx="0" cy="276225"/>
          </a:xfrm>
          <a:prstGeom prst="line">
            <a:avLst/>
          </a:prstGeom>
          <a:noFill/>
          <a:ln w="23813">
            <a:solidFill>
              <a:srgbClr val="4F81BD"/>
            </a:solidFill>
            <a:prstDash val="solid"/>
          </a:ln>
        </p:spPr>
        <p:txBody>
          <a:bodyPr/>
          <a:lstStyle/>
          <a:p>
            <a:endParaRPr lang="en-GR"/>
          </a:p>
        </p:txBody>
      </p:sp>
      <p:sp>
        <p:nvSpPr>
          <p:cNvPr id="89" name="decomposition: 02  TB agent">
            <a:extLst>
              <a:ext uri="{FF2B5EF4-FFF2-40B4-BE49-F238E27FC236}">
                <a16:creationId xmlns:a16="http://schemas.microsoft.com/office/drawing/2014/main" id="{0E7C450E-50F4-22CA-19B1-A83E0C70F2BD}"/>
              </a:ext>
            </a:extLst>
          </p:cNvPr>
          <p:cNvSpPr>
            <a:spLocks noGrp="1"/>
          </p:cNvSpPr>
          <p:nvPr/>
        </p:nvSpPr>
        <p:spPr>
          <a:xfrm>
            <a:off x="26670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90" name="decomposition: Needs RTL ports&#10;Tests + assertions">
            <a:extLst>
              <a:ext uri="{FF2B5EF4-FFF2-40B4-BE49-F238E27FC236}">
                <a16:creationId xmlns:a16="http://schemas.microsoft.com/office/drawing/2014/main" id="{0A1E59C0-910B-5306-AA40-F33007205A30}"/>
              </a:ext>
            </a:extLst>
          </p:cNvPr>
          <p:cNvSpPr>
            <a:spLocks noGrp="1"/>
          </p:cNvSpPr>
          <p:nvPr/>
        </p:nvSpPr>
        <p:spPr>
          <a:xfrm>
            <a:off x="27336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ports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Tests + assertions</a:t>
            </a:r>
          </a:p>
        </p:txBody>
      </p:sp>
      <p:sp>
        <p:nvSpPr>
          <p:cNvPr id="91" name="decomposition connector">
            <a:extLst>
              <a:ext uri="{FF2B5EF4-FFF2-40B4-BE49-F238E27FC236}">
                <a16:creationId xmlns:a16="http://schemas.microsoft.com/office/drawing/2014/main" id="{CE738531-8EA2-6EF5-D199-C22D4EC80E9C}"/>
              </a:ext>
            </a:extLst>
          </p:cNvPr>
          <p:cNvSpPr>
            <a:spLocks noGrp="1"/>
          </p:cNvSpPr>
          <p:nvPr/>
        </p:nvSpPr>
        <p:spPr>
          <a:xfrm>
            <a:off x="5629275" y="3267075"/>
            <a:ext cx="0" cy="276225"/>
          </a:xfrm>
          <a:prstGeom prst="line">
            <a:avLst/>
          </a:prstGeom>
          <a:noFill/>
          <a:ln w="23813">
            <a:solidFill>
              <a:srgbClr val="4F81BD"/>
            </a:solidFill>
            <a:prstDash val="solid"/>
          </a:ln>
        </p:spPr>
        <p:txBody>
          <a:bodyPr/>
          <a:lstStyle/>
          <a:p>
            <a:endParaRPr lang="en-GR"/>
          </a:p>
        </p:txBody>
      </p:sp>
      <p:sp>
        <p:nvSpPr>
          <p:cNvPr id="92" name="decomposition: 03  SDC agent">
            <a:extLst>
              <a:ext uri="{FF2B5EF4-FFF2-40B4-BE49-F238E27FC236}">
                <a16:creationId xmlns:a16="http://schemas.microsoft.com/office/drawing/2014/main" id="{85B95E19-5D54-F1F5-04C6-49D71D4BA378}"/>
              </a:ext>
            </a:extLst>
          </p:cNvPr>
          <p:cNvSpPr>
            <a:spLocks noGrp="1"/>
          </p:cNvSpPr>
          <p:nvPr/>
        </p:nvSpPr>
        <p:spPr>
          <a:xfrm>
            <a:off x="47815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93" name="decomposition: Clocks&#10;I/O constraints">
            <a:extLst>
              <a:ext uri="{FF2B5EF4-FFF2-40B4-BE49-F238E27FC236}">
                <a16:creationId xmlns:a16="http://schemas.microsoft.com/office/drawing/2014/main" id="{ADBAB792-95E1-8BE8-C469-7B1954816B61}"/>
              </a:ext>
            </a:extLst>
          </p:cNvPr>
          <p:cNvSpPr>
            <a:spLocks noGrp="1"/>
          </p:cNvSpPr>
          <p:nvPr/>
        </p:nvSpPr>
        <p:spPr>
          <a:xfrm>
            <a:off x="48482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Clocks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I/O constraints</a:t>
            </a:r>
          </a:p>
        </p:txBody>
      </p:sp>
      <p:sp>
        <p:nvSpPr>
          <p:cNvPr id="94" name="decomposition connector">
            <a:extLst>
              <a:ext uri="{FF2B5EF4-FFF2-40B4-BE49-F238E27FC236}">
                <a16:creationId xmlns:a16="http://schemas.microsoft.com/office/drawing/2014/main" id="{B67980B8-723E-A45F-5F62-1F6FC3D45C40}"/>
              </a:ext>
            </a:extLst>
          </p:cNvPr>
          <p:cNvSpPr>
            <a:spLocks noGrp="1"/>
          </p:cNvSpPr>
          <p:nvPr/>
        </p:nvSpPr>
        <p:spPr>
          <a:xfrm>
            <a:off x="7743825" y="3267075"/>
            <a:ext cx="0" cy="276225"/>
          </a:xfrm>
          <a:prstGeom prst="line">
            <a:avLst/>
          </a:prstGeom>
          <a:noFill/>
          <a:ln w="23813">
            <a:solidFill>
              <a:srgbClr val="4F81BD"/>
            </a:solidFill>
            <a:prstDash val="solid"/>
          </a:ln>
        </p:spPr>
        <p:txBody>
          <a:bodyPr/>
          <a:lstStyle/>
          <a:p>
            <a:endParaRPr lang="en-GR"/>
          </a:p>
        </p:txBody>
      </p:sp>
      <p:sp>
        <p:nvSpPr>
          <p:cNvPr id="95" name="decomposition: 04  PnR agent">
            <a:extLst>
              <a:ext uri="{FF2B5EF4-FFF2-40B4-BE49-F238E27FC236}">
                <a16:creationId xmlns:a16="http://schemas.microsoft.com/office/drawing/2014/main" id="{43E74856-303E-60F8-1EDA-2A4A59356DD1}"/>
              </a:ext>
            </a:extLst>
          </p:cNvPr>
          <p:cNvSpPr>
            <a:spLocks noGrp="1"/>
          </p:cNvSpPr>
          <p:nvPr/>
        </p:nvSpPr>
        <p:spPr>
          <a:xfrm>
            <a:off x="68961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6" name="decomposition: Needs RTL + SDC&#10;Floorplan settings">
            <a:extLst>
              <a:ext uri="{FF2B5EF4-FFF2-40B4-BE49-F238E27FC236}">
                <a16:creationId xmlns:a16="http://schemas.microsoft.com/office/drawing/2014/main" id="{7D7C69FC-7D00-788A-CD9E-890CC6225EE1}"/>
              </a:ext>
            </a:extLst>
          </p:cNvPr>
          <p:cNvSpPr>
            <a:spLocks noGrp="1"/>
          </p:cNvSpPr>
          <p:nvPr/>
        </p:nvSpPr>
        <p:spPr>
          <a:xfrm>
            <a:off x="69627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 SDC</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Floorplan settings</a:t>
            </a:r>
          </a:p>
        </p:txBody>
      </p:sp>
      <p:sp>
        <p:nvSpPr>
          <p:cNvPr id="97" name="decomposition connector">
            <a:extLst>
              <a:ext uri="{FF2B5EF4-FFF2-40B4-BE49-F238E27FC236}">
                <a16:creationId xmlns:a16="http://schemas.microsoft.com/office/drawing/2014/main" id="{945DC9CC-1E9F-BAD2-46BB-D54D7BCAB342}"/>
              </a:ext>
            </a:extLst>
          </p:cNvPr>
          <p:cNvSpPr>
            <a:spLocks noGrp="1"/>
          </p:cNvSpPr>
          <p:nvPr/>
        </p:nvSpPr>
        <p:spPr>
          <a:xfrm>
            <a:off x="1524000" y="4953000"/>
            <a:ext cx="6096000" cy="0"/>
          </a:xfrm>
          <a:prstGeom prst="line">
            <a:avLst/>
          </a:prstGeom>
          <a:noFill/>
          <a:ln w="23813">
            <a:solidFill>
              <a:srgbClr val="C82132"/>
            </a:solidFill>
            <a:prstDash val="solid"/>
          </a:ln>
        </p:spPr>
        <p:txBody>
          <a:bodyPr/>
          <a:lstStyle/>
          <a:p>
            <a:endParaRPr lang="en-GR"/>
          </a:p>
        </p:txBody>
      </p:sp>
      <p:sp>
        <p:nvSpPr>
          <p:cNvPr id="98" name="decomposition connector">
            <a:extLst>
              <a:ext uri="{FF2B5EF4-FFF2-40B4-BE49-F238E27FC236}">
                <a16:creationId xmlns:a16="http://schemas.microsoft.com/office/drawing/2014/main" id="{BA3B684A-C51D-98AD-847D-12FD03265DBF}"/>
              </a:ext>
            </a:extLst>
          </p:cNvPr>
          <p:cNvSpPr>
            <a:spLocks noGrp="1"/>
          </p:cNvSpPr>
          <p:nvPr/>
        </p:nvSpPr>
        <p:spPr>
          <a:xfrm>
            <a:off x="1400175" y="4752975"/>
            <a:ext cx="0" cy="200025"/>
          </a:xfrm>
          <a:prstGeom prst="line">
            <a:avLst/>
          </a:prstGeom>
          <a:noFill/>
          <a:ln w="19050">
            <a:solidFill>
              <a:srgbClr val="C82132"/>
            </a:solidFill>
            <a:prstDash val="solid"/>
          </a:ln>
        </p:spPr>
        <p:txBody>
          <a:bodyPr/>
          <a:lstStyle/>
          <a:p>
            <a:endParaRPr lang="en-GR"/>
          </a:p>
        </p:txBody>
      </p:sp>
      <p:sp>
        <p:nvSpPr>
          <p:cNvPr id="99" name="decomposition connector">
            <a:extLst>
              <a:ext uri="{FF2B5EF4-FFF2-40B4-BE49-F238E27FC236}">
                <a16:creationId xmlns:a16="http://schemas.microsoft.com/office/drawing/2014/main" id="{0531A678-BC8A-359B-77AD-76B831572A74}"/>
              </a:ext>
            </a:extLst>
          </p:cNvPr>
          <p:cNvSpPr>
            <a:spLocks noGrp="1"/>
          </p:cNvSpPr>
          <p:nvPr/>
        </p:nvSpPr>
        <p:spPr>
          <a:xfrm>
            <a:off x="3514725" y="4752975"/>
            <a:ext cx="0" cy="200025"/>
          </a:xfrm>
          <a:prstGeom prst="line">
            <a:avLst/>
          </a:prstGeom>
          <a:noFill/>
          <a:ln w="19050">
            <a:solidFill>
              <a:srgbClr val="C82132"/>
            </a:solidFill>
            <a:prstDash val="solid"/>
          </a:ln>
        </p:spPr>
        <p:txBody>
          <a:bodyPr/>
          <a:lstStyle/>
          <a:p>
            <a:endParaRPr lang="en-GR"/>
          </a:p>
        </p:txBody>
      </p:sp>
      <p:sp>
        <p:nvSpPr>
          <p:cNvPr id="100" name="decomposition connector">
            <a:extLst>
              <a:ext uri="{FF2B5EF4-FFF2-40B4-BE49-F238E27FC236}">
                <a16:creationId xmlns:a16="http://schemas.microsoft.com/office/drawing/2014/main" id="{89A940D9-92CD-927E-6BED-DD251345F269}"/>
              </a:ext>
            </a:extLst>
          </p:cNvPr>
          <p:cNvSpPr>
            <a:spLocks noGrp="1"/>
          </p:cNvSpPr>
          <p:nvPr/>
        </p:nvSpPr>
        <p:spPr>
          <a:xfrm>
            <a:off x="5629275" y="4752975"/>
            <a:ext cx="0" cy="200025"/>
          </a:xfrm>
          <a:prstGeom prst="line">
            <a:avLst/>
          </a:prstGeom>
          <a:noFill/>
          <a:ln w="19050">
            <a:solidFill>
              <a:srgbClr val="C82132"/>
            </a:solidFill>
            <a:prstDash val="solid"/>
          </a:ln>
        </p:spPr>
        <p:txBody>
          <a:bodyPr/>
          <a:lstStyle/>
          <a:p>
            <a:endParaRPr lang="en-GR"/>
          </a:p>
        </p:txBody>
      </p:sp>
      <p:sp>
        <p:nvSpPr>
          <p:cNvPr id="101" name="decomposition connector">
            <a:extLst>
              <a:ext uri="{FF2B5EF4-FFF2-40B4-BE49-F238E27FC236}">
                <a16:creationId xmlns:a16="http://schemas.microsoft.com/office/drawing/2014/main" id="{371489C7-7885-E8F4-5D30-0BF05426BED5}"/>
              </a:ext>
            </a:extLst>
          </p:cNvPr>
          <p:cNvSpPr>
            <a:spLocks noGrp="1"/>
          </p:cNvSpPr>
          <p:nvPr/>
        </p:nvSpPr>
        <p:spPr>
          <a:xfrm>
            <a:off x="7743825" y="4752975"/>
            <a:ext cx="0" cy="200025"/>
          </a:xfrm>
          <a:prstGeom prst="line">
            <a:avLst/>
          </a:prstGeom>
          <a:noFill/>
          <a:ln w="19050">
            <a:solidFill>
              <a:srgbClr val="C82132"/>
            </a:solidFill>
            <a:prstDash val="solid"/>
          </a:ln>
        </p:spPr>
        <p:txBody>
          <a:bodyPr/>
          <a:lstStyle/>
          <a:p>
            <a:endParaRPr lang="en-GR"/>
          </a:p>
        </p:txBody>
      </p:sp>
      <p:sp>
        <p:nvSpPr>
          <p:cNvPr id="102" name="decomposition arrow">
            <a:extLst>
              <a:ext uri="{FF2B5EF4-FFF2-40B4-BE49-F238E27FC236}">
                <a16:creationId xmlns:a16="http://schemas.microsoft.com/office/drawing/2014/main" id="{92356955-0827-6D87-1DFB-5D08394618DC}"/>
              </a:ext>
            </a:extLst>
          </p:cNvPr>
          <p:cNvSpPr>
            <a:spLocks noGrp="1"/>
          </p:cNvSpPr>
          <p:nvPr/>
        </p:nvSpPr>
        <p:spPr>
          <a:xfrm>
            <a:off x="4495800" y="5000625"/>
            <a:ext cx="152400" cy="352425"/>
          </a:xfrm>
          <a:prstGeom prst="downArrow">
            <a:avLst/>
          </a:prstGeom>
          <a:solidFill>
            <a:srgbClr val="C82132"/>
          </a:solidFill>
          <a:ln w="0">
            <a:noFill/>
          </a:ln>
        </p:spPr>
        <p:txBody>
          <a:bodyPr/>
          <a:lstStyle/>
          <a:p>
            <a:endParaRPr lang="en-GR"/>
          </a:p>
        </p:txBody>
      </p:sp>
      <p:sp>
        <p:nvSpPr>
          <p:cNvPr id="103" name="decomposition: Validation gate: artifact + status +">
            <a:extLst>
              <a:ext uri="{FF2B5EF4-FFF2-40B4-BE49-F238E27FC236}">
                <a16:creationId xmlns:a16="http://schemas.microsoft.com/office/drawing/2014/main" id="{FED448EC-AD2A-4406-0738-1C87D6941894}"/>
              </a:ext>
            </a:extLst>
          </p:cNvPr>
          <p:cNvSpPr>
            <a:spLocks noGrp="1"/>
          </p:cNvSpPr>
          <p:nvPr/>
        </p:nvSpPr>
        <p:spPr>
          <a:xfrm>
            <a:off x="2038350" y="5505450"/>
            <a:ext cx="5067300" cy="590550"/>
          </a:xfrm>
          <a:prstGeom prst="roundRect">
            <a:avLst>
              <a:gd name="adj" fmla="val 16129"/>
            </a:avLst>
          </a:prstGeom>
          <a:solidFill>
            <a:srgbClr val="F9EAEC"/>
          </a:solidFill>
          <a:ln w="14288">
            <a:solidFill>
              <a:srgbClr val="C82132"/>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Validation gate: artifact + status + tool evidence</a:t>
            </a:r>
          </a:p>
        </p:txBody>
      </p:sp>
      <p:sp>
        <p:nvSpPr>
          <p:cNvPr id="104" name="decomposition: Promote validated outputs to the nex">
            <a:extLst>
              <a:ext uri="{FF2B5EF4-FFF2-40B4-BE49-F238E27FC236}">
                <a16:creationId xmlns:a16="http://schemas.microsoft.com/office/drawing/2014/main" id="{21614FEC-DF62-0F1C-9083-4D3B41E70AB2}"/>
              </a:ext>
            </a:extLst>
          </p:cNvPr>
          <p:cNvSpPr>
            <a:spLocks noGrp="1"/>
          </p:cNvSpPr>
          <p:nvPr/>
        </p:nvSpPr>
        <p:spPr>
          <a:xfrm>
            <a:off x="1885950" y="6153150"/>
            <a:ext cx="5372100" cy="333375"/>
          </a:xfrm>
          <a:prstGeom prst="rect">
            <a:avLst/>
          </a:prstGeom>
          <a:noFill/>
          <a:ln w="0">
            <a:noFill/>
          </a:ln>
        </p:spPr>
        <p:txBody>
          <a:bodyPr lIns="28575" tIns="19050" rIns="28575" bIns="19050" anchor="ctr">
            <a:normAutofit/>
          </a:bodyPr>
          <a:lstStyle/>
          <a:p>
            <a:pPr algn="ctr">
              <a:defRPr sz="1275" b="0">
                <a:solidFill>
                  <a:srgbClr val="5D6C7B"/>
                </a:solidFill>
                <a:latin typeface="Calibri"/>
                <a:ea typeface="Calibri"/>
                <a:cs typeface="Calibri"/>
              </a:defRPr>
            </a:pPr>
            <a:r>
              <a:rPr sz="1275" b="0">
                <a:solidFill>
                  <a:srgbClr val="5D6C7B"/>
                </a:solidFill>
                <a:latin typeface="Calibri"/>
                <a:ea typeface="Calibri"/>
                <a:cs typeface="Calibri"/>
              </a:rPr>
              <a:t>Promote validated outputs to the next EDA stage</a:t>
            </a:r>
          </a:p>
        </p:txBody>
      </p:sp>
    </p:spTree>
    <p:extLst>
      <p:ext uri="{BB962C8B-B14F-4D97-AF65-F5344CB8AC3E}">
        <p14:creationId xmlns:p14="http://schemas.microsoft.com/office/powerpoint/2010/main" val="1849014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9997-F441-AF22-43C4-62E721FC6504}"/>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231B1C0-02B4-DF24-427C-319AAABCC485}"/>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A4ADE3D6-4D69-0506-C16F-26B808396C86}"/>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E43FF93B-98D0-4882-AFC5-58ADB2797B77}"/>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sz="2400" b="1">
                <a:solidFill>
                  <a:srgbClr val="17365D"/>
                </a:solidFill>
                <a:latin typeface="Calibri"/>
                <a:ea typeface="Calibri"/>
                <a:cs typeface="Calibri"/>
              </a:rPr>
              <a:t>Agentic AI EDA Flow with LLM-SLM Hybrid Approach</a:t>
            </a:r>
          </a:p>
        </p:txBody>
      </p:sp>
      <p:sp>
        <p:nvSpPr>
          <p:cNvPr id="4" name="Rectangle 3">
            <a:extLst>
              <a:ext uri="{FF2B5EF4-FFF2-40B4-BE49-F238E27FC236}">
                <a16:creationId xmlns:a16="http://schemas.microsoft.com/office/drawing/2014/main" id="{E318766C-AD87-9820-FB8D-B2506156FAF9}"/>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FCEC3654-08E2-47C1-B09E-2015F319383D}"/>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46</a:t>
            </a:fld>
            <a:endParaRPr sz="750" b="0">
              <a:solidFill>
                <a:srgbClr val="5B6573"/>
              </a:solidFill>
              <a:latin typeface="Calibri"/>
              <a:ea typeface="Calibri"/>
              <a:cs typeface="Calibri"/>
            </a:endParaRPr>
          </a:p>
        </p:txBody>
      </p:sp>
      <p:sp>
        <p:nvSpPr>
          <p:cNvPr id="80" name="decomposition: Design specification">
            <a:extLst>
              <a:ext uri="{FF2B5EF4-FFF2-40B4-BE49-F238E27FC236}">
                <a16:creationId xmlns:a16="http://schemas.microsoft.com/office/drawing/2014/main" id="{7FCA1E56-8096-0AFB-0566-BFEA2B03641D}"/>
              </a:ext>
            </a:extLst>
          </p:cNvPr>
          <p:cNvSpPr>
            <a:spLocks noGrp="1"/>
          </p:cNvSpPr>
          <p:nvPr/>
        </p:nvSpPr>
        <p:spPr>
          <a:xfrm>
            <a:off x="3476625" y="1019175"/>
            <a:ext cx="2190750" cy="561975"/>
          </a:xfrm>
          <a:prstGeom prst="roundRect">
            <a:avLst>
              <a:gd name="adj" fmla="val 16949"/>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Design specification</a:t>
            </a:r>
          </a:p>
        </p:txBody>
      </p:sp>
      <p:sp>
        <p:nvSpPr>
          <p:cNvPr id="81" name="decomposition arrow">
            <a:extLst>
              <a:ext uri="{FF2B5EF4-FFF2-40B4-BE49-F238E27FC236}">
                <a16:creationId xmlns:a16="http://schemas.microsoft.com/office/drawing/2014/main" id="{9D9DCE2D-0154-C2D7-BEA8-714D72539D84}"/>
              </a:ext>
            </a:extLst>
          </p:cNvPr>
          <p:cNvSpPr>
            <a:spLocks noGrp="1"/>
          </p:cNvSpPr>
          <p:nvPr/>
        </p:nvSpPr>
        <p:spPr>
          <a:xfrm>
            <a:off x="4495800" y="1647825"/>
            <a:ext cx="152400" cy="352425"/>
          </a:xfrm>
          <a:prstGeom prst="downArrow">
            <a:avLst/>
          </a:prstGeom>
          <a:solidFill>
            <a:srgbClr val="4F81BD"/>
          </a:solidFill>
          <a:ln w="0">
            <a:noFill/>
          </a:ln>
        </p:spPr>
        <p:txBody>
          <a:bodyPr/>
          <a:lstStyle/>
          <a:p>
            <a:endParaRPr lang="en-GR"/>
          </a:p>
        </p:txBody>
      </p:sp>
      <p:sp>
        <p:nvSpPr>
          <p:cNvPr id="82" name="decomposition: Planner: dependencies + task contrac">
            <a:extLst>
              <a:ext uri="{FF2B5EF4-FFF2-40B4-BE49-F238E27FC236}">
                <a16:creationId xmlns:a16="http://schemas.microsoft.com/office/drawing/2014/main" id="{3235EDB8-DDCC-F4B7-0901-EEF76CB96143}"/>
              </a:ext>
            </a:extLst>
          </p:cNvPr>
          <p:cNvSpPr>
            <a:spLocks noGrp="1"/>
          </p:cNvSpPr>
          <p:nvPr/>
        </p:nvSpPr>
        <p:spPr>
          <a:xfrm>
            <a:off x="2876550" y="2124075"/>
            <a:ext cx="3390900" cy="685800"/>
          </a:xfrm>
          <a:prstGeom prst="roundRect">
            <a:avLst>
              <a:gd name="adj" fmla="val 13889"/>
            </a:avLst>
          </a:prstGeom>
          <a:solidFill>
            <a:srgbClr val="0E2A49"/>
          </a:solidFill>
          <a:ln w="14288">
            <a:solidFill>
              <a:srgbClr val="0E2A49"/>
            </a:solidFill>
            <a:prstDash val="solid"/>
          </a:ln>
        </p:spPr>
        <p:txBody>
          <a:bodyPr lIns="76200" tIns="38100" rIns="76200" bIns="38100" anchor="ctr">
            <a:normAutofit/>
          </a:body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Planner: dependencies + task contracts</a:t>
            </a:r>
          </a:p>
        </p:txBody>
      </p:sp>
      <p:sp>
        <p:nvSpPr>
          <p:cNvPr id="83" name="decomposition connector">
            <a:extLst>
              <a:ext uri="{FF2B5EF4-FFF2-40B4-BE49-F238E27FC236}">
                <a16:creationId xmlns:a16="http://schemas.microsoft.com/office/drawing/2014/main" id="{878276A2-4002-8361-4120-BF23AD5917C7}"/>
              </a:ext>
            </a:extLst>
          </p:cNvPr>
          <p:cNvSpPr>
            <a:spLocks noGrp="1"/>
          </p:cNvSpPr>
          <p:nvPr/>
        </p:nvSpPr>
        <p:spPr>
          <a:xfrm>
            <a:off x="4572000" y="2809875"/>
            <a:ext cx="0" cy="466725"/>
          </a:xfrm>
          <a:prstGeom prst="line">
            <a:avLst/>
          </a:prstGeom>
          <a:noFill/>
          <a:ln w="28575">
            <a:solidFill>
              <a:srgbClr val="4F81BD"/>
            </a:solidFill>
            <a:prstDash val="solid"/>
          </a:ln>
        </p:spPr>
        <p:txBody>
          <a:bodyPr/>
          <a:lstStyle/>
          <a:p>
            <a:endParaRPr lang="en-GR"/>
          </a:p>
        </p:txBody>
      </p:sp>
      <p:sp>
        <p:nvSpPr>
          <p:cNvPr id="84" name="decomposition connector">
            <a:extLst>
              <a:ext uri="{FF2B5EF4-FFF2-40B4-BE49-F238E27FC236}">
                <a16:creationId xmlns:a16="http://schemas.microsoft.com/office/drawing/2014/main" id="{04002694-E51E-6C4A-0881-F58923B353E6}"/>
              </a:ext>
            </a:extLst>
          </p:cNvPr>
          <p:cNvSpPr>
            <a:spLocks noGrp="1"/>
          </p:cNvSpPr>
          <p:nvPr/>
        </p:nvSpPr>
        <p:spPr>
          <a:xfrm>
            <a:off x="1524000" y="3267075"/>
            <a:ext cx="6096000" cy="0"/>
          </a:xfrm>
          <a:prstGeom prst="line">
            <a:avLst/>
          </a:prstGeom>
          <a:noFill/>
          <a:ln w="28575">
            <a:solidFill>
              <a:srgbClr val="4F81BD"/>
            </a:solidFill>
            <a:prstDash val="solid"/>
          </a:ln>
        </p:spPr>
        <p:txBody>
          <a:bodyPr/>
          <a:lstStyle/>
          <a:p>
            <a:endParaRPr lang="en-GR"/>
          </a:p>
        </p:txBody>
      </p:sp>
      <p:sp>
        <p:nvSpPr>
          <p:cNvPr id="85" name="decomposition connector">
            <a:extLst>
              <a:ext uri="{FF2B5EF4-FFF2-40B4-BE49-F238E27FC236}">
                <a16:creationId xmlns:a16="http://schemas.microsoft.com/office/drawing/2014/main" id="{A11F818C-9DD0-FD61-1848-90398EFC2931}"/>
              </a:ext>
            </a:extLst>
          </p:cNvPr>
          <p:cNvSpPr>
            <a:spLocks noGrp="1"/>
          </p:cNvSpPr>
          <p:nvPr/>
        </p:nvSpPr>
        <p:spPr>
          <a:xfrm>
            <a:off x="1400175" y="3267075"/>
            <a:ext cx="0" cy="276225"/>
          </a:xfrm>
          <a:prstGeom prst="line">
            <a:avLst/>
          </a:prstGeom>
          <a:noFill/>
          <a:ln w="23813">
            <a:solidFill>
              <a:srgbClr val="4F81BD"/>
            </a:solidFill>
            <a:prstDash val="solid"/>
          </a:ln>
        </p:spPr>
        <p:txBody>
          <a:bodyPr/>
          <a:lstStyle/>
          <a:p>
            <a:endParaRPr lang="en-GR"/>
          </a:p>
        </p:txBody>
      </p:sp>
      <p:sp>
        <p:nvSpPr>
          <p:cNvPr id="86" name="decomposition: 01  RTL agent">
            <a:extLst>
              <a:ext uri="{FF2B5EF4-FFF2-40B4-BE49-F238E27FC236}">
                <a16:creationId xmlns:a16="http://schemas.microsoft.com/office/drawing/2014/main" id="{4B37073A-847A-7673-9D00-9F824E052242}"/>
              </a:ext>
            </a:extLst>
          </p:cNvPr>
          <p:cNvSpPr>
            <a:spLocks noGrp="1"/>
          </p:cNvSpPr>
          <p:nvPr/>
        </p:nvSpPr>
        <p:spPr>
          <a:xfrm>
            <a:off x="5524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87" name="decomposition: Module behavior&#10;ports + latency">
            <a:extLst>
              <a:ext uri="{FF2B5EF4-FFF2-40B4-BE49-F238E27FC236}">
                <a16:creationId xmlns:a16="http://schemas.microsoft.com/office/drawing/2014/main" id="{3B2A92B7-CCAF-33FD-3B7E-50FC9E2D8CE4}"/>
              </a:ext>
            </a:extLst>
          </p:cNvPr>
          <p:cNvSpPr>
            <a:spLocks noGrp="1"/>
          </p:cNvSpPr>
          <p:nvPr/>
        </p:nvSpPr>
        <p:spPr>
          <a:xfrm>
            <a:off x="6191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Module behavior</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ports + latency</a:t>
            </a:r>
          </a:p>
        </p:txBody>
      </p:sp>
      <p:sp>
        <p:nvSpPr>
          <p:cNvPr id="88" name="decomposition connector">
            <a:extLst>
              <a:ext uri="{FF2B5EF4-FFF2-40B4-BE49-F238E27FC236}">
                <a16:creationId xmlns:a16="http://schemas.microsoft.com/office/drawing/2014/main" id="{1B58D0C5-E7E4-87E0-B24C-9AE7E09D3423}"/>
              </a:ext>
            </a:extLst>
          </p:cNvPr>
          <p:cNvSpPr>
            <a:spLocks noGrp="1"/>
          </p:cNvSpPr>
          <p:nvPr/>
        </p:nvSpPr>
        <p:spPr>
          <a:xfrm>
            <a:off x="3514725" y="3267075"/>
            <a:ext cx="0" cy="276225"/>
          </a:xfrm>
          <a:prstGeom prst="line">
            <a:avLst/>
          </a:prstGeom>
          <a:noFill/>
          <a:ln w="23813">
            <a:solidFill>
              <a:srgbClr val="4F81BD"/>
            </a:solidFill>
            <a:prstDash val="solid"/>
          </a:ln>
        </p:spPr>
        <p:txBody>
          <a:bodyPr/>
          <a:lstStyle/>
          <a:p>
            <a:endParaRPr lang="en-GR"/>
          </a:p>
        </p:txBody>
      </p:sp>
      <p:sp>
        <p:nvSpPr>
          <p:cNvPr id="89" name="decomposition: 02  TB agent">
            <a:extLst>
              <a:ext uri="{FF2B5EF4-FFF2-40B4-BE49-F238E27FC236}">
                <a16:creationId xmlns:a16="http://schemas.microsoft.com/office/drawing/2014/main" id="{CB6984A1-5999-C466-F626-854FC0589292}"/>
              </a:ext>
            </a:extLst>
          </p:cNvPr>
          <p:cNvSpPr>
            <a:spLocks noGrp="1"/>
          </p:cNvSpPr>
          <p:nvPr/>
        </p:nvSpPr>
        <p:spPr>
          <a:xfrm>
            <a:off x="26670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90" name="decomposition: Needs RTL ports&#10;Tests + assertions">
            <a:extLst>
              <a:ext uri="{FF2B5EF4-FFF2-40B4-BE49-F238E27FC236}">
                <a16:creationId xmlns:a16="http://schemas.microsoft.com/office/drawing/2014/main" id="{7F8AE568-C3FB-2CEC-71BA-84F9A51CCCDC}"/>
              </a:ext>
            </a:extLst>
          </p:cNvPr>
          <p:cNvSpPr>
            <a:spLocks noGrp="1"/>
          </p:cNvSpPr>
          <p:nvPr/>
        </p:nvSpPr>
        <p:spPr>
          <a:xfrm>
            <a:off x="27336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ports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Tests + assertions</a:t>
            </a:r>
          </a:p>
        </p:txBody>
      </p:sp>
      <p:sp>
        <p:nvSpPr>
          <p:cNvPr id="91" name="decomposition connector">
            <a:extLst>
              <a:ext uri="{FF2B5EF4-FFF2-40B4-BE49-F238E27FC236}">
                <a16:creationId xmlns:a16="http://schemas.microsoft.com/office/drawing/2014/main" id="{6B2D1FFE-D807-B2BB-B15E-9FB4ACC26CC2}"/>
              </a:ext>
            </a:extLst>
          </p:cNvPr>
          <p:cNvSpPr>
            <a:spLocks noGrp="1"/>
          </p:cNvSpPr>
          <p:nvPr/>
        </p:nvSpPr>
        <p:spPr>
          <a:xfrm>
            <a:off x="5629275" y="3267075"/>
            <a:ext cx="0" cy="276225"/>
          </a:xfrm>
          <a:prstGeom prst="line">
            <a:avLst/>
          </a:prstGeom>
          <a:noFill/>
          <a:ln w="23813">
            <a:solidFill>
              <a:srgbClr val="4F81BD"/>
            </a:solidFill>
            <a:prstDash val="solid"/>
          </a:ln>
        </p:spPr>
        <p:txBody>
          <a:bodyPr/>
          <a:lstStyle/>
          <a:p>
            <a:endParaRPr lang="en-GR"/>
          </a:p>
        </p:txBody>
      </p:sp>
      <p:sp>
        <p:nvSpPr>
          <p:cNvPr id="92" name="decomposition: 03  SDC agent">
            <a:extLst>
              <a:ext uri="{FF2B5EF4-FFF2-40B4-BE49-F238E27FC236}">
                <a16:creationId xmlns:a16="http://schemas.microsoft.com/office/drawing/2014/main" id="{D74583AC-5B54-D3D6-42BA-FBAFAFC3CE05}"/>
              </a:ext>
            </a:extLst>
          </p:cNvPr>
          <p:cNvSpPr>
            <a:spLocks noGrp="1"/>
          </p:cNvSpPr>
          <p:nvPr/>
        </p:nvSpPr>
        <p:spPr>
          <a:xfrm>
            <a:off x="47815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93" name="decomposition: Clocks&#10;I/O constraints">
            <a:extLst>
              <a:ext uri="{FF2B5EF4-FFF2-40B4-BE49-F238E27FC236}">
                <a16:creationId xmlns:a16="http://schemas.microsoft.com/office/drawing/2014/main" id="{17E6C422-8B3C-620A-F061-BA8AC3ABD8D0}"/>
              </a:ext>
            </a:extLst>
          </p:cNvPr>
          <p:cNvSpPr>
            <a:spLocks noGrp="1"/>
          </p:cNvSpPr>
          <p:nvPr/>
        </p:nvSpPr>
        <p:spPr>
          <a:xfrm>
            <a:off x="48482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Clocks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I/O constraints</a:t>
            </a:r>
          </a:p>
        </p:txBody>
      </p:sp>
      <p:sp>
        <p:nvSpPr>
          <p:cNvPr id="94" name="decomposition connector">
            <a:extLst>
              <a:ext uri="{FF2B5EF4-FFF2-40B4-BE49-F238E27FC236}">
                <a16:creationId xmlns:a16="http://schemas.microsoft.com/office/drawing/2014/main" id="{B1773776-4268-3CD3-9E0A-81669800A2D5}"/>
              </a:ext>
            </a:extLst>
          </p:cNvPr>
          <p:cNvSpPr>
            <a:spLocks noGrp="1"/>
          </p:cNvSpPr>
          <p:nvPr/>
        </p:nvSpPr>
        <p:spPr>
          <a:xfrm>
            <a:off x="7743825" y="3267075"/>
            <a:ext cx="0" cy="276225"/>
          </a:xfrm>
          <a:prstGeom prst="line">
            <a:avLst/>
          </a:prstGeom>
          <a:noFill/>
          <a:ln w="23813">
            <a:solidFill>
              <a:srgbClr val="4F81BD"/>
            </a:solidFill>
            <a:prstDash val="solid"/>
          </a:ln>
        </p:spPr>
        <p:txBody>
          <a:bodyPr/>
          <a:lstStyle/>
          <a:p>
            <a:endParaRPr lang="en-GR"/>
          </a:p>
        </p:txBody>
      </p:sp>
      <p:sp>
        <p:nvSpPr>
          <p:cNvPr id="95" name="decomposition: 04  PnR agent">
            <a:extLst>
              <a:ext uri="{FF2B5EF4-FFF2-40B4-BE49-F238E27FC236}">
                <a16:creationId xmlns:a16="http://schemas.microsoft.com/office/drawing/2014/main" id="{DF549D32-3718-F38C-535C-6A17ACF4EB95}"/>
              </a:ext>
            </a:extLst>
          </p:cNvPr>
          <p:cNvSpPr>
            <a:spLocks noGrp="1"/>
          </p:cNvSpPr>
          <p:nvPr/>
        </p:nvSpPr>
        <p:spPr>
          <a:xfrm>
            <a:off x="68961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6" name="decomposition: Needs RTL + SDC&#10;Floorplan settings">
            <a:extLst>
              <a:ext uri="{FF2B5EF4-FFF2-40B4-BE49-F238E27FC236}">
                <a16:creationId xmlns:a16="http://schemas.microsoft.com/office/drawing/2014/main" id="{62775E90-DB51-65DE-2303-59060152F8C2}"/>
              </a:ext>
            </a:extLst>
          </p:cNvPr>
          <p:cNvSpPr>
            <a:spLocks noGrp="1"/>
          </p:cNvSpPr>
          <p:nvPr/>
        </p:nvSpPr>
        <p:spPr>
          <a:xfrm>
            <a:off x="69627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 SDC</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Floorplan settings</a:t>
            </a:r>
          </a:p>
        </p:txBody>
      </p:sp>
      <p:sp>
        <p:nvSpPr>
          <p:cNvPr id="97" name="decomposition connector">
            <a:extLst>
              <a:ext uri="{FF2B5EF4-FFF2-40B4-BE49-F238E27FC236}">
                <a16:creationId xmlns:a16="http://schemas.microsoft.com/office/drawing/2014/main" id="{18981B52-B8F9-9D3E-E6B3-6488D9981572}"/>
              </a:ext>
            </a:extLst>
          </p:cNvPr>
          <p:cNvSpPr>
            <a:spLocks noGrp="1"/>
          </p:cNvSpPr>
          <p:nvPr/>
        </p:nvSpPr>
        <p:spPr>
          <a:xfrm>
            <a:off x="1524000" y="4953000"/>
            <a:ext cx="6096000" cy="0"/>
          </a:xfrm>
          <a:prstGeom prst="line">
            <a:avLst/>
          </a:prstGeom>
          <a:noFill/>
          <a:ln w="23813">
            <a:solidFill>
              <a:srgbClr val="C82132"/>
            </a:solidFill>
            <a:prstDash val="solid"/>
          </a:ln>
        </p:spPr>
        <p:txBody>
          <a:bodyPr/>
          <a:lstStyle/>
          <a:p>
            <a:endParaRPr lang="en-GR"/>
          </a:p>
        </p:txBody>
      </p:sp>
      <p:sp>
        <p:nvSpPr>
          <p:cNvPr id="98" name="decomposition connector">
            <a:extLst>
              <a:ext uri="{FF2B5EF4-FFF2-40B4-BE49-F238E27FC236}">
                <a16:creationId xmlns:a16="http://schemas.microsoft.com/office/drawing/2014/main" id="{7386DD11-FB90-5E0D-E494-45FE71E43574}"/>
              </a:ext>
            </a:extLst>
          </p:cNvPr>
          <p:cNvSpPr>
            <a:spLocks noGrp="1"/>
          </p:cNvSpPr>
          <p:nvPr/>
        </p:nvSpPr>
        <p:spPr>
          <a:xfrm>
            <a:off x="1400175" y="4752975"/>
            <a:ext cx="0" cy="200025"/>
          </a:xfrm>
          <a:prstGeom prst="line">
            <a:avLst/>
          </a:prstGeom>
          <a:noFill/>
          <a:ln w="19050">
            <a:solidFill>
              <a:srgbClr val="C82132"/>
            </a:solidFill>
            <a:prstDash val="solid"/>
          </a:ln>
        </p:spPr>
        <p:txBody>
          <a:bodyPr/>
          <a:lstStyle/>
          <a:p>
            <a:endParaRPr lang="en-GR"/>
          </a:p>
        </p:txBody>
      </p:sp>
      <p:sp>
        <p:nvSpPr>
          <p:cNvPr id="99" name="decomposition connector">
            <a:extLst>
              <a:ext uri="{FF2B5EF4-FFF2-40B4-BE49-F238E27FC236}">
                <a16:creationId xmlns:a16="http://schemas.microsoft.com/office/drawing/2014/main" id="{9649C533-4409-EE6C-E745-CB61B8509B69}"/>
              </a:ext>
            </a:extLst>
          </p:cNvPr>
          <p:cNvSpPr>
            <a:spLocks noGrp="1"/>
          </p:cNvSpPr>
          <p:nvPr/>
        </p:nvSpPr>
        <p:spPr>
          <a:xfrm>
            <a:off x="3514725" y="4752975"/>
            <a:ext cx="0" cy="200025"/>
          </a:xfrm>
          <a:prstGeom prst="line">
            <a:avLst/>
          </a:prstGeom>
          <a:noFill/>
          <a:ln w="19050">
            <a:solidFill>
              <a:srgbClr val="C82132"/>
            </a:solidFill>
            <a:prstDash val="solid"/>
          </a:ln>
        </p:spPr>
        <p:txBody>
          <a:bodyPr/>
          <a:lstStyle/>
          <a:p>
            <a:endParaRPr lang="en-GR"/>
          </a:p>
        </p:txBody>
      </p:sp>
      <p:sp>
        <p:nvSpPr>
          <p:cNvPr id="100" name="decomposition connector">
            <a:extLst>
              <a:ext uri="{FF2B5EF4-FFF2-40B4-BE49-F238E27FC236}">
                <a16:creationId xmlns:a16="http://schemas.microsoft.com/office/drawing/2014/main" id="{7C3ADD43-2046-BBC0-59FB-09DF426FBE8A}"/>
              </a:ext>
            </a:extLst>
          </p:cNvPr>
          <p:cNvSpPr>
            <a:spLocks noGrp="1"/>
          </p:cNvSpPr>
          <p:nvPr/>
        </p:nvSpPr>
        <p:spPr>
          <a:xfrm>
            <a:off x="5629275" y="4752975"/>
            <a:ext cx="0" cy="200025"/>
          </a:xfrm>
          <a:prstGeom prst="line">
            <a:avLst/>
          </a:prstGeom>
          <a:noFill/>
          <a:ln w="19050">
            <a:solidFill>
              <a:srgbClr val="C82132"/>
            </a:solidFill>
            <a:prstDash val="solid"/>
          </a:ln>
        </p:spPr>
        <p:txBody>
          <a:bodyPr/>
          <a:lstStyle/>
          <a:p>
            <a:endParaRPr lang="en-GR"/>
          </a:p>
        </p:txBody>
      </p:sp>
      <p:sp>
        <p:nvSpPr>
          <p:cNvPr id="101" name="decomposition connector">
            <a:extLst>
              <a:ext uri="{FF2B5EF4-FFF2-40B4-BE49-F238E27FC236}">
                <a16:creationId xmlns:a16="http://schemas.microsoft.com/office/drawing/2014/main" id="{0BEB8062-2320-186A-B8F2-D62973E0CDD3}"/>
              </a:ext>
            </a:extLst>
          </p:cNvPr>
          <p:cNvSpPr>
            <a:spLocks noGrp="1"/>
          </p:cNvSpPr>
          <p:nvPr/>
        </p:nvSpPr>
        <p:spPr>
          <a:xfrm>
            <a:off x="7743825" y="4752975"/>
            <a:ext cx="0" cy="200025"/>
          </a:xfrm>
          <a:prstGeom prst="line">
            <a:avLst/>
          </a:prstGeom>
          <a:noFill/>
          <a:ln w="19050">
            <a:solidFill>
              <a:srgbClr val="C82132"/>
            </a:solidFill>
            <a:prstDash val="solid"/>
          </a:ln>
        </p:spPr>
        <p:txBody>
          <a:bodyPr/>
          <a:lstStyle/>
          <a:p>
            <a:endParaRPr lang="en-GR"/>
          </a:p>
        </p:txBody>
      </p:sp>
      <p:sp>
        <p:nvSpPr>
          <p:cNvPr id="102" name="decomposition arrow">
            <a:extLst>
              <a:ext uri="{FF2B5EF4-FFF2-40B4-BE49-F238E27FC236}">
                <a16:creationId xmlns:a16="http://schemas.microsoft.com/office/drawing/2014/main" id="{7355CC8E-2FCE-483C-8866-81C61808C5D2}"/>
              </a:ext>
            </a:extLst>
          </p:cNvPr>
          <p:cNvSpPr>
            <a:spLocks noGrp="1"/>
          </p:cNvSpPr>
          <p:nvPr/>
        </p:nvSpPr>
        <p:spPr>
          <a:xfrm>
            <a:off x="4495800" y="5000625"/>
            <a:ext cx="152400" cy="352425"/>
          </a:xfrm>
          <a:prstGeom prst="downArrow">
            <a:avLst/>
          </a:prstGeom>
          <a:solidFill>
            <a:srgbClr val="C82132"/>
          </a:solidFill>
          <a:ln w="0">
            <a:noFill/>
          </a:ln>
        </p:spPr>
        <p:txBody>
          <a:bodyPr/>
          <a:lstStyle/>
          <a:p>
            <a:endParaRPr lang="en-GR"/>
          </a:p>
        </p:txBody>
      </p:sp>
      <p:sp>
        <p:nvSpPr>
          <p:cNvPr id="103" name="decomposition: Validation gate: artifact + status +">
            <a:extLst>
              <a:ext uri="{FF2B5EF4-FFF2-40B4-BE49-F238E27FC236}">
                <a16:creationId xmlns:a16="http://schemas.microsoft.com/office/drawing/2014/main" id="{EB3252C5-8786-4F05-E41E-0DF628C6EDB5}"/>
              </a:ext>
            </a:extLst>
          </p:cNvPr>
          <p:cNvSpPr>
            <a:spLocks noGrp="1"/>
          </p:cNvSpPr>
          <p:nvPr/>
        </p:nvSpPr>
        <p:spPr>
          <a:xfrm>
            <a:off x="2038350" y="5505450"/>
            <a:ext cx="5067300" cy="590550"/>
          </a:xfrm>
          <a:prstGeom prst="roundRect">
            <a:avLst>
              <a:gd name="adj" fmla="val 16129"/>
            </a:avLst>
          </a:prstGeom>
          <a:solidFill>
            <a:srgbClr val="F9EAEC"/>
          </a:solidFill>
          <a:ln w="14288">
            <a:solidFill>
              <a:srgbClr val="C82132"/>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Validation gate: artifact + status + tool evidence</a:t>
            </a:r>
          </a:p>
        </p:txBody>
      </p:sp>
      <p:sp>
        <p:nvSpPr>
          <p:cNvPr id="104" name="decomposition: Promote validated outputs to the nex">
            <a:extLst>
              <a:ext uri="{FF2B5EF4-FFF2-40B4-BE49-F238E27FC236}">
                <a16:creationId xmlns:a16="http://schemas.microsoft.com/office/drawing/2014/main" id="{38BA7010-F722-E6EA-4103-487F814483A9}"/>
              </a:ext>
            </a:extLst>
          </p:cNvPr>
          <p:cNvSpPr>
            <a:spLocks noGrp="1"/>
          </p:cNvSpPr>
          <p:nvPr/>
        </p:nvSpPr>
        <p:spPr>
          <a:xfrm>
            <a:off x="1885950" y="6153150"/>
            <a:ext cx="5372100" cy="333375"/>
          </a:xfrm>
          <a:prstGeom prst="rect">
            <a:avLst/>
          </a:prstGeom>
          <a:noFill/>
          <a:ln w="0">
            <a:noFill/>
          </a:ln>
        </p:spPr>
        <p:txBody>
          <a:bodyPr lIns="28575" tIns="19050" rIns="28575" bIns="19050" anchor="ctr">
            <a:normAutofit/>
          </a:bodyPr>
          <a:lstStyle/>
          <a:p>
            <a:pPr algn="ctr">
              <a:defRPr sz="1275" b="0">
                <a:solidFill>
                  <a:srgbClr val="5D6C7B"/>
                </a:solidFill>
                <a:latin typeface="Calibri"/>
                <a:ea typeface="Calibri"/>
                <a:cs typeface="Calibri"/>
              </a:defRPr>
            </a:pPr>
            <a:r>
              <a:rPr sz="1275" b="0">
                <a:solidFill>
                  <a:srgbClr val="5D6C7B"/>
                </a:solidFill>
                <a:latin typeface="Calibri"/>
                <a:ea typeface="Calibri"/>
                <a:cs typeface="Calibri"/>
              </a:rPr>
              <a:t>Promote validated outputs to the next EDA stage</a:t>
            </a:r>
          </a:p>
        </p:txBody>
      </p:sp>
      <p:sp>
        <p:nvSpPr>
          <p:cNvPr id="5" name="Oval 4">
            <a:extLst>
              <a:ext uri="{FF2B5EF4-FFF2-40B4-BE49-F238E27FC236}">
                <a16:creationId xmlns:a16="http://schemas.microsoft.com/office/drawing/2014/main" id="{E4E49219-4B0F-AAF5-1DB6-947C7F8B6162}"/>
              </a:ext>
            </a:extLst>
          </p:cNvPr>
          <p:cNvSpPr/>
          <p:nvPr/>
        </p:nvSpPr>
        <p:spPr>
          <a:xfrm>
            <a:off x="223602" y="3324226"/>
            <a:ext cx="4348397" cy="1485898"/>
          </a:xfrm>
          <a:prstGeom prst="ellipse">
            <a:avLst/>
          </a:prstGeom>
          <a:noFill/>
          <a:ln w="539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sp>
        <p:nvSpPr>
          <p:cNvPr id="6" name="Oval 5">
            <a:extLst>
              <a:ext uri="{FF2B5EF4-FFF2-40B4-BE49-F238E27FC236}">
                <a16:creationId xmlns:a16="http://schemas.microsoft.com/office/drawing/2014/main" id="{2400EDA5-B637-EFCE-BCCD-36DA46C2073F}"/>
              </a:ext>
            </a:extLst>
          </p:cNvPr>
          <p:cNvSpPr/>
          <p:nvPr/>
        </p:nvSpPr>
        <p:spPr>
          <a:xfrm>
            <a:off x="4572000" y="3148015"/>
            <a:ext cx="4348397" cy="1485898"/>
          </a:xfrm>
          <a:prstGeom prst="ellipse">
            <a:avLst/>
          </a:prstGeom>
          <a:noFill/>
          <a:ln w="53975">
            <a:solidFill>
              <a:schemeClr val="accent4"/>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R"/>
          </a:p>
        </p:txBody>
      </p:sp>
      <p:sp>
        <p:nvSpPr>
          <p:cNvPr id="12" name="TextBox 11">
            <a:extLst>
              <a:ext uri="{FF2B5EF4-FFF2-40B4-BE49-F238E27FC236}">
                <a16:creationId xmlns:a16="http://schemas.microsoft.com/office/drawing/2014/main" id="{741D9DF7-9D98-A209-68DF-A52D688D8088}"/>
              </a:ext>
            </a:extLst>
          </p:cNvPr>
          <p:cNvSpPr txBox="1"/>
          <p:nvPr/>
        </p:nvSpPr>
        <p:spPr>
          <a:xfrm>
            <a:off x="-1337013" y="2805366"/>
            <a:ext cx="4572000" cy="507831"/>
          </a:xfrm>
          <a:prstGeom prst="rect">
            <a:avLst/>
          </a:prstGeom>
          <a:noFill/>
        </p:spPr>
        <p:txBody>
          <a:bodyPr wrap="square">
            <a:spAutoFit/>
          </a:bodyPr>
          <a:lstStyle/>
          <a:p>
            <a:pPr algn="ctr">
              <a:defRPr sz="1350" b="1">
                <a:solidFill>
                  <a:srgbClr val="17365D"/>
                </a:solidFill>
                <a:latin typeface="Calibri"/>
                <a:ea typeface="Calibri"/>
                <a:cs typeface="Calibri"/>
              </a:defRPr>
            </a:pPr>
            <a:r>
              <a:rPr lang="en-GB" sz="1350" b="1">
                <a:solidFill>
                  <a:srgbClr val="C00000"/>
                </a:solidFill>
                <a:latin typeface="Calibri"/>
                <a:ea typeface="Calibri"/>
                <a:cs typeface="Calibri"/>
              </a:rPr>
              <a:t>Task Requires Reasoning</a:t>
            </a:r>
          </a:p>
          <a:p>
            <a:pPr algn="ctr">
              <a:defRPr sz="1350" b="1">
                <a:solidFill>
                  <a:srgbClr val="17365D"/>
                </a:solidFill>
                <a:latin typeface="Calibri"/>
                <a:ea typeface="Calibri"/>
                <a:cs typeface="Calibri"/>
              </a:defRPr>
            </a:pPr>
            <a:r>
              <a:rPr lang="en-GB" sz="1350" b="1">
                <a:solidFill>
                  <a:srgbClr val="C00000"/>
                </a:solidFill>
                <a:latin typeface="Calibri"/>
                <a:ea typeface="Calibri"/>
                <a:cs typeface="Calibri"/>
              </a:rPr>
              <a:t>We use LLMs</a:t>
            </a:r>
          </a:p>
        </p:txBody>
      </p:sp>
      <p:sp>
        <p:nvSpPr>
          <p:cNvPr id="14" name="TextBox 13">
            <a:extLst>
              <a:ext uri="{FF2B5EF4-FFF2-40B4-BE49-F238E27FC236}">
                <a16:creationId xmlns:a16="http://schemas.microsoft.com/office/drawing/2014/main" id="{8E850FC1-1752-5D59-0F51-FB7909D67F21}"/>
              </a:ext>
            </a:extLst>
          </p:cNvPr>
          <p:cNvSpPr txBox="1"/>
          <p:nvPr/>
        </p:nvSpPr>
        <p:spPr>
          <a:xfrm>
            <a:off x="5009994" y="2510092"/>
            <a:ext cx="5239062" cy="507831"/>
          </a:xfrm>
          <a:prstGeom prst="rect">
            <a:avLst/>
          </a:prstGeom>
          <a:noFill/>
        </p:spPr>
        <p:txBody>
          <a:bodyPr wrap="square">
            <a:spAutoFit/>
          </a:bodyPr>
          <a:lstStyle/>
          <a:p>
            <a:pPr algn="ctr">
              <a:defRPr sz="1350" b="1">
                <a:solidFill>
                  <a:srgbClr val="17365D"/>
                </a:solidFill>
                <a:latin typeface="Calibri"/>
                <a:ea typeface="Calibri"/>
                <a:cs typeface="Calibri"/>
              </a:defRPr>
            </a:pPr>
            <a:r>
              <a:rPr lang="en-GB" sz="1350" b="1">
                <a:solidFill>
                  <a:schemeClr val="accent4"/>
                </a:solidFill>
                <a:latin typeface="Calibri"/>
                <a:ea typeface="Calibri"/>
                <a:cs typeface="Calibri"/>
              </a:rPr>
              <a:t>Template-based Task</a:t>
            </a:r>
          </a:p>
          <a:p>
            <a:pPr algn="ctr">
              <a:defRPr sz="1350" b="1">
                <a:solidFill>
                  <a:srgbClr val="17365D"/>
                </a:solidFill>
                <a:latin typeface="Calibri"/>
                <a:ea typeface="Calibri"/>
                <a:cs typeface="Calibri"/>
              </a:defRPr>
            </a:pPr>
            <a:r>
              <a:rPr lang="en-GB" sz="1350" b="1">
                <a:solidFill>
                  <a:schemeClr val="accent4"/>
                </a:solidFill>
                <a:latin typeface="Calibri"/>
                <a:ea typeface="Calibri"/>
                <a:cs typeface="Calibri"/>
              </a:rPr>
              <a:t>We use SLMs</a:t>
            </a:r>
          </a:p>
        </p:txBody>
      </p:sp>
    </p:spTree>
    <p:extLst>
      <p:ext uri="{BB962C8B-B14F-4D97-AF65-F5344CB8AC3E}">
        <p14:creationId xmlns:p14="http://schemas.microsoft.com/office/powerpoint/2010/main" val="418997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289F2-9B4A-D041-6525-D440F704A702}"/>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2 – overview: four ways to run the flow</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47</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417461439"/>
              </p:ext>
            </p:extLst>
          </p:nvPr>
        </p:nvGraphicFramePr>
        <p:xfrm>
          <a:off x="412375" y="1376678"/>
          <a:ext cx="8435790" cy="4178127"/>
        </p:xfrm>
        <a:graphic>
          <a:graphicData uri="http://schemas.openxmlformats.org/drawingml/2006/table">
            <a:tbl>
              <a:tblPr firstRow="1" bandRow="1">
                <a:tableStyleId>{3C2FFA5D-87B4-456A-9821-1D502468CF0F}</a:tableStyleId>
              </a:tblPr>
              <a:tblGrid>
                <a:gridCol w="1737360">
                  <a:extLst>
                    <a:ext uri="{9D8B030D-6E8A-4147-A177-3AD203B41FA5}">
                      <a16:colId xmlns:a16="http://schemas.microsoft.com/office/drawing/2014/main" val="2743157295"/>
                    </a:ext>
                  </a:extLst>
                </a:gridCol>
                <a:gridCol w="3657600">
                  <a:extLst>
                    <a:ext uri="{9D8B030D-6E8A-4147-A177-3AD203B41FA5}">
                      <a16:colId xmlns:a16="http://schemas.microsoft.com/office/drawing/2014/main" val="3671494132"/>
                    </a:ext>
                  </a:extLst>
                </a:gridCol>
                <a:gridCol w="30408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Task</a:t>
                      </a:r>
                    </a:p>
                  </a:txBody>
                  <a:tcPr anchor="ctr"/>
                </a:tc>
                <a:tc>
                  <a:txBody>
                    <a:bodyPr/>
                    <a:lstStyle/>
                    <a:p>
                      <a:pPr algn="ctr"/>
                      <a:r>
                        <a:rPr lang="en-US" sz="2000">
                          <a:solidFill>
                            <a:schemeClr val="bg1"/>
                          </a:solidFill>
                        </a:rPr>
                        <a:t>Agents &amp; models</a:t>
                      </a:r>
                    </a:p>
                  </a:txBody>
                  <a:tcPr anchor="ctr"/>
                </a:tc>
                <a:tc>
                  <a:txBody>
                    <a:bodyPr/>
                    <a:lstStyle/>
                    <a:p>
                      <a:pPr algn="ctr"/>
                      <a:r>
                        <a:rPr lang="en-US" sz="2000">
                          <a:solidFill>
                            <a:schemeClr val="bg1"/>
                          </a:solidFill>
                        </a:rPr>
                        <a:t>What to look for?</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2.1  Single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1 agent writes TB + RTL + SDC + config.mk · Gemini Flash Lite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Which stages fail? Runtime?</a:t>
                      </a:r>
                    </a:p>
                  </a:txBody>
                  <a:tcPr anchor="ctr"/>
                </a:tc>
                <a:extLst>
                  <a:ext uri="{0D108BD9-81ED-4DB2-BD59-A6C34878D82A}">
                    <a16:rowId xmlns:a16="http://schemas.microsoft.com/office/drawing/2014/main" val="666777034"/>
                  </a:ext>
                </a:extLst>
              </a:tr>
              <a:tr h="791083">
                <a:tc>
                  <a:txBody>
                    <a:bodyPr/>
                    <a:lstStyle/>
                    <a:p>
                      <a:r>
                        <a:rPr lang="en-US" b="1">
                          <a:solidFill>
                            <a:schemeClr val="tx1"/>
                          </a:solidFill>
                        </a:rPr>
                        <a:t>Task 2.2  Multi-agent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TB, RTL, SDC, config.mk agents · all Gemini Flash Lite</a:t>
                      </a:r>
                    </a:p>
                  </a:txBody>
                  <a:tcPr anchor="ctr"/>
                </a:tc>
                <a:tc>
                  <a:txBody>
                    <a:bodyPr/>
                    <a:lstStyle/>
                    <a:p>
                      <a:pPr lvl="0" algn="ctr">
                        <a:lnSpc>
                          <a:spcPct val="115000"/>
                        </a:lnSpc>
                        <a:buClr>
                          <a:srgbClr val="FFFFFF"/>
                        </a:buClr>
                        <a:buSzPts val="1344"/>
                      </a:pPr>
                      <a:r>
                        <a:rPr lang="en-US" sz="1400">
                          <a:solidFill>
                            <a:schemeClr val="tx1"/>
                          </a:solidFill>
                          <a:sym typeface="Roboto"/>
                        </a:rPr>
                        <a:t>Iterations per stage and tokens vs Task 2.1</a:t>
                      </a:r>
                    </a:p>
                  </a:txBody>
                  <a:tcPr anchor="ctr"/>
                </a:tc>
                <a:extLst>
                  <a:ext uri="{0D108BD9-81ED-4DB2-BD59-A6C34878D82A}">
                    <a16:rowId xmlns:a16="http://schemas.microsoft.com/office/drawing/2014/main" val="1045036667"/>
                  </a:ext>
                </a:extLst>
              </a:tr>
              <a:tr h="1013795">
                <a:tc>
                  <a:txBody>
                    <a:bodyPr/>
                    <a:lstStyle/>
                    <a:p>
                      <a:r>
                        <a:rPr lang="en-US" b="1">
                          <a:solidFill>
                            <a:schemeClr val="tx1"/>
                          </a:solidFill>
                        </a:rPr>
                        <a:t>Task 2.3  Hybrid models</a:t>
                      </a:r>
                    </a:p>
                  </a:txBody>
                  <a:tcPr anchor="ctr"/>
                </a:tc>
                <a:tc>
                  <a:txBody>
                    <a:bodyPr/>
                    <a:lstStyle/>
                    <a:p>
                      <a:pPr lvl="0" algn="ctr">
                        <a:buClr>
                          <a:srgbClr val="FFFFFF"/>
                        </a:buClr>
                        <a:buSzPts val="1344"/>
                      </a:pPr>
                      <a:r>
                        <a:rPr lang="en-US" sz="1400">
                          <a:solidFill>
                            <a:schemeClr val="tx1"/>
                          </a:solidFill>
                          <a:sym typeface="Roboto"/>
                        </a:rPr>
                        <a:t>TB + RTL: Gemini Lite (cloud) · SDC + config.mk: llama3.1 (local)</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Can a local SLM handle the template tasks?</a:t>
                      </a:r>
                    </a:p>
                  </a:txBody>
                  <a:tcPr anchor="ctr"/>
                </a:tc>
                <a:extLst>
                  <a:ext uri="{0D108BD9-81ED-4DB2-BD59-A6C34878D82A}">
                    <a16:rowId xmlns:a16="http://schemas.microsoft.com/office/drawing/2014/main" val="3344965393"/>
                  </a:ext>
                </a:extLst>
              </a:tr>
              <a:tr h="791083">
                <a:tc>
                  <a:txBody>
                    <a:bodyPr/>
                    <a:lstStyle/>
                    <a:p>
                      <a:r>
                        <a:rPr lang="en-US" b="1">
                          <a:solidFill>
                            <a:schemeClr val="tx1"/>
                          </a:solidFill>
                        </a:rPr>
                        <a:t>Task 2.4  + Validators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As Task 2.3 + TB and RTL validator agents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Bugs caught earlier? Worth the extra tokens?</a:t>
                      </a:r>
                    </a:p>
                  </a:txBody>
                  <a:tcPr anchor="ctr"/>
                </a:tc>
                <a:extLst>
                  <a:ext uri="{0D108BD9-81ED-4DB2-BD59-A6C34878D82A}">
                    <a16:rowId xmlns:a16="http://schemas.microsoft.com/office/drawing/2014/main" val="315752704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All runs: </a:t>
            </a:r>
            <a:r>
              <a:rPr sz="1275" b="0" err="1">
                <a:solidFill>
                  <a:srgbClr val="506573"/>
                </a:solidFill>
                <a:latin typeface="Arial"/>
                <a:ea typeface="Arial"/>
                <a:cs typeface="Arial"/>
              </a:rPr>
              <a:t>iterative_optimization</a:t>
            </a:r>
            <a:r>
              <a:rPr sz="1275" b="0">
                <a:solidFill>
                  <a:srgbClr val="506573"/>
                </a:solidFill>
                <a:latin typeface="Arial"/>
                <a:ea typeface="Arial"/>
                <a:cs typeface="Arial"/>
              </a:rPr>
              <a:t> = false, </a:t>
            </a:r>
            <a:r>
              <a:rPr sz="1275" b="0" err="1">
                <a:solidFill>
                  <a:srgbClr val="506573"/>
                </a:solidFill>
                <a:latin typeface="Arial"/>
                <a:ea typeface="Arial"/>
                <a:cs typeface="Arial"/>
              </a:rPr>
              <a:t>enable_resynthesis</a:t>
            </a:r>
            <a:r>
              <a:rPr sz="1275" b="0">
                <a:solidFill>
                  <a:srgbClr val="506573"/>
                </a:solidFill>
                <a:latin typeface="Arial"/>
                <a:ea typeface="Arial"/>
                <a:cs typeface="Arial"/>
              </a:rPr>
              <a:t> = false. Run from </a:t>
            </a:r>
            <a:r>
              <a:rPr sz="1100" b="0">
                <a:solidFill>
                  <a:srgbClr val="506573"/>
                </a:solidFill>
                <a:latin typeface="Courier New" panose="02070309020205020404" pitchFamily="49" charset="0"/>
                <a:ea typeface="Arial"/>
                <a:cs typeface="Courier New" panose="02070309020205020404" pitchFamily="49" charset="0"/>
              </a:rPr>
              <a:t>part2/problem</a:t>
            </a:r>
            <a:r>
              <a:rPr sz="1275" b="0">
                <a:solidFill>
                  <a:srgbClr val="506573"/>
                </a:solidFill>
                <a:latin typeface="Arial"/>
                <a:ea typeface="Arial"/>
                <a:cs typeface="Arial"/>
              </a:rPr>
              <a:t>:  python3 </a:t>
            </a:r>
            <a:r>
              <a:rPr sz="1200" b="0">
                <a:solidFill>
                  <a:srgbClr val="506573"/>
                </a:solidFill>
                <a:latin typeface="Courier New" panose="02070309020205020404" pitchFamily="49" charset="0"/>
                <a:ea typeface="Arial"/>
                <a:cs typeface="Courier New" panose="02070309020205020404" pitchFamily="49" charset="0"/>
              </a:rPr>
              <a:t>asic_autonomous_flow.py --config </a:t>
            </a:r>
            <a:r>
              <a:rPr sz="1200" b="0" err="1">
                <a:solidFill>
                  <a:srgbClr val="506573"/>
                </a:solidFill>
                <a:latin typeface="Courier New" panose="02070309020205020404" pitchFamily="49" charset="0"/>
                <a:ea typeface="Arial"/>
                <a:cs typeface="Courier New" panose="02070309020205020404" pitchFamily="49" charset="0"/>
              </a:rPr>
              <a:t>run_configs</a:t>
            </a:r>
            <a:r>
              <a:rPr sz="1200" b="0">
                <a:solidFill>
                  <a:srgbClr val="506573"/>
                </a:solidFill>
                <a:latin typeface="Courier New" panose="02070309020205020404" pitchFamily="49" charset="0"/>
                <a:ea typeface="Arial"/>
                <a:cs typeface="Courier New" panose="02070309020205020404" pitchFamily="49" charset="0"/>
              </a:rPr>
              <a:t>/&lt;run&gt;.</a:t>
            </a:r>
            <a:r>
              <a:rPr sz="1200" b="0" err="1">
                <a:solidFill>
                  <a:srgbClr val="506573"/>
                </a:solidFill>
                <a:latin typeface="Courier New" panose="02070309020205020404" pitchFamily="49" charset="0"/>
                <a:ea typeface="Arial"/>
                <a:cs typeface="Courier New" panose="02070309020205020404" pitchFamily="49" charset="0"/>
              </a:rPr>
              <a:t>yaml</a:t>
            </a:r>
            <a:endParaRPr sz="1200" b="0">
              <a:solidFill>
                <a:srgbClr val="506573"/>
              </a:solidFill>
              <a:latin typeface="Courier New" panose="02070309020205020404" pitchFamily="49" charset="0"/>
              <a:ea typeface="Arial"/>
              <a:cs typeface="Courier New" panose="02070309020205020404" pitchFamily="49" charset="0"/>
            </a:endParaRPr>
          </a:p>
        </p:txBody>
      </p:sp>
    </p:spTree>
    <p:extLst>
      <p:ext uri="{BB962C8B-B14F-4D97-AF65-F5344CB8AC3E}">
        <p14:creationId xmlns:p14="http://schemas.microsoft.com/office/powerpoint/2010/main" val="4018775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74F77-DFB8-CA89-D3A6-FF88B873A57F}"/>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C9D0DA9-8B4E-56CC-9643-83956074E1AC}"/>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D211E292-4A1B-1A78-EFE4-20081590B998}"/>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AC552786-510A-14AA-E9E2-6C765CE37EA6}"/>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ASU Spec2Tapeout problem</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1687A0E-E8E2-AEB7-2215-9897972B7764}"/>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1CEEA0C4-E285-8A6C-3133-786EF76F47A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48</a:t>
            </a:fld>
            <a:endParaRPr sz="750" b="0">
              <a:solidFill>
                <a:srgbClr val="5B6573"/>
              </a:solidFill>
              <a:latin typeface="Calibri"/>
              <a:ea typeface="Calibri"/>
              <a:cs typeface="Calibri"/>
            </a:endParaRPr>
          </a:p>
        </p:txBody>
      </p:sp>
      <p:sp>
        <p:nvSpPr>
          <p:cNvPr id="5" name="TextBox 4">
            <a:extLst>
              <a:ext uri="{FF2B5EF4-FFF2-40B4-BE49-F238E27FC236}">
                <a16:creationId xmlns:a16="http://schemas.microsoft.com/office/drawing/2014/main" id="{8F9F6A4D-49D6-22F5-EFEE-F219CF250E59}"/>
              </a:ext>
            </a:extLst>
          </p:cNvPr>
          <p:cNvSpPr txBox="1"/>
          <p:nvPr/>
        </p:nvSpPr>
        <p:spPr>
          <a:xfrm>
            <a:off x="1911337" y="5333999"/>
            <a:ext cx="4692676"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000">
                <a:latin typeface="Calibri" panose="020F0502020204030204" pitchFamily="34" charset="0"/>
                <a:ea typeface="Calibri" panose="020F0502020204030204" pitchFamily="34" charset="0"/>
                <a:cs typeface="Calibri" panose="020F0502020204030204" pitchFamily="34" charset="0"/>
              </a:rPr>
              <a:t>Going from the Design Specification to the EDA result using the agents</a:t>
            </a:r>
            <a:endParaRPr lang="en-GB"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B70D074-2F87-792B-25C3-249B5408A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4712" y="1377442"/>
            <a:ext cx="5434575" cy="3350640"/>
          </a:xfrm>
          <a:prstGeom prst="rect">
            <a:avLst/>
          </a:prstGeom>
        </p:spPr>
      </p:pic>
    </p:spTree>
    <p:extLst>
      <p:ext uri="{BB962C8B-B14F-4D97-AF65-F5344CB8AC3E}">
        <p14:creationId xmlns:p14="http://schemas.microsoft.com/office/powerpoint/2010/main" val="9339228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74F77-DFB8-CA89-D3A6-FF88B873A57F}"/>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C9D0DA9-8B4E-56CC-9643-83956074E1AC}"/>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D211E292-4A1B-1A78-EFE4-20081590B998}"/>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AC552786-510A-14AA-E9E2-6C765CE37EA6}"/>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How we score a layout: against our golden run</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1687A0E-E8E2-AEB7-2215-9897972B7764}"/>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1CEEA0C4-E285-8A6C-3133-786EF76F47A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49</a:t>
            </a:fld>
            <a:endParaRPr sz="750" b="0">
              <a:solidFill>
                <a:srgbClr val="5B6573"/>
              </a:solidFill>
              <a:latin typeface="Calibri"/>
              <a:ea typeface="Calibri"/>
              <a:cs typeface="Calibri"/>
            </a:endParaRPr>
          </a:p>
        </p:txBody>
      </p:sp>
      <p:sp>
        <p:nvSpPr>
          <p:cNvPr id="1037" name="shape 1037"/>
          <p:cNvSpPr/>
          <p:nvPr/>
        </p:nvSpPr>
        <p:spPr>
          <a:xfrm>
            <a:off x="457200" y="932688"/>
            <a:ext cx="8229600" cy="713232"/>
          </a:xfrm>
          <a:prstGeom prst="roundRect">
            <a:avLst>
              <a:gd name="adj" fmla="val 10000"/>
            </a:avLst>
          </a:prstGeom>
          <a:solidFill>
            <a:srgbClr val="FBE9EB"/>
          </a:solidFill>
          <a:ln>
            <a:noFill/>
          </a:ln>
        </p:spPr>
        <p:txBody>
          <a:bodyPr wrap="square" lIns="128016" tIns="128016" rIns="128016" bIns="128016" anchor="ctr">
            <a:noAutofit/>
          </a:bodyPr>
          <a:lstStyle/>
          <a:p>
            <a:pPr algn="l">
              <a:spcBef>
                <a:spcPts val="0"/>
              </a:spcBef>
              <a:spcAft>
                <a:spcPts val="0"/>
              </a:spcAft>
              <a:buNone/>
            </a:pPr>
            <a:r>
              <a:rPr lang="en-US" sz="1100" b="1" i="0">
                <a:solidFill>
                  <a:srgbClr val="B91F2D"/>
                </a:solidFill>
                <a:latin typeface="Calibri"/>
                <a:ea typeface="Calibri"/>
                <a:cs typeface="Calibri"/>
              </a:rPr>
              <a:t>Golden run </a:t>
            </a:r>
            <a:r>
              <a:rPr lang="en-US" sz="1050" b="0" i="0">
                <a:solidFill>
                  <a:srgbClr val="0E2745"/>
                </a:solidFill>
                <a:latin typeface="Calibri"/>
                <a:ea typeface="Calibri"/>
                <a:cs typeface="Calibri"/>
              </a:rPr>
              <a:t>= a run of the full flow that we did ourselves with the reference RTL and a simple, NOT optimized config.mk. Its results are stored in </a:t>
            </a:r>
            <a:r>
              <a:rPr lang="en-US" sz="1000" b="1" i="0">
                <a:solidFill>
                  <a:srgbClr val="0E2745"/>
                </a:solidFill>
                <a:latin typeface="Courier New"/>
                <a:ea typeface="Courier New"/>
                <a:cs typeface="Courier New"/>
              </a:rPr>
              <a:t>evaluation/visible/</a:t>
            </a:r>
            <a:r>
              <a:rPr lang="en-US" sz="1000" b="1" i="0" err="1">
                <a:solidFill>
                  <a:srgbClr val="0E2745"/>
                </a:solidFill>
                <a:latin typeface="Courier New"/>
                <a:ea typeface="Courier New"/>
                <a:cs typeface="Courier New"/>
              </a:rPr>
              <a:t>pN</a:t>
            </a:r>
            <a:r>
              <a:rPr lang="en-US" sz="1000" b="1" i="0">
                <a:solidFill>
                  <a:srgbClr val="0E2745"/>
                </a:solidFill>
                <a:latin typeface="Courier New"/>
                <a:ea typeface="Courier New"/>
                <a:cs typeface="Courier New"/>
              </a:rPr>
              <a:t>/</a:t>
            </a:r>
            <a:r>
              <a:rPr lang="en-US" sz="1000" b="1" i="0" err="1">
                <a:solidFill>
                  <a:srgbClr val="0E2745"/>
                </a:solidFill>
                <a:latin typeface="Courier New"/>
                <a:ea typeface="Courier New"/>
                <a:cs typeface="Courier New"/>
              </a:rPr>
              <a:t>pN.json</a:t>
            </a:r>
            <a:r>
              <a:rPr lang="en-US" sz="1050" b="0" i="0">
                <a:solidFill>
                  <a:srgbClr val="0E2745"/>
                </a:solidFill>
                <a:latin typeface="Calibri"/>
                <a:ea typeface="Calibri"/>
                <a:cs typeface="Calibri"/>
              </a:rPr>
              <a:t>. The agents must match it or beat it.</a:t>
            </a:r>
          </a:p>
        </p:txBody>
      </p:sp>
      <p:sp>
        <p:nvSpPr>
          <p:cNvPr id="1038" name="shape 1038"/>
          <p:cNvSpPr/>
          <p:nvPr/>
        </p:nvSpPr>
        <p:spPr>
          <a:xfrm>
            <a:off x="457200" y="1783080"/>
            <a:ext cx="1828800" cy="658368"/>
          </a:xfrm>
          <a:prstGeom prst="roundRect">
            <a:avLst>
              <a:gd name="adj" fmla="val 12000"/>
            </a:avLst>
          </a:prstGeom>
          <a:solidFill>
            <a:srgbClr val="E6EEF7"/>
          </a:solidFill>
          <a:ln w="12700">
            <a:solidFill>
              <a:srgbClr val="4F81BD"/>
            </a:solidFill>
          </a:ln>
        </p:spPr>
        <p:txBody>
          <a:bodyPr wrap="square" lIns="45720" tIns="45720" rIns="45720" bIns="45720" anchor="ctr">
            <a:noAutofit/>
          </a:bodyPr>
          <a:lstStyle/>
          <a:p>
            <a:pPr algn="ctr">
              <a:spcBef>
                <a:spcPts val="0"/>
              </a:spcBef>
              <a:spcAft>
                <a:spcPts val="60"/>
              </a:spcAft>
              <a:buNone/>
            </a:pPr>
            <a:r>
              <a:rPr lang="en-US" sz="1050" b="1" i="0">
                <a:solidFill>
                  <a:srgbClr val="0E2745"/>
                </a:solidFill>
                <a:latin typeface="Calibri"/>
                <a:ea typeface="Calibri"/>
                <a:cs typeface="Calibri"/>
              </a:rPr>
              <a:t>agent's layout</a:t>
            </a:r>
          </a:p>
          <a:p>
            <a:pPr algn="ctr">
              <a:spcBef>
                <a:spcPts val="0"/>
              </a:spcBef>
              <a:spcAft>
                <a:spcPts val="0"/>
              </a:spcAft>
              <a:buNone/>
            </a:pPr>
            <a:r>
              <a:rPr lang="en-US" sz="850" b="0" i="0">
                <a:solidFill>
                  <a:srgbClr val="5D6C7B"/>
                </a:solidFill>
                <a:latin typeface="Calibri"/>
                <a:ea typeface="Calibri"/>
                <a:cs typeface="Calibri"/>
              </a:rPr>
              <a:t>6_final.odb + SDC</a:t>
            </a:r>
          </a:p>
        </p:txBody>
      </p:sp>
      <p:sp>
        <p:nvSpPr>
          <p:cNvPr id="1039" name="arrow 1039"/>
          <p:cNvSpPr/>
          <p:nvPr/>
        </p:nvSpPr>
        <p:spPr>
          <a:xfrm>
            <a:off x="2313432" y="1984248"/>
            <a:ext cx="219456" cy="256032"/>
          </a:xfrm>
          <a:prstGeom prst="rightArrow">
            <a:avLst/>
          </a:prstGeom>
          <a:solidFill>
            <a:srgbClr val="4F81BD"/>
          </a:solidFill>
          <a:ln>
            <a:noFill/>
          </a:ln>
        </p:spPr>
        <p:txBody>
          <a:bodyPr/>
          <a:lstStyle/>
          <a:p>
            <a:endParaRPr lang="en-US"/>
          </a:p>
        </p:txBody>
      </p:sp>
      <p:sp>
        <p:nvSpPr>
          <p:cNvPr id="1040" name="shape 1040"/>
          <p:cNvSpPr/>
          <p:nvPr/>
        </p:nvSpPr>
        <p:spPr>
          <a:xfrm>
            <a:off x="2560320" y="1783080"/>
            <a:ext cx="1828800" cy="658368"/>
          </a:xfrm>
          <a:prstGeom prst="roundRect">
            <a:avLst>
              <a:gd name="adj" fmla="val 12000"/>
            </a:avLst>
          </a:prstGeom>
          <a:solidFill>
            <a:srgbClr val="0E2745"/>
          </a:solidFill>
          <a:ln>
            <a:noFill/>
          </a:ln>
        </p:spPr>
        <p:txBody>
          <a:bodyPr wrap="square" lIns="45720" tIns="45720" rIns="45720" bIns="45720" anchor="ctr">
            <a:noAutofit/>
          </a:bodyPr>
          <a:lstStyle/>
          <a:p>
            <a:pPr algn="ctr">
              <a:spcBef>
                <a:spcPts val="0"/>
              </a:spcBef>
              <a:spcAft>
                <a:spcPts val="60"/>
              </a:spcAft>
              <a:buNone/>
            </a:pPr>
            <a:r>
              <a:rPr lang="en-US" sz="1050" b="1" i="0">
                <a:solidFill>
                  <a:srgbClr val="FFFFFF"/>
                </a:solidFill>
                <a:latin typeface="Courier New" panose="02070309020205020404" pitchFamily="49" charset="0"/>
                <a:ea typeface="Calibri"/>
                <a:cs typeface="Courier New" panose="02070309020205020404" pitchFamily="49" charset="0"/>
              </a:rPr>
              <a:t>evaluate_openroad.py</a:t>
            </a:r>
          </a:p>
          <a:p>
            <a:pPr algn="ctr">
              <a:spcBef>
                <a:spcPts val="0"/>
              </a:spcBef>
              <a:spcAft>
                <a:spcPts val="0"/>
              </a:spcAft>
              <a:buNone/>
            </a:pPr>
            <a:r>
              <a:rPr lang="en-US" sz="850" b="0" i="0" err="1">
                <a:solidFill>
                  <a:srgbClr val="CADCFC"/>
                </a:solidFill>
                <a:latin typeface="Calibri"/>
                <a:ea typeface="Calibri"/>
                <a:cs typeface="Calibri"/>
              </a:rPr>
              <a:t>OpenROAD</a:t>
            </a:r>
            <a:r>
              <a:rPr lang="en-US" sz="850" b="0" i="0">
                <a:solidFill>
                  <a:srgbClr val="CADCFC"/>
                </a:solidFill>
                <a:latin typeface="Calibri"/>
                <a:ea typeface="Calibri"/>
                <a:cs typeface="Calibri"/>
              </a:rPr>
              <a:t> measures WNS, TNS, power, area</a:t>
            </a:r>
          </a:p>
        </p:txBody>
      </p:sp>
      <p:sp>
        <p:nvSpPr>
          <p:cNvPr id="1041" name="arrow 1041"/>
          <p:cNvSpPr/>
          <p:nvPr/>
        </p:nvSpPr>
        <p:spPr>
          <a:xfrm>
            <a:off x="4416552" y="1984248"/>
            <a:ext cx="219456" cy="256032"/>
          </a:xfrm>
          <a:prstGeom prst="rightArrow">
            <a:avLst/>
          </a:prstGeom>
          <a:solidFill>
            <a:srgbClr val="4F81BD"/>
          </a:solidFill>
          <a:ln>
            <a:noFill/>
          </a:ln>
        </p:spPr>
        <p:txBody>
          <a:bodyPr/>
          <a:lstStyle/>
          <a:p>
            <a:endParaRPr lang="en-US"/>
          </a:p>
        </p:txBody>
      </p:sp>
      <p:sp>
        <p:nvSpPr>
          <p:cNvPr id="1042" name="shape 1042"/>
          <p:cNvSpPr/>
          <p:nvPr/>
        </p:nvSpPr>
        <p:spPr>
          <a:xfrm>
            <a:off x="4663440" y="1783080"/>
            <a:ext cx="1828800" cy="658368"/>
          </a:xfrm>
          <a:prstGeom prst="roundRect">
            <a:avLst>
              <a:gd name="adj" fmla="val 12000"/>
            </a:avLst>
          </a:prstGeom>
          <a:solidFill>
            <a:srgbClr val="E6EEF7"/>
          </a:solidFill>
          <a:ln w="12700">
            <a:solidFill>
              <a:srgbClr val="4F81BD"/>
            </a:solidFill>
          </a:ln>
        </p:spPr>
        <p:txBody>
          <a:bodyPr wrap="square" lIns="45720" tIns="45720" rIns="45720" bIns="45720" anchor="ctr">
            <a:noAutofit/>
          </a:bodyPr>
          <a:lstStyle/>
          <a:p>
            <a:pPr algn="ctr">
              <a:spcBef>
                <a:spcPts val="0"/>
              </a:spcBef>
              <a:spcAft>
                <a:spcPts val="60"/>
              </a:spcAft>
              <a:buNone/>
            </a:pPr>
            <a:r>
              <a:rPr lang="en-US" sz="1050" b="1" i="0">
                <a:solidFill>
                  <a:srgbClr val="0E2745"/>
                </a:solidFill>
                <a:latin typeface="Calibri"/>
                <a:ea typeface="Calibri"/>
                <a:cs typeface="Calibri"/>
              </a:rPr>
              <a:t>compare with golden</a:t>
            </a:r>
          </a:p>
          <a:p>
            <a:pPr algn="ctr">
              <a:spcBef>
                <a:spcPts val="0"/>
              </a:spcBef>
              <a:spcAft>
                <a:spcPts val="0"/>
              </a:spcAft>
              <a:buNone/>
            </a:pPr>
            <a:r>
              <a:rPr lang="en-US" sz="850" b="0" i="0" err="1">
                <a:solidFill>
                  <a:srgbClr val="5D6C7B"/>
                </a:solidFill>
                <a:latin typeface="Courier New" panose="02070309020205020404" pitchFamily="49" charset="0"/>
                <a:ea typeface="Calibri"/>
                <a:cs typeface="Courier New" panose="02070309020205020404" pitchFamily="49" charset="0"/>
              </a:rPr>
              <a:t>pN.json</a:t>
            </a:r>
            <a:endParaRPr lang="en-US" sz="850" b="0" i="0">
              <a:solidFill>
                <a:srgbClr val="5D6C7B"/>
              </a:solidFill>
              <a:latin typeface="Courier New" panose="02070309020205020404" pitchFamily="49" charset="0"/>
              <a:ea typeface="Calibri"/>
              <a:cs typeface="Courier New" panose="02070309020205020404" pitchFamily="49" charset="0"/>
            </a:endParaRPr>
          </a:p>
        </p:txBody>
      </p:sp>
      <p:sp>
        <p:nvSpPr>
          <p:cNvPr id="1043" name="arrow 1043"/>
          <p:cNvSpPr/>
          <p:nvPr/>
        </p:nvSpPr>
        <p:spPr>
          <a:xfrm>
            <a:off x="6519671" y="1984248"/>
            <a:ext cx="219456" cy="256032"/>
          </a:xfrm>
          <a:prstGeom prst="rightArrow">
            <a:avLst/>
          </a:prstGeom>
          <a:solidFill>
            <a:srgbClr val="4F81BD"/>
          </a:solidFill>
          <a:ln>
            <a:noFill/>
          </a:ln>
        </p:spPr>
        <p:txBody>
          <a:bodyPr/>
          <a:lstStyle/>
          <a:p>
            <a:endParaRPr lang="en-US"/>
          </a:p>
        </p:txBody>
      </p:sp>
      <p:sp>
        <p:nvSpPr>
          <p:cNvPr id="1044" name="shape 1044"/>
          <p:cNvSpPr/>
          <p:nvPr/>
        </p:nvSpPr>
        <p:spPr>
          <a:xfrm>
            <a:off x="6766559" y="1783080"/>
            <a:ext cx="1828800" cy="658368"/>
          </a:xfrm>
          <a:prstGeom prst="roundRect">
            <a:avLst>
              <a:gd name="adj" fmla="val 12000"/>
            </a:avLst>
          </a:prstGeom>
          <a:solidFill>
            <a:srgbClr val="EAF4EC"/>
          </a:solidFill>
          <a:ln w="12700">
            <a:solidFill>
              <a:srgbClr val="2E7D4F"/>
            </a:solidFill>
          </a:ln>
        </p:spPr>
        <p:txBody>
          <a:bodyPr wrap="square" lIns="45720" tIns="45720" rIns="45720" bIns="45720" anchor="ctr">
            <a:noAutofit/>
          </a:bodyPr>
          <a:lstStyle/>
          <a:p>
            <a:pPr algn="ctr">
              <a:spcBef>
                <a:spcPts val="0"/>
              </a:spcBef>
              <a:spcAft>
                <a:spcPts val="60"/>
              </a:spcAft>
              <a:buNone/>
            </a:pPr>
            <a:r>
              <a:rPr lang="en-US" sz="1050" b="1" i="0">
                <a:solidFill>
                  <a:srgbClr val="2E7D4F"/>
                </a:solidFill>
                <a:latin typeface="Calibri"/>
                <a:ea typeface="Calibri"/>
                <a:cs typeface="Calibri"/>
              </a:rPr>
              <a:t>score / 100</a:t>
            </a:r>
          </a:p>
          <a:p>
            <a:pPr algn="ctr">
              <a:spcBef>
                <a:spcPts val="0"/>
              </a:spcBef>
              <a:spcAft>
                <a:spcPts val="0"/>
              </a:spcAft>
              <a:buNone/>
            </a:pPr>
            <a:r>
              <a:rPr lang="en-US" sz="850" b="0" i="0">
                <a:solidFill>
                  <a:srgbClr val="5D6C7B"/>
                </a:solidFill>
                <a:latin typeface="Calibri"/>
                <a:ea typeface="Calibri"/>
                <a:cs typeface="Calibri"/>
              </a:rPr>
              <a:t>80 ≈ as good as ours</a:t>
            </a:r>
          </a:p>
        </p:txBody>
      </p:sp>
      <p:sp>
        <p:nvSpPr>
          <p:cNvPr id="1045" name="shape 1045"/>
          <p:cNvSpPr/>
          <p:nvPr/>
        </p:nvSpPr>
        <p:spPr>
          <a:xfrm>
            <a:off x="457200" y="2606040"/>
            <a:ext cx="8229600" cy="292608"/>
          </a:xfrm>
          <a:prstGeom prst="rect">
            <a:avLst/>
          </a:prstGeom>
          <a:solidFill>
            <a:srgbClr val="0E2745"/>
          </a:solidFill>
          <a:ln>
            <a:noFill/>
          </a:ln>
        </p:spPr>
        <p:txBody>
          <a:bodyPr wrap="square" lIns="73152" tIns="73152" rIns="73152" bIns="73152" anchor="ctr">
            <a:noAutofit/>
          </a:bodyPr>
          <a:lstStyle/>
          <a:p>
            <a:pPr algn="l">
              <a:spcBef>
                <a:spcPts val="0"/>
              </a:spcBef>
              <a:spcAft>
                <a:spcPts val="0"/>
              </a:spcAft>
              <a:buNone/>
            </a:pPr>
            <a:endParaRPr lang="en-US" sz="600"/>
          </a:p>
        </p:txBody>
      </p:sp>
      <p:sp>
        <p:nvSpPr>
          <p:cNvPr id="1046" name="text 1046"/>
          <p:cNvSpPr txBox="1"/>
          <p:nvPr/>
        </p:nvSpPr>
        <p:spPr>
          <a:xfrm>
            <a:off x="530352" y="2606040"/>
            <a:ext cx="1691639"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FFFFFF"/>
                </a:solidFill>
                <a:latin typeface="Calibri"/>
                <a:ea typeface="Calibri"/>
                <a:cs typeface="Calibri"/>
              </a:rPr>
              <a:t>Metric</a:t>
            </a:r>
          </a:p>
        </p:txBody>
      </p:sp>
      <p:sp>
        <p:nvSpPr>
          <p:cNvPr id="1047" name="text 1047"/>
          <p:cNvSpPr txBox="1"/>
          <p:nvPr/>
        </p:nvSpPr>
        <p:spPr>
          <a:xfrm>
            <a:off x="2313432" y="2606040"/>
            <a:ext cx="59436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FFFFFF"/>
                </a:solidFill>
                <a:latin typeface="Calibri"/>
                <a:ea typeface="Calibri"/>
                <a:cs typeface="Calibri"/>
              </a:rPr>
              <a:t>Points</a:t>
            </a:r>
          </a:p>
        </p:txBody>
      </p:sp>
      <p:sp>
        <p:nvSpPr>
          <p:cNvPr id="1048" name="text 1048"/>
          <p:cNvSpPr txBox="1"/>
          <p:nvPr/>
        </p:nvSpPr>
        <p:spPr>
          <a:xfrm>
            <a:off x="2999232" y="2606040"/>
            <a:ext cx="86868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FFFFFF"/>
                </a:solidFill>
                <a:latin typeface="Calibri"/>
                <a:ea typeface="Calibri"/>
                <a:cs typeface="Calibri"/>
              </a:rPr>
              <a:t>Golden gets</a:t>
            </a:r>
          </a:p>
        </p:txBody>
      </p:sp>
      <p:sp>
        <p:nvSpPr>
          <p:cNvPr id="1049" name="text 1049"/>
          <p:cNvSpPr txBox="1"/>
          <p:nvPr/>
        </p:nvSpPr>
        <p:spPr>
          <a:xfrm>
            <a:off x="3959352" y="2606040"/>
            <a:ext cx="470916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FFFFFF"/>
                </a:solidFill>
                <a:latin typeface="Calibri"/>
                <a:ea typeface="Calibri"/>
                <a:cs typeface="Calibri"/>
              </a:rPr>
              <a:t>How the agent's value is scored (vs golden)</a:t>
            </a:r>
          </a:p>
        </p:txBody>
      </p:sp>
      <p:sp>
        <p:nvSpPr>
          <p:cNvPr id="1050" name="shape 1050"/>
          <p:cNvSpPr/>
          <p:nvPr/>
        </p:nvSpPr>
        <p:spPr>
          <a:xfrm>
            <a:off x="457200" y="2898648"/>
            <a:ext cx="8229600" cy="329184"/>
          </a:xfrm>
          <a:prstGeom prst="rect">
            <a:avLst/>
          </a:prstGeom>
          <a:solidFill>
            <a:srgbClr val="F3F6FA"/>
          </a:solidFill>
          <a:ln>
            <a:noFill/>
          </a:ln>
        </p:spPr>
        <p:txBody>
          <a:bodyPr wrap="square" lIns="73152" tIns="73152" rIns="73152" bIns="73152" anchor="ctr">
            <a:noAutofit/>
          </a:bodyPr>
          <a:lstStyle/>
          <a:p>
            <a:pPr algn="l">
              <a:spcBef>
                <a:spcPts val="0"/>
              </a:spcBef>
              <a:spcAft>
                <a:spcPts val="0"/>
              </a:spcAft>
              <a:buNone/>
            </a:pPr>
            <a:endParaRPr lang="en-US" sz="600"/>
          </a:p>
        </p:txBody>
      </p:sp>
      <p:sp>
        <p:nvSpPr>
          <p:cNvPr id="1051" name="text 1051"/>
          <p:cNvSpPr txBox="1"/>
          <p:nvPr/>
        </p:nvSpPr>
        <p:spPr>
          <a:xfrm>
            <a:off x="530352" y="2898648"/>
            <a:ext cx="1691639"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WNS  worst slack</a:t>
            </a:r>
          </a:p>
        </p:txBody>
      </p:sp>
      <p:sp>
        <p:nvSpPr>
          <p:cNvPr id="1052" name="text 1052"/>
          <p:cNvSpPr txBox="1"/>
          <p:nvPr/>
        </p:nvSpPr>
        <p:spPr>
          <a:xfrm>
            <a:off x="2313432" y="2898648"/>
            <a:ext cx="5943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40</a:t>
            </a:r>
          </a:p>
        </p:txBody>
      </p:sp>
      <p:sp>
        <p:nvSpPr>
          <p:cNvPr id="1053" name="text 1053"/>
          <p:cNvSpPr txBox="1"/>
          <p:nvPr/>
        </p:nvSpPr>
        <p:spPr>
          <a:xfrm>
            <a:off x="2999232" y="2898648"/>
            <a:ext cx="86868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30</a:t>
            </a:r>
          </a:p>
        </p:txBody>
      </p:sp>
      <p:sp>
        <p:nvSpPr>
          <p:cNvPr id="1054" name="text 1054"/>
          <p:cNvSpPr txBox="1"/>
          <p:nvPr/>
        </p:nvSpPr>
        <p:spPr>
          <a:xfrm>
            <a:off x="3959352" y="2898648"/>
            <a:ext cx="47091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30 + 40 × (WNS − WNS gold), at most ±10  →  0.25 ns more slack = +10</a:t>
            </a:r>
          </a:p>
        </p:txBody>
      </p:sp>
      <p:sp>
        <p:nvSpPr>
          <p:cNvPr id="1055" name="shape 1055"/>
          <p:cNvSpPr/>
          <p:nvPr/>
        </p:nvSpPr>
        <p:spPr>
          <a:xfrm>
            <a:off x="457200" y="3227832"/>
            <a:ext cx="8229600" cy="329184"/>
          </a:xfrm>
          <a:prstGeom prst="rect">
            <a:avLst/>
          </a:prstGeom>
          <a:solidFill>
            <a:srgbClr val="FFFFFF"/>
          </a:solidFill>
          <a:ln>
            <a:noFill/>
          </a:ln>
        </p:spPr>
        <p:txBody>
          <a:bodyPr wrap="square" lIns="73152" tIns="73152" rIns="73152" bIns="73152" anchor="ctr">
            <a:noAutofit/>
          </a:bodyPr>
          <a:lstStyle/>
          <a:p>
            <a:pPr algn="l">
              <a:spcBef>
                <a:spcPts val="0"/>
              </a:spcBef>
              <a:spcAft>
                <a:spcPts val="0"/>
              </a:spcAft>
              <a:buNone/>
            </a:pPr>
            <a:endParaRPr lang="en-US" sz="600"/>
          </a:p>
        </p:txBody>
      </p:sp>
      <p:sp>
        <p:nvSpPr>
          <p:cNvPr id="1056" name="text 1056"/>
          <p:cNvSpPr txBox="1"/>
          <p:nvPr/>
        </p:nvSpPr>
        <p:spPr>
          <a:xfrm>
            <a:off x="530352" y="3227832"/>
            <a:ext cx="1691639"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TNS  total neg. slack</a:t>
            </a:r>
          </a:p>
        </p:txBody>
      </p:sp>
      <p:sp>
        <p:nvSpPr>
          <p:cNvPr id="1057" name="text 1057"/>
          <p:cNvSpPr txBox="1"/>
          <p:nvPr/>
        </p:nvSpPr>
        <p:spPr>
          <a:xfrm>
            <a:off x="2313432" y="3227832"/>
            <a:ext cx="5943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20</a:t>
            </a:r>
          </a:p>
        </p:txBody>
      </p:sp>
      <p:sp>
        <p:nvSpPr>
          <p:cNvPr id="1058" name="text 1058"/>
          <p:cNvSpPr txBox="1"/>
          <p:nvPr/>
        </p:nvSpPr>
        <p:spPr>
          <a:xfrm>
            <a:off x="2999232" y="3227832"/>
            <a:ext cx="86868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 (20 if TNS = 0)</a:t>
            </a:r>
          </a:p>
        </p:txBody>
      </p:sp>
      <p:sp>
        <p:nvSpPr>
          <p:cNvPr id="1059" name="text 1059"/>
          <p:cNvSpPr txBox="1"/>
          <p:nvPr/>
        </p:nvSpPr>
        <p:spPr>
          <a:xfrm>
            <a:off x="3959352" y="3227832"/>
            <a:ext cx="47091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 ± 5 × relative change;  golden TNS = 0: TNS = 0 gives 20, any violation 10</a:t>
            </a:r>
          </a:p>
        </p:txBody>
      </p:sp>
      <p:sp>
        <p:nvSpPr>
          <p:cNvPr id="1060" name="shape 1060"/>
          <p:cNvSpPr/>
          <p:nvPr/>
        </p:nvSpPr>
        <p:spPr>
          <a:xfrm>
            <a:off x="457200" y="3557015"/>
            <a:ext cx="8229600" cy="329184"/>
          </a:xfrm>
          <a:prstGeom prst="rect">
            <a:avLst/>
          </a:prstGeom>
          <a:solidFill>
            <a:srgbClr val="F3F6FA"/>
          </a:solidFill>
          <a:ln>
            <a:noFill/>
          </a:ln>
        </p:spPr>
        <p:txBody>
          <a:bodyPr wrap="square" lIns="73152" tIns="73152" rIns="73152" bIns="73152" anchor="ctr">
            <a:noAutofit/>
          </a:bodyPr>
          <a:lstStyle/>
          <a:p>
            <a:pPr algn="l">
              <a:spcBef>
                <a:spcPts val="0"/>
              </a:spcBef>
              <a:spcAft>
                <a:spcPts val="0"/>
              </a:spcAft>
              <a:buNone/>
            </a:pPr>
            <a:endParaRPr lang="en-US" sz="600"/>
          </a:p>
        </p:txBody>
      </p:sp>
      <p:sp>
        <p:nvSpPr>
          <p:cNvPr id="1061" name="text 1061"/>
          <p:cNvSpPr txBox="1"/>
          <p:nvPr/>
        </p:nvSpPr>
        <p:spPr>
          <a:xfrm>
            <a:off x="530352" y="3557015"/>
            <a:ext cx="1691639"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Power</a:t>
            </a:r>
          </a:p>
        </p:txBody>
      </p:sp>
      <p:sp>
        <p:nvSpPr>
          <p:cNvPr id="1062" name="text 1062"/>
          <p:cNvSpPr txBox="1"/>
          <p:nvPr/>
        </p:nvSpPr>
        <p:spPr>
          <a:xfrm>
            <a:off x="2313432" y="3557015"/>
            <a:ext cx="5943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20</a:t>
            </a:r>
          </a:p>
        </p:txBody>
      </p:sp>
      <p:sp>
        <p:nvSpPr>
          <p:cNvPr id="1063" name="text 1063"/>
          <p:cNvSpPr txBox="1"/>
          <p:nvPr/>
        </p:nvSpPr>
        <p:spPr>
          <a:xfrm>
            <a:off x="2999232" y="3557015"/>
            <a:ext cx="86868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a:t>
            </a:r>
          </a:p>
        </p:txBody>
      </p:sp>
      <p:sp>
        <p:nvSpPr>
          <p:cNvPr id="1064" name="text 1064"/>
          <p:cNvSpPr txBox="1"/>
          <p:nvPr/>
        </p:nvSpPr>
        <p:spPr>
          <a:xfrm>
            <a:off x="3959352" y="3557015"/>
            <a:ext cx="47091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 + 20 × (P gold / P − 1), at most ±5  →  20% less power = +5</a:t>
            </a:r>
          </a:p>
        </p:txBody>
      </p:sp>
      <p:sp>
        <p:nvSpPr>
          <p:cNvPr id="1065" name="shape 1065"/>
          <p:cNvSpPr/>
          <p:nvPr/>
        </p:nvSpPr>
        <p:spPr>
          <a:xfrm>
            <a:off x="457200" y="3886200"/>
            <a:ext cx="8229600" cy="329184"/>
          </a:xfrm>
          <a:prstGeom prst="rect">
            <a:avLst/>
          </a:prstGeom>
          <a:solidFill>
            <a:srgbClr val="FFFFFF"/>
          </a:solidFill>
          <a:ln>
            <a:noFill/>
          </a:ln>
        </p:spPr>
        <p:txBody>
          <a:bodyPr wrap="square" lIns="73152" tIns="73152" rIns="73152" bIns="73152" anchor="ctr">
            <a:noAutofit/>
          </a:bodyPr>
          <a:lstStyle/>
          <a:p>
            <a:pPr algn="l">
              <a:spcBef>
                <a:spcPts val="0"/>
              </a:spcBef>
              <a:spcAft>
                <a:spcPts val="0"/>
              </a:spcAft>
              <a:buNone/>
            </a:pPr>
            <a:endParaRPr lang="en-US" sz="600"/>
          </a:p>
        </p:txBody>
      </p:sp>
      <p:sp>
        <p:nvSpPr>
          <p:cNvPr id="1066" name="text 1066"/>
          <p:cNvSpPr txBox="1"/>
          <p:nvPr/>
        </p:nvSpPr>
        <p:spPr>
          <a:xfrm>
            <a:off x="530352" y="3886200"/>
            <a:ext cx="1691639"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Area</a:t>
            </a:r>
          </a:p>
        </p:txBody>
      </p:sp>
      <p:sp>
        <p:nvSpPr>
          <p:cNvPr id="1067" name="text 1067"/>
          <p:cNvSpPr txBox="1"/>
          <p:nvPr/>
        </p:nvSpPr>
        <p:spPr>
          <a:xfrm>
            <a:off x="2313432" y="3886200"/>
            <a:ext cx="5943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1" i="0">
                <a:solidFill>
                  <a:srgbClr val="0E2745"/>
                </a:solidFill>
                <a:latin typeface="Calibri"/>
                <a:ea typeface="Calibri"/>
                <a:cs typeface="Calibri"/>
              </a:rPr>
              <a:t>20</a:t>
            </a:r>
          </a:p>
        </p:txBody>
      </p:sp>
      <p:sp>
        <p:nvSpPr>
          <p:cNvPr id="1068" name="text 1068"/>
          <p:cNvSpPr txBox="1"/>
          <p:nvPr/>
        </p:nvSpPr>
        <p:spPr>
          <a:xfrm>
            <a:off x="2999232" y="3886200"/>
            <a:ext cx="86868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a:t>
            </a:r>
          </a:p>
        </p:txBody>
      </p:sp>
      <p:sp>
        <p:nvSpPr>
          <p:cNvPr id="1069" name="text 1069"/>
          <p:cNvSpPr txBox="1"/>
          <p:nvPr/>
        </p:nvSpPr>
        <p:spPr>
          <a:xfrm>
            <a:off x="3959352" y="3886200"/>
            <a:ext cx="4709160" cy="32918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alibri"/>
                <a:ea typeface="Calibri"/>
                <a:cs typeface="Calibri"/>
              </a:rPr>
              <a:t>15 + 20 × (A gold / A − 1), at most ±5  →  20% less area = +5</a:t>
            </a:r>
          </a:p>
        </p:txBody>
      </p:sp>
      <p:sp>
        <p:nvSpPr>
          <p:cNvPr id="1070" name="shape 1070"/>
          <p:cNvSpPr/>
          <p:nvPr/>
        </p:nvSpPr>
        <p:spPr>
          <a:xfrm>
            <a:off x="457200" y="4215383"/>
            <a:ext cx="8229600" cy="329184"/>
          </a:xfrm>
          <a:prstGeom prst="rect">
            <a:avLst/>
          </a:prstGeom>
          <a:solidFill>
            <a:srgbClr val="EAF4EC"/>
          </a:solidFill>
          <a:ln>
            <a:noFill/>
          </a:ln>
        </p:spPr>
        <p:txBody>
          <a:bodyPr wrap="square" lIns="73152" tIns="73152" rIns="73152" bIns="73152" anchor="ctr">
            <a:noAutofit/>
          </a:bodyPr>
          <a:lstStyle/>
          <a:p>
            <a:pPr algn="l">
              <a:spcBef>
                <a:spcPts val="0"/>
              </a:spcBef>
              <a:spcAft>
                <a:spcPts val="0"/>
              </a:spcAft>
              <a:buNone/>
            </a:pPr>
            <a:r>
              <a:rPr lang="en-US" sz="1000" b="1" i="0">
                <a:solidFill>
                  <a:srgbClr val="0E2745"/>
                </a:solidFill>
                <a:latin typeface="Calibri"/>
                <a:ea typeface="Calibri"/>
                <a:cs typeface="Calibri"/>
              </a:rPr>
              <a:t>Total  100 max.   </a:t>
            </a:r>
            <a:r>
              <a:rPr lang="en-US" sz="1000" b="0" i="0">
                <a:solidFill>
                  <a:srgbClr val="0E2745"/>
                </a:solidFill>
                <a:latin typeface="Calibri"/>
                <a:ea typeface="Calibri"/>
                <a:cs typeface="Calibri"/>
              </a:rPr>
              <a:t>The golden layout itself scores 80 (75 for p9 and p13, whose golden run has negative slack).</a:t>
            </a:r>
          </a:p>
        </p:txBody>
      </p:sp>
      <p:sp>
        <p:nvSpPr>
          <p:cNvPr id="1071" name="terminal 1071"/>
          <p:cNvSpPr/>
          <p:nvPr/>
        </p:nvSpPr>
        <p:spPr>
          <a:xfrm>
            <a:off x="457200" y="4754880"/>
            <a:ext cx="3840480" cy="105156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WNS Score: 30.00/40</a:t>
            </a:r>
          </a:p>
          <a:p>
            <a:pPr algn="l">
              <a:lnSpc>
                <a:spcPct val="100000"/>
              </a:lnSpc>
              <a:spcBef>
                <a:spcPts val="0"/>
              </a:spcBef>
              <a:spcAft>
                <a:spcPts val="0"/>
              </a:spcAft>
              <a:buNone/>
            </a:pPr>
            <a:r>
              <a:rPr lang="en-US" sz="900" b="0" i="0">
                <a:solidFill>
                  <a:srgbClr val="FFFFFF"/>
                </a:solidFill>
                <a:latin typeface="Courier New"/>
                <a:ea typeface="Courier New"/>
                <a:cs typeface="Courier New"/>
              </a:rPr>
              <a:t>TNS Score: 20.00/20</a:t>
            </a:r>
          </a:p>
          <a:p>
            <a:pPr algn="l">
              <a:lnSpc>
                <a:spcPct val="100000"/>
              </a:lnSpc>
              <a:spcBef>
                <a:spcPts val="0"/>
              </a:spcBef>
              <a:spcAft>
                <a:spcPts val="0"/>
              </a:spcAft>
              <a:buNone/>
            </a:pPr>
            <a:r>
              <a:rPr lang="en-US" sz="900" b="0" i="0">
                <a:solidFill>
                  <a:srgbClr val="FFFFFF"/>
                </a:solidFill>
                <a:latin typeface="Courier New"/>
                <a:ea typeface="Courier New"/>
                <a:cs typeface="Courier New"/>
              </a:rPr>
              <a:t>Power Score: 15.00/20</a:t>
            </a:r>
          </a:p>
          <a:p>
            <a:pPr algn="l">
              <a:lnSpc>
                <a:spcPct val="100000"/>
              </a:lnSpc>
              <a:spcBef>
                <a:spcPts val="0"/>
              </a:spcBef>
              <a:spcAft>
                <a:spcPts val="0"/>
              </a:spcAft>
              <a:buNone/>
            </a:pPr>
            <a:r>
              <a:rPr lang="en-US" sz="900" b="0" i="0">
                <a:solidFill>
                  <a:srgbClr val="FFFFFF"/>
                </a:solidFill>
                <a:latin typeface="Courier New"/>
                <a:ea typeface="Courier New"/>
                <a:cs typeface="Courier New"/>
              </a:rPr>
              <a:t>Area Score: 15.00/20</a:t>
            </a:r>
          </a:p>
          <a:p>
            <a:pPr algn="l">
              <a:lnSpc>
                <a:spcPct val="100000"/>
              </a:lnSpc>
              <a:spcBef>
                <a:spcPts val="0"/>
              </a:spcBef>
              <a:spcAft>
                <a:spcPts val="0"/>
              </a:spcAft>
              <a:buNone/>
            </a:pPr>
            <a:r>
              <a:rPr lang="en-US" sz="900" b="0" i="0">
                <a:solidFill>
                  <a:srgbClr val="7EC699"/>
                </a:solidFill>
                <a:latin typeface="Courier New"/>
                <a:ea typeface="Courier New"/>
                <a:cs typeface="Courier New"/>
              </a:rPr>
              <a:t>Final Score: 80.0/100</a:t>
            </a:r>
          </a:p>
        </p:txBody>
      </p:sp>
      <p:sp>
        <p:nvSpPr>
          <p:cNvPr id="1072" name="shape 1072"/>
          <p:cNvSpPr/>
          <p:nvPr/>
        </p:nvSpPr>
        <p:spPr>
          <a:xfrm>
            <a:off x="4480560" y="4754880"/>
            <a:ext cx="4206240" cy="1051560"/>
          </a:xfrm>
          <a:prstGeom prst="roundRect">
            <a:avLst>
              <a:gd name="adj" fmla="val 8000"/>
            </a:avLst>
          </a:prstGeom>
          <a:solidFill>
            <a:srgbClr val="FBE9EB"/>
          </a:solidFill>
          <a:ln>
            <a:noFill/>
          </a:ln>
        </p:spPr>
        <p:txBody>
          <a:bodyPr wrap="square" lIns="109728" tIns="109728" rIns="109728" bIns="109728" anchor="ctr">
            <a:noAutofit/>
          </a:bodyPr>
          <a:lstStyle/>
          <a:p>
            <a:pPr algn="l">
              <a:spcBef>
                <a:spcPts val="0"/>
              </a:spcBef>
              <a:spcAft>
                <a:spcPts val="200"/>
              </a:spcAft>
              <a:buNone/>
            </a:pPr>
            <a:r>
              <a:rPr lang="en-US" sz="1100" b="1" i="0">
                <a:solidFill>
                  <a:srgbClr val="B91F2D"/>
                </a:solidFill>
                <a:latin typeface="Calibri"/>
                <a:ea typeface="Calibri"/>
                <a:cs typeface="Calibri"/>
              </a:rPr>
              <a:t>Negative slack = warning</a:t>
            </a:r>
          </a:p>
          <a:p>
            <a:pPr algn="l">
              <a:spcBef>
                <a:spcPts val="0"/>
              </a:spcBef>
              <a:spcAft>
                <a:spcPts val="0"/>
              </a:spcAft>
              <a:buNone/>
            </a:pPr>
            <a:r>
              <a:rPr lang="en-US" sz="950" b="0" i="0">
                <a:solidFill>
                  <a:srgbClr val="0E2745"/>
                </a:solidFill>
                <a:latin typeface="Calibri"/>
                <a:ea typeface="Calibri"/>
                <a:cs typeface="Calibri"/>
              </a:rPr>
              <a:t>WNS &lt; 0: the timing points drop and the agent sees it in the score report. WNS &lt; −0.5 ns: ❌ severe timing violation – Part 3 sends the RTL agent back (resynthesis).</a:t>
            </a:r>
          </a:p>
        </p:txBody>
      </p:sp>
      <p:sp>
        <p:nvSpPr>
          <p:cNvPr id="1073" name="shape 1073"/>
          <p:cNvSpPr/>
          <p:nvPr/>
        </p:nvSpPr>
        <p:spPr>
          <a:xfrm>
            <a:off x="457200" y="5943600"/>
            <a:ext cx="8229600" cy="411480"/>
          </a:xfrm>
          <a:prstGeom prst="roundRect">
            <a:avLst>
              <a:gd name="adj" fmla="val 15000"/>
            </a:avLst>
          </a:prstGeom>
          <a:solidFill>
            <a:srgbClr val="0E2745"/>
          </a:solidFill>
          <a:ln>
            <a:noFill/>
          </a:ln>
        </p:spPr>
        <p:txBody>
          <a:bodyPr wrap="square" lIns="73152" tIns="73152" rIns="73152" bIns="73152" anchor="ctr">
            <a:noAutofit/>
          </a:bodyPr>
          <a:lstStyle/>
          <a:p>
            <a:pPr algn="ctr">
              <a:spcBef>
                <a:spcPts val="0"/>
              </a:spcBef>
              <a:spcAft>
                <a:spcPts val="0"/>
              </a:spcAft>
              <a:buNone/>
            </a:pPr>
            <a:r>
              <a:rPr lang="en-US" sz="1050" b="1" i="0">
                <a:solidFill>
                  <a:srgbClr val="FFFFFF"/>
                </a:solidFill>
                <a:latin typeface="Calibri"/>
                <a:ea typeface="Calibri"/>
                <a:cs typeface="Calibri"/>
              </a:rPr>
              <a:t>Above 80: the agents beat our golden run.  </a:t>
            </a:r>
            <a:r>
              <a:rPr lang="en-US" sz="1050" b="0" i="0">
                <a:solidFill>
                  <a:srgbClr val="FFFFFF"/>
                </a:solidFill>
                <a:latin typeface="Calibri"/>
                <a:ea typeface="Calibri"/>
                <a:cs typeface="Calibri"/>
              </a:rPr>
              <a:t>Part 3 keeps optimizing until the score reaches score_threshold (92).</a:t>
            </a:r>
          </a:p>
        </p:txBody>
      </p:sp>
    </p:spTree>
    <p:extLst>
      <p:ext uri="{BB962C8B-B14F-4D97-AF65-F5344CB8AC3E}">
        <p14:creationId xmlns:p14="http://schemas.microsoft.com/office/powerpoint/2010/main" val="933922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11 designs: from a 5-minute counter to an FP16 multiplier</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50</a:t>
            </a:fld>
            <a:endParaRPr sz="750" b="0">
              <a:solidFill>
                <a:srgbClr val="5B6573"/>
              </a:solidFill>
              <a:latin typeface="Calibri"/>
              <a:ea typeface="Calibri"/>
              <a:cs typeface="Calibri"/>
            </a:endParaRPr>
          </a:p>
        </p:txBody>
      </p:sp>
      <p:sp>
        <p:nvSpPr>
          <p:cNvPr id="1108" name="text 1108"/>
          <p:cNvSpPr txBox="1"/>
          <p:nvPr/>
        </p:nvSpPr>
        <p:spPr>
          <a:xfrm>
            <a:off x="502920" y="1005840"/>
            <a:ext cx="502920" cy="256032"/>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50" b="1" i="0">
                <a:solidFill>
                  <a:srgbClr val="5D6C7B"/>
                </a:solidFill>
                <a:latin typeface="Calibri"/>
                <a:ea typeface="Calibri"/>
                <a:cs typeface="Calibri"/>
              </a:rPr>
              <a:t>ID</a:t>
            </a:r>
          </a:p>
        </p:txBody>
      </p:sp>
      <p:sp>
        <p:nvSpPr>
          <p:cNvPr id="1109" name="text 1109"/>
          <p:cNvSpPr txBox="1"/>
          <p:nvPr/>
        </p:nvSpPr>
        <p:spPr>
          <a:xfrm>
            <a:off x="1051560" y="1005840"/>
            <a:ext cx="2057400" cy="256032"/>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950" b="1" i="0">
                <a:solidFill>
                  <a:srgbClr val="5D6C7B"/>
                </a:solidFill>
                <a:latin typeface="Calibri"/>
                <a:ea typeface="Calibri"/>
                <a:cs typeface="Calibri"/>
              </a:rPr>
              <a:t>Module</a:t>
            </a:r>
          </a:p>
        </p:txBody>
      </p:sp>
      <p:sp>
        <p:nvSpPr>
          <p:cNvPr id="1110" name="text 1110"/>
          <p:cNvSpPr txBox="1"/>
          <p:nvPr/>
        </p:nvSpPr>
        <p:spPr>
          <a:xfrm>
            <a:off x="3154680" y="1005840"/>
            <a:ext cx="2743200" cy="256032"/>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950" b="1" i="0">
                <a:solidFill>
                  <a:srgbClr val="5D6C7B"/>
                </a:solidFill>
                <a:latin typeface="Calibri"/>
                <a:ea typeface="Calibri"/>
                <a:cs typeface="Calibri"/>
              </a:rPr>
              <a:t>What it is</a:t>
            </a:r>
          </a:p>
        </p:txBody>
      </p:sp>
      <p:sp>
        <p:nvSpPr>
          <p:cNvPr id="1111" name="text 1111"/>
          <p:cNvSpPr txBox="1"/>
          <p:nvPr/>
        </p:nvSpPr>
        <p:spPr>
          <a:xfrm>
            <a:off x="5943600" y="1005840"/>
            <a:ext cx="868680" cy="256032"/>
          </a:xfrm>
          <a:prstGeom prst="rect">
            <a:avLst/>
          </a:prstGeom>
          <a:noFill/>
          <a:ln>
            <a:noFill/>
          </a:ln>
        </p:spPr>
        <p:txBody>
          <a:bodyPr wrap="square" lIns="18288" tIns="18288" rIns="18288" bIns="18288" anchor="t">
            <a:noAutofit/>
          </a:bodyPr>
          <a:lstStyle/>
          <a:p>
            <a:pPr algn="ctr">
              <a:spcBef>
                <a:spcPts val="0"/>
              </a:spcBef>
              <a:spcAft>
                <a:spcPts val="0"/>
              </a:spcAft>
              <a:buNone/>
            </a:pPr>
            <a:r>
              <a:rPr lang="en-US" sz="950" b="1" i="0">
                <a:solidFill>
                  <a:srgbClr val="5D6C7B"/>
                </a:solidFill>
                <a:latin typeface="Calibri"/>
                <a:ea typeface="Calibri"/>
                <a:cs typeface="Calibri"/>
              </a:rPr>
              <a:t>Clock (ns)</a:t>
            </a:r>
          </a:p>
        </p:txBody>
      </p:sp>
      <p:sp>
        <p:nvSpPr>
          <p:cNvPr id="1112" name="text 1112"/>
          <p:cNvSpPr txBox="1"/>
          <p:nvPr/>
        </p:nvSpPr>
        <p:spPr>
          <a:xfrm>
            <a:off x="6858000" y="1005840"/>
            <a:ext cx="868680" cy="256032"/>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900" b="1" i="0">
                <a:solidFill>
                  <a:srgbClr val="5D6C7B"/>
                </a:solidFill>
                <a:latin typeface="Calibri"/>
                <a:ea typeface="Calibri"/>
                <a:cs typeface="Calibri"/>
              </a:rPr>
              <a:t>Scored</a:t>
            </a:r>
          </a:p>
        </p:txBody>
      </p:sp>
      <p:sp>
        <p:nvSpPr>
          <p:cNvPr id="1113" name="text 1113"/>
          <p:cNvSpPr txBox="1"/>
          <p:nvPr/>
        </p:nvSpPr>
        <p:spPr>
          <a:xfrm>
            <a:off x="7772400" y="1005840"/>
            <a:ext cx="868680" cy="256032"/>
          </a:xfrm>
          <a:prstGeom prst="rect">
            <a:avLst/>
          </a:prstGeom>
          <a:noFill/>
          <a:ln>
            <a:noFill/>
          </a:ln>
        </p:spPr>
        <p:txBody>
          <a:bodyPr wrap="square" lIns="18288" tIns="18288" rIns="18288" bIns="18288" anchor="t">
            <a:noAutofit/>
          </a:bodyPr>
          <a:lstStyle/>
          <a:p>
            <a:pPr algn="ctr">
              <a:spcBef>
                <a:spcPts val="0"/>
              </a:spcBef>
              <a:spcAft>
                <a:spcPts val="0"/>
              </a:spcAft>
              <a:buNone/>
            </a:pPr>
            <a:endParaRPr/>
          </a:p>
        </p:txBody>
      </p:sp>
      <p:sp>
        <p:nvSpPr>
          <p:cNvPr id="1114" name="shape 1114"/>
          <p:cNvSpPr/>
          <p:nvPr/>
        </p:nvSpPr>
        <p:spPr>
          <a:xfrm>
            <a:off x="457200" y="1280160"/>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15" name="text 1115"/>
          <p:cNvSpPr txBox="1"/>
          <p:nvPr/>
        </p:nvSpPr>
        <p:spPr>
          <a:xfrm>
            <a:off x="502920" y="1280160"/>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p11</a:t>
            </a:r>
          </a:p>
        </p:txBody>
      </p:sp>
      <p:sp>
        <p:nvSpPr>
          <p:cNvPr id="1116" name="text 1116"/>
          <p:cNvSpPr txBox="1"/>
          <p:nvPr/>
        </p:nvSpPr>
        <p:spPr>
          <a:xfrm>
            <a:off x="1051560" y="1280160"/>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simple_8bit_counter</a:t>
            </a:r>
          </a:p>
        </p:txBody>
      </p:sp>
      <p:sp>
        <p:nvSpPr>
          <p:cNvPr id="1117" name="text 1117"/>
          <p:cNvSpPr txBox="1"/>
          <p:nvPr/>
        </p:nvSpPr>
        <p:spPr>
          <a:xfrm>
            <a:off x="3154680" y="1280160"/>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8-bit counter, sync reset + enable</a:t>
            </a:r>
          </a:p>
        </p:txBody>
      </p:sp>
      <p:sp>
        <p:nvSpPr>
          <p:cNvPr id="1118" name="text 1118"/>
          <p:cNvSpPr txBox="1"/>
          <p:nvPr/>
        </p:nvSpPr>
        <p:spPr>
          <a:xfrm>
            <a:off x="5943600" y="1280160"/>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2.0</a:t>
            </a:r>
          </a:p>
        </p:txBody>
      </p:sp>
      <p:sp>
        <p:nvSpPr>
          <p:cNvPr id="1119" name="text 1119"/>
          <p:cNvSpPr txBox="1"/>
          <p:nvPr/>
        </p:nvSpPr>
        <p:spPr>
          <a:xfrm>
            <a:off x="6858000" y="1280160"/>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20" name="shape 1120"/>
          <p:cNvSpPr/>
          <p:nvPr/>
        </p:nvSpPr>
        <p:spPr>
          <a:xfrm>
            <a:off x="7818120" y="1321307"/>
            <a:ext cx="822960" cy="210312"/>
          </a:xfrm>
          <a:prstGeom prst="roundRect">
            <a:avLst>
              <a:gd name="adj" fmla="val 50000"/>
            </a:avLst>
          </a:prstGeom>
          <a:solidFill>
            <a:srgbClr val="2E7D4F"/>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fast demo</a:t>
            </a:r>
          </a:p>
        </p:txBody>
      </p:sp>
      <p:sp>
        <p:nvSpPr>
          <p:cNvPr id="1121" name="shape 1121"/>
          <p:cNvSpPr/>
          <p:nvPr/>
        </p:nvSpPr>
        <p:spPr>
          <a:xfrm>
            <a:off x="457200" y="1572768"/>
            <a:ext cx="8229600" cy="292608"/>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22" name="text 1122"/>
          <p:cNvSpPr txBox="1"/>
          <p:nvPr/>
        </p:nvSpPr>
        <p:spPr>
          <a:xfrm>
            <a:off x="502920" y="1572768"/>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p12</a:t>
            </a:r>
          </a:p>
        </p:txBody>
      </p:sp>
      <p:sp>
        <p:nvSpPr>
          <p:cNvPr id="1123" name="text 1123"/>
          <p:cNvSpPr txBox="1"/>
          <p:nvPr/>
        </p:nvSpPr>
        <p:spPr>
          <a:xfrm>
            <a:off x="1051560" y="1572768"/>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registered_adder_8bit</a:t>
            </a:r>
          </a:p>
        </p:txBody>
      </p:sp>
      <p:sp>
        <p:nvSpPr>
          <p:cNvPr id="1124" name="text 1124"/>
          <p:cNvSpPr txBox="1"/>
          <p:nvPr/>
        </p:nvSpPr>
        <p:spPr>
          <a:xfrm>
            <a:off x="3154680" y="1572768"/>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8-bit adder with output register</a:t>
            </a:r>
          </a:p>
        </p:txBody>
      </p:sp>
      <p:sp>
        <p:nvSpPr>
          <p:cNvPr id="1125" name="text 1125"/>
          <p:cNvSpPr txBox="1"/>
          <p:nvPr/>
        </p:nvSpPr>
        <p:spPr>
          <a:xfrm>
            <a:off x="5943600" y="1572768"/>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1.5</a:t>
            </a:r>
          </a:p>
        </p:txBody>
      </p:sp>
      <p:sp>
        <p:nvSpPr>
          <p:cNvPr id="1126" name="text 1126"/>
          <p:cNvSpPr txBox="1"/>
          <p:nvPr/>
        </p:nvSpPr>
        <p:spPr>
          <a:xfrm>
            <a:off x="6858000" y="1572768"/>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27" name="shape 1127"/>
          <p:cNvSpPr/>
          <p:nvPr/>
        </p:nvSpPr>
        <p:spPr>
          <a:xfrm>
            <a:off x="457200" y="1865376"/>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28" name="text 1128"/>
          <p:cNvSpPr txBox="1"/>
          <p:nvPr/>
        </p:nvSpPr>
        <p:spPr>
          <a:xfrm>
            <a:off x="502920" y="1865376"/>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p13</a:t>
            </a:r>
          </a:p>
        </p:txBody>
      </p:sp>
      <p:sp>
        <p:nvSpPr>
          <p:cNvPr id="1129" name="text 1129"/>
          <p:cNvSpPr txBox="1"/>
          <p:nvPr/>
        </p:nvSpPr>
        <p:spPr>
          <a:xfrm>
            <a:off x="1051560" y="1865376"/>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sliding_window_avg_8bit</a:t>
            </a:r>
          </a:p>
        </p:txBody>
      </p:sp>
      <p:sp>
        <p:nvSpPr>
          <p:cNvPr id="1130" name="text 1130"/>
          <p:cNvSpPr txBox="1"/>
          <p:nvPr/>
        </p:nvSpPr>
        <p:spPr>
          <a:xfrm>
            <a:off x="3154680" y="1865376"/>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4-tap moving average</a:t>
            </a:r>
          </a:p>
        </p:txBody>
      </p:sp>
      <p:sp>
        <p:nvSpPr>
          <p:cNvPr id="1131" name="text 1131"/>
          <p:cNvSpPr txBox="1"/>
          <p:nvPr/>
        </p:nvSpPr>
        <p:spPr>
          <a:xfrm>
            <a:off x="5943600" y="1865376"/>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2.5</a:t>
            </a:r>
          </a:p>
        </p:txBody>
      </p:sp>
      <p:sp>
        <p:nvSpPr>
          <p:cNvPr id="1132" name="text 1132"/>
          <p:cNvSpPr txBox="1"/>
          <p:nvPr/>
        </p:nvSpPr>
        <p:spPr>
          <a:xfrm>
            <a:off x="6858000" y="1865376"/>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33" name="shape 1133"/>
          <p:cNvSpPr/>
          <p:nvPr/>
        </p:nvSpPr>
        <p:spPr>
          <a:xfrm>
            <a:off x="457200" y="2157984"/>
            <a:ext cx="8229600" cy="292608"/>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34" name="text 1134"/>
          <p:cNvSpPr txBox="1"/>
          <p:nvPr/>
        </p:nvSpPr>
        <p:spPr>
          <a:xfrm>
            <a:off x="502920" y="2157984"/>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p14</a:t>
            </a:r>
          </a:p>
        </p:txBody>
      </p:sp>
      <p:sp>
        <p:nvSpPr>
          <p:cNvPr id="1135" name="text 1135"/>
          <p:cNvSpPr txBox="1"/>
          <p:nvPr/>
        </p:nvSpPr>
        <p:spPr>
          <a:xfrm>
            <a:off x="1051560" y="2157984"/>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alu_8bit</a:t>
            </a:r>
          </a:p>
        </p:txBody>
      </p:sp>
      <p:sp>
        <p:nvSpPr>
          <p:cNvPr id="1136" name="text 1136"/>
          <p:cNvSpPr txBox="1"/>
          <p:nvPr/>
        </p:nvSpPr>
        <p:spPr>
          <a:xfrm>
            <a:off x="3154680" y="2157984"/>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8-op ALU, zero + carry flags</a:t>
            </a:r>
          </a:p>
        </p:txBody>
      </p:sp>
      <p:sp>
        <p:nvSpPr>
          <p:cNvPr id="1137" name="text 1137"/>
          <p:cNvSpPr txBox="1"/>
          <p:nvPr/>
        </p:nvSpPr>
        <p:spPr>
          <a:xfrm>
            <a:off x="5943600" y="2157984"/>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2.5</a:t>
            </a:r>
          </a:p>
        </p:txBody>
      </p:sp>
      <p:sp>
        <p:nvSpPr>
          <p:cNvPr id="1138" name="text 1138"/>
          <p:cNvSpPr txBox="1"/>
          <p:nvPr/>
        </p:nvSpPr>
        <p:spPr>
          <a:xfrm>
            <a:off x="6858000" y="2157984"/>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39" name="shape 1139"/>
          <p:cNvSpPr/>
          <p:nvPr/>
        </p:nvSpPr>
        <p:spPr>
          <a:xfrm>
            <a:off x="7818120" y="2199132"/>
            <a:ext cx="822960" cy="210312"/>
          </a:xfrm>
          <a:prstGeom prst="roundRect">
            <a:avLst>
              <a:gd name="adj" fmla="val 50000"/>
            </a:avLst>
          </a:prstGeom>
          <a:solidFill>
            <a:srgbClr val="C27C0E"/>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new</a:t>
            </a:r>
          </a:p>
        </p:txBody>
      </p:sp>
      <p:sp>
        <p:nvSpPr>
          <p:cNvPr id="1140" name="shape 1140"/>
          <p:cNvSpPr/>
          <p:nvPr/>
        </p:nvSpPr>
        <p:spPr>
          <a:xfrm>
            <a:off x="457200" y="2450591"/>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41" name="text 1141"/>
          <p:cNvSpPr txBox="1"/>
          <p:nvPr/>
        </p:nvSpPr>
        <p:spPr>
          <a:xfrm>
            <a:off x="502920" y="2450591"/>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a:t>
            </a:r>
          </a:p>
        </p:txBody>
      </p:sp>
      <p:sp>
        <p:nvSpPr>
          <p:cNvPr id="1142" name="text 1142"/>
          <p:cNvSpPr txBox="1"/>
          <p:nvPr/>
        </p:nvSpPr>
        <p:spPr>
          <a:xfrm>
            <a:off x="1051560" y="2450591"/>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seq_detector_0011</a:t>
            </a:r>
          </a:p>
        </p:txBody>
      </p:sp>
      <p:sp>
        <p:nvSpPr>
          <p:cNvPr id="1143" name="text 1143"/>
          <p:cNvSpPr txBox="1"/>
          <p:nvPr/>
        </p:nvSpPr>
        <p:spPr>
          <a:xfrm>
            <a:off x="3154680" y="2450591"/>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Moore FSM, detects 0011</a:t>
            </a:r>
          </a:p>
        </p:txBody>
      </p:sp>
      <p:sp>
        <p:nvSpPr>
          <p:cNvPr id="1144" name="text 1144"/>
          <p:cNvSpPr txBox="1"/>
          <p:nvPr/>
        </p:nvSpPr>
        <p:spPr>
          <a:xfrm>
            <a:off x="5943600" y="2450591"/>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1.1</a:t>
            </a:r>
          </a:p>
        </p:txBody>
      </p:sp>
      <p:sp>
        <p:nvSpPr>
          <p:cNvPr id="1145" name="text 1145"/>
          <p:cNvSpPr txBox="1"/>
          <p:nvPr/>
        </p:nvSpPr>
        <p:spPr>
          <a:xfrm>
            <a:off x="6858000" y="2450591"/>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46" name="shape 1146"/>
          <p:cNvSpPr/>
          <p:nvPr/>
        </p:nvSpPr>
        <p:spPr>
          <a:xfrm>
            <a:off x="7818120" y="2491739"/>
            <a:ext cx="822960" cy="210312"/>
          </a:xfrm>
          <a:prstGeom prst="roundRect">
            <a:avLst>
              <a:gd name="adj" fmla="val 50000"/>
            </a:avLst>
          </a:prstGeom>
          <a:solidFill>
            <a:srgbClr val="4F81BD"/>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quick scored</a:t>
            </a:r>
          </a:p>
        </p:txBody>
      </p:sp>
      <p:sp>
        <p:nvSpPr>
          <p:cNvPr id="1147" name="shape 1147"/>
          <p:cNvSpPr/>
          <p:nvPr/>
        </p:nvSpPr>
        <p:spPr>
          <a:xfrm>
            <a:off x="457200" y="2743199"/>
            <a:ext cx="8229600" cy="292608"/>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48" name="text 1148"/>
          <p:cNvSpPr txBox="1"/>
          <p:nvPr/>
        </p:nvSpPr>
        <p:spPr>
          <a:xfrm>
            <a:off x="502920" y="2743199"/>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p15</a:t>
            </a:r>
          </a:p>
        </p:txBody>
      </p:sp>
      <p:sp>
        <p:nvSpPr>
          <p:cNvPr id="1149" name="text 1149"/>
          <p:cNvSpPr txBox="1"/>
          <p:nvPr/>
        </p:nvSpPr>
        <p:spPr>
          <a:xfrm>
            <a:off x="1051560" y="2743199"/>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uart_tx</a:t>
            </a:r>
          </a:p>
        </p:txBody>
      </p:sp>
      <p:sp>
        <p:nvSpPr>
          <p:cNvPr id="1150" name="text 1150"/>
          <p:cNvSpPr txBox="1"/>
          <p:nvPr/>
        </p:nvSpPr>
        <p:spPr>
          <a:xfrm>
            <a:off x="3154680" y="2743199"/>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UART transmitter 8N1, FSM</a:t>
            </a:r>
          </a:p>
        </p:txBody>
      </p:sp>
      <p:sp>
        <p:nvSpPr>
          <p:cNvPr id="1151" name="text 1151"/>
          <p:cNvSpPr txBox="1"/>
          <p:nvPr/>
        </p:nvSpPr>
        <p:spPr>
          <a:xfrm>
            <a:off x="5943600" y="2743199"/>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2.0</a:t>
            </a:r>
          </a:p>
        </p:txBody>
      </p:sp>
      <p:sp>
        <p:nvSpPr>
          <p:cNvPr id="1152" name="text 1152"/>
          <p:cNvSpPr txBox="1"/>
          <p:nvPr/>
        </p:nvSpPr>
        <p:spPr>
          <a:xfrm>
            <a:off x="6858000" y="2743199"/>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53" name="shape 1153"/>
          <p:cNvSpPr/>
          <p:nvPr/>
        </p:nvSpPr>
        <p:spPr>
          <a:xfrm>
            <a:off x="7818120" y="2784347"/>
            <a:ext cx="822960" cy="210312"/>
          </a:xfrm>
          <a:prstGeom prst="roundRect">
            <a:avLst>
              <a:gd name="adj" fmla="val 50000"/>
            </a:avLst>
          </a:prstGeom>
          <a:solidFill>
            <a:srgbClr val="C27C0E"/>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new</a:t>
            </a:r>
          </a:p>
        </p:txBody>
      </p:sp>
      <p:sp>
        <p:nvSpPr>
          <p:cNvPr id="1154" name="shape 1154"/>
          <p:cNvSpPr/>
          <p:nvPr/>
        </p:nvSpPr>
        <p:spPr>
          <a:xfrm>
            <a:off x="457200" y="3035807"/>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55" name="text 1155"/>
          <p:cNvSpPr txBox="1"/>
          <p:nvPr/>
        </p:nvSpPr>
        <p:spPr>
          <a:xfrm>
            <a:off x="502920" y="3035807"/>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p16</a:t>
            </a:r>
          </a:p>
        </p:txBody>
      </p:sp>
      <p:sp>
        <p:nvSpPr>
          <p:cNvPr id="1156" name="text 1156"/>
          <p:cNvSpPr txBox="1"/>
          <p:nvPr/>
        </p:nvSpPr>
        <p:spPr>
          <a:xfrm>
            <a:off x="1051560" y="3035807"/>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sync_fifo</a:t>
            </a:r>
          </a:p>
        </p:txBody>
      </p:sp>
      <p:sp>
        <p:nvSpPr>
          <p:cNvPr id="1157" name="text 1157"/>
          <p:cNvSpPr txBox="1"/>
          <p:nvPr/>
        </p:nvSpPr>
        <p:spPr>
          <a:xfrm>
            <a:off x="3154680" y="3035807"/>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8 × 8 FIFO, full / empty</a:t>
            </a:r>
          </a:p>
        </p:txBody>
      </p:sp>
      <p:sp>
        <p:nvSpPr>
          <p:cNvPr id="1158" name="text 1158"/>
          <p:cNvSpPr txBox="1"/>
          <p:nvPr/>
        </p:nvSpPr>
        <p:spPr>
          <a:xfrm>
            <a:off x="5943600" y="3035807"/>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2.0</a:t>
            </a:r>
          </a:p>
        </p:txBody>
      </p:sp>
      <p:sp>
        <p:nvSpPr>
          <p:cNvPr id="1159" name="text 1159"/>
          <p:cNvSpPr txBox="1"/>
          <p:nvPr/>
        </p:nvSpPr>
        <p:spPr>
          <a:xfrm>
            <a:off x="6858000" y="3035807"/>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60" name="shape 1160"/>
          <p:cNvSpPr/>
          <p:nvPr/>
        </p:nvSpPr>
        <p:spPr>
          <a:xfrm>
            <a:off x="7818120" y="3076955"/>
            <a:ext cx="822960" cy="210312"/>
          </a:xfrm>
          <a:prstGeom prst="roundRect">
            <a:avLst>
              <a:gd name="adj" fmla="val 50000"/>
            </a:avLst>
          </a:prstGeom>
          <a:solidFill>
            <a:srgbClr val="C27C0E"/>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new</a:t>
            </a:r>
          </a:p>
        </p:txBody>
      </p:sp>
      <p:sp>
        <p:nvSpPr>
          <p:cNvPr id="1161" name="shape 1161"/>
          <p:cNvSpPr/>
          <p:nvPr/>
        </p:nvSpPr>
        <p:spPr>
          <a:xfrm>
            <a:off x="457200" y="3328415"/>
            <a:ext cx="8229600" cy="292608"/>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62" name="text 1162"/>
          <p:cNvSpPr txBox="1"/>
          <p:nvPr/>
        </p:nvSpPr>
        <p:spPr>
          <a:xfrm>
            <a:off x="502920" y="3328415"/>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p5</a:t>
            </a:r>
          </a:p>
        </p:txBody>
      </p:sp>
      <p:sp>
        <p:nvSpPr>
          <p:cNvPr id="1163" name="text 1163"/>
          <p:cNvSpPr txBox="1"/>
          <p:nvPr/>
        </p:nvSpPr>
        <p:spPr>
          <a:xfrm>
            <a:off x="1051560" y="3328415"/>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dot_product</a:t>
            </a:r>
          </a:p>
        </p:txBody>
      </p:sp>
      <p:sp>
        <p:nvSpPr>
          <p:cNvPr id="1164" name="text 1164"/>
          <p:cNvSpPr txBox="1"/>
          <p:nvPr/>
        </p:nvSpPr>
        <p:spPr>
          <a:xfrm>
            <a:off x="3154680" y="3328415"/>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2-stage pipelined dot product</a:t>
            </a:r>
          </a:p>
        </p:txBody>
      </p:sp>
      <p:sp>
        <p:nvSpPr>
          <p:cNvPr id="1165" name="text 1165"/>
          <p:cNvSpPr txBox="1"/>
          <p:nvPr/>
        </p:nvSpPr>
        <p:spPr>
          <a:xfrm>
            <a:off x="5943600" y="3328415"/>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4.5</a:t>
            </a:r>
          </a:p>
        </p:txBody>
      </p:sp>
      <p:sp>
        <p:nvSpPr>
          <p:cNvPr id="1166" name="text 1166"/>
          <p:cNvSpPr txBox="1"/>
          <p:nvPr/>
        </p:nvSpPr>
        <p:spPr>
          <a:xfrm>
            <a:off x="6858000" y="3328415"/>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67" name="shape 1167"/>
          <p:cNvSpPr/>
          <p:nvPr/>
        </p:nvSpPr>
        <p:spPr>
          <a:xfrm>
            <a:off x="457200" y="3621023"/>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68" name="text 1168"/>
          <p:cNvSpPr txBox="1"/>
          <p:nvPr/>
        </p:nvSpPr>
        <p:spPr>
          <a:xfrm>
            <a:off x="502920" y="3621023"/>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p7</a:t>
            </a:r>
          </a:p>
        </p:txBody>
      </p:sp>
      <p:sp>
        <p:nvSpPr>
          <p:cNvPr id="1169" name="text 1169"/>
          <p:cNvSpPr txBox="1"/>
          <p:nvPr/>
        </p:nvSpPr>
        <p:spPr>
          <a:xfrm>
            <a:off x="1051560" y="3621023"/>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exp_fixed_point</a:t>
            </a:r>
          </a:p>
        </p:txBody>
      </p:sp>
      <p:sp>
        <p:nvSpPr>
          <p:cNvPr id="1170" name="text 1170"/>
          <p:cNvSpPr txBox="1"/>
          <p:nvPr/>
        </p:nvSpPr>
        <p:spPr>
          <a:xfrm>
            <a:off x="3154680" y="3621023"/>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2-stage Taylor e^x, fixed point</a:t>
            </a:r>
          </a:p>
        </p:txBody>
      </p:sp>
      <p:sp>
        <p:nvSpPr>
          <p:cNvPr id="1171" name="text 1171"/>
          <p:cNvSpPr txBox="1"/>
          <p:nvPr/>
        </p:nvSpPr>
        <p:spPr>
          <a:xfrm>
            <a:off x="5943600" y="3621023"/>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4.5</a:t>
            </a:r>
          </a:p>
        </p:txBody>
      </p:sp>
      <p:sp>
        <p:nvSpPr>
          <p:cNvPr id="1172" name="text 1172"/>
          <p:cNvSpPr txBox="1"/>
          <p:nvPr/>
        </p:nvSpPr>
        <p:spPr>
          <a:xfrm>
            <a:off x="6858000" y="3621023"/>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73" name="shape 1173"/>
          <p:cNvSpPr/>
          <p:nvPr/>
        </p:nvSpPr>
        <p:spPr>
          <a:xfrm>
            <a:off x="457200" y="3913631"/>
            <a:ext cx="8229600" cy="292608"/>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74" name="text 1174"/>
          <p:cNvSpPr txBox="1"/>
          <p:nvPr/>
        </p:nvSpPr>
        <p:spPr>
          <a:xfrm>
            <a:off x="502920" y="3913631"/>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0E2745"/>
                </a:solidFill>
                <a:latin typeface="Calibri"/>
                <a:ea typeface="Calibri"/>
                <a:cs typeface="Calibri"/>
              </a:rPr>
              <a:t>p9</a:t>
            </a:r>
          </a:p>
        </p:txBody>
      </p:sp>
      <p:sp>
        <p:nvSpPr>
          <p:cNvPr id="1175" name="text 1175"/>
          <p:cNvSpPr txBox="1"/>
          <p:nvPr/>
        </p:nvSpPr>
        <p:spPr>
          <a:xfrm>
            <a:off x="1051560" y="3913631"/>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fir_filter</a:t>
            </a:r>
          </a:p>
        </p:txBody>
      </p:sp>
      <p:sp>
        <p:nvSpPr>
          <p:cNvPr id="1176" name="text 1176"/>
          <p:cNvSpPr txBox="1"/>
          <p:nvPr/>
        </p:nvSpPr>
        <p:spPr>
          <a:xfrm>
            <a:off x="3154680" y="3913631"/>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8-tap pipelined FIR</a:t>
            </a:r>
          </a:p>
        </p:txBody>
      </p:sp>
      <p:sp>
        <p:nvSpPr>
          <p:cNvPr id="1177" name="text 1177"/>
          <p:cNvSpPr txBox="1"/>
          <p:nvPr/>
        </p:nvSpPr>
        <p:spPr>
          <a:xfrm>
            <a:off x="5943600" y="3913631"/>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8.0</a:t>
            </a:r>
          </a:p>
        </p:txBody>
      </p:sp>
      <p:sp>
        <p:nvSpPr>
          <p:cNvPr id="1178" name="text 1178"/>
          <p:cNvSpPr txBox="1"/>
          <p:nvPr/>
        </p:nvSpPr>
        <p:spPr>
          <a:xfrm>
            <a:off x="6858000" y="3913631"/>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79" name="shape 1179"/>
          <p:cNvSpPr/>
          <p:nvPr/>
        </p:nvSpPr>
        <p:spPr>
          <a:xfrm>
            <a:off x="457200" y="4206240"/>
            <a:ext cx="8229600" cy="292608"/>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80" name="text 1180"/>
          <p:cNvSpPr txBox="1"/>
          <p:nvPr/>
        </p:nvSpPr>
        <p:spPr>
          <a:xfrm>
            <a:off x="502920" y="4206240"/>
            <a:ext cx="50292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00" b="1" i="0">
                <a:solidFill>
                  <a:srgbClr val="B91F2D"/>
                </a:solidFill>
                <a:latin typeface="Calibri"/>
                <a:ea typeface="Calibri"/>
                <a:cs typeface="Calibri"/>
              </a:rPr>
              <a:t>p8</a:t>
            </a:r>
          </a:p>
        </p:txBody>
      </p:sp>
      <p:sp>
        <p:nvSpPr>
          <p:cNvPr id="1181" name="text 1181"/>
          <p:cNvSpPr txBox="1"/>
          <p:nvPr/>
        </p:nvSpPr>
        <p:spPr>
          <a:xfrm>
            <a:off x="1051560" y="4206240"/>
            <a:ext cx="20574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50" b="0" i="0">
                <a:solidFill>
                  <a:srgbClr val="0E2745"/>
                </a:solidFill>
                <a:latin typeface="Courier New"/>
                <a:ea typeface="Courier New"/>
                <a:cs typeface="Courier New"/>
              </a:rPr>
              <a:t>fp16_multiplier</a:t>
            </a:r>
          </a:p>
        </p:txBody>
      </p:sp>
      <p:sp>
        <p:nvSpPr>
          <p:cNvPr id="1182" name="text 1182"/>
          <p:cNvSpPr txBox="1"/>
          <p:nvPr/>
        </p:nvSpPr>
        <p:spPr>
          <a:xfrm>
            <a:off x="3154680" y="4206240"/>
            <a:ext cx="2743200" cy="292608"/>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IEEE half-precision ×, combinational</a:t>
            </a:r>
          </a:p>
        </p:txBody>
      </p:sp>
      <p:sp>
        <p:nvSpPr>
          <p:cNvPr id="1183" name="text 1183"/>
          <p:cNvSpPr txBox="1"/>
          <p:nvPr/>
        </p:nvSpPr>
        <p:spPr>
          <a:xfrm>
            <a:off x="5943600" y="4206240"/>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50" b="0" i="0">
                <a:solidFill>
                  <a:srgbClr val="0E2745"/>
                </a:solidFill>
                <a:latin typeface="Calibri"/>
                <a:ea typeface="Calibri"/>
                <a:cs typeface="Calibri"/>
              </a:rPr>
              <a:t>9.0</a:t>
            </a:r>
          </a:p>
        </p:txBody>
      </p:sp>
      <p:sp>
        <p:nvSpPr>
          <p:cNvPr id="1184" name="text 1184"/>
          <p:cNvSpPr txBox="1"/>
          <p:nvPr/>
        </p:nvSpPr>
        <p:spPr>
          <a:xfrm>
            <a:off x="6858000" y="4206240"/>
            <a:ext cx="868680" cy="292608"/>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2E7D4F"/>
                </a:solidFill>
                <a:latin typeface="Calibri"/>
                <a:ea typeface="Calibri"/>
                <a:cs typeface="Calibri"/>
              </a:rPr>
              <a:t>✔</a:t>
            </a:r>
          </a:p>
        </p:txBody>
      </p:sp>
      <p:sp>
        <p:nvSpPr>
          <p:cNvPr id="1185" name="shape 1185"/>
          <p:cNvSpPr/>
          <p:nvPr/>
        </p:nvSpPr>
        <p:spPr>
          <a:xfrm>
            <a:off x="7818120" y="4247388"/>
            <a:ext cx="822960" cy="210312"/>
          </a:xfrm>
          <a:prstGeom prst="roundRect">
            <a:avLst>
              <a:gd name="adj" fmla="val 50000"/>
            </a:avLst>
          </a:prstGeom>
          <a:solidFill>
            <a:srgbClr val="B91F2D"/>
          </a:solidFill>
          <a:ln>
            <a:noFill/>
          </a:ln>
        </p:spPr>
        <p:txBody>
          <a:bodyPr wrap="square" lIns="9144" tIns="9144" rIns="9144" bIns="9144" anchor="ctr">
            <a:noAutofit/>
          </a:bodyPr>
          <a:lstStyle/>
          <a:p>
            <a:pPr algn="ctr">
              <a:spcBef>
                <a:spcPts val="0"/>
              </a:spcBef>
              <a:spcAft>
                <a:spcPts val="0"/>
              </a:spcAft>
              <a:buNone/>
            </a:pPr>
            <a:r>
              <a:rPr lang="en-US" sz="800" b="1" i="0">
                <a:solidFill>
                  <a:srgbClr val="FFFFFF"/>
                </a:solidFill>
                <a:latin typeface="Calibri"/>
                <a:ea typeface="Calibri"/>
                <a:cs typeface="Calibri"/>
              </a:rPr>
              <a:t>default</a:t>
            </a:r>
          </a:p>
        </p:txBody>
      </p:sp>
      <p:sp>
        <p:nvSpPr>
          <p:cNvPr id="1186" name="text 1186"/>
          <p:cNvSpPr txBox="1"/>
          <p:nvPr/>
        </p:nvSpPr>
        <p:spPr>
          <a:xfrm>
            <a:off x="502920" y="4517136"/>
            <a:ext cx="8138160" cy="237744"/>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900" b="1" i="0">
                <a:solidFill>
                  <a:srgbClr val="2E7D4F"/>
                </a:solidFill>
                <a:latin typeface="Calibri"/>
                <a:ea typeface="Calibri"/>
                <a:cs typeface="Calibri"/>
              </a:rPr>
              <a:t>✔</a:t>
            </a:r>
            <a:r>
              <a:rPr lang="en-US" sz="900" b="0" i="1">
                <a:solidFill>
                  <a:srgbClr val="5D6C7B"/>
                </a:solidFill>
                <a:latin typeface="Calibri"/>
                <a:ea typeface="Calibri"/>
                <a:cs typeface="Calibri"/>
              </a:rPr>
              <a:t>  every design has a golden run (</a:t>
            </a:r>
            <a:r>
              <a:rPr lang="en-US" sz="800" b="0" i="1">
                <a:solidFill>
                  <a:srgbClr val="5D6C7B"/>
                </a:solidFill>
                <a:latin typeface="Courier New" panose="02070309020205020404" pitchFamily="49" charset="0"/>
                <a:ea typeface="Calibri"/>
                <a:cs typeface="Courier New" panose="02070309020205020404" pitchFamily="49" charset="0"/>
              </a:rPr>
              <a:t>evaluation/visible/</a:t>
            </a:r>
            <a:r>
              <a:rPr lang="en-US" sz="800" b="0" i="1" err="1">
                <a:solidFill>
                  <a:srgbClr val="5D6C7B"/>
                </a:solidFill>
                <a:latin typeface="Courier New" panose="02070309020205020404" pitchFamily="49" charset="0"/>
                <a:ea typeface="Calibri"/>
                <a:cs typeface="Courier New" panose="02070309020205020404" pitchFamily="49" charset="0"/>
              </a:rPr>
              <a:t>pN</a:t>
            </a:r>
            <a:r>
              <a:rPr lang="en-US" sz="800" b="0" i="1">
                <a:solidFill>
                  <a:srgbClr val="5D6C7B"/>
                </a:solidFill>
                <a:latin typeface="Courier New" panose="02070309020205020404" pitchFamily="49" charset="0"/>
                <a:ea typeface="Calibri"/>
                <a:cs typeface="Courier New" panose="02070309020205020404" pitchFamily="49" charset="0"/>
              </a:rPr>
              <a:t>/</a:t>
            </a:r>
            <a:r>
              <a:rPr lang="en-US" sz="800" b="0" i="1" err="1">
                <a:solidFill>
                  <a:srgbClr val="5D6C7B"/>
                </a:solidFill>
                <a:latin typeface="Courier New" panose="02070309020205020404" pitchFamily="49" charset="0"/>
                <a:ea typeface="Calibri"/>
                <a:cs typeface="Courier New" panose="02070309020205020404" pitchFamily="49" charset="0"/>
              </a:rPr>
              <a:t>pN.json</a:t>
            </a:r>
            <a:r>
              <a:rPr lang="en-US" sz="900" b="0" i="1">
                <a:solidFill>
                  <a:srgbClr val="5D6C7B"/>
                </a:solidFill>
                <a:latin typeface="Calibri"/>
                <a:ea typeface="Calibri"/>
                <a:cs typeface="Calibri"/>
              </a:rPr>
              <a:t>): your layout is scored against it (previous slide)</a:t>
            </a:r>
          </a:p>
        </p:txBody>
      </p:sp>
      <p:sp>
        <p:nvSpPr>
          <p:cNvPr id="1187" name="text 1187"/>
          <p:cNvSpPr txBox="1"/>
          <p:nvPr/>
        </p:nvSpPr>
        <p:spPr>
          <a:xfrm>
            <a:off x="502920" y="4754880"/>
            <a:ext cx="3931920" cy="256032"/>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100" b="1" i="0">
                <a:solidFill>
                  <a:srgbClr val="17365D"/>
                </a:solidFill>
                <a:latin typeface="Calibri"/>
                <a:ea typeface="Calibri"/>
                <a:cs typeface="Calibri"/>
              </a:rPr>
              <a:t>What a spec looks like (p11, shortened)</a:t>
            </a:r>
          </a:p>
        </p:txBody>
      </p:sp>
      <p:sp>
        <p:nvSpPr>
          <p:cNvPr id="1188" name="terminal 1188"/>
          <p:cNvSpPr/>
          <p:nvPr/>
        </p:nvSpPr>
        <p:spPr>
          <a:xfrm>
            <a:off x="502920" y="5029200"/>
            <a:ext cx="3931920" cy="128016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simple_8bit_counter:</a:t>
            </a:r>
          </a:p>
          <a:p>
            <a:pPr algn="l">
              <a:lnSpc>
                <a:spcPct val="100000"/>
              </a:lnSpc>
              <a:spcBef>
                <a:spcPts val="0"/>
              </a:spcBef>
              <a:spcAft>
                <a:spcPts val="0"/>
              </a:spcAft>
              <a:buNone/>
            </a:pPr>
            <a:r>
              <a:rPr lang="en-US" sz="900" b="0" i="0">
                <a:solidFill>
                  <a:srgbClr val="FFFFFF"/>
                </a:solidFill>
                <a:latin typeface="Courier New"/>
                <a:ea typeface="Courier New"/>
                <a:cs typeface="Courier New"/>
              </a:rPr>
              <a:t>  clock_period: 2.0ns</a:t>
            </a:r>
          </a:p>
          <a:p>
            <a:pPr algn="l">
              <a:lnSpc>
                <a:spcPct val="100000"/>
              </a:lnSpc>
              <a:spcBef>
                <a:spcPts val="0"/>
              </a:spcBef>
              <a:spcAft>
                <a:spcPts val="0"/>
              </a:spcAft>
              <a:buNone/>
            </a:pPr>
            <a:r>
              <a:rPr lang="en-US" sz="900" b="0" i="0">
                <a:solidFill>
                  <a:srgbClr val="FFFFFF"/>
                </a:solidFill>
                <a:latin typeface="Courier New"/>
                <a:ea typeface="Courier New"/>
                <a:cs typeface="Courier New"/>
              </a:rPr>
              <a:t>  ports: clk, reset, en, count[7:0]</a:t>
            </a:r>
          </a:p>
          <a:p>
            <a:pPr algn="l">
              <a:lnSpc>
                <a:spcPct val="100000"/>
              </a:lnSpc>
              <a:spcBef>
                <a:spcPts val="0"/>
              </a:spcBef>
              <a:spcAft>
                <a:spcPts val="0"/>
              </a:spcAft>
              <a:buNone/>
            </a:pPr>
            <a:r>
              <a:rPr lang="en-US" sz="900" b="0" i="0">
                <a:solidFill>
                  <a:srgbClr val="FFFFFF"/>
                </a:solidFill>
                <a:latin typeface="Courier New"/>
                <a:ea typeface="Courier New"/>
                <a:cs typeface="Courier New"/>
              </a:rPr>
              <a:t>  logic_rules: [if reset: 0, elif en: +1]</a:t>
            </a:r>
          </a:p>
          <a:p>
            <a:pPr algn="l">
              <a:lnSpc>
                <a:spcPct val="100000"/>
              </a:lnSpc>
              <a:spcBef>
                <a:spcPts val="0"/>
              </a:spcBef>
              <a:spcAft>
                <a:spcPts val="0"/>
              </a:spcAft>
              <a:buNone/>
            </a:pPr>
            <a:r>
              <a:rPr lang="en-US" sz="900" b="0" i="0">
                <a:solidFill>
                  <a:srgbClr val="7EC699"/>
                </a:solidFill>
                <a:latin typeface="Courier New"/>
                <a:ea typeface="Courier New"/>
                <a:cs typeface="Courier New"/>
              </a:rPr>
              <a:t>  timing: |   # latency contract</a:t>
            </a:r>
          </a:p>
          <a:p>
            <a:pPr algn="l">
              <a:lnSpc>
                <a:spcPct val="100000"/>
              </a:lnSpc>
              <a:spcBef>
                <a:spcPts val="0"/>
              </a:spcBef>
              <a:spcAft>
                <a:spcPts val="0"/>
              </a:spcAft>
              <a:buNone/>
            </a:pPr>
            <a:r>
              <a:rPr lang="en-US" sz="900" b="0" i="0">
                <a:solidFill>
                  <a:srgbClr val="7EC699"/>
                </a:solidFill>
                <a:latin typeface="Courier New"/>
                <a:ea typeface="Courier New"/>
                <a:cs typeface="Courier New"/>
              </a:rPr>
              <a:t>    count updates at each rising edge</a:t>
            </a:r>
          </a:p>
        </p:txBody>
      </p:sp>
      <p:sp>
        <p:nvSpPr>
          <p:cNvPr id="1189" name="shape 1189"/>
          <p:cNvSpPr/>
          <p:nvPr/>
        </p:nvSpPr>
        <p:spPr>
          <a:xfrm>
            <a:off x="4617720" y="4754880"/>
            <a:ext cx="4023360" cy="731520"/>
          </a:xfrm>
          <a:prstGeom prst="roundRect">
            <a:avLst>
              <a:gd name="adj" fmla="val 10000"/>
            </a:avLst>
          </a:prstGeom>
          <a:solidFill>
            <a:srgbClr val="FBE9EB"/>
          </a:solidFill>
          <a:ln>
            <a:noFill/>
          </a:ln>
        </p:spPr>
        <p:txBody>
          <a:bodyPr wrap="square" lIns="109728" tIns="109728" rIns="109728" bIns="109728" anchor="ctr">
            <a:noAutofit/>
          </a:bodyPr>
          <a:lstStyle/>
          <a:p>
            <a:pPr algn="l">
              <a:spcBef>
                <a:spcPts val="0"/>
              </a:spcBef>
              <a:spcAft>
                <a:spcPts val="0"/>
              </a:spcAft>
              <a:buNone/>
            </a:pPr>
            <a:r>
              <a:rPr lang="en-US" sz="1050" b="1" i="0">
                <a:solidFill>
                  <a:srgbClr val="B91F2D"/>
                </a:solidFill>
                <a:latin typeface="Courier New"/>
                <a:ea typeface="Courier New"/>
                <a:cs typeface="Courier New"/>
              </a:rPr>
              <a:t>timing</a:t>
            </a:r>
            <a:r>
              <a:rPr lang="en-US" sz="1000" b="0" i="0">
                <a:solidFill>
                  <a:srgbClr val="0E2745"/>
                </a:solidFill>
                <a:latin typeface="Calibri"/>
                <a:ea typeface="Calibri"/>
                <a:cs typeface="Calibri"/>
              </a:rPr>
              <a:t>: the delay</a:t>
            </a:r>
            <a:r>
              <a:rPr lang="en-US" sz="1000">
                <a:solidFill>
                  <a:srgbClr val="0E2745"/>
                </a:solidFill>
                <a:latin typeface="Calibri"/>
                <a:ea typeface="Calibri"/>
                <a:cs typeface="Calibri"/>
              </a:rPr>
              <a:t> </a:t>
            </a:r>
            <a:r>
              <a:rPr lang="en-US" sz="1000" b="0" i="0">
                <a:solidFill>
                  <a:srgbClr val="0E2745"/>
                </a:solidFill>
                <a:latin typeface="Calibri"/>
                <a:ea typeface="Calibri"/>
                <a:cs typeface="Calibri"/>
              </a:rPr>
              <a:t>contract both the testbench and the RTL agent read – added after our own runs failed on it</a:t>
            </a:r>
          </a:p>
        </p:txBody>
      </p:sp>
      <p:sp>
        <p:nvSpPr>
          <p:cNvPr id="1190" name="shape 1190"/>
          <p:cNvSpPr/>
          <p:nvPr/>
        </p:nvSpPr>
        <p:spPr>
          <a:xfrm>
            <a:off x="4617720" y="5577840"/>
            <a:ext cx="4023360" cy="731520"/>
          </a:xfrm>
          <a:prstGeom prst="roundRect">
            <a:avLst>
              <a:gd name="adj" fmla="val 10000"/>
            </a:avLst>
          </a:prstGeom>
          <a:solidFill>
            <a:srgbClr val="EAF4EC"/>
          </a:solidFill>
          <a:ln>
            <a:noFill/>
          </a:ln>
        </p:spPr>
        <p:txBody>
          <a:bodyPr wrap="square" lIns="109728" tIns="109728" rIns="109728" bIns="109728" anchor="ctr">
            <a:noAutofit/>
          </a:bodyPr>
          <a:lstStyle/>
          <a:p>
            <a:pPr algn="l">
              <a:spcBef>
                <a:spcPts val="0"/>
              </a:spcBef>
              <a:spcAft>
                <a:spcPts val="0"/>
              </a:spcAft>
              <a:buNone/>
            </a:pPr>
            <a:r>
              <a:rPr lang="en-US" sz="1050" b="1" i="0">
                <a:solidFill>
                  <a:srgbClr val="2E7D4F"/>
                </a:solidFill>
                <a:latin typeface="Calibri"/>
                <a:ea typeface="Calibri"/>
                <a:cs typeface="Calibri"/>
              </a:rPr>
              <a:t>Every design: </a:t>
            </a:r>
            <a:r>
              <a:rPr lang="en-US" sz="1000" b="0" i="0">
                <a:solidFill>
                  <a:srgbClr val="0E2745"/>
                </a:solidFill>
                <a:latin typeface="Calibri"/>
                <a:ea typeface="Calibri"/>
                <a:cs typeface="Calibri"/>
              </a:rPr>
              <a:t>spec + reference testbench + golden RTL (scripts/reference).  Pick one with --design pX.yaml</a:t>
            </a:r>
          </a:p>
        </p:txBody>
      </p:sp>
    </p:spTree>
    <p:extLst>
      <p:ext uri="{BB962C8B-B14F-4D97-AF65-F5344CB8AC3E}">
        <p14:creationId xmlns:p14="http://schemas.microsoft.com/office/powerpoint/2010/main" val="4964407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21A5-B979-8744-5A8D-3CE6A917608C}"/>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5ECFAE8-76E8-8E3A-0845-33BB750D63B8}"/>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41BBAF28-C3F5-3AE5-B206-E4FD8024A03B}"/>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78384E6F-EDA2-271D-737E-3863DDB31E0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2.1 – Spec2Tapeout with a single agent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5131332-AC10-50E2-7B09-02D4CE35D79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009B2612-BD15-37A8-C11B-773B9E7A2818}"/>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51</a:t>
            </a:fld>
            <a:endParaRPr sz="750" b="0">
              <a:solidFill>
                <a:srgbClr val="5B6573"/>
              </a:solidFill>
              <a:latin typeface="Calibri"/>
              <a:ea typeface="Calibri"/>
              <a:cs typeface="Calibri"/>
            </a:endParaRPr>
          </a:p>
        </p:txBody>
      </p:sp>
      <p:sp>
        <p:nvSpPr>
          <p:cNvPr id="77" name="2a message"/>
          <p:cNvSpPr/>
          <p:nvPr/>
        </p:nvSpPr>
        <p:spPr>
          <a:xfrm>
            <a:off x="493776" y="1005840"/>
            <a:ext cx="8138160" cy="685800"/>
          </a:xfrm>
          <a:prstGeom prst="roundRect">
            <a:avLst>
              <a:gd name="adj" fmla="val 8000"/>
            </a:avLst>
          </a:prstGeom>
          <a:solidFill>
            <a:srgbClr val="0E2745"/>
          </a:solidFill>
          <a:ln>
            <a:noFill/>
          </a:ln>
        </p:spPr>
        <p:txBody>
          <a:bodyPr wrap="square" lIns="73152" tIns="73152" rIns="73152" bIns="73152" anchor="ctr">
            <a:normAutofit/>
          </a:bodyPr>
          <a:lstStyle/>
          <a:p>
            <a:pPr algn="ctr">
              <a:spcAft>
                <a:spcPts val="0"/>
              </a:spcAft>
              <a:buNone/>
            </a:pPr>
            <a:r>
              <a:rPr lang="en-US" sz="1600" b="1" i="0">
                <a:solidFill>
                  <a:srgbClr val="FFFFFF"/>
                </a:solidFill>
                <a:latin typeface="Calibri"/>
                <a:ea typeface="Calibri"/>
                <a:cs typeface="Calibri"/>
              </a:rPr>
              <a:t>Task 2.1 (run config 2a): ONE agent, ONE prompt, </a:t>
            </a:r>
            <a:r>
              <a:rPr lang="en-US" sz="1600" b="1" i="0">
                <a:solidFill>
                  <a:srgbClr val="FFC000"/>
                </a:solidFill>
                <a:latin typeface="Calibri"/>
                <a:ea typeface="Calibri"/>
                <a:cs typeface="Calibri"/>
              </a:rPr>
              <a:t>all four files in a single answer</a:t>
            </a:r>
          </a:p>
        </p:txBody>
      </p:sp>
      <p:sp>
        <p:nvSpPr>
          <p:cNvPr id="78" name="2a inputs"/>
          <p:cNvSpPr/>
          <p:nvPr/>
        </p:nvSpPr>
        <p:spPr>
          <a:xfrm>
            <a:off x="493776" y="1920240"/>
            <a:ext cx="3886200" cy="2880360"/>
          </a:xfrm>
          <a:prstGeom prst="roundRect">
            <a:avLst>
              <a:gd name="adj" fmla="val 5000"/>
            </a:avLst>
          </a:prstGeom>
          <a:solidFill>
            <a:srgbClr val="F3F6FA"/>
          </a:solidFill>
          <a:ln>
            <a:noFill/>
          </a:ln>
        </p:spPr>
        <p:txBody>
          <a:bodyPr wrap="square" lIns="182880" tIns="182880" rIns="182880" bIns="182880" anchor="t">
            <a:normAutofit/>
          </a:bodyPr>
          <a:lstStyle/>
          <a:p>
            <a:pPr algn="l">
              <a:spcAft>
                <a:spcPts val="800"/>
              </a:spcAft>
              <a:buNone/>
            </a:pPr>
            <a:r>
              <a:rPr lang="en-US" sz="1500" b="1" i="0">
                <a:solidFill>
                  <a:srgbClr val="0E2745"/>
                </a:solidFill>
                <a:latin typeface="Calibri"/>
                <a:ea typeface="Calibri"/>
                <a:cs typeface="Calibri"/>
              </a:rPr>
              <a:t>The single agent gets</a:t>
            </a:r>
          </a:p>
          <a:p>
            <a:pPr algn="l">
              <a:spcAft>
                <a:spcPts val="500"/>
              </a:spcAft>
              <a:buNone/>
            </a:pPr>
            <a:r>
              <a:rPr lang="en-US" sz="1300" b="0" i="0">
                <a:solidFill>
                  <a:srgbClr val="0E2745"/>
                </a:solidFill>
                <a:latin typeface="Calibri"/>
                <a:ea typeface="Calibri"/>
                <a:cs typeface="Calibri"/>
              </a:rPr>
              <a:t>• the YAML spec + its timing section</a:t>
            </a:r>
          </a:p>
          <a:p>
            <a:pPr algn="l">
              <a:spcAft>
                <a:spcPts val="500"/>
              </a:spcAft>
              <a:buNone/>
            </a:pPr>
            <a:r>
              <a:rPr lang="en-US" sz="1300" b="0" i="0">
                <a:solidFill>
                  <a:srgbClr val="0E2745"/>
                </a:solidFill>
                <a:latin typeface="Calibri"/>
                <a:ea typeface="Calibri"/>
                <a:cs typeface="Calibri"/>
              </a:rPr>
              <a:t>• the SDC and config.mk templates</a:t>
            </a:r>
          </a:p>
          <a:p>
            <a:pPr algn="l">
              <a:spcAft>
                <a:spcPts val="500"/>
              </a:spcAft>
              <a:buNone/>
            </a:pPr>
            <a:r>
              <a:rPr lang="en-US" sz="1300" b="0" i="0">
                <a:solidFill>
                  <a:srgbClr val="0E2745"/>
                </a:solidFill>
                <a:latin typeface="Calibri"/>
                <a:ea typeface="Calibri"/>
                <a:cs typeface="Calibri"/>
              </a:rPr>
              <a:t>• one prompt with ALL the rules: </a:t>
            </a:r>
            <a:r>
              <a:rPr lang="en-US" sz="1300" b="0" i="0">
                <a:solidFill>
                  <a:srgbClr val="0E2745"/>
                </a:solidFill>
                <a:latin typeface="Courier New" panose="02070309020205020404" pitchFamily="49" charset="0"/>
                <a:ea typeface="Calibri"/>
                <a:cs typeface="Courier New" panose="02070309020205020404" pitchFamily="49" charset="0"/>
              </a:rPr>
              <a:t>configs/single_agent/Agent.md</a:t>
            </a:r>
          </a:p>
          <a:p>
            <a:pPr algn="l">
              <a:spcAft>
                <a:spcPts val="800"/>
              </a:spcAft>
              <a:buNone/>
            </a:pPr>
            <a:r>
              <a:rPr lang="en-US" sz="1300" b="0" i="0">
                <a:solidFill>
                  <a:srgbClr val="0E2745"/>
                </a:solidFill>
                <a:latin typeface="Calibri"/>
                <a:ea typeface="Calibri"/>
                <a:cs typeface="Calibri"/>
              </a:rPr>
              <a:t>• feedback from the first check that fails</a:t>
            </a:r>
          </a:p>
          <a:p>
            <a:pPr algn="l">
              <a:spcAft>
                <a:spcPts val="0"/>
              </a:spcAft>
              <a:buNone/>
            </a:pPr>
            <a:r>
              <a:rPr lang="en-US" sz="1200" b="0" i="1">
                <a:solidFill>
                  <a:srgbClr val="B91F2D"/>
                </a:solidFill>
                <a:latin typeface="Calibri"/>
                <a:ea typeface="Calibri"/>
                <a:cs typeface="Calibri"/>
              </a:rPr>
              <a:t>It must fix one file without breaking the other three</a:t>
            </a:r>
          </a:p>
        </p:txBody>
      </p:sp>
      <p:sp>
        <p:nvSpPr>
          <p:cNvPr id="79" name="checks title"/>
          <p:cNvSpPr txBox="1"/>
          <p:nvPr/>
        </p:nvSpPr>
        <p:spPr>
          <a:xfrm>
            <a:off x="4663440" y="1920240"/>
            <a:ext cx="3931920" cy="320040"/>
          </a:xfrm>
          <a:prstGeom prst="rect">
            <a:avLst/>
          </a:prstGeom>
          <a:noFill/>
          <a:ln>
            <a:noFill/>
          </a:ln>
        </p:spPr>
        <p:txBody>
          <a:bodyPr wrap="square" lIns="73152" tIns="73152" rIns="73152" bIns="73152" anchor="t">
            <a:normAutofit fontScale="92500" lnSpcReduction="10000"/>
          </a:bodyPr>
          <a:lstStyle/>
          <a:p>
            <a:pPr algn="l">
              <a:spcAft>
                <a:spcPts val="0"/>
              </a:spcAft>
              <a:buNone/>
            </a:pPr>
            <a:r>
              <a:rPr lang="en-US" sz="1300" b="1" i="0">
                <a:solidFill>
                  <a:srgbClr val="0E2745"/>
                </a:solidFill>
                <a:latin typeface="Calibri"/>
                <a:ea typeface="Calibri"/>
                <a:cs typeface="Calibri"/>
              </a:rPr>
              <a:t>Checked in this order</a:t>
            </a:r>
          </a:p>
        </p:txBody>
      </p:sp>
      <p:sp>
        <p:nvSpPr>
          <p:cNvPr id="80" name="check 1"/>
          <p:cNvSpPr/>
          <p:nvPr/>
        </p:nvSpPr>
        <p:spPr>
          <a:xfrm>
            <a:off x="4800600" y="228600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1  TB compiles</a:t>
            </a:r>
          </a:p>
        </p:txBody>
      </p:sp>
      <p:sp>
        <p:nvSpPr>
          <p:cNvPr id="81" name="check 2"/>
          <p:cNvSpPr/>
          <p:nvPr/>
        </p:nvSpPr>
        <p:spPr>
          <a:xfrm>
            <a:off x="4800600" y="265176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2  RTL simulation passes</a:t>
            </a:r>
          </a:p>
        </p:txBody>
      </p:sp>
      <p:sp>
        <p:nvSpPr>
          <p:cNvPr id="82" name="check 3"/>
          <p:cNvSpPr/>
          <p:nvPr/>
        </p:nvSpPr>
        <p:spPr>
          <a:xfrm>
            <a:off x="4800600" y="301752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3  SDC matches template</a:t>
            </a:r>
          </a:p>
        </p:txBody>
      </p:sp>
      <p:sp>
        <p:nvSpPr>
          <p:cNvPr id="83" name="check 4"/>
          <p:cNvSpPr/>
          <p:nvPr/>
        </p:nvSpPr>
        <p:spPr>
          <a:xfrm>
            <a:off x="4800600" y="338328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4  Yosys synthesis clean</a:t>
            </a:r>
          </a:p>
        </p:txBody>
      </p:sp>
      <p:sp>
        <p:nvSpPr>
          <p:cNvPr id="84" name="check 5"/>
          <p:cNvSpPr/>
          <p:nvPr/>
        </p:nvSpPr>
        <p:spPr>
          <a:xfrm>
            <a:off x="4800600" y="3749039"/>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5  config.mk filled  (the knobs: next slide)</a:t>
            </a:r>
          </a:p>
        </p:txBody>
      </p:sp>
      <p:sp>
        <p:nvSpPr>
          <p:cNvPr id="85" name="check 6"/>
          <p:cNvSpPr/>
          <p:nvPr/>
        </p:nvSpPr>
        <p:spPr>
          <a:xfrm>
            <a:off x="4800600" y="411480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6  OpenROAD flow</a:t>
            </a:r>
          </a:p>
        </p:txBody>
      </p:sp>
      <p:sp>
        <p:nvSpPr>
          <p:cNvPr id="86" name="check 7"/>
          <p:cNvSpPr/>
          <p:nvPr/>
        </p:nvSpPr>
        <p:spPr>
          <a:xfrm>
            <a:off x="4800600" y="4480560"/>
            <a:ext cx="3657600" cy="301752"/>
          </a:xfrm>
          <a:prstGeom prst="roundRect">
            <a:avLst>
              <a:gd name="adj" fmla="val 20000"/>
            </a:avLst>
          </a:prstGeom>
          <a:solidFill>
            <a:srgbClr val="E6EEF7"/>
          </a:solidFill>
          <a:ln w="12700">
            <a:solidFill>
              <a:srgbClr val="4F81BD"/>
            </a:solidFill>
          </a:ln>
        </p:spPr>
        <p:txBody>
          <a:bodyPr wrap="square" lIns="36576" tIns="36576" rIns="36576" bIns="36576" anchor="ctr">
            <a:normAutofit/>
          </a:bodyPr>
          <a:lstStyle/>
          <a:p>
            <a:pPr algn="l">
              <a:spcAft>
                <a:spcPts val="0"/>
              </a:spcAft>
              <a:buNone/>
            </a:pPr>
            <a:r>
              <a:rPr lang="en-US" sz="1200" b="1" i="0">
                <a:solidFill>
                  <a:srgbClr val="0E2745"/>
                </a:solidFill>
                <a:latin typeface="Calibri"/>
                <a:ea typeface="Calibri"/>
                <a:cs typeface="Calibri"/>
              </a:rPr>
              <a:t>7  PPA score</a:t>
            </a:r>
          </a:p>
        </p:txBody>
      </p:sp>
      <p:sp>
        <p:nvSpPr>
          <p:cNvPr id="87" name="2a command"/>
          <p:cNvSpPr/>
          <p:nvPr/>
        </p:nvSpPr>
        <p:spPr>
          <a:xfrm>
            <a:off x="493776" y="5074920"/>
            <a:ext cx="8138160" cy="68580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1300" b="0" i="0">
                <a:solidFill>
                  <a:srgbClr val="FFFFFF"/>
                </a:solidFill>
                <a:latin typeface="Courier New"/>
                <a:ea typeface="Courier New"/>
                <a:cs typeface="Courier New"/>
              </a:rPr>
              <a:t>python3 asic_autonomous_flow.py --config </a:t>
            </a:r>
            <a:r>
              <a:rPr lang="en-US" sz="1300" b="0" i="0" err="1">
                <a:solidFill>
                  <a:srgbClr val="FFFFFF"/>
                </a:solidFill>
                <a:latin typeface="Courier New"/>
                <a:ea typeface="Courier New"/>
                <a:cs typeface="Courier New"/>
              </a:rPr>
              <a:t>run_configs</a:t>
            </a:r>
            <a:r>
              <a:rPr lang="en-US" sz="1300" b="0" i="0">
                <a:solidFill>
                  <a:srgbClr val="FFFFFF"/>
                </a:solidFill>
                <a:latin typeface="Courier New"/>
                <a:ea typeface="Courier New"/>
                <a:cs typeface="Courier New"/>
              </a:rPr>
              <a:t>/2a_single_agent.yaml</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Add-in 5">
                <a:extLst>
                  <a:ext uri="{FF2B5EF4-FFF2-40B4-BE49-F238E27FC236}">
                    <a16:creationId xmlns:a16="http://schemas.microsoft.com/office/drawing/2014/main" id="{EA847AD8-5DEC-E39E-1BB4-84418416EB14}"/>
                  </a:ext>
                </a:extLst>
              </p:cNvPr>
              <p:cNvGraphicFramePr>
                <a:graphicFrameLocks noGrp="1"/>
              </p:cNvGraphicFramePr>
              <p:nvPr>
                <p:extLst>
                  <p:ext uri="{D42A27DB-BD31-4B8C-83A1-F6EECF244321}">
                    <p14:modId xmlns:p14="http://schemas.microsoft.com/office/powerpoint/2010/main" val="3193077810"/>
                  </p:ext>
                </p:extLst>
              </p:nvPr>
            </p:nvGraphicFramePr>
            <p:xfrm>
              <a:off x="6884209" y="5788152"/>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Add-in 5">
                <a:extLst>
                  <a:ext uri="{FF2B5EF4-FFF2-40B4-BE49-F238E27FC236}">
                    <a16:creationId xmlns:a16="http://schemas.microsoft.com/office/drawing/2014/main" id="{EA847AD8-5DEC-E39E-1BB4-84418416EB14}"/>
                  </a:ext>
                </a:extLst>
              </p:cNvPr>
              <p:cNvPicPr>
                <a:picLocks noGrp="1" noRot="1" noChangeAspect="1" noMove="1" noResize="1" noEditPoints="1" noAdjustHandles="1" noChangeArrowheads="1" noChangeShapeType="1"/>
              </p:cNvPicPr>
              <p:nvPr/>
            </p:nvPicPr>
            <p:blipFill>
              <a:blip r:embed="rId4"/>
              <a:stretch>
                <a:fillRect/>
              </a:stretch>
            </p:blipFill>
            <p:spPr>
              <a:xfrm>
                <a:off x="6884209" y="5788152"/>
                <a:ext cx="4654855" cy="1936624"/>
              </a:xfrm>
              <a:prstGeom prst="rect">
                <a:avLst/>
              </a:prstGeom>
            </p:spPr>
          </p:pic>
        </mc:Fallback>
      </mc:AlternateContent>
    </p:spTree>
    <p:extLst>
      <p:ext uri="{BB962C8B-B14F-4D97-AF65-F5344CB8AC3E}">
        <p14:creationId xmlns:p14="http://schemas.microsoft.com/office/powerpoint/2010/main" val="21266072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A21A5-B979-8744-5A8D-3CE6A917608C}"/>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5ECFAE8-76E8-8E3A-0845-33BB750D63B8}"/>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41BBAF28-C3F5-3AE5-B206-E4FD8024A03B}"/>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78384E6F-EDA2-271D-737E-3863DDB31E0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The knobs: what the agents can tune</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5131332-AC10-50E2-7B09-02D4CE35D79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009B2612-BD15-37A8-C11B-773B9E7A2818}"/>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52</a:t>
            </a:fld>
            <a:endParaRPr sz="750" b="0">
              <a:solidFill>
                <a:srgbClr val="5B6573"/>
              </a:solidFill>
              <a:latin typeface="Calibri"/>
              <a:ea typeface="Calibri"/>
              <a:cs typeface="Calibri"/>
            </a:endParaRPr>
          </a:p>
        </p:txBody>
      </p:sp>
      <p:sp>
        <p:nvSpPr>
          <p:cNvPr id="1074" name="text 1074"/>
          <p:cNvSpPr txBox="1"/>
          <p:nvPr/>
        </p:nvSpPr>
        <p:spPr>
          <a:xfrm>
            <a:off x="457200" y="914400"/>
            <a:ext cx="822960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1" i="0">
                <a:solidFill>
                  <a:srgbClr val="17365D"/>
                </a:solidFill>
                <a:latin typeface="Courier New"/>
                <a:ea typeface="Courier New"/>
                <a:cs typeface="Courier New"/>
              </a:rPr>
              <a:t>config.mk  </a:t>
            </a:r>
            <a:r>
              <a:rPr lang="en-US" sz="1100" b="0" i="0">
                <a:solidFill>
                  <a:srgbClr val="0E2745"/>
                </a:solidFill>
                <a:latin typeface="Calibri"/>
                <a:ea typeface="Calibri"/>
                <a:cs typeface="Calibri"/>
              </a:rPr>
              <a:t>– the </a:t>
            </a:r>
            <a:r>
              <a:rPr lang="en-US" sz="1100" b="0" i="0" err="1">
                <a:solidFill>
                  <a:srgbClr val="0E2745"/>
                </a:solidFill>
                <a:latin typeface="Calibri"/>
                <a:ea typeface="Calibri"/>
                <a:cs typeface="Calibri"/>
              </a:rPr>
              <a:t>OpenROAD</a:t>
            </a:r>
            <a:r>
              <a:rPr lang="en-US" sz="1100" b="0" i="0">
                <a:solidFill>
                  <a:srgbClr val="0E2745"/>
                </a:solidFill>
                <a:latin typeface="Calibri"/>
                <a:ea typeface="Calibri"/>
                <a:cs typeface="Calibri"/>
              </a:rPr>
              <a:t> settings the config.mk agent fills in and tunes</a:t>
            </a:r>
          </a:p>
        </p:txBody>
      </p:sp>
      <p:sp>
        <p:nvSpPr>
          <p:cNvPr id="1075" name="shape 1075"/>
          <p:cNvSpPr/>
          <p:nvPr/>
        </p:nvSpPr>
        <p:spPr>
          <a:xfrm>
            <a:off x="457200" y="1280160"/>
            <a:ext cx="8229600" cy="274320"/>
          </a:xfrm>
          <a:prstGeom prst="rect">
            <a:avLst/>
          </a:prstGeom>
          <a:solidFill>
            <a:srgbClr val="0E2745"/>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76" name="text 1076"/>
          <p:cNvSpPr txBox="1"/>
          <p:nvPr/>
        </p:nvSpPr>
        <p:spPr>
          <a:xfrm>
            <a:off x="530352" y="1280160"/>
            <a:ext cx="2377440" cy="2743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FFFFFF"/>
                </a:solidFill>
                <a:latin typeface="Calibri"/>
                <a:ea typeface="Calibri"/>
                <a:cs typeface="Calibri"/>
              </a:rPr>
              <a:t>Parameter</a:t>
            </a:r>
          </a:p>
        </p:txBody>
      </p:sp>
      <p:sp>
        <p:nvSpPr>
          <p:cNvPr id="1077" name="text 1077"/>
          <p:cNvSpPr txBox="1"/>
          <p:nvPr/>
        </p:nvSpPr>
        <p:spPr>
          <a:xfrm>
            <a:off x="2971800" y="1280160"/>
            <a:ext cx="4480560" cy="2743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FFFFFF"/>
                </a:solidFill>
                <a:latin typeface="Calibri"/>
                <a:ea typeface="Calibri"/>
                <a:cs typeface="Calibri"/>
              </a:rPr>
              <a:t>What it changes</a:t>
            </a:r>
          </a:p>
        </p:txBody>
      </p:sp>
      <p:sp>
        <p:nvSpPr>
          <p:cNvPr id="1078" name="text 1078"/>
          <p:cNvSpPr txBox="1"/>
          <p:nvPr/>
        </p:nvSpPr>
        <p:spPr>
          <a:xfrm>
            <a:off x="7498079" y="1280160"/>
            <a:ext cx="1143000" cy="2743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FFFFFF"/>
                </a:solidFill>
                <a:latin typeface="Calibri"/>
                <a:ea typeface="Calibri"/>
                <a:cs typeface="Calibri"/>
              </a:rPr>
              <a:t>Start value</a:t>
            </a:r>
          </a:p>
        </p:txBody>
      </p:sp>
      <p:sp>
        <p:nvSpPr>
          <p:cNvPr id="1079" name="shape 1079"/>
          <p:cNvSpPr/>
          <p:nvPr/>
        </p:nvSpPr>
        <p:spPr>
          <a:xfrm>
            <a:off x="457200" y="1554480"/>
            <a:ext cx="8229600" cy="301752"/>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80" name="text 1080"/>
          <p:cNvSpPr txBox="1"/>
          <p:nvPr/>
        </p:nvSpPr>
        <p:spPr>
          <a:xfrm>
            <a:off x="530352" y="1554480"/>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CORE_UTILIZATION</a:t>
            </a:r>
          </a:p>
        </p:txBody>
      </p:sp>
      <p:sp>
        <p:nvSpPr>
          <p:cNvPr id="1081" name="text 1081"/>
          <p:cNvSpPr txBox="1"/>
          <p:nvPr/>
        </p:nvSpPr>
        <p:spPr>
          <a:xfrm>
            <a:off x="2971800" y="1554480"/>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 of the core filled with cells: higher = smaller chip, harder to route</a:t>
            </a:r>
          </a:p>
        </p:txBody>
      </p:sp>
      <p:sp>
        <p:nvSpPr>
          <p:cNvPr id="1082" name="text 1082"/>
          <p:cNvSpPr txBox="1"/>
          <p:nvPr/>
        </p:nvSpPr>
        <p:spPr>
          <a:xfrm>
            <a:off x="7498079" y="1554480"/>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20 small / 50</a:t>
            </a:r>
          </a:p>
        </p:txBody>
      </p:sp>
      <p:sp>
        <p:nvSpPr>
          <p:cNvPr id="1083" name="shape 1083"/>
          <p:cNvSpPr/>
          <p:nvPr/>
        </p:nvSpPr>
        <p:spPr>
          <a:xfrm>
            <a:off x="457200" y="1856231"/>
            <a:ext cx="8229600" cy="301752"/>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84" name="text 1084"/>
          <p:cNvSpPr txBox="1"/>
          <p:nvPr/>
        </p:nvSpPr>
        <p:spPr>
          <a:xfrm>
            <a:off x="530352" y="1856231"/>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PLACE_DENSITY</a:t>
            </a:r>
          </a:p>
        </p:txBody>
      </p:sp>
      <p:sp>
        <p:nvSpPr>
          <p:cNvPr id="1085" name="text 1085"/>
          <p:cNvSpPr txBox="1"/>
          <p:nvPr/>
        </p:nvSpPr>
        <p:spPr>
          <a:xfrm>
            <a:off x="2971800" y="1856231"/>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how tightly the placer packs the cells</a:t>
            </a:r>
          </a:p>
        </p:txBody>
      </p:sp>
      <p:sp>
        <p:nvSpPr>
          <p:cNvPr id="1086" name="text 1086"/>
          <p:cNvSpPr txBox="1"/>
          <p:nvPr/>
        </p:nvSpPr>
        <p:spPr>
          <a:xfrm>
            <a:off x="7498079" y="1856231"/>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0.55</a:t>
            </a:r>
          </a:p>
        </p:txBody>
      </p:sp>
      <p:sp>
        <p:nvSpPr>
          <p:cNvPr id="1087" name="shape 1087"/>
          <p:cNvSpPr/>
          <p:nvPr/>
        </p:nvSpPr>
        <p:spPr>
          <a:xfrm>
            <a:off x="457200" y="2157984"/>
            <a:ext cx="8229600" cy="301752"/>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88" name="text 1088"/>
          <p:cNvSpPr txBox="1"/>
          <p:nvPr/>
        </p:nvSpPr>
        <p:spPr>
          <a:xfrm>
            <a:off x="530352" y="2157984"/>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CORE_ASPECT_RATIO</a:t>
            </a:r>
          </a:p>
        </p:txBody>
      </p:sp>
      <p:sp>
        <p:nvSpPr>
          <p:cNvPr id="1089" name="text 1089"/>
          <p:cNvSpPr txBox="1"/>
          <p:nvPr/>
        </p:nvSpPr>
        <p:spPr>
          <a:xfrm>
            <a:off x="2971800" y="2157984"/>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core height / width</a:t>
            </a:r>
          </a:p>
        </p:txBody>
      </p:sp>
      <p:sp>
        <p:nvSpPr>
          <p:cNvPr id="1090" name="text 1090"/>
          <p:cNvSpPr txBox="1"/>
          <p:nvPr/>
        </p:nvSpPr>
        <p:spPr>
          <a:xfrm>
            <a:off x="7498079" y="2157984"/>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1.0</a:t>
            </a:r>
          </a:p>
        </p:txBody>
      </p:sp>
      <p:sp>
        <p:nvSpPr>
          <p:cNvPr id="1091" name="shape 1091"/>
          <p:cNvSpPr/>
          <p:nvPr/>
        </p:nvSpPr>
        <p:spPr>
          <a:xfrm>
            <a:off x="457200" y="2459736"/>
            <a:ext cx="8229600" cy="301752"/>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92" name="text 1092"/>
          <p:cNvSpPr txBox="1"/>
          <p:nvPr/>
        </p:nvSpPr>
        <p:spPr>
          <a:xfrm>
            <a:off x="530352" y="2459736"/>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CORE_MARGIN</a:t>
            </a:r>
          </a:p>
        </p:txBody>
      </p:sp>
      <p:sp>
        <p:nvSpPr>
          <p:cNvPr id="1093" name="text 1093"/>
          <p:cNvSpPr txBox="1"/>
          <p:nvPr/>
        </p:nvSpPr>
        <p:spPr>
          <a:xfrm>
            <a:off x="2971800" y="2459736"/>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space between the core and the die edge (µm)</a:t>
            </a:r>
          </a:p>
        </p:txBody>
      </p:sp>
      <p:sp>
        <p:nvSpPr>
          <p:cNvPr id="1094" name="text 1094"/>
          <p:cNvSpPr txBox="1"/>
          <p:nvPr/>
        </p:nvSpPr>
        <p:spPr>
          <a:xfrm>
            <a:off x="7498079" y="2459736"/>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1.0</a:t>
            </a:r>
          </a:p>
        </p:txBody>
      </p:sp>
      <p:sp>
        <p:nvSpPr>
          <p:cNvPr id="1095" name="shape 1095"/>
          <p:cNvSpPr/>
          <p:nvPr/>
        </p:nvSpPr>
        <p:spPr>
          <a:xfrm>
            <a:off x="457200" y="2761488"/>
            <a:ext cx="8229600" cy="301752"/>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096" name="text 1096"/>
          <p:cNvSpPr txBox="1"/>
          <p:nvPr/>
        </p:nvSpPr>
        <p:spPr>
          <a:xfrm>
            <a:off x="530352" y="2761488"/>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ROUTING_LAYER_ADJUSTMENT</a:t>
            </a:r>
          </a:p>
        </p:txBody>
      </p:sp>
      <p:sp>
        <p:nvSpPr>
          <p:cNvPr id="1097" name="text 1097"/>
          <p:cNvSpPr txBox="1"/>
          <p:nvPr/>
        </p:nvSpPr>
        <p:spPr>
          <a:xfrm>
            <a:off x="2971800" y="2761488"/>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share of routing capacity kept free (0–1): against congestion</a:t>
            </a:r>
          </a:p>
        </p:txBody>
      </p:sp>
      <p:sp>
        <p:nvSpPr>
          <p:cNvPr id="1098" name="text 1098"/>
          <p:cNvSpPr txBox="1"/>
          <p:nvPr/>
        </p:nvSpPr>
        <p:spPr>
          <a:xfrm>
            <a:off x="7498079" y="2761488"/>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0.5</a:t>
            </a:r>
          </a:p>
        </p:txBody>
      </p:sp>
      <p:sp>
        <p:nvSpPr>
          <p:cNvPr id="1099" name="shape 1099"/>
          <p:cNvSpPr/>
          <p:nvPr/>
        </p:nvSpPr>
        <p:spPr>
          <a:xfrm>
            <a:off x="457200" y="3063240"/>
            <a:ext cx="8229600" cy="301752"/>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00" name="text 1100"/>
          <p:cNvSpPr txBox="1"/>
          <p:nvPr/>
        </p:nvSpPr>
        <p:spPr>
          <a:xfrm>
            <a:off x="530352" y="3063240"/>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ABC_AREA</a:t>
            </a:r>
          </a:p>
        </p:txBody>
      </p:sp>
      <p:sp>
        <p:nvSpPr>
          <p:cNvPr id="1101" name="text 1101"/>
          <p:cNvSpPr txBox="1"/>
          <p:nvPr/>
        </p:nvSpPr>
        <p:spPr>
          <a:xfrm>
            <a:off x="2971800" y="3063240"/>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synthesis goal: 1 = smaller area, 0 = faster</a:t>
            </a:r>
          </a:p>
        </p:txBody>
      </p:sp>
      <p:sp>
        <p:nvSpPr>
          <p:cNvPr id="1102" name="text 1102"/>
          <p:cNvSpPr txBox="1"/>
          <p:nvPr/>
        </p:nvSpPr>
        <p:spPr>
          <a:xfrm>
            <a:off x="7498079" y="3063240"/>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0</a:t>
            </a:r>
          </a:p>
        </p:txBody>
      </p:sp>
      <p:sp>
        <p:nvSpPr>
          <p:cNvPr id="1103" name="shape 1103"/>
          <p:cNvSpPr/>
          <p:nvPr/>
        </p:nvSpPr>
        <p:spPr>
          <a:xfrm>
            <a:off x="457200" y="3364991"/>
            <a:ext cx="8229600" cy="301752"/>
          </a:xfrm>
          <a:prstGeom prst="rect">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04" name="text 1104"/>
          <p:cNvSpPr txBox="1"/>
          <p:nvPr/>
        </p:nvSpPr>
        <p:spPr>
          <a:xfrm>
            <a:off x="530352" y="3364991"/>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RESYNTH_TIMING_RECOVER</a:t>
            </a:r>
          </a:p>
        </p:txBody>
      </p:sp>
      <p:sp>
        <p:nvSpPr>
          <p:cNvPr id="1105" name="text 1105"/>
          <p:cNvSpPr txBox="1"/>
          <p:nvPr/>
        </p:nvSpPr>
        <p:spPr>
          <a:xfrm>
            <a:off x="2971800" y="3364991"/>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1 = extra synthesis pass to recover timing</a:t>
            </a:r>
          </a:p>
        </p:txBody>
      </p:sp>
      <p:sp>
        <p:nvSpPr>
          <p:cNvPr id="1106" name="text 1106"/>
          <p:cNvSpPr txBox="1"/>
          <p:nvPr/>
        </p:nvSpPr>
        <p:spPr>
          <a:xfrm>
            <a:off x="7498079" y="3364991"/>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0</a:t>
            </a:r>
          </a:p>
        </p:txBody>
      </p:sp>
      <p:sp>
        <p:nvSpPr>
          <p:cNvPr id="1107" name="shape 1107"/>
          <p:cNvSpPr/>
          <p:nvPr/>
        </p:nvSpPr>
        <p:spPr>
          <a:xfrm>
            <a:off x="457200" y="3666744"/>
            <a:ext cx="8229600" cy="301752"/>
          </a:xfrm>
          <a:prstGeom prst="rect">
            <a:avLst/>
          </a:prstGeom>
          <a:solidFill>
            <a:srgbClr val="FFFFF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08" name="text 1108"/>
          <p:cNvSpPr txBox="1"/>
          <p:nvPr/>
        </p:nvSpPr>
        <p:spPr>
          <a:xfrm>
            <a:off x="530352" y="3666744"/>
            <a:ext cx="237744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850" b="1" i="0">
                <a:solidFill>
                  <a:srgbClr val="0E2745"/>
                </a:solidFill>
                <a:latin typeface="Courier New"/>
                <a:ea typeface="Courier New"/>
                <a:cs typeface="Courier New"/>
              </a:rPr>
              <a:t>RECOVER_POWER</a:t>
            </a:r>
          </a:p>
        </p:txBody>
      </p:sp>
      <p:sp>
        <p:nvSpPr>
          <p:cNvPr id="1109" name="text 1109"/>
          <p:cNvSpPr txBox="1"/>
          <p:nvPr/>
        </p:nvSpPr>
        <p:spPr>
          <a:xfrm>
            <a:off x="2971800" y="3666744"/>
            <a:ext cx="448056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0" i="0">
                <a:solidFill>
                  <a:srgbClr val="0E2745"/>
                </a:solidFill>
                <a:latin typeface="Calibri"/>
                <a:ea typeface="Calibri"/>
                <a:cs typeface="Calibri"/>
              </a:rPr>
              <a:t>% of non-critical paths slowed down to save power</a:t>
            </a:r>
          </a:p>
        </p:txBody>
      </p:sp>
      <p:sp>
        <p:nvSpPr>
          <p:cNvPr id="1110" name="text 1110"/>
          <p:cNvSpPr txBox="1"/>
          <p:nvPr/>
        </p:nvSpPr>
        <p:spPr>
          <a:xfrm>
            <a:off x="7498079" y="3666744"/>
            <a:ext cx="1143000" cy="3017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900" b="1" i="0">
                <a:solidFill>
                  <a:srgbClr val="0E2745"/>
                </a:solidFill>
                <a:latin typeface="Calibri"/>
                <a:ea typeface="Calibri"/>
                <a:cs typeface="Calibri"/>
              </a:rPr>
              <a:t>0</a:t>
            </a:r>
          </a:p>
        </p:txBody>
      </p:sp>
      <p:sp>
        <p:nvSpPr>
          <p:cNvPr id="1111" name="text 1111"/>
          <p:cNvSpPr txBox="1"/>
          <p:nvPr/>
        </p:nvSpPr>
        <p:spPr>
          <a:xfrm>
            <a:off x="457200" y="4005072"/>
            <a:ext cx="8229600" cy="292608"/>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950" b="0" i="1">
                <a:solidFill>
                  <a:srgbClr val="5D6C7B"/>
                </a:solidFill>
                <a:latin typeface="Calibri"/>
                <a:ea typeface="Calibri"/>
                <a:cs typeface="Calibri"/>
              </a:rPr>
              <a:t>Every knob, its start value and how to change it for each OpenROAD error is explained in </a:t>
            </a:r>
            <a:r>
              <a:rPr lang="en-US" sz="900" b="0" i="1">
                <a:solidFill>
                  <a:srgbClr val="5D6C7B"/>
                </a:solidFill>
                <a:latin typeface="Courier New"/>
                <a:ea typeface="Courier New"/>
                <a:cs typeface="Courier New"/>
              </a:rPr>
              <a:t>configs/config_mk_generator/Agent.md</a:t>
            </a:r>
          </a:p>
        </p:txBody>
      </p:sp>
      <p:sp>
        <p:nvSpPr>
          <p:cNvPr id="1112" name="shape 1112"/>
          <p:cNvSpPr/>
          <p:nvPr/>
        </p:nvSpPr>
        <p:spPr>
          <a:xfrm>
            <a:off x="457200" y="4434840"/>
            <a:ext cx="4023360" cy="1371600"/>
          </a:xfrm>
          <a:prstGeom prst="roundRect">
            <a:avLst>
              <a:gd name="adj" fmla="val 8000"/>
            </a:avLst>
          </a:prstGeom>
          <a:solidFill>
            <a:srgbClr val="F3F6FA"/>
          </a:solidFill>
          <a:ln>
            <a:noFill/>
          </a:ln>
        </p:spPr>
        <p:txBody>
          <a:bodyPr wrap="square" lIns="109728" tIns="109728" rIns="109728" bIns="109728" anchor="t">
            <a:noAutofit/>
          </a:bodyPr>
          <a:lstStyle/>
          <a:p>
            <a:pPr algn="l">
              <a:spcBef>
                <a:spcPts val="0"/>
              </a:spcBef>
              <a:spcAft>
                <a:spcPts val="300"/>
              </a:spcAft>
              <a:buNone/>
            </a:pPr>
            <a:r>
              <a:rPr lang="en-US" sz="1150" b="1" i="0">
                <a:solidFill>
                  <a:srgbClr val="0E2745"/>
                </a:solidFill>
                <a:latin typeface="Calibri"/>
                <a:ea typeface="Calibri"/>
                <a:cs typeface="Calibri"/>
              </a:rPr>
              <a:t>Run settings  (run_configs/*.yaml)</a:t>
            </a:r>
          </a:p>
          <a:p>
            <a:pPr algn="l">
              <a:spcBef>
                <a:spcPts val="0"/>
              </a:spcBef>
              <a:spcAft>
                <a:spcPts val="0"/>
              </a:spcAft>
              <a:buNone/>
            </a:pPr>
            <a:r>
              <a:rPr lang="en-US" sz="1000" b="0" i="0">
                <a:solidFill>
                  <a:srgbClr val="0E2745"/>
                </a:solidFill>
                <a:latin typeface="Calibri"/>
                <a:ea typeface="Calibri"/>
                <a:cs typeface="Calibri"/>
              </a:rPr>
              <a:t>Which model each agent uses (profile in configs/&lt;agent&gt;/config.yaml, with its temperature) and the iteration limits: max_rtl_gen_iters, max_physical_iters … = 10.</a:t>
            </a:r>
          </a:p>
        </p:txBody>
      </p:sp>
      <p:sp>
        <p:nvSpPr>
          <p:cNvPr id="1113" name="shape 1113"/>
          <p:cNvSpPr/>
          <p:nvPr/>
        </p:nvSpPr>
        <p:spPr>
          <a:xfrm>
            <a:off x="4663440" y="4434840"/>
            <a:ext cx="4023360" cy="1371600"/>
          </a:xfrm>
          <a:prstGeom prst="roundRect">
            <a:avLst>
              <a:gd name="adj" fmla="val 8000"/>
            </a:avLst>
          </a:prstGeom>
          <a:solidFill>
            <a:srgbClr val="FDF3E1"/>
          </a:solidFill>
          <a:ln>
            <a:noFill/>
          </a:ln>
        </p:spPr>
        <p:txBody>
          <a:bodyPr wrap="square" lIns="109728" tIns="109728" rIns="109728" bIns="109728" anchor="t">
            <a:noAutofit/>
          </a:bodyPr>
          <a:lstStyle/>
          <a:p>
            <a:pPr algn="l">
              <a:spcBef>
                <a:spcPts val="0"/>
              </a:spcBef>
              <a:spcAft>
                <a:spcPts val="300"/>
              </a:spcAft>
              <a:buNone/>
            </a:pPr>
            <a:r>
              <a:rPr lang="en-US" sz="1150" b="1" i="0">
                <a:solidFill>
                  <a:srgbClr val="0E2745"/>
                </a:solidFill>
                <a:latin typeface="Calibri"/>
                <a:ea typeface="Calibri"/>
                <a:cs typeface="Calibri"/>
              </a:rPr>
              <a:t>Yosys: no knobs</a:t>
            </a:r>
          </a:p>
          <a:p>
            <a:pPr algn="l">
              <a:spcBef>
                <a:spcPts val="0"/>
              </a:spcBef>
              <a:spcAft>
                <a:spcPts val="0"/>
              </a:spcAft>
              <a:buNone/>
            </a:pPr>
            <a:r>
              <a:rPr lang="en-US" sz="1000" b="0" i="0">
                <a:solidFill>
                  <a:srgbClr val="0E2745"/>
                </a:solidFill>
                <a:latin typeface="Calibri"/>
                <a:ea typeface="Calibri"/>
                <a:cs typeface="Calibri"/>
              </a:rPr>
              <a:t>Synthesis runs with fixed settings. The only requirement: the synthesized netlist must still pass simulation (post-synthesis check with verification_mode: BOTH).</a:t>
            </a:r>
          </a:p>
        </p:txBody>
      </p:sp>
      <p:sp>
        <p:nvSpPr>
          <p:cNvPr id="1114" name="shape 1114"/>
          <p:cNvSpPr/>
          <p:nvPr/>
        </p:nvSpPr>
        <p:spPr>
          <a:xfrm>
            <a:off x="1572534" y="5959982"/>
            <a:ext cx="5236251" cy="640843"/>
          </a:xfrm>
          <a:prstGeom prst="roundRect">
            <a:avLst>
              <a:gd name="adj" fmla="val 15000"/>
            </a:avLst>
          </a:prstGeom>
          <a:solidFill>
            <a:srgbClr val="0E2745"/>
          </a:solidFill>
          <a:ln>
            <a:noFill/>
          </a:ln>
        </p:spPr>
        <p:txBody>
          <a:bodyPr wrap="square" lIns="73152" tIns="73152" rIns="73152" bIns="73152" anchor="ctr">
            <a:noAutofit/>
          </a:bodyPr>
          <a:lstStyle/>
          <a:p>
            <a:pPr algn="ctr">
              <a:spcBef>
                <a:spcPts val="0"/>
              </a:spcBef>
              <a:spcAft>
                <a:spcPts val="0"/>
              </a:spcAft>
              <a:buNone/>
            </a:pPr>
            <a:r>
              <a:rPr lang="en-US" sz="1050" b="1" i="0">
                <a:solidFill>
                  <a:srgbClr val="FFC000"/>
                </a:solidFill>
                <a:latin typeface="Calibri"/>
                <a:ea typeface="Calibri"/>
                <a:cs typeface="Calibri"/>
              </a:rPr>
              <a:t>Hands-on: </a:t>
            </a:r>
            <a:r>
              <a:rPr lang="en-US" sz="1050" b="1" i="0">
                <a:solidFill>
                  <a:srgbClr val="FFFFFF"/>
                </a:solidFill>
                <a:latin typeface="Calibri"/>
                <a:ea typeface="Calibri"/>
                <a:cs typeface="Calibri"/>
              </a:rPr>
              <a:t>open the config.mk of your run – which values did the agent choose, and why?</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Add-in 5">
                <a:extLst>
                  <a:ext uri="{FF2B5EF4-FFF2-40B4-BE49-F238E27FC236}">
                    <a16:creationId xmlns:a16="http://schemas.microsoft.com/office/drawing/2014/main" id="{87413048-981F-286B-B403-30AE95834AD5}"/>
                  </a:ext>
                </a:extLst>
              </p:cNvPr>
              <p:cNvGraphicFramePr>
                <a:graphicFrameLocks noGrp="1"/>
              </p:cNvGraphicFramePr>
              <p:nvPr>
                <p:extLst>
                  <p:ext uri="{D42A27DB-BD31-4B8C-83A1-F6EECF244321}">
                    <p14:modId xmlns:p14="http://schemas.microsoft.com/office/powerpoint/2010/main" val="2490809323"/>
                  </p:ext>
                </p:extLst>
              </p:nvPr>
            </p:nvGraphicFramePr>
            <p:xfrm>
              <a:off x="6999452" y="575633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Add-in 5">
                <a:extLst>
                  <a:ext uri="{FF2B5EF4-FFF2-40B4-BE49-F238E27FC236}">
                    <a16:creationId xmlns:a16="http://schemas.microsoft.com/office/drawing/2014/main" id="{87413048-981F-286B-B403-30AE95834AD5}"/>
                  </a:ext>
                </a:extLst>
              </p:cNvPr>
              <p:cNvPicPr>
                <a:picLocks noGrp="1" noRot="1" noChangeAspect="1" noMove="1" noResize="1" noEditPoints="1" noAdjustHandles="1" noChangeArrowheads="1" noChangeShapeType="1"/>
              </p:cNvPicPr>
              <p:nvPr/>
            </p:nvPicPr>
            <p:blipFill>
              <a:blip r:embed="rId4"/>
              <a:stretch>
                <a:fillRect/>
              </a:stretch>
            </p:blipFill>
            <p:spPr>
              <a:xfrm>
                <a:off x="6999452" y="5756338"/>
                <a:ext cx="4654855" cy="1936624"/>
              </a:xfrm>
              <a:prstGeom prst="rect">
                <a:avLst/>
              </a:prstGeom>
            </p:spPr>
          </p:pic>
        </mc:Fallback>
      </mc:AlternateContent>
    </p:spTree>
    <p:extLst>
      <p:ext uri="{BB962C8B-B14F-4D97-AF65-F5344CB8AC3E}">
        <p14:creationId xmlns:p14="http://schemas.microsoft.com/office/powerpoint/2010/main" val="2126607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2.1 – our golden run: a single agent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53</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golden folder</a:t>
            </a:r>
          </a:p>
          <a:p>
            <a:pPr algn="l">
              <a:spcBef>
                <a:spcPts val="0"/>
              </a:spcBef>
              <a:spcAft>
                <a:spcPts val="0"/>
              </a:spcAft>
              <a:buNone/>
            </a:pPr>
            <a:r>
              <a:rPr lang="en-US" sz="950" b="0" i="0">
                <a:solidFill>
                  <a:srgbClr val="5D6C7B"/>
                </a:solidFill>
                <a:latin typeface="Calibri"/>
                <a:ea typeface="Calibri"/>
                <a:cs typeface="Calibri"/>
              </a:rPr>
              <a:t>solution/ = our finished prompts and run configs</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/home/scripts/part2/solution</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the single agent</a:t>
            </a:r>
          </a:p>
          <a:p>
            <a:pPr algn="l">
              <a:spcBef>
                <a:spcPts val="0"/>
              </a:spcBef>
              <a:spcAft>
                <a:spcPts val="0"/>
              </a:spcAft>
              <a:buNone/>
            </a:pPr>
            <a:r>
              <a:rPr lang="en-US" sz="950" b="0" i="0">
                <a:solidFill>
                  <a:srgbClr val="5D6C7B"/>
                </a:solidFill>
                <a:latin typeface="Calibri"/>
                <a:ea typeface="Calibri"/>
                <a:cs typeface="Calibri"/>
              </a:rPr>
              <a:t>run config 2a, on the 8-bit counter (p11)</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run_configs/2a_single_agent.yaml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the flow did</a:t>
            </a:r>
          </a:p>
          <a:p>
            <a:pPr algn="l">
              <a:spcBef>
                <a:spcPts val="0"/>
              </a:spcBef>
              <a:spcAft>
                <a:spcPts val="0"/>
              </a:spcAft>
              <a:buNone/>
            </a:pPr>
            <a:r>
              <a:rPr lang="en-US" sz="950" b="0" i="0">
                <a:solidFill>
                  <a:srgbClr val="5D6C7B"/>
                </a:solidFill>
                <a:latin typeface="Calibri"/>
                <a:ea typeface="Calibri"/>
                <a:cs typeface="Calibri"/>
              </a:rPr>
              <a:t>3 model calls until every check passed, then one OpenROAD run</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The result</a:t>
            </a:r>
          </a:p>
          <a:p>
            <a:pPr algn="l">
              <a:spcBef>
                <a:spcPts val="0"/>
              </a:spcBef>
              <a:spcAft>
                <a:spcPts val="0"/>
              </a:spcAft>
              <a:buNone/>
            </a:pPr>
            <a:r>
              <a:rPr lang="en-US" sz="950" b="0" i="0">
                <a:solidFill>
                  <a:srgbClr val="5D6C7B"/>
                </a:solidFill>
                <a:latin typeface="Calibri"/>
                <a:ea typeface="Calibri"/>
                <a:cs typeface="Calibri"/>
              </a:rPr>
              <a:t>illustrative output – your numbers will differ</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Where the files are</a:t>
            </a:r>
          </a:p>
          <a:p>
            <a:pPr algn="l">
              <a:spcBef>
                <a:spcPts val="0"/>
              </a:spcBef>
              <a:spcAft>
                <a:spcPts val="0"/>
              </a:spcAft>
              <a:buNone/>
            </a:pPr>
            <a:r>
              <a:rPr lang="en-US" sz="950" b="0" i="0">
                <a:solidFill>
                  <a:srgbClr val="5D6C7B"/>
                </a:solidFill>
                <a:latin typeface="Calibri"/>
                <a:ea typeface="Calibri"/>
                <a:cs typeface="Calibri"/>
              </a:rPr>
              <a:t>results/ every iteration · solution/ final RTL + layout · token_usage.json</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RESULT  score 91.3/100 (our golden layout = 80) · 2.1 min · 27k tokens</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 Success! OpenROAD Flow completed successfully.</a:t>
            </a:r>
          </a:p>
          <a:p>
            <a:pPr algn="l">
              <a:lnSpc>
                <a:spcPct val="100000"/>
              </a:lnSpc>
              <a:spcBef>
                <a:spcPts val="0"/>
              </a:spcBef>
              <a:spcAft>
                <a:spcPts val="0"/>
              </a:spcAft>
              <a:buNone/>
            </a:pPr>
            <a:r>
              <a:rPr lang="en-US" sz="880" b="0" i="0">
                <a:solidFill>
                  <a:srgbClr val="FFFFFF"/>
                </a:solidFill>
                <a:latin typeface="Courier New"/>
                <a:ea typeface="Courier New"/>
                <a:cs typeface="Courier New"/>
              </a:rPr>
              <a:t>✅ Success! Agentic flow completed successfully.</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WNS 34.77/40   TNS 20.00/20</a:t>
            </a:r>
          </a:p>
          <a:p>
            <a:pPr algn="l">
              <a:lnSpc>
                <a:spcPct val="100000"/>
              </a:lnSpc>
              <a:spcBef>
                <a:spcPts val="0"/>
              </a:spcBef>
              <a:spcAft>
                <a:spcPts val="0"/>
              </a:spcAft>
              <a:buNone/>
            </a:pPr>
            <a:r>
              <a:rPr lang="en-US" sz="880" b="0" i="0">
                <a:solidFill>
                  <a:srgbClr val="FFFFFF"/>
                </a:solidFill>
                <a:latin typeface="Courier New"/>
                <a:ea typeface="Courier New"/>
                <a:cs typeface="Courier New"/>
              </a:rPr>
              <a:t>Power 20.00/20   Area 16.55/20</a:t>
            </a:r>
          </a:p>
          <a:p>
            <a:pPr algn="l">
              <a:lnSpc>
                <a:spcPct val="100000"/>
              </a:lnSpc>
              <a:spcBef>
                <a:spcPts val="0"/>
              </a:spcBef>
              <a:spcAft>
                <a:spcPts val="0"/>
              </a:spcAft>
              <a:buNone/>
            </a:pPr>
            <a:r>
              <a:rPr lang="en-US" sz="880" b="0" i="0">
                <a:solidFill>
                  <a:srgbClr val="FFFFFF"/>
                </a:solidFill>
                <a:latin typeface="Courier New"/>
                <a:ea typeface="Courier New"/>
                <a:cs typeface="Courier New"/>
              </a:rPr>
              <a:t>Final Score: 91.3/100</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ls runs/2a_single_agent/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2.1 – your turn: fill the single agent's prompt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54</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Open the prompt on your laptop</a:t>
            </a:r>
          </a:p>
          <a:p>
            <a:pPr algn="l">
              <a:spcBef>
                <a:spcPts val="0"/>
              </a:spcBef>
              <a:spcAft>
                <a:spcPts val="0"/>
              </a:spcAft>
              <a:buNone/>
            </a:pPr>
            <a:r>
              <a:rPr lang="en-US" sz="950" b="0" i="0">
                <a:solidFill>
                  <a:srgbClr val="5D6C7B"/>
                </a:solidFill>
                <a:latin typeface="Calibri"/>
                <a:ea typeface="Calibri"/>
                <a:cs typeface="Calibri"/>
              </a:rPr>
              <a:t>&lt;Fill here&gt; = a blank you must fill · &lt;Add more if you want&gt; = optional</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scripts/part2/problem/configs/</a:t>
            </a:r>
          </a:p>
          <a:p>
            <a:pPr algn="l">
              <a:lnSpc>
                <a:spcPct val="100000"/>
              </a:lnSpc>
              <a:spcBef>
                <a:spcPts val="0"/>
              </a:spcBef>
              <a:spcAft>
                <a:spcPts val="0"/>
              </a:spcAft>
              <a:buNone/>
            </a:pPr>
            <a:r>
              <a:rPr lang="en-US" sz="950" b="0" i="0">
                <a:solidFill>
                  <a:srgbClr val="FFFFFF"/>
                </a:solidFill>
                <a:latin typeface="Courier New"/>
                <a:ea typeface="Courier New"/>
                <a:cs typeface="Courier New"/>
              </a:rPr>
              <a:t>  single_agent/Agent.md</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Role and Objective</a:t>
            </a:r>
          </a:p>
          <a:p>
            <a:pPr algn="l">
              <a:spcBef>
                <a:spcPts val="0"/>
              </a:spcBef>
              <a:spcAft>
                <a:spcPts val="0"/>
              </a:spcAft>
              <a:buNone/>
            </a:pPr>
            <a:r>
              <a:rPr lang="en-US" sz="950" b="0" i="0">
                <a:solidFill>
                  <a:srgbClr val="5D6C7B"/>
                </a:solidFill>
                <a:latin typeface="Calibri"/>
                <a:ea typeface="Calibri"/>
                <a:cs typeface="Calibri"/>
              </a:rPr>
              <a:t>top of the file: say who the agent is (an expert …) and what it is given (the … specification)</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You are an &lt;Fill here&gt; ... for the given &lt;Fill here&gt;.</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expert ASIC design engineer.</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YAML specification</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Testbench: clock and reset</a:t>
            </a:r>
          </a:p>
          <a:p>
            <a:pPr algn="l">
              <a:spcBef>
                <a:spcPts val="0"/>
              </a:spcBef>
              <a:spcAft>
                <a:spcPts val="0"/>
              </a:spcAft>
              <a:buNone/>
            </a:pPr>
            <a:r>
              <a:rPr lang="en-US" sz="950" b="0" i="0">
                <a:solidFill>
                  <a:srgbClr val="5D6C7B"/>
                </a:solidFill>
                <a:latin typeface="Calibri"/>
                <a:ea typeface="Calibri"/>
                <a:cs typeface="Calibri"/>
              </a:rPr>
              <a:t>search for CLOCK &amp; RESET: say what to generate, and what to assert at time 0</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config.mk: start values</a:t>
            </a:r>
          </a:p>
          <a:p>
            <a:pPr algn="l">
              <a:spcBef>
                <a:spcPts val="0"/>
              </a:spcBef>
              <a:spcAft>
                <a:spcPts val="0"/>
              </a:spcAft>
              <a:buNone/>
            </a:pPr>
            <a:r>
              <a:rPr lang="en-US" sz="950" b="0" i="0">
                <a:solidFill>
                  <a:srgbClr val="5D6C7B"/>
                </a:solidFill>
                <a:latin typeface="Calibri"/>
                <a:ea typeface="Calibri"/>
                <a:cs typeface="Calibri"/>
              </a:rPr>
              <a:t>search for STARTING VALUES: one number per knob (see the knobs slide). Save the file</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it, then compare</a:t>
            </a:r>
          </a:p>
          <a:p>
            <a:pPr algn="l">
              <a:spcBef>
                <a:spcPts val="0"/>
              </a:spcBef>
              <a:spcAft>
                <a:spcPts val="0"/>
              </a:spcAft>
              <a:buNone/>
            </a:pPr>
            <a:r>
              <a:rPr lang="en-US" sz="950" b="0" i="0">
                <a:solidFill>
                  <a:srgbClr val="5D6C7B"/>
                </a:solidFill>
                <a:latin typeface="Calibri"/>
                <a:ea typeface="Calibri"/>
                <a:cs typeface="Calibri"/>
              </a:rPr>
              <a:t>inside the container, from /home/scripts/part2/problem. Golden: ../solution/configs/single_agent/Agent.md</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no &lt;Fill here&gt; left, and the log ends with  Agentic flow completed successfully  and a Final Score</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Generate a &lt;Fill here&gt;</a:t>
            </a:r>
          </a:p>
          <a:p>
            <a:pPr algn="l">
              <a:lnSpc>
                <a:spcPct val="100000"/>
              </a:lnSpc>
              <a:spcBef>
                <a:spcPts val="0"/>
              </a:spcBef>
              <a:spcAft>
                <a:spcPts val="0"/>
              </a:spcAft>
              <a:buNone/>
            </a:pPr>
            <a:r>
              <a:rPr lang="en-US" sz="880" b="0" i="0">
                <a:solidFill>
                  <a:srgbClr val="FFFFFF"/>
                </a:solidFill>
                <a:latin typeface="Courier New"/>
                <a:ea typeface="Courier New"/>
                <a:cs typeface="Courier New"/>
              </a:rPr>
              <a:t>Assert the &lt;Fill here&gt; at time 0 ...</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clock with the spec's clock_period · reset port</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CORE_UTILIZATION = &lt;Fill here&gt;   PLACE_DENSITY = &lt;Fill here&gt;</a:t>
            </a:r>
          </a:p>
          <a:p>
            <a:pPr algn="l">
              <a:lnSpc>
                <a:spcPct val="100000"/>
              </a:lnSpc>
              <a:spcBef>
                <a:spcPts val="0"/>
              </a:spcBef>
              <a:spcAft>
                <a:spcPts val="0"/>
              </a:spcAft>
              <a:buNone/>
            </a:pPr>
            <a:r>
              <a:rPr lang="en-US" sz="880" b="0" i="0">
                <a:solidFill>
                  <a:srgbClr val="FFFFFF"/>
                </a:solidFill>
                <a:latin typeface="Courier New"/>
                <a:ea typeface="Courier New"/>
                <a:cs typeface="Courier New"/>
              </a:rPr>
              <a:t>CORE_ASPECT_RATIO = &lt;Fill here&gt;  CORE_MARGIN = &lt;Fill here&gt;</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20 small / 50 · 0.55 · 1.0 · 1.0</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run_configs/2a_single_agent.yaml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pic>
        <p:nvPicPr>
          <p:cNvPr id="6" name="Picture 5" descr="Stopwatch on white background">
            <a:extLst>
              <a:ext uri="{FF2B5EF4-FFF2-40B4-BE49-F238E27FC236}">
                <a16:creationId xmlns:a16="http://schemas.microsoft.com/office/drawing/2014/main" id="{4B791BC5-4D6D-5ECC-D7D3-1B974443B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2 – overview: four ways to run the flow</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55</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417461439"/>
              </p:ext>
            </p:extLst>
          </p:nvPr>
        </p:nvGraphicFramePr>
        <p:xfrm>
          <a:off x="412375" y="1376678"/>
          <a:ext cx="8435790" cy="4178127"/>
        </p:xfrm>
        <a:graphic>
          <a:graphicData uri="http://schemas.openxmlformats.org/drawingml/2006/table">
            <a:tbl>
              <a:tblPr firstRow="1" bandRow="1">
                <a:tableStyleId>{3C2FFA5D-87B4-456A-9821-1D502468CF0F}</a:tableStyleId>
              </a:tblPr>
              <a:tblGrid>
                <a:gridCol w="1737360">
                  <a:extLst>
                    <a:ext uri="{9D8B030D-6E8A-4147-A177-3AD203B41FA5}">
                      <a16:colId xmlns:a16="http://schemas.microsoft.com/office/drawing/2014/main" val="2743157295"/>
                    </a:ext>
                  </a:extLst>
                </a:gridCol>
                <a:gridCol w="3657600">
                  <a:extLst>
                    <a:ext uri="{9D8B030D-6E8A-4147-A177-3AD203B41FA5}">
                      <a16:colId xmlns:a16="http://schemas.microsoft.com/office/drawing/2014/main" val="3671494132"/>
                    </a:ext>
                  </a:extLst>
                </a:gridCol>
                <a:gridCol w="30408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Task</a:t>
                      </a:r>
                    </a:p>
                  </a:txBody>
                  <a:tcPr anchor="ctr"/>
                </a:tc>
                <a:tc>
                  <a:txBody>
                    <a:bodyPr/>
                    <a:lstStyle/>
                    <a:p>
                      <a:pPr algn="ctr"/>
                      <a:r>
                        <a:rPr lang="en-US" sz="2000">
                          <a:solidFill>
                            <a:schemeClr val="bg1"/>
                          </a:solidFill>
                        </a:rPr>
                        <a:t>Agents &amp; models</a:t>
                      </a:r>
                    </a:p>
                  </a:txBody>
                  <a:tcPr anchor="ctr"/>
                </a:tc>
                <a:tc>
                  <a:txBody>
                    <a:bodyPr/>
                    <a:lstStyle/>
                    <a:p>
                      <a:pPr algn="ctr"/>
                      <a:r>
                        <a:rPr lang="en-US" sz="2000">
                          <a:solidFill>
                            <a:schemeClr val="bg1"/>
                          </a:solidFill>
                        </a:rPr>
                        <a:t>What to look for?</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2.1  Single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1 agent writes TB + RTL + SDC + config.mk · Gemini Flash Lite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Which stages fail? Runtime?</a:t>
                      </a:r>
                    </a:p>
                  </a:txBody>
                  <a:tcPr anchor="ctr"/>
                </a:tc>
                <a:extLst>
                  <a:ext uri="{0D108BD9-81ED-4DB2-BD59-A6C34878D82A}">
                    <a16:rowId xmlns:a16="http://schemas.microsoft.com/office/drawing/2014/main" val="666777034"/>
                  </a:ext>
                </a:extLst>
              </a:tr>
              <a:tr h="791083">
                <a:tc>
                  <a:txBody>
                    <a:bodyPr/>
                    <a:lstStyle/>
                    <a:p>
                      <a:r>
                        <a:rPr lang="en-US" b="1">
                          <a:solidFill>
                            <a:srgbClr val="FFFFFF"/>
                          </a:solidFill>
                        </a:rPr>
                        <a:t>Task 2.2  Multi-agent</a:t>
                      </a:r>
                    </a:p>
                  </a:txBody>
                  <a:tcPr anchor="ctr">
                    <a:solidFill>
                      <a:srgbClr val="0E274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u="none" strike="noStrike" cap="none">
                          <a:solidFill>
                            <a:srgbClr val="FFFFFF"/>
                          </a:solidFill>
                          <a:sym typeface="Arial"/>
                        </a:rPr>
                        <a:t>TB, RTL, SDC, config.mk agents · all Gemini Flash Lite</a:t>
                      </a:r>
                    </a:p>
                  </a:txBody>
                  <a:tcPr anchor="ctr">
                    <a:solidFill>
                      <a:srgbClr val="0E2745"/>
                    </a:solidFill>
                  </a:tcPr>
                </a:tc>
                <a:tc>
                  <a:txBody>
                    <a:bodyPr/>
                    <a:lstStyle/>
                    <a:p>
                      <a:pPr lvl="0" algn="ctr">
                        <a:lnSpc>
                          <a:spcPct val="115000"/>
                        </a:lnSpc>
                        <a:buClr>
                          <a:srgbClr val="FFFFFF"/>
                        </a:buClr>
                        <a:buSzPts val="1344"/>
                      </a:pPr>
                      <a:r>
                        <a:rPr lang="en-US" sz="1400" b="1">
                          <a:solidFill>
                            <a:srgbClr val="FFFFFF"/>
                          </a:solidFill>
                          <a:sym typeface="Roboto"/>
                        </a:rPr>
                        <a:t>Iterations per stage and tokens vs Task 2.1</a:t>
                      </a:r>
                    </a:p>
                  </a:txBody>
                  <a:tcPr anchor="ctr">
                    <a:solidFill>
                      <a:srgbClr val="0E2745"/>
                    </a:solidFill>
                  </a:tcPr>
                </a:tc>
                <a:extLst>
                  <a:ext uri="{0D108BD9-81ED-4DB2-BD59-A6C34878D82A}">
                    <a16:rowId xmlns:a16="http://schemas.microsoft.com/office/drawing/2014/main" val="1045036667"/>
                  </a:ext>
                </a:extLst>
              </a:tr>
              <a:tr h="1013795">
                <a:tc>
                  <a:txBody>
                    <a:bodyPr/>
                    <a:lstStyle/>
                    <a:p>
                      <a:r>
                        <a:rPr lang="en-US" b="1">
                          <a:solidFill>
                            <a:schemeClr val="tx1"/>
                          </a:solidFill>
                        </a:rPr>
                        <a:t>Task 2.3  Hybrid models</a:t>
                      </a:r>
                    </a:p>
                  </a:txBody>
                  <a:tcPr anchor="ctr"/>
                </a:tc>
                <a:tc>
                  <a:txBody>
                    <a:bodyPr/>
                    <a:lstStyle/>
                    <a:p>
                      <a:pPr lvl="0" algn="ctr">
                        <a:buClr>
                          <a:srgbClr val="FFFFFF"/>
                        </a:buClr>
                        <a:buSzPts val="1344"/>
                      </a:pPr>
                      <a:r>
                        <a:rPr lang="en-US" sz="1400">
                          <a:solidFill>
                            <a:schemeClr val="tx1"/>
                          </a:solidFill>
                          <a:sym typeface="Roboto"/>
                        </a:rPr>
                        <a:t>TB + RTL: Gemini Lite (cloud) · SDC + config.mk: llama3.1 (local)</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Can a local SLM handle the template tasks?</a:t>
                      </a:r>
                    </a:p>
                  </a:txBody>
                  <a:tcPr anchor="ctr"/>
                </a:tc>
                <a:extLst>
                  <a:ext uri="{0D108BD9-81ED-4DB2-BD59-A6C34878D82A}">
                    <a16:rowId xmlns:a16="http://schemas.microsoft.com/office/drawing/2014/main" val="3344965393"/>
                  </a:ext>
                </a:extLst>
              </a:tr>
              <a:tr h="791083">
                <a:tc>
                  <a:txBody>
                    <a:bodyPr/>
                    <a:lstStyle/>
                    <a:p>
                      <a:r>
                        <a:rPr lang="en-US" b="1">
                          <a:solidFill>
                            <a:schemeClr val="tx1"/>
                          </a:solidFill>
                        </a:rPr>
                        <a:t>Task 2.4  + Validators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As Task 2.3 + TB and RTL validator agents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Bugs caught earlier? Worth the extra tokens?</a:t>
                      </a:r>
                    </a:p>
                  </a:txBody>
                  <a:tcPr anchor="ctr"/>
                </a:tc>
                <a:extLst>
                  <a:ext uri="{0D108BD9-81ED-4DB2-BD59-A6C34878D82A}">
                    <a16:rowId xmlns:a16="http://schemas.microsoft.com/office/drawing/2014/main" val="315752704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All runs: </a:t>
            </a:r>
            <a:r>
              <a:rPr sz="1275" b="0" err="1">
                <a:solidFill>
                  <a:srgbClr val="506573"/>
                </a:solidFill>
                <a:latin typeface="Arial"/>
                <a:ea typeface="Arial"/>
                <a:cs typeface="Arial"/>
              </a:rPr>
              <a:t>iterative_optimization</a:t>
            </a:r>
            <a:r>
              <a:rPr sz="1275" b="0">
                <a:solidFill>
                  <a:srgbClr val="506573"/>
                </a:solidFill>
                <a:latin typeface="Arial"/>
                <a:ea typeface="Arial"/>
                <a:cs typeface="Arial"/>
              </a:rPr>
              <a:t> = false, </a:t>
            </a:r>
            <a:r>
              <a:rPr sz="1275" b="0" err="1">
                <a:solidFill>
                  <a:srgbClr val="506573"/>
                </a:solidFill>
                <a:latin typeface="Arial"/>
                <a:ea typeface="Arial"/>
                <a:cs typeface="Arial"/>
              </a:rPr>
              <a:t>enable_resynthesis</a:t>
            </a:r>
            <a:r>
              <a:rPr sz="1275" b="0">
                <a:solidFill>
                  <a:srgbClr val="506573"/>
                </a:solidFill>
                <a:latin typeface="Arial"/>
                <a:ea typeface="Arial"/>
                <a:cs typeface="Arial"/>
              </a:rPr>
              <a:t> = false. Run from </a:t>
            </a:r>
            <a:r>
              <a:rPr sz="1100" b="0">
                <a:solidFill>
                  <a:srgbClr val="506573"/>
                </a:solidFill>
                <a:latin typeface="Courier New" panose="02070309020205020404" pitchFamily="49" charset="0"/>
                <a:ea typeface="Arial"/>
                <a:cs typeface="Courier New" panose="02070309020205020404" pitchFamily="49" charset="0"/>
              </a:rPr>
              <a:t>part2/problem</a:t>
            </a:r>
            <a:r>
              <a:rPr sz="1275" b="0">
                <a:solidFill>
                  <a:srgbClr val="506573"/>
                </a:solidFill>
                <a:latin typeface="Arial"/>
                <a:ea typeface="Arial"/>
                <a:cs typeface="Arial"/>
              </a:rPr>
              <a:t>:  python3 </a:t>
            </a:r>
            <a:r>
              <a:rPr sz="1200" b="0">
                <a:solidFill>
                  <a:srgbClr val="506573"/>
                </a:solidFill>
                <a:latin typeface="Courier New" panose="02070309020205020404" pitchFamily="49" charset="0"/>
                <a:ea typeface="Arial"/>
                <a:cs typeface="Courier New" panose="02070309020205020404" pitchFamily="49" charset="0"/>
              </a:rPr>
              <a:t>asic_autonomous_flow.py --config </a:t>
            </a:r>
            <a:r>
              <a:rPr sz="1200" b="0" err="1">
                <a:solidFill>
                  <a:srgbClr val="506573"/>
                </a:solidFill>
                <a:latin typeface="Courier New" panose="02070309020205020404" pitchFamily="49" charset="0"/>
                <a:ea typeface="Arial"/>
                <a:cs typeface="Courier New" panose="02070309020205020404" pitchFamily="49" charset="0"/>
              </a:rPr>
              <a:t>run_configs</a:t>
            </a:r>
            <a:r>
              <a:rPr sz="1200" b="0">
                <a:solidFill>
                  <a:srgbClr val="506573"/>
                </a:solidFill>
                <a:latin typeface="Courier New" panose="02070309020205020404" pitchFamily="49" charset="0"/>
                <a:ea typeface="Arial"/>
                <a:cs typeface="Courier New" panose="02070309020205020404" pitchFamily="49" charset="0"/>
              </a:rPr>
              <a:t>/&lt;run&gt;.</a:t>
            </a:r>
            <a:r>
              <a:rPr sz="1200" b="0" err="1">
                <a:solidFill>
                  <a:srgbClr val="506573"/>
                </a:solidFill>
                <a:latin typeface="Courier New" panose="02070309020205020404" pitchFamily="49" charset="0"/>
                <a:ea typeface="Arial"/>
                <a:cs typeface="Courier New" panose="02070309020205020404" pitchFamily="49" charset="0"/>
              </a:rPr>
              <a:t>yaml</a:t>
            </a:r>
            <a:endParaRPr sz="1200" b="0">
              <a:solidFill>
                <a:srgbClr val="506573"/>
              </a:solidFill>
              <a:latin typeface="Courier New" panose="02070309020205020404" pitchFamily="49" charset="0"/>
              <a:ea typeface="Arial"/>
              <a:cs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2A10-09EA-6897-F250-4B5F3B468860}"/>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F92753B-22DC-8566-3D7B-CAA257E80959}"/>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2CA9928-7406-58C9-F7CB-76A23FD35DA2}"/>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0D4D2229-9490-42C5-5F4C-51EBDD459B53}"/>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Tasks 2.2 to 2.4 – Spec2Tapeout with multiple agents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0F24EC9C-C4A1-66E2-0F34-DAA527674596}"/>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1FD8B2DF-D8F7-AB9E-44ED-54E7BBD32C0B}"/>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56</a:t>
            </a:fld>
            <a:endParaRPr sz="750" b="0">
              <a:solidFill>
                <a:srgbClr val="5B6573"/>
              </a:solidFill>
              <a:latin typeface="Calibri"/>
              <a:ea typeface="Calibri"/>
              <a:cs typeface="Calibri"/>
            </a:endParaRPr>
          </a:p>
        </p:txBody>
      </p:sp>
      <p:sp>
        <p:nvSpPr>
          <p:cNvPr id="77" name="hybrid message"/>
          <p:cNvSpPr/>
          <p:nvPr/>
        </p:nvSpPr>
        <p:spPr>
          <a:xfrm>
            <a:off x="493776" y="1005840"/>
            <a:ext cx="8138160" cy="685800"/>
          </a:xfrm>
          <a:prstGeom prst="roundRect">
            <a:avLst>
              <a:gd name="adj" fmla="val 8000"/>
            </a:avLst>
          </a:prstGeom>
          <a:solidFill>
            <a:srgbClr val="0E2745"/>
          </a:solidFill>
          <a:ln>
            <a:noFill/>
          </a:ln>
        </p:spPr>
        <p:txBody>
          <a:bodyPr wrap="square" lIns="73152" tIns="73152" rIns="73152" bIns="73152" anchor="ctr">
            <a:normAutofit/>
          </a:bodyPr>
          <a:lstStyle/>
          <a:p>
            <a:pPr algn="ctr">
              <a:spcBef>
                <a:spcPts val="0"/>
              </a:spcBef>
              <a:spcAft>
                <a:spcPts val="0"/>
              </a:spcAft>
              <a:buNone/>
            </a:pPr>
            <a:r>
              <a:rPr lang="en-US" sz="1100" b="1" i="0">
                <a:solidFill>
                  <a:srgbClr val="FFC000"/>
                </a:solidFill>
                <a:latin typeface="Calibri"/>
                <a:ea typeface="Calibri"/>
                <a:cs typeface="Calibri"/>
              </a:rPr>
              <a:t>Task 2.2: </a:t>
            </a:r>
            <a:r>
              <a:rPr lang="en-US" sz="1100" b="1" i="0">
                <a:solidFill>
                  <a:srgbClr val="FFFFFF"/>
                </a:solidFill>
                <a:latin typeface="Calibri"/>
                <a:ea typeface="Calibri"/>
                <a:cs typeface="Calibri"/>
              </a:rPr>
              <a:t>one agent per file, all on Gemini Flash Lite   ·   </a:t>
            </a:r>
            <a:r>
              <a:rPr lang="en-US" sz="1100" b="1" i="0">
                <a:solidFill>
                  <a:srgbClr val="FFC000"/>
                </a:solidFill>
                <a:latin typeface="Calibri"/>
                <a:ea typeface="Calibri"/>
                <a:cs typeface="Calibri"/>
              </a:rPr>
              <a:t>Task 2.3 (hybrid): </a:t>
            </a:r>
            <a:r>
              <a:rPr lang="en-US" sz="1100" b="1" i="0">
                <a:solidFill>
                  <a:srgbClr val="FFFFFF"/>
                </a:solidFill>
                <a:latin typeface="Calibri"/>
                <a:ea typeface="Calibri"/>
                <a:cs typeface="Calibri"/>
              </a:rPr>
              <a:t>same agents, template tasks on a local SLM</a:t>
            </a:r>
          </a:p>
        </p:txBody>
      </p:sp>
      <p:sp>
        <p:nvSpPr>
          <p:cNvPr id="78" name="TB agent box"/>
          <p:cNvSpPr/>
          <p:nvPr/>
        </p:nvSpPr>
        <p:spPr>
          <a:xfrm>
            <a:off x="493776" y="2697480"/>
            <a:ext cx="1874519" cy="548640"/>
          </a:xfrm>
          <a:prstGeom prst="roundRect">
            <a:avLst>
              <a:gd name="adj" fmla="val 15000"/>
            </a:avLst>
          </a:prstGeom>
          <a:solidFill>
            <a:srgbClr val="E6EEF7"/>
          </a:solidFill>
          <a:ln w="12700">
            <a:solidFill>
              <a:srgbClr val="4F81BD"/>
            </a:solidFill>
          </a:ln>
        </p:spPr>
        <p:txBody>
          <a:bodyPr wrap="square" lIns="73152" tIns="73152" rIns="73152" bIns="73152" anchor="ctr">
            <a:normAutofit/>
          </a:bodyPr>
          <a:lstStyle/>
          <a:p>
            <a:pPr algn="ctr">
              <a:spcAft>
                <a:spcPts val="0"/>
              </a:spcAft>
              <a:buNone/>
            </a:pPr>
            <a:r>
              <a:rPr lang="en-US" sz="1400" b="1" i="0">
                <a:solidFill>
                  <a:srgbClr val="0E2745"/>
                </a:solidFill>
                <a:latin typeface="Calibri"/>
                <a:ea typeface="Calibri"/>
                <a:cs typeface="Calibri"/>
              </a:rPr>
              <a:t>TB agent</a:t>
            </a:r>
          </a:p>
        </p:txBody>
      </p:sp>
      <p:sp>
        <p:nvSpPr>
          <p:cNvPr id="79" name="TB agent model"/>
          <p:cNvSpPr txBox="1"/>
          <p:nvPr/>
        </p:nvSpPr>
        <p:spPr>
          <a:xfrm>
            <a:off x="493776" y="3310128"/>
            <a:ext cx="1874519" cy="502920"/>
          </a:xfrm>
          <a:prstGeom prst="rect">
            <a:avLst/>
          </a:prstGeom>
          <a:noFill/>
          <a:ln>
            <a:noFill/>
          </a:ln>
        </p:spPr>
        <p:txBody>
          <a:bodyPr wrap="square" lIns="18288" tIns="18288" rIns="18288" bIns="18288" anchor="t">
            <a:normAutofit/>
          </a:bodyPr>
          <a:lstStyle/>
          <a:p>
            <a:pPr algn="ctr">
              <a:spcAft>
                <a:spcPts val="0"/>
              </a:spcAft>
              <a:buNone/>
            </a:pPr>
            <a:r>
              <a:rPr lang="en-US" sz="1200" b="1" i="0">
                <a:solidFill>
                  <a:srgbClr val="B91F2D"/>
                </a:solidFill>
                <a:latin typeface="Calibri"/>
                <a:ea typeface="Calibri"/>
                <a:cs typeface="Calibri"/>
              </a:rPr>
              <a:t>Gemini Flash Lite</a:t>
            </a:r>
          </a:p>
          <a:p>
            <a:pPr algn="ctr">
              <a:spcAft>
                <a:spcPts val="0"/>
              </a:spcAft>
              <a:buNone/>
            </a:pPr>
            <a:r>
              <a:rPr lang="en-US" sz="1050" b="0" i="0">
                <a:solidFill>
                  <a:srgbClr val="5D6C7B"/>
                </a:solidFill>
                <a:latin typeface="Calibri"/>
                <a:ea typeface="Calibri"/>
                <a:cs typeface="Calibri"/>
              </a:rPr>
              <a:t>cloud LLM</a:t>
            </a:r>
          </a:p>
        </p:txBody>
      </p:sp>
      <p:sp>
        <p:nvSpPr>
          <p:cNvPr id="80" name="RTL agent box"/>
          <p:cNvSpPr/>
          <p:nvPr/>
        </p:nvSpPr>
        <p:spPr>
          <a:xfrm>
            <a:off x="2569464" y="2697480"/>
            <a:ext cx="1874519" cy="548640"/>
          </a:xfrm>
          <a:prstGeom prst="roundRect">
            <a:avLst>
              <a:gd name="adj" fmla="val 15000"/>
            </a:avLst>
          </a:prstGeom>
          <a:solidFill>
            <a:srgbClr val="E6EEF7"/>
          </a:solidFill>
          <a:ln w="12700">
            <a:solidFill>
              <a:srgbClr val="4F81BD"/>
            </a:solidFill>
          </a:ln>
        </p:spPr>
        <p:txBody>
          <a:bodyPr wrap="square" lIns="73152" tIns="73152" rIns="73152" bIns="73152" anchor="ctr">
            <a:normAutofit/>
          </a:bodyPr>
          <a:lstStyle/>
          <a:p>
            <a:pPr algn="ctr">
              <a:spcAft>
                <a:spcPts val="0"/>
              </a:spcAft>
              <a:buNone/>
            </a:pPr>
            <a:r>
              <a:rPr lang="en-US" sz="1400" b="1" i="0">
                <a:solidFill>
                  <a:srgbClr val="0E2745"/>
                </a:solidFill>
                <a:latin typeface="Calibri"/>
                <a:ea typeface="Calibri"/>
                <a:cs typeface="Calibri"/>
              </a:rPr>
              <a:t>RTL agent</a:t>
            </a:r>
          </a:p>
        </p:txBody>
      </p:sp>
      <p:sp>
        <p:nvSpPr>
          <p:cNvPr id="81" name="RTL agent model"/>
          <p:cNvSpPr txBox="1"/>
          <p:nvPr/>
        </p:nvSpPr>
        <p:spPr>
          <a:xfrm>
            <a:off x="2569464" y="3310128"/>
            <a:ext cx="1874519" cy="502920"/>
          </a:xfrm>
          <a:prstGeom prst="rect">
            <a:avLst/>
          </a:prstGeom>
          <a:noFill/>
          <a:ln>
            <a:noFill/>
          </a:ln>
        </p:spPr>
        <p:txBody>
          <a:bodyPr wrap="square" lIns="18288" tIns="18288" rIns="18288" bIns="18288" anchor="t">
            <a:normAutofit/>
          </a:bodyPr>
          <a:lstStyle/>
          <a:p>
            <a:pPr algn="ctr">
              <a:spcAft>
                <a:spcPts val="0"/>
              </a:spcAft>
              <a:buNone/>
            </a:pPr>
            <a:r>
              <a:rPr lang="en-US" sz="1200" b="1" i="0">
                <a:solidFill>
                  <a:srgbClr val="B91F2D"/>
                </a:solidFill>
                <a:latin typeface="Calibri"/>
                <a:ea typeface="Calibri"/>
                <a:cs typeface="Calibri"/>
              </a:rPr>
              <a:t>Gemini Flash Lite</a:t>
            </a:r>
          </a:p>
          <a:p>
            <a:pPr algn="ctr">
              <a:spcAft>
                <a:spcPts val="0"/>
              </a:spcAft>
              <a:buNone/>
            </a:pPr>
            <a:r>
              <a:rPr lang="en-US" sz="1050" b="0" i="0">
                <a:solidFill>
                  <a:srgbClr val="5D6C7B"/>
                </a:solidFill>
                <a:latin typeface="Calibri"/>
                <a:ea typeface="Calibri"/>
                <a:cs typeface="Calibri"/>
              </a:rPr>
              <a:t>cloud LLM</a:t>
            </a:r>
          </a:p>
        </p:txBody>
      </p:sp>
      <p:sp>
        <p:nvSpPr>
          <p:cNvPr id="82" name="SDC agent box"/>
          <p:cNvSpPr/>
          <p:nvPr/>
        </p:nvSpPr>
        <p:spPr>
          <a:xfrm>
            <a:off x="4645152" y="2697480"/>
            <a:ext cx="1874519" cy="548640"/>
          </a:xfrm>
          <a:prstGeom prst="roundRect">
            <a:avLst>
              <a:gd name="adj" fmla="val 15000"/>
            </a:avLst>
          </a:prstGeom>
          <a:solidFill>
            <a:srgbClr val="E6EEF7"/>
          </a:solidFill>
          <a:ln w="12700">
            <a:solidFill>
              <a:srgbClr val="4F81BD"/>
            </a:solidFill>
          </a:ln>
        </p:spPr>
        <p:txBody>
          <a:bodyPr wrap="square" lIns="73152" tIns="73152" rIns="73152" bIns="73152" anchor="ctr">
            <a:normAutofit/>
          </a:bodyPr>
          <a:lstStyle/>
          <a:p>
            <a:pPr algn="ctr">
              <a:spcAft>
                <a:spcPts val="0"/>
              </a:spcAft>
              <a:buNone/>
            </a:pPr>
            <a:r>
              <a:rPr lang="en-US" sz="1400" b="1" i="0">
                <a:solidFill>
                  <a:srgbClr val="0E2745"/>
                </a:solidFill>
                <a:latin typeface="Calibri"/>
                <a:ea typeface="Calibri"/>
                <a:cs typeface="Calibri"/>
              </a:rPr>
              <a:t>SDC agent</a:t>
            </a:r>
          </a:p>
        </p:txBody>
      </p:sp>
      <p:sp>
        <p:nvSpPr>
          <p:cNvPr id="83" name="SDC agent model"/>
          <p:cNvSpPr txBox="1"/>
          <p:nvPr/>
        </p:nvSpPr>
        <p:spPr>
          <a:xfrm>
            <a:off x="4645152" y="3310128"/>
            <a:ext cx="1874519" cy="502920"/>
          </a:xfrm>
          <a:prstGeom prst="rect">
            <a:avLst/>
          </a:prstGeom>
          <a:noFill/>
          <a:ln>
            <a:noFill/>
          </a:ln>
        </p:spPr>
        <p:txBody>
          <a:bodyPr wrap="square" lIns="18288" tIns="18288" rIns="18288" bIns="18288" anchor="t">
            <a:normAutofit/>
          </a:bodyPr>
          <a:lstStyle/>
          <a:p>
            <a:pPr algn="ctr">
              <a:spcAft>
                <a:spcPts val="0"/>
              </a:spcAft>
              <a:buNone/>
            </a:pPr>
            <a:r>
              <a:rPr lang="en-US" sz="1200" b="1" i="0">
                <a:solidFill>
                  <a:srgbClr val="2E8B57"/>
                </a:solidFill>
                <a:latin typeface="Calibri"/>
                <a:ea typeface="Calibri"/>
                <a:cs typeface="Calibri"/>
              </a:rPr>
              <a:t>llama3.1</a:t>
            </a:r>
          </a:p>
          <a:p>
            <a:pPr algn="ctr">
              <a:spcAft>
                <a:spcPts val="0"/>
              </a:spcAft>
              <a:buNone/>
            </a:pPr>
            <a:r>
              <a:rPr lang="en-US" sz="1050" b="0" i="0">
                <a:solidFill>
                  <a:srgbClr val="5D6C7B"/>
                </a:solidFill>
                <a:latin typeface="Calibri"/>
                <a:ea typeface="Calibri"/>
                <a:cs typeface="Calibri"/>
              </a:rPr>
              <a:t>local SLM</a:t>
            </a:r>
          </a:p>
        </p:txBody>
      </p:sp>
      <p:sp>
        <p:nvSpPr>
          <p:cNvPr id="84" name="config.mk agent box"/>
          <p:cNvSpPr/>
          <p:nvPr/>
        </p:nvSpPr>
        <p:spPr>
          <a:xfrm>
            <a:off x="6720840" y="2697480"/>
            <a:ext cx="1874519" cy="548640"/>
          </a:xfrm>
          <a:prstGeom prst="roundRect">
            <a:avLst>
              <a:gd name="adj" fmla="val 15000"/>
            </a:avLst>
          </a:prstGeom>
          <a:solidFill>
            <a:srgbClr val="E6EEF7"/>
          </a:solidFill>
          <a:ln w="12700">
            <a:solidFill>
              <a:srgbClr val="4F81BD"/>
            </a:solidFill>
          </a:ln>
        </p:spPr>
        <p:txBody>
          <a:bodyPr wrap="square" lIns="73152" tIns="73152" rIns="73152" bIns="73152" anchor="ctr">
            <a:normAutofit/>
          </a:bodyPr>
          <a:lstStyle/>
          <a:p>
            <a:pPr algn="ctr">
              <a:spcAft>
                <a:spcPts val="0"/>
              </a:spcAft>
              <a:buNone/>
            </a:pPr>
            <a:r>
              <a:rPr lang="en-US" sz="1400" b="1" i="0">
                <a:solidFill>
                  <a:srgbClr val="0E2745"/>
                </a:solidFill>
                <a:latin typeface="Calibri"/>
                <a:ea typeface="Calibri"/>
                <a:cs typeface="Calibri"/>
              </a:rPr>
              <a:t>config.mk agent</a:t>
            </a:r>
          </a:p>
        </p:txBody>
      </p:sp>
      <p:sp>
        <p:nvSpPr>
          <p:cNvPr id="85" name="config.mk agent model"/>
          <p:cNvSpPr txBox="1"/>
          <p:nvPr/>
        </p:nvSpPr>
        <p:spPr>
          <a:xfrm>
            <a:off x="6720840" y="3310128"/>
            <a:ext cx="1874519" cy="502920"/>
          </a:xfrm>
          <a:prstGeom prst="rect">
            <a:avLst/>
          </a:prstGeom>
          <a:noFill/>
          <a:ln>
            <a:noFill/>
          </a:ln>
        </p:spPr>
        <p:txBody>
          <a:bodyPr wrap="square" lIns="18288" tIns="18288" rIns="18288" bIns="18288" anchor="t">
            <a:normAutofit/>
          </a:bodyPr>
          <a:lstStyle/>
          <a:p>
            <a:pPr algn="ctr">
              <a:spcAft>
                <a:spcPts val="0"/>
              </a:spcAft>
              <a:buNone/>
            </a:pPr>
            <a:r>
              <a:rPr lang="en-US" sz="1200" b="1" i="0">
                <a:solidFill>
                  <a:srgbClr val="2E8B57"/>
                </a:solidFill>
                <a:latin typeface="Calibri"/>
                <a:ea typeface="Calibri"/>
                <a:cs typeface="Calibri"/>
              </a:rPr>
              <a:t>llama3.1</a:t>
            </a:r>
          </a:p>
          <a:p>
            <a:pPr algn="ctr">
              <a:spcAft>
                <a:spcPts val="0"/>
              </a:spcAft>
              <a:buNone/>
            </a:pPr>
            <a:r>
              <a:rPr lang="en-US" sz="1050" b="0" i="0">
                <a:solidFill>
                  <a:srgbClr val="5D6C7B"/>
                </a:solidFill>
                <a:latin typeface="Calibri"/>
                <a:ea typeface="Calibri"/>
                <a:cs typeface="Calibri"/>
              </a:rPr>
              <a:t>local SLM</a:t>
            </a:r>
          </a:p>
        </p:txBody>
      </p:sp>
      <p:sp>
        <p:nvSpPr>
          <p:cNvPr id="86" name="TB validator (2d)"/>
          <p:cNvSpPr/>
          <p:nvPr/>
        </p:nvSpPr>
        <p:spPr>
          <a:xfrm>
            <a:off x="493776" y="1874519"/>
            <a:ext cx="1874519" cy="457200"/>
          </a:xfrm>
          <a:prstGeom prst="roundRect">
            <a:avLst>
              <a:gd name="adj" fmla="val 15000"/>
            </a:avLst>
          </a:prstGeom>
          <a:solidFill>
            <a:srgbClr val="FBEAEC"/>
          </a:solidFill>
          <a:ln w="12700">
            <a:solidFill>
              <a:srgbClr val="B91F2D"/>
            </a:solidFill>
          </a:ln>
        </p:spPr>
        <p:txBody>
          <a:bodyPr wrap="square" lIns="73152" tIns="73152" rIns="73152" bIns="73152" anchor="ctr">
            <a:normAutofit/>
          </a:bodyPr>
          <a:lstStyle/>
          <a:p>
            <a:pPr algn="ctr">
              <a:spcAft>
                <a:spcPts val="0"/>
              </a:spcAft>
              <a:buNone/>
            </a:pPr>
            <a:r>
              <a:rPr lang="en-US" sz="1200" b="1" i="0">
                <a:solidFill>
                  <a:srgbClr val="B91F2D"/>
                </a:solidFill>
                <a:latin typeface="Calibri"/>
                <a:ea typeface="Calibri"/>
                <a:cs typeface="Calibri"/>
              </a:rPr>
              <a:t>TB validator (Task 2.4)</a:t>
            </a:r>
          </a:p>
        </p:txBody>
      </p:sp>
      <p:sp>
        <p:nvSpPr>
          <p:cNvPr id="87" name="TB validator (2d) arrow"/>
          <p:cNvSpPr/>
          <p:nvPr/>
        </p:nvSpPr>
        <p:spPr>
          <a:xfrm>
            <a:off x="1344168" y="2350008"/>
            <a:ext cx="182880" cy="320040"/>
          </a:xfrm>
          <a:prstGeom prst="downArrow">
            <a:avLst/>
          </a:prstGeom>
          <a:solidFill>
            <a:srgbClr val="B91F2D"/>
          </a:solidFill>
          <a:ln>
            <a:noFill/>
          </a:ln>
        </p:spPr>
        <p:txBody>
          <a:bodyPr/>
          <a:lstStyle/>
          <a:p>
            <a:endParaRPr lang="en-US"/>
          </a:p>
        </p:txBody>
      </p:sp>
      <p:sp>
        <p:nvSpPr>
          <p:cNvPr id="88" name="RTL validator (2d)"/>
          <p:cNvSpPr/>
          <p:nvPr/>
        </p:nvSpPr>
        <p:spPr>
          <a:xfrm>
            <a:off x="2569464" y="1874519"/>
            <a:ext cx="1874519" cy="457200"/>
          </a:xfrm>
          <a:prstGeom prst="roundRect">
            <a:avLst>
              <a:gd name="adj" fmla="val 15000"/>
            </a:avLst>
          </a:prstGeom>
          <a:solidFill>
            <a:srgbClr val="FBEAEC"/>
          </a:solidFill>
          <a:ln w="12700">
            <a:solidFill>
              <a:srgbClr val="B91F2D"/>
            </a:solidFill>
          </a:ln>
        </p:spPr>
        <p:txBody>
          <a:bodyPr wrap="square" lIns="73152" tIns="73152" rIns="73152" bIns="73152" anchor="ctr">
            <a:normAutofit/>
          </a:bodyPr>
          <a:lstStyle/>
          <a:p>
            <a:pPr algn="ctr">
              <a:spcAft>
                <a:spcPts val="0"/>
              </a:spcAft>
              <a:buNone/>
            </a:pPr>
            <a:r>
              <a:rPr lang="en-US" sz="1200" b="1" i="0">
                <a:solidFill>
                  <a:srgbClr val="B91F2D"/>
                </a:solidFill>
                <a:latin typeface="Calibri"/>
                <a:ea typeface="Calibri"/>
                <a:cs typeface="Calibri"/>
              </a:rPr>
              <a:t>RTL validator (Task 2.4)</a:t>
            </a:r>
          </a:p>
        </p:txBody>
      </p:sp>
      <p:sp>
        <p:nvSpPr>
          <p:cNvPr id="89" name="RTL validator (2d) arrow"/>
          <p:cNvSpPr/>
          <p:nvPr/>
        </p:nvSpPr>
        <p:spPr>
          <a:xfrm>
            <a:off x="3419856" y="2350008"/>
            <a:ext cx="182880" cy="320040"/>
          </a:xfrm>
          <a:prstGeom prst="downArrow">
            <a:avLst/>
          </a:prstGeom>
          <a:solidFill>
            <a:srgbClr val="B91F2D"/>
          </a:solidFill>
          <a:ln>
            <a:noFill/>
          </a:ln>
        </p:spPr>
        <p:txBody>
          <a:bodyPr/>
          <a:lstStyle/>
          <a:p>
            <a:endParaRPr lang="en-US"/>
          </a:p>
        </p:txBody>
      </p:sp>
      <p:sp>
        <p:nvSpPr>
          <p:cNvPr id="90" name="hybrid note"/>
          <p:cNvSpPr txBox="1"/>
          <p:nvPr/>
        </p:nvSpPr>
        <p:spPr>
          <a:xfrm>
            <a:off x="493776" y="3931920"/>
            <a:ext cx="8138160" cy="502920"/>
          </a:xfrm>
          <a:prstGeom prst="rect">
            <a:avLst/>
          </a:prstGeom>
          <a:noFill/>
          <a:ln>
            <a:noFill/>
          </a:ln>
        </p:spPr>
        <p:txBody>
          <a:bodyPr wrap="square" lIns="73152" tIns="73152" rIns="73152" bIns="73152" anchor="ctr">
            <a:normAutofit/>
          </a:bodyPr>
          <a:lstStyle/>
          <a:p>
            <a:pPr algn="ctr">
              <a:spcBef>
                <a:spcPts val="0"/>
              </a:spcBef>
              <a:spcAft>
                <a:spcPts val="0"/>
              </a:spcAft>
              <a:buNone/>
            </a:pPr>
            <a:r>
              <a:rPr lang="en-US" sz="950" b="0" i="1">
                <a:solidFill>
                  <a:srgbClr val="5D6C7B"/>
                </a:solidFill>
                <a:latin typeface="Calibri"/>
                <a:ea typeface="Calibri"/>
                <a:cs typeface="Calibri"/>
              </a:rPr>
              <a:t>Models shown: Task 2.3. In Task 2.2 every agent uses Gemini Flash Lite. Validators: Task 2.4. Each agent has its own model (</a:t>
            </a:r>
            <a:r>
              <a:rPr lang="en-US" sz="800" b="0" i="1">
                <a:solidFill>
                  <a:srgbClr val="5D6C7B"/>
                </a:solidFill>
                <a:latin typeface="Courier New" panose="02070309020205020404" pitchFamily="49" charset="0"/>
                <a:ea typeface="Calibri"/>
                <a:cs typeface="Courier New" panose="02070309020205020404" pitchFamily="49" charset="0"/>
              </a:rPr>
              <a:t>configs/&lt;agent&gt;/</a:t>
            </a:r>
            <a:r>
              <a:rPr lang="en-US" sz="800" b="0" i="1" err="1">
                <a:solidFill>
                  <a:srgbClr val="5D6C7B"/>
                </a:solidFill>
                <a:latin typeface="Courier New" panose="02070309020205020404" pitchFamily="49" charset="0"/>
                <a:ea typeface="Calibri"/>
                <a:cs typeface="Courier New" panose="02070309020205020404" pitchFamily="49" charset="0"/>
              </a:rPr>
              <a:t>config.yaml</a:t>
            </a:r>
            <a:r>
              <a:rPr lang="en-US" sz="950" b="0" i="1">
                <a:solidFill>
                  <a:srgbClr val="5D6C7B"/>
                </a:solidFill>
                <a:latin typeface="Calibri"/>
                <a:ea typeface="Calibri"/>
                <a:cs typeface="Calibri"/>
              </a:rPr>
              <a:t>) and its own prompt (</a:t>
            </a:r>
            <a:r>
              <a:rPr lang="en-US" sz="800" b="0" i="1">
                <a:solidFill>
                  <a:srgbClr val="5D6C7B"/>
                </a:solidFill>
                <a:latin typeface="Courier New" panose="02070309020205020404" pitchFamily="49" charset="0"/>
                <a:ea typeface="Calibri"/>
                <a:cs typeface="Courier New" panose="02070309020205020404" pitchFamily="49" charset="0"/>
              </a:rPr>
              <a:t>Agent.md</a:t>
            </a:r>
            <a:r>
              <a:rPr lang="en-US" sz="950" b="0" i="1">
                <a:solidFill>
                  <a:srgbClr val="5D6C7B"/>
                </a:solidFill>
                <a:latin typeface="Calibri"/>
                <a:ea typeface="Calibri"/>
                <a:cs typeface="Calibri"/>
              </a:rPr>
              <a:t>).</a:t>
            </a:r>
          </a:p>
        </p:txBody>
      </p:sp>
      <p:sp>
        <p:nvSpPr>
          <p:cNvPr id="91" name="hybrid commands"/>
          <p:cNvSpPr/>
          <p:nvPr/>
        </p:nvSpPr>
        <p:spPr>
          <a:xfrm>
            <a:off x="493776" y="4526280"/>
            <a:ext cx="8138160" cy="160020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1150" b="0" i="0">
                <a:solidFill>
                  <a:srgbClr val="7EC699"/>
                </a:solidFill>
                <a:latin typeface="Courier New"/>
                <a:ea typeface="Courier New"/>
                <a:cs typeface="Courier New"/>
              </a:rPr>
              <a:t># Task 2.2: all agents on Gemini Flash Lite</a:t>
            </a:r>
          </a:p>
          <a:p>
            <a:pPr algn="l">
              <a:spcAft>
                <a:spcPts val="300"/>
              </a:spcAft>
              <a:buNone/>
            </a:pPr>
            <a:r>
              <a:rPr lang="en-US" sz="1150" b="0" i="0">
                <a:solidFill>
                  <a:srgbClr val="FFFFFF"/>
                </a:solidFill>
                <a:latin typeface="Courier New"/>
                <a:ea typeface="Courier New"/>
                <a:cs typeface="Courier New"/>
              </a:rPr>
              <a:t>python3 asic_autonomous_flow.py --config </a:t>
            </a:r>
            <a:r>
              <a:rPr lang="en-US" sz="1150" b="0" i="0" err="1">
                <a:solidFill>
                  <a:srgbClr val="FFFFFF"/>
                </a:solidFill>
                <a:latin typeface="Courier New"/>
                <a:ea typeface="Courier New"/>
                <a:cs typeface="Courier New"/>
              </a:rPr>
              <a:t>run_configs</a:t>
            </a:r>
            <a:r>
              <a:rPr lang="en-US" sz="1150" b="0" i="0">
                <a:solidFill>
                  <a:srgbClr val="FFFFFF"/>
                </a:solidFill>
                <a:latin typeface="Courier New"/>
                <a:ea typeface="Courier New"/>
                <a:cs typeface="Courier New"/>
              </a:rPr>
              <a:t>/2b_multi_agent.yaml</a:t>
            </a:r>
          </a:p>
          <a:p>
            <a:pPr algn="l">
              <a:spcAft>
                <a:spcPts val="300"/>
              </a:spcAft>
              <a:buNone/>
            </a:pPr>
            <a:r>
              <a:rPr lang="en-US" sz="1150" b="0" i="0">
                <a:solidFill>
                  <a:srgbClr val="7EC699"/>
                </a:solidFill>
                <a:latin typeface="Courier New"/>
                <a:ea typeface="Courier New"/>
                <a:cs typeface="Courier New"/>
              </a:rPr>
              <a:t># Task 2.3 / 2.4: mixed cloud + local models (</a:t>
            </a:r>
            <a:r>
              <a:rPr lang="en-US" sz="1150" b="0" i="0" err="1">
                <a:solidFill>
                  <a:srgbClr val="7EC699"/>
                </a:solidFill>
                <a:latin typeface="Courier New"/>
                <a:ea typeface="Courier New"/>
                <a:cs typeface="Courier New"/>
              </a:rPr>
              <a:t>ollama</a:t>
            </a:r>
            <a:r>
              <a:rPr lang="en-US" sz="1150" b="0" i="0">
                <a:solidFill>
                  <a:srgbClr val="7EC699"/>
                </a:solidFill>
                <a:latin typeface="Courier New"/>
                <a:ea typeface="Courier New"/>
                <a:cs typeface="Courier New"/>
              </a:rPr>
              <a:t> pull llama3.1 first)</a:t>
            </a:r>
          </a:p>
          <a:p>
            <a:pPr algn="l">
              <a:spcAft>
                <a:spcPts val="300"/>
              </a:spcAft>
              <a:buNone/>
            </a:pPr>
            <a:r>
              <a:rPr lang="en-US" sz="1150" b="0" i="0">
                <a:solidFill>
                  <a:srgbClr val="FFFFFF"/>
                </a:solidFill>
                <a:latin typeface="Courier New"/>
                <a:ea typeface="Courier New"/>
                <a:cs typeface="Courier New"/>
              </a:rPr>
              <a:t>python3 asic_autonomous_flow.py --config </a:t>
            </a:r>
            <a:r>
              <a:rPr lang="en-US" sz="1150" b="0" i="0" err="1">
                <a:solidFill>
                  <a:srgbClr val="FFFFFF"/>
                </a:solidFill>
                <a:latin typeface="Courier New"/>
                <a:ea typeface="Courier New"/>
                <a:cs typeface="Courier New"/>
              </a:rPr>
              <a:t>run_configs</a:t>
            </a:r>
            <a:r>
              <a:rPr lang="en-US" sz="1150" b="0" i="0">
                <a:solidFill>
                  <a:srgbClr val="FFFFFF"/>
                </a:solidFill>
                <a:latin typeface="Courier New"/>
                <a:ea typeface="Courier New"/>
                <a:cs typeface="Courier New"/>
              </a:rPr>
              <a:t>/2c_multi_agent_mixed_models.yaml</a:t>
            </a:r>
          </a:p>
        </p:txBody>
      </p:sp>
    </p:spTree>
    <p:extLst>
      <p:ext uri="{BB962C8B-B14F-4D97-AF65-F5344CB8AC3E}">
        <p14:creationId xmlns:p14="http://schemas.microsoft.com/office/powerpoint/2010/main" val="16989058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How to read the flow's log</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57</a:t>
            </a:fld>
            <a:endParaRPr sz="750" b="0">
              <a:solidFill>
                <a:srgbClr val="5B6573"/>
              </a:solidFill>
              <a:latin typeface="Calibri"/>
              <a:ea typeface="Calibri"/>
              <a:cs typeface="Calibri"/>
            </a:endParaRPr>
          </a:p>
        </p:txBody>
      </p:sp>
      <p:sp>
        <p:nvSpPr>
          <p:cNvPr id="1448" name="shape 1448"/>
          <p:cNvSpPr/>
          <p:nvPr/>
        </p:nvSpPr>
        <p:spPr>
          <a:xfrm>
            <a:off x="457200" y="1024128"/>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FFFF"/>
                </a:solidFill>
                <a:latin typeface="Courier New"/>
                <a:ea typeface="Courier New"/>
                <a:cs typeface="Courier New"/>
              </a:rPr>
              <a:t>--- RUNNING RTL SIMULATION ---</a:t>
            </a:r>
          </a:p>
        </p:txBody>
      </p:sp>
      <p:sp>
        <p:nvSpPr>
          <p:cNvPr id="1449" name="text 1449"/>
          <p:cNvSpPr txBox="1"/>
          <p:nvPr/>
        </p:nvSpPr>
        <p:spPr>
          <a:xfrm>
            <a:off x="5166360" y="1024128"/>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the simulator runs the RTL with the agent's testbench</a:t>
            </a:r>
          </a:p>
        </p:txBody>
      </p:sp>
      <p:sp>
        <p:nvSpPr>
          <p:cNvPr id="1450" name="shape 1450"/>
          <p:cNvSpPr/>
          <p:nvPr/>
        </p:nvSpPr>
        <p:spPr>
          <a:xfrm>
            <a:off x="457200" y="1600200"/>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8A80"/>
                </a:solidFill>
                <a:latin typeface="Courier New"/>
                <a:ea typeface="Courier New"/>
                <a:cs typeface="Courier New"/>
              </a:rPr>
              <a:t>❌ RTL simulation failed. Feeding back errors to agent...</a:t>
            </a:r>
          </a:p>
        </p:txBody>
      </p:sp>
      <p:sp>
        <p:nvSpPr>
          <p:cNvPr id="1451" name="text 1451"/>
          <p:cNvSpPr txBox="1"/>
          <p:nvPr/>
        </p:nvSpPr>
        <p:spPr>
          <a:xfrm>
            <a:off x="5166360" y="1600200"/>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the error text goes into the agent's next prompt: a new iteration</a:t>
            </a:r>
          </a:p>
        </p:txBody>
      </p:sp>
      <p:sp>
        <p:nvSpPr>
          <p:cNvPr id="1452" name="shape 1452"/>
          <p:cNvSpPr/>
          <p:nvPr/>
        </p:nvSpPr>
        <p:spPr>
          <a:xfrm>
            <a:off x="457200" y="2176272"/>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7EC699"/>
                </a:solidFill>
                <a:latin typeface="Courier New"/>
                <a:ea typeface="Courier New"/>
                <a:cs typeface="Courier New"/>
              </a:rPr>
              <a:t>✅ Success! RTL verified after 3 iterations.</a:t>
            </a:r>
          </a:p>
        </p:txBody>
      </p:sp>
      <p:sp>
        <p:nvSpPr>
          <p:cNvPr id="1453" name="text 1453"/>
          <p:cNvSpPr txBox="1"/>
          <p:nvPr/>
        </p:nvSpPr>
        <p:spPr>
          <a:xfrm>
            <a:off x="5166360" y="2176272"/>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this stage passed, the next agent starts</a:t>
            </a:r>
          </a:p>
        </p:txBody>
      </p:sp>
      <p:sp>
        <p:nvSpPr>
          <p:cNvPr id="1454" name="shape 1454"/>
          <p:cNvSpPr/>
          <p:nvPr/>
        </p:nvSpPr>
        <p:spPr>
          <a:xfrm>
            <a:off x="457200" y="2752344"/>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8A80"/>
                </a:solidFill>
                <a:latin typeface="Courier New"/>
                <a:ea typeface="Courier New"/>
                <a:cs typeface="Courier New"/>
              </a:rPr>
              <a:t>❌ OpenROAD flow failed. Feeding back errors to agent...</a:t>
            </a:r>
          </a:p>
        </p:txBody>
      </p:sp>
      <p:sp>
        <p:nvSpPr>
          <p:cNvPr id="1455" name="text 1455"/>
          <p:cNvSpPr txBox="1"/>
          <p:nvPr/>
        </p:nvSpPr>
        <p:spPr>
          <a:xfrm>
            <a:off x="5166360" y="2752344"/>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the </a:t>
            </a:r>
            <a:r>
              <a:rPr lang="en-US" sz="900" b="0" i="0">
                <a:solidFill>
                  <a:srgbClr val="0E2745"/>
                </a:solidFill>
                <a:latin typeface="Courier New" panose="02070309020205020404" pitchFamily="49" charset="0"/>
                <a:ea typeface="Calibri"/>
                <a:cs typeface="Courier New" panose="02070309020205020404" pitchFamily="49" charset="0"/>
              </a:rPr>
              <a:t>config.mk </a:t>
            </a:r>
            <a:r>
              <a:rPr lang="en-US" sz="1000" b="0" i="0">
                <a:solidFill>
                  <a:srgbClr val="0E2745"/>
                </a:solidFill>
                <a:latin typeface="Calibri"/>
                <a:ea typeface="Calibri"/>
                <a:cs typeface="Calibri"/>
              </a:rPr>
              <a:t>agent gets the layout tool's error</a:t>
            </a:r>
          </a:p>
        </p:txBody>
      </p:sp>
      <p:sp>
        <p:nvSpPr>
          <p:cNvPr id="1456" name="shape 1456"/>
          <p:cNvSpPr/>
          <p:nvPr/>
        </p:nvSpPr>
        <p:spPr>
          <a:xfrm>
            <a:off x="457200" y="3328415"/>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7EC699"/>
                </a:solidFill>
                <a:latin typeface="Courier New"/>
                <a:ea typeface="Courier New"/>
                <a:cs typeface="Courier New"/>
              </a:rPr>
              <a:t>✅ Success! OpenROAD Flow completed successfully.</a:t>
            </a:r>
          </a:p>
        </p:txBody>
      </p:sp>
      <p:sp>
        <p:nvSpPr>
          <p:cNvPr id="1457" name="text 1457"/>
          <p:cNvSpPr txBox="1"/>
          <p:nvPr/>
        </p:nvSpPr>
        <p:spPr>
          <a:xfrm>
            <a:off x="5166360" y="3328415"/>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a real layout of the chip exists</a:t>
            </a:r>
          </a:p>
        </p:txBody>
      </p:sp>
      <p:sp>
        <p:nvSpPr>
          <p:cNvPr id="1458" name="shape 1458"/>
          <p:cNvSpPr/>
          <p:nvPr/>
        </p:nvSpPr>
        <p:spPr>
          <a:xfrm>
            <a:off x="457200" y="3904487"/>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FFFF"/>
                </a:solidFill>
                <a:latin typeface="Courier New"/>
                <a:ea typeface="Courier New"/>
                <a:cs typeface="Courier New"/>
              </a:rPr>
              <a:t>Final Score: 90.2/100</a:t>
            </a:r>
          </a:p>
        </p:txBody>
      </p:sp>
      <p:sp>
        <p:nvSpPr>
          <p:cNvPr id="1459" name="text 1459"/>
          <p:cNvSpPr txBox="1"/>
          <p:nvPr/>
        </p:nvSpPr>
        <p:spPr>
          <a:xfrm>
            <a:off x="5166360" y="3904487"/>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PPA against the reference: 75–80 = as good as our golden design</a:t>
            </a:r>
          </a:p>
        </p:txBody>
      </p:sp>
      <p:sp>
        <p:nvSpPr>
          <p:cNvPr id="1460" name="shape 1460"/>
          <p:cNvSpPr/>
          <p:nvPr/>
        </p:nvSpPr>
        <p:spPr>
          <a:xfrm>
            <a:off x="457200" y="4480559"/>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8A80"/>
                </a:solidFill>
                <a:latin typeface="Courier New"/>
                <a:ea typeface="Courier New"/>
                <a:cs typeface="Courier New"/>
              </a:rPr>
              <a:t>Reached max iterations (10) ...</a:t>
            </a:r>
          </a:p>
        </p:txBody>
      </p:sp>
      <p:sp>
        <p:nvSpPr>
          <p:cNvPr id="1461" name="text 1461"/>
          <p:cNvSpPr txBox="1"/>
          <p:nvPr/>
        </p:nvSpPr>
        <p:spPr>
          <a:xfrm>
            <a:off x="5166360" y="4480559"/>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the agent gave up: time to improve its Agent.md</a:t>
            </a:r>
          </a:p>
        </p:txBody>
      </p:sp>
      <p:sp>
        <p:nvSpPr>
          <p:cNvPr id="1462" name="shape 1462"/>
          <p:cNvSpPr/>
          <p:nvPr/>
        </p:nvSpPr>
        <p:spPr>
          <a:xfrm>
            <a:off x="457200" y="5056631"/>
            <a:ext cx="4572000" cy="512064"/>
          </a:xfrm>
          <a:prstGeom prst="roundRect">
            <a:avLst>
              <a:gd name="adj" fmla="val 12000"/>
            </a:avLst>
          </a:prstGeom>
          <a:solidFill>
            <a:srgbClr val="1E1E1E"/>
          </a:solidFill>
          <a:ln>
            <a:noFill/>
          </a:ln>
        </p:spPr>
        <p:txBody>
          <a:bodyPr wrap="square" lIns="91440" tIns="91440" rIns="91440" bIns="91440" anchor="ctr">
            <a:noAutofit/>
          </a:bodyPr>
          <a:lstStyle/>
          <a:p>
            <a:pPr algn="l">
              <a:spcBef>
                <a:spcPts val="0"/>
              </a:spcBef>
              <a:spcAft>
                <a:spcPts val="0"/>
              </a:spcAft>
              <a:buNone/>
            </a:pPr>
            <a:r>
              <a:rPr lang="en-US" sz="820" b="0" i="0">
                <a:solidFill>
                  <a:srgbClr val="FFFFFF"/>
                </a:solidFill>
                <a:latin typeface="Courier New"/>
                <a:ea typeface="Courier New"/>
                <a:cs typeface="Courier New"/>
              </a:rPr>
              <a:t>TOKENS &amp; THROUGHPUT SUMMARY</a:t>
            </a:r>
          </a:p>
        </p:txBody>
      </p:sp>
      <p:sp>
        <p:nvSpPr>
          <p:cNvPr id="1463" name="text 1463"/>
          <p:cNvSpPr txBox="1"/>
          <p:nvPr/>
        </p:nvSpPr>
        <p:spPr>
          <a:xfrm>
            <a:off x="5166360" y="5056631"/>
            <a:ext cx="3520440" cy="512064"/>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00" b="0" i="0">
                <a:solidFill>
                  <a:srgbClr val="0E2745"/>
                </a:solidFill>
                <a:latin typeface="Calibri"/>
                <a:ea typeface="Calibri"/>
                <a:cs typeface="Calibri"/>
              </a:rPr>
              <a:t>the cost: tokens per agent and per step</a:t>
            </a:r>
          </a:p>
        </p:txBody>
      </p:sp>
      <p:sp>
        <p:nvSpPr>
          <p:cNvPr id="1464" name="text 1464"/>
          <p:cNvSpPr txBox="1"/>
          <p:nvPr/>
        </p:nvSpPr>
        <p:spPr>
          <a:xfrm>
            <a:off x="457200" y="5715000"/>
            <a:ext cx="8229600" cy="548640"/>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000" b="0" i="1">
                <a:solidFill>
                  <a:srgbClr val="5D6C7B"/>
                </a:solidFill>
                <a:latin typeface="Calibri"/>
                <a:ea typeface="Calibri"/>
                <a:cs typeface="Calibri"/>
              </a:rPr>
              <a:t>The full log, with every prompt and every tool report, is in </a:t>
            </a:r>
            <a:r>
              <a:rPr lang="en-US" sz="900" b="0" i="1">
                <a:solidFill>
                  <a:srgbClr val="5D6C7B"/>
                </a:solidFill>
                <a:latin typeface="Courier New" panose="02070309020205020404" pitchFamily="49" charset="0"/>
                <a:ea typeface="Calibri"/>
                <a:cs typeface="Courier New" panose="02070309020205020404" pitchFamily="49" charset="0"/>
              </a:rPr>
              <a:t>runs/&lt;run&gt;/asic_autonomous_flow.log</a:t>
            </a:r>
          </a:p>
        </p:txBody>
      </p:sp>
    </p:spTree>
    <p:extLst>
      <p:ext uri="{BB962C8B-B14F-4D97-AF65-F5344CB8AC3E}">
        <p14:creationId xmlns:p14="http://schemas.microsoft.com/office/powerpoint/2010/main" val="4964407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2.2 – our golden run: one agent per file</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58</a:t>
            </a:fld>
            <a:endParaRPr sz="750" b="0">
              <a:solidFill>
                <a:srgbClr val="5B6573"/>
              </a:solidFill>
              <a:latin typeface="Calibri"/>
              <a:ea typeface="Calibri"/>
              <a:cs typeface="Calibri"/>
            </a:endParaRPr>
          </a:p>
        </p:txBody>
      </p:sp>
      <p:sp>
        <p:nvSpPr>
          <p:cNvPr id="1428" name="step row 1428"/>
          <p:cNvSpPr/>
          <p:nvPr/>
        </p:nvSpPr>
        <p:spPr>
          <a:xfrm>
            <a:off x="457200" y="1024128"/>
            <a:ext cx="8229600" cy="71323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29" name="shape 1429"/>
          <p:cNvSpPr/>
          <p:nvPr/>
        </p:nvSpPr>
        <p:spPr>
          <a:xfrm>
            <a:off x="566928" y="1179576"/>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30" name="step text 1430"/>
          <p:cNvSpPr txBox="1"/>
          <p:nvPr/>
        </p:nvSpPr>
        <p:spPr>
          <a:xfrm>
            <a:off x="1078992" y="1060704"/>
            <a:ext cx="3108960" cy="640080"/>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golden folder</a:t>
            </a:r>
          </a:p>
          <a:p>
            <a:pPr algn="l">
              <a:spcBef>
                <a:spcPts val="0"/>
              </a:spcBef>
              <a:spcAft>
                <a:spcPts val="0"/>
              </a:spcAft>
              <a:buNone/>
            </a:pPr>
            <a:r>
              <a:rPr lang="en-US" sz="950" b="0" i="0">
                <a:solidFill>
                  <a:srgbClr val="5D6C7B"/>
                </a:solidFill>
                <a:latin typeface="Calibri"/>
                <a:ea typeface="Calibri"/>
                <a:cs typeface="Calibri"/>
              </a:rPr>
              <a:t>solution/ = our finished prompts and run configs</a:t>
            </a:r>
          </a:p>
        </p:txBody>
      </p:sp>
      <p:sp>
        <p:nvSpPr>
          <p:cNvPr id="1431" name="terminal 1431"/>
          <p:cNvSpPr/>
          <p:nvPr/>
        </p:nvSpPr>
        <p:spPr>
          <a:xfrm>
            <a:off x="4251960" y="1088136"/>
            <a:ext cx="4343400" cy="58521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/home/scripts/part2/solution</a:t>
            </a:r>
          </a:p>
        </p:txBody>
      </p:sp>
      <p:sp>
        <p:nvSpPr>
          <p:cNvPr id="1432" name="step row 1432"/>
          <p:cNvSpPr/>
          <p:nvPr/>
        </p:nvSpPr>
        <p:spPr>
          <a:xfrm>
            <a:off x="457200" y="1828800"/>
            <a:ext cx="8229600" cy="71323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33" name="shape 1433"/>
          <p:cNvSpPr/>
          <p:nvPr/>
        </p:nvSpPr>
        <p:spPr>
          <a:xfrm>
            <a:off x="566928" y="1984248"/>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34" name="step text 1434"/>
          <p:cNvSpPr txBox="1"/>
          <p:nvPr/>
        </p:nvSpPr>
        <p:spPr>
          <a:xfrm>
            <a:off x="1078992" y="1865376"/>
            <a:ext cx="3108960" cy="640080"/>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Read the spec</a:t>
            </a:r>
          </a:p>
          <a:p>
            <a:pPr algn="l">
              <a:spcBef>
                <a:spcPts val="0"/>
              </a:spcBef>
              <a:spcAft>
                <a:spcPts val="0"/>
              </a:spcAft>
              <a:buNone/>
            </a:pPr>
            <a:r>
              <a:rPr lang="en-US" sz="950" b="0" i="0">
                <a:solidFill>
                  <a:srgbClr val="5D6C7B"/>
                </a:solidFill>
                <a:latin typeface="Calibri"/>
                <a:ea typeface="Calibri"/>
                <a:cs typeface="Calibri"/>
              </a:rPr>
              <a:t>an 8-bit counter: ports, clock, rules, and the timing contract</a:t>
            </a:r>
          </a:p>
        </p:txBody>
      </p:sp>
      <p:sp>
        <p:nvSpPr>
          <p:cNvPr id="1435" name="terminal 1435"/>
          <p:cNvSpPr/>
          <p:nvPr/>
        </p:nvSpPr>
        <p:spPr>
          <a:xfrm>
            <a:off x="4251960" y="1892807"/>
            <a:ext cx="4343400" cy="58521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cat ../designs/p11.yaml</a:t>
            </a:r>
          </a:p>
        </p:txBody>
      </p:sp>
      <p:sp>
        <p:nvSpPr>
          <p:cNvPr id="1436" name="step row 1436"/>
          <p:cNvSpPr/>
          <p:nvPr/>
        </p:nvSpPr>
        <p:spPr>
          <a:xfrm>
            <a:off x="457200" y="2633472"/>
            <a:ext cx="8229600" cy="71323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37" name="shape 1437"/>
          <p:cNvSpPr/>
          <p:nvPr/>
        </p:nvSpPr>
        <p:spPr>
          <a:xfrm>
            <a:off x="566928" y="27889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38" name="step text 1438"/>
          <p:cNvSpPr txBox="1"/>
          <p:nvPr/>
        </p:nvSpPr>
        <p:spPr>
          <a:xfrm>
            <a:off x="1078992" y="2670048"/>
            <a:ext cx="3108960" cy="640080"/>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the team of agents</a:t>
            </a:r>
          </a:p>
          <a:p>
            <a:pPr algn="l">
              <a:spcBef>
                <a:spcPts val="0"/>
              </a:spcBef>
              <a:spcAft>
                <a:spcPts val="0"/>
              </a:spcAft>
              <a:buNone/>
            </a:pPr>
            <a:r>
              <a:rPr lang="en-US" sz="950" b="0" i="0">
                <a:solidFill>
                  <a:srgbClr val="5D6C7B"/>
                </a:solidFill>
                <a:latin typeface="Calibri"/>
                <a:ea typeface="Calibri"/>
                <a:cs typeface="Calibri"/>
              </a:rPr>
              <a:t>run config 2b: TB, RTL, SDC and config.mk agents, all on Gemini Flash Lite</a:t>
            </a:r>
          </a:p>
        </p:txBody>
      </p:sp>
      <p:sp>
        <p:nvSpPr>
          <p:cNvPr id="1439" name="terminal 1439"/>
          <p:cNvSpPr/>
          <p:nvPr/>
        </p:nvSpPr>
        <p:spPr>
          <a:xfrm>
            <a:off x="4251960" y="2697479"/>
            <a:ext cx="4343400" cy="58521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--config run_configs/2b_multi_agent.yaml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--design p11.yaml</a:t>
            </a:r>
          </a:p>
        </p:txBody>
      </p:sp>
      <p:sp>
        <p:nvSpPr>
          <p:cNvPr id="1440" name="step row 1440"/>
          <p:cNvSpPr/>
          <p:nvPr/>
        </p:nvSpPr>
        <p:spPr>
          <a:xfrm>
            <a:off x="457200" y="3438144"/>
            <a:ext cx="8229600" cy="71323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41" name="shape 1441"/>
          <p:cNvSpPr/>
          <p:nvPr/>
        </p:nvSpPr>
        <p:spPr>
          <a:xfrm>
            <a:off x="566928" y="3593591"/>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42" name="step text 1442"/>
          <p:cNvSpPr txBox="1"/>
          <p:nvPr/>
        </p:nvSpPr>
        <p:spPr>
          <a:xfrm>
            <a:off x="1078992" y="3474720"/>
            <a:ext cx="7498080" cy="640080"/>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Watch the stages</a:t>
            </a:r>
          </a:p>
          <a:p>
            <a:pPr algn="l">
              <a:spcBef>
                <a:spcPts val="0"/>
              </a:spcBef>
              <a:spcAft>
                <a:spcPts val="0"/>
              </a:spcAft>
              <a:buNone/>
            </a:pPr>
            <a:r>
              <a:rPr lang="en-US" sz="950" b="0" i="0">
                <a:solidFill>
                  <a:srgbClr val="5D6C7B"/>
                </a:solidFill>
                <a:latin typeface="Calibri"/>
                <a:ea typeface="Calibri"/>
                <a:cs typeface="Calibri"/>
              </a:rPr>
              <a:t>testbench → RTL (simulation + synthesis) → SDC → config.mk → OpenROAD → score. The RTL passed at the first iteration</a:t>
            </a:r>
          </a:p>
        </p:txBody>
      </p:sp>
      <p:sp>
        <p:nvSpPr>
          <p:cNvPr id="1443" name="step row 1443"/>
          <p:cNvSpPr/>
          <p:nvPr/>
        </p:nvSpPr>
        <p:spPr>
          <a:xfrm>
            <a:off x="457200" y="4242816"/>
            <a:ext cx="8229600" cy="713232"/>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44" name="shape 1444"/>
          <p:cNvSpPr/>
          <p:nvPr/>
        </p:nvSpPr>
        <p:spPr>
          <a:xfrm>
            <a:off x="566928" y="4398264"/>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45" name="step text 1445"/>
          <p:cNvSpPr txBox="1"/>
          <p:nvPr/>
        </p:nvSpPr>
        <p:spPr>
          <a:xfrm>
            <a:off x="1078992" y="4279392"/>
            <a:ext cx="3108960" cy="640080"/>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The result</a:t>
            </a:r>
          </a:p>
          <a:p>
            <a:pPr algn="l">
              <a:spcBef>
                <a:spcPts val="0"/>
              </a:spcBef>
              <a:spcAft>
                <a:spcPts val="0"/>
              </a:spcAft>
              <a:buNone/>
            </a:pPr>
            <a:r>
              <a:rPr lang="en-US" sz="950" b="0" i="0">
                <a:solidFill>
                  <a:srgbClr val="5D6C7B"/>
                </a:solidFill>
                <a:latin typeface="Calibri"/>
                <a:ea typeface="Calibri"/>
                <a:cs typeface="Calibri"/>
              </a:rPr>
              <a:t>illustrative output – your numbers will differ</a:t>
            </a:r>
          </a:p>
        </p:txBody>
      </p:sp>
      <p:sp>
        <p:nvSpPr>
          <p:cNvPr id="1446" name="terminal 1446"/>
          <p:cNvSpPr/>
          <p:nvPr/>
        </p:nvSpPr>
        <p:spPr>
          <a:xfrm>
            <a:off x="4251960" y="4306824"/>
            <a:ext cx="4343400" cy="585216"/>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WNS 35.99/40   TNS 20.00/20</a:t>
            </a:r>
          </a:p>
          <a:p>
            <a:pPr algn="l">
              <a:lnSpc>
                <a:spcPct val="100000"/>
              </a:lnSpc>
              <a:spcBef>
                <a:spcPts val="0"/>
              </a:spcBef>
              <a:spcAft>
                <a:spcPts val="0"/>
              </a:spcAft>
              <a:buNone/>
            </a:pPr>
            <a:r>
              <a:rPr lang="en-US" sz="950" b="0" i="0">
                <a:solidFill>
                  <a:srgbClr val="FFFFFF"/>
                </a:solidFill>
                <a:latin typeface="Courier New"/>
                <a:ea typeface="Courier New"/>
                <a:cs typeface="Courier New"/>
              </a:rPr>
              <a:t>Power 20.00/20   Area 14.21/20</a:t>
            </a:r>
          </a:p>
          <a:p>
            <a:pPr algn="l">
              <a:lnSpc>
                <a:spcPct val="100000"/>
              </a:lnSpc>
              <a:spcBef>
                <a:spcPts val="0"/>
              </a:spcBef>
              <a:spcAft>
                <a:spcPts val="0"/>
              </a:spcAft>
              <a:buNone/>
            </a:pPr>
            <a:r>
              <a:rPr lang="en-US" sz="950" b="0" i="0">
                <a:solidFill>
                  <a:srgbClr val="FFFFFF"/>
                </a:solidFill>
                <a:latin typeface="Courier New"/>
                <a:ea typeface="Courier New"/>
                <a:cs typeface="Courier New"/>
              </a:rPr>
              <a:t>Final Score: 90.2/100</a:t>
            </a:r>
          </a:p>
        </p:txBody>
      </p:sp>
      <p:sp>
        <p:nvSpPr>
          <p:cNvPr id="1447" name="checkpoint 1447"/>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RESULT  score 90.2/100 (our golden layout = 80) · 81 s · 16k tokens · fewer tokens than the single agent (27k)</a:t>
            </a:r>
          </a:p>
        </p:txBody>
      </p:sp>
    </p:spTree>
    <p:extLst>
      <p:ext uri="{BB962C8B-B14F-4D97-AF65-F5344CB8AC3E}">
        <p14:creationId xmlns:p14="http://schemas.microsoft.com/office/powerpoint/2010/main" val="4964407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2.2 – your turn: make an agent better, then check it</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59</a:t>
            </a:fld>
            <a:endParaRPr sz="750" b="0">
              <a:solidFill>
                <a:srgbClr val="5B6573"/>
              </a:solidFill>
              <a:latin typeface="Calibri"/>
              <a:ea typeface="Calibri"/>
              <a:cs typeface="Calibri"/>
            </a:endParaRPr>
          </a:p>
        </p:txBody>
      </p:sp>
      <p:sp>
        <p:nvSpPr>
          <p:cNvPr id="1465" name="step row 1465"/>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66" name="shape 1466"/>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67" name="step text 1467"/>
          <p:cNvSpPr txBox="1"/>
          <p:nvPr/>
        </p:nvSpPr>
        <p:spPr>
          <a:xfrm>
            <a:off x="1078992" y="106070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it, and read the log like an engineer</a:t>
            </a:r>
          </a:p>
          <a:p>
            <a:pPr algn="l">
              <a:spcBef>
                <a:spcPts val="0"/>
              </a:spcBef>
              <a:spcAft>
                <a:spcPts val="0"/>
              </a:spcAft>
              <a:buNone/>
            </a:pPr>
            <a:r>
              <a:rPr lang="en-US" sz="950" b="0" i="0">
                <a:solidFill>
                  <a:srgbClr val="5D6C7B"/>
                </a:solidFill>
                <a:latin typeface="Calibri"/>
                <a:ea typeface="Calibri"/>
                <a:cs typeface="Calibri"/>
              </a:rPr>
              <a:t>python3 asic_autonomous_flow.py --config run_configs/2b_multi_agent.yaml --design p11.yaml   ·   which message repeats, e.g.  RTL simulation failed ? What would YOU fix by hand?</a:t>
            </a:r>
          </a:p>
        </p:txBody>
      </p:sp>
      <p:sp>
        <p:nvSpPr>
          <p:cNvPr id="1468" name="step row 1468"/>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69" name="shape 1469"/>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70" name="step text 1470"/>
          <p:cNvSpPr txBox="1"/>
          <p:nvPr/>
        </p:nvSpPr>
        <p:spPr>
          <a:xfrm>
            <a:off x="1078992" y="188366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Open that agent's prompt</a:t>
            </a:r>
          </a:p>
          <a:p>
            <a:pPr algn="l">
              <a:spcBef>
                <a:spcPts val="0"/>
              </a:spcBef>
              <a:spcAft>
                <a:spcPts val="0"/>
              </a:spcAft>
              <a:buNone/>
            </a:pPr>
            <a:r>
              <a:rPr lang="en-US" sz="950" b="0" i="0">
                <a:solidFill>
                  <a:srgbClr val="5D6C7B"/>
                </a:solidFill>
                <a:latin typeface="Calibri"/>
                <a:ea typeface="Calibri"/>
                <a:cs typeface="Calibri"/>
              </a:rPr>
              <a:t>on your laptop: scripts/part2/problem/configs/&lt;agent&gt;/Agent.md  –  tb_generator, rtl_generator, sdc_generator or config_mk_generator</a:t>
            </a:r>
          </a:p>
        </p:txBody>
      </p:sp>
      <p:sp>
        <p:nvSpPr>
          <p:cNvPr id="1471" name="step row 147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72" name="shape 147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73" name="step text 1473"/>
          <p:cNvSpPr txBox="1"/>
          <p:nvPr/>
        </p:nvSpPr>
        <p:spPr>
          <a:xfrm>
            <a:off x="1078992" y="270662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Write that knowledge into the Agent.md</a:t>
            </a:r>
          </a:p>
          <a:p>
            <a:pPr algn="l">
              <a:spcBef>
                <a:spcPts val="0"/>
              </a:spcBef>
              <a:spcAft>
                <a:spcPts val="0"/>
              </a:spcAft>
              <a:buNone/>
            </a:pPr>
            <a:r>
              <a:rPr lang="en-US" sz="950" b="0" i="0">
                <a:solidFill>
                  <a:srgbClr val="5D6C7B"/>
                </a:solidFill>
                <a:latin typeface="Calibri"/>
                <a:ea typeface="Calibri"/>
                <a:cs typeface="Calibri"/>
              </a:rPr>
              <a:t>add ONE rule under # Mandatory Rules, or a hint in a feedback section, e.g.  Use Verilog-2001 only: no 'logic', no SystemVerilog.  Save the file.</a:t>
            </a:r>
          </a:p>
        </p:txBody>
      </p:sp>
      <p:sp>
        <p:nvSpPr>
          <p:cNvPr id="1474" name="step row 147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75" name="shape 147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76" name="step text 1476"/>
          <p:cNvSpPr txBox="1"/>
          <p:nvPr/>
        </p:nvSpPr>
        <p:spPr>
          <a:xfrm>
            <a:off x="1078992" y="3529584"/>
            <a:ext cx="310896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Rerun, compare with the golden run</a:t>
            </a:r>
          </a:p>
          <a:p>
            <a:pPr algn="l">
              <a:spcBef>
                <a:spcPts val="0"/>
              </a:spcBef>
              <a:spcAft>
                <a:spcPts val="0"/>
              </a:spcAft>
              <a:buNone/>
            </a:pPr>
            <a:r>
              <a:rPr lang="en-US" sz="950" b="0" i="0">
                <a:solidFill>
                  <a:srgbClr val="5D6C7B"/>
                </a:solidFill>
                <a:latin typeface="Calibri"/>
                <a:ea typeface="Calibri"/>
                <a:cs typeface="Calibri"/>
              </a:rPr>
              <a:t>the same command again. Does it pass now? Fewer iterations? Fewer tokens? Score 80 = our golden layout</a:t>
            </a:r>
          </a:p>
        </p:txBody>
      </p:sp>
      <p:sp>
        <p:nvSpPr>
          <p:cNvPr id="1477" name="terminal 1477"/>
          <p:cNvSpPr/>
          <p:nvPr/>
        </p:nvSpPr>
        <p:spPr>
          <a:xfrm>
            <a:off x="4251960" y="3557015"/>
            <a:ext cx="434340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asic_autonomous_flow.py ...</a:t>
            </a:r>
          </a:p>
        </p:txBody>
      </p:sp>
      <p:sp>
        <p:nvSpPr>
          <p:cNvPr id="1478" name="step row 1478"/>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79" name="shape 1479"/>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80" name="step text 1480"/>
          <p:cNvSpPr txBox="1"/>
          <p:nvPr/>
        </p:nvSpPr>
        <p:spPr>
          <a:xfrm>
            <a:off x="1078992" y="4352544"/>
            <a:ext cx="310896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Sign off the final RTL</a:t>
            </a:r>
          </a:p>
          <a:p>
            <a:pPr algn="l">
              <a:spcBef>
                <a:spcPts val="0"/>
              </a:spcBef>
              <a:spcAft>
                <a:spcPts val="0"/>
              </a:spcAft>
              <a:buNone/>
            </a:pPr>
            <a:r>
              <a:rPr lang="en-US" sz="950" b="0" i="0">
                <a:solidFill>
                  <a:srgbClr val="5D6C7B"/>
                </a:solidFill>
                <a:latin typeface="Calibri"/>
                <a:ea typeface="Calibri"/>
                <a:cs typeface="Calibri"/>
              </a:rPr>
              <a:t>our own testbench re-checks the agent's design (next slide)</a:t>
            </a:r>
          </a:p>
        </p:txBody>
      </p:sp>
      <p:sp>
        <p:nvSpPr>
          <p:cNvPr id="1481" name="terminal 1481"/>
          <p:cNvSpPr/>
          <p:nvPr/>
        </p:nvSpPr>
        <p:spPr>
          <a:xfrm>
            <a:off x="4251960" y="4379976"/>
            <a:ext cx="434340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/home/scripts/reference</a:t>
            </a:r>
          </a:p>
          <a:p>
            <a:pPr algn="l">
              <a:lnSpc>
                <a:spcPct val="100000"/>
              </a:lnSpc>
              <a:spcBef>
                <a:spcPts val="0"/>
              </a:spcBef>
              <a:spcAft>
                <a:spcPts val="0"/>
              </a:spcAft>
              <a:buNone/>
            </a:pPr>
            <a:r>
              <a:rPr lang="en-US" sz="950" b="0" i="0">
                <a:solidFill>
                  <a:srgbClr val="FFFFFF"/>
                </a:solidFill>
                <a:latin typeface="Courier New"/>
                <a:ea typeface="Courier New"/>
                <a:cs typeface="Courier New"/>
              </a:rPr>
              <a:t>python3 check_designs.py -d p11 --</a:t>
            </a:r>
            <a:r>
              <a:rPr lang="en-US" sz="950" b="0" i="0" err="1">
                <a:solidFill>
                  <a:srgbClr val="FFFFFF"/>
                </a:solidFill>
                <a:latin typeface="Courier New"/>
                <a:ea typeface="Courier New"/>
                <a:cs typeface="Courier New"/>
              </a:rPr>
              <a:t>rtl</a:t>
            </a:r>
            <a:r>
              <a:rPr lang="en-US" sz="950" b="0" i="0">
                <a:solidFill>
                  <a:srgbClr val="FFFFFF"/>
                </a:solidFill>
                <a:latin typeface="Courier New"/>
                <a:ea typeface="Courier New"/>
                <a:cs typeface="Courier New"/>
              </a:rPr>
              <a:t>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../part2/problem/runs/2b_multi_agent/\</a:t>
            </a:r>
          </a:p>
          <a:p>
            <a:pPr algn="l">
              <a:lnSpc>
                <a:spcPct val="100000"/>
              </a:lnSpc>
              <a:spcBef>
                <a:spcPts val="0"/>
              </a:spcBef>
              <a:spcAft>
                <a:spcPts val="0"/>
              </a:spcAft>
              <a:buNone/>
            </a:pPr>
            <a:r>
              <a:rPr lang="en-US" sz="950" b="0" i="0">
                <a:solidFill>
                  <a:srgbClr val="FFFFFF"/>
                </a:solidFill>
                <a:latin typeface="Courier New"/>
                <a:ea typeface="Courier New"/>
                <a:cs typeface="Courier New"/>
              </a:rPr>
              <a:t>  solution/p11/simple_8bit_counter.v</a:t>
            </a:r>
          </a:p>
        </p:txBody>
      </p:sp>
      <p:sp>
        <p:nvSpPr>
          <p:cNvPr id="1482" name="checkpoint 1482"/>
          <p:cNvSpPr/>
          <p:nvPr/>
        </p:nvSpPr>
        <p:spPr>
          <a:xfrm>
            <a:off x="457200" y="5760720"/>
            <a:ext cx="605426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your run passes AND sign-off says PASS. Next: Tasks 2.3 and 2.4</a:t>
            </a:r>
          </a:p>
        </p:txBody>
      </p:sp>
      <p:sp>
        <p:nvSpPr>
          <p:cNvPr id="1115" name="shape 1115"/>
          <p:cNvSpPr/>
          <p:nvPr/>
        </p:nvSpPr>
        <p:spPr>
          <a:xfrm>
            <a:off x="457200" y="5138928"/>
            <a:ext cx="8229600" cy="502920"/>
          </a:xfrm>
          <a:prstGeom prst="roundRect">
            <a:avLst>
              <a:gd name="adj" fmla="val 12000"/>
            </a:avLst>
          </a:prstGeom>
          <a:solidFill>
            <a:srgbClr val="FBE9EB"/>
          </a:solidFill>
          <a:ln>
            <a:noFill/>
          </a:ln>
        </p:spPr>
        <p:txBody>
          <a:bodyPr wrap="square" lIns="91440" tIns="91440" rIns="91440" bIns="91440" anchor="ctr">
            <a:noAutofit/>
          </a:bodyPr>
          <a:lstStyle/>
          <a:p>
            <a:pPr algn="ctr">
              <a:spcBef>
                <a:spcPts val="0"/>
              </a:spcBef>
              <a:spcAft>
                <a:spcPts val="0"/>
              </a:spcAft>
              <a:buNone/>
            </a:pPr>
            <a:r>
              <a:rPr lang="en-US" sz="1100" b="1" i="0">
                <a:solidFill>
                  <a:srgbClr val="B91F2D"/>
                </a:solidFill>
                <a:latin typeface="Calibri"/>
                <a:ea typeface="Calibri"/>
                <a:cs typeface="Calibri"/>
              </a:rPr>
              <a:t>Rule of thumb: </a:t>
            </a:r>
            <a:r>
              <a:rPr lang="en-US" sz="1100" b="0" i="0">
                <a:solidFill>
                  <a:srgbClr val="0E2745"/>
                </a:solidFill>
                <a:latin typeface="Calibri"/>
                <a:ea typeface="Calibri"/>
                <a:cs typeface="Calibri"/>
              </a:rPr>
              <a:t>if you can understand something in the log by hand, write it in the </a:t>
            </a:r>
            <a:r>
              <a:rPr lang="en-US" sz="950" b="0" i="0">
                <a:solidFill>
                  <a:srgbClr val="0E2745"/>
                </a:solidFill>
                <a:latin typeface="Courier New" panose="02070309020205020404" pitchFamily="49" charset="0"/>
                <a:ea typeface="Calibri"/>
                <a:cs typeface="Courier New" panose="02070309020205020404" pitchFamily="49" charset="0"/>
              </a:rPr>
              <a:t>Agent.md </a:t>
            </a:r>
            <a:r>
              <a:rPr lang="en-US" sz="1100" b="0" i="0">
                <a:solidFill>
                  <a:srgbClr val="0E2745"/>
                </a:solidFill>
                <a:latin typeface="Calibri"/>
                <a:ea typeface="Calibri"/>
                <a:cs typeface="Calibri"/>
              </a:rPr>
              <a:t>– then the agent knows it too.</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Add-in 5">
                <a:extLst>
                  <a:ext uri="{FF2B5EF4-FFF2-40B4-BE49-F238E27FC236}">
                    <a16:creationId xmlns:a16="http://schemas.microsoft.com/office/drawing/2014/main" id="{03340898-D715-89F3-D65A-91631250D20C}"/>
                  </a:ext>
                </a:extLst>
              </p:cNvPr>
              <p:cNvGraphicFramePr>
                <a:graphicFrameLocks noGrp="1"/>
              </p:cNvGraphicFramePr>
              <p:nvPr>
                <p:extLst>
                  <p:ext uri="{D42A27DB-BD31-4B8C-83A1-F6EECF244321}">
                    <p14:modId xmlns:p14="http://schemas.microsoft.com/office/powerpoint/2010/main" val="1807069809"/>
                  </p:ext>
                </p:extLst>
              </p:nvPr>
            </p:nvGraphicFramePr>
            <p:xfrm>
              <a:off x="7016925" y="573561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Add-in 5">
                <a:extLst>
                  <a:ext uri="{FF2B5EF4-FFF2-40B4-BE49-F238E27FC236}">
                    <a16:creationId xmlns:a16="http://schemas.microsoft.com/office/drawing/2014/main" id="{03340898-D715-89F3-D65A-91631250D20C}"/>
                  </a:ext>
                </a:extLst>
              </p:cNvPr>
              <p:cNvPicPr>
                <a:picLocks noGrp="1" noRot="1" noChangeAspect="1" noMove="1" noResize="1" noEditPoints="1" noAdjustHandles="1" noChangeArrowheads="1" noChangeShapeType="1"/>
              </p:cNvPicPr>
              <p:nvPr/>
            </p:nvPicPr>
            <p:blipFill>
              <a:blip r:embed="rId4"/>
              <a:stretch>
                <a:fillRect/>
              </a:stretch>
            </p:blipFill>
            <p:spPr>
              <a:xfrm>
                <a:off x="7016925" y="5735618"/>
                <a:ext cx="4654855" cy="1936624"/>
              </a:xfrm>
              <a:prstGeom prst="rect">
                <a:avLst/>
              </a:prstGeom>
            </p:spPr>
          </p:pic>
        </mc:Fallback>
      </mc:AlternateContent>
      <p:pic>
        <p:nvPicPr>
          <p:cNvPr id="7" name="Picture 6" descr="Stopwatch on white background">
            <a:extLst>
              <a:ext uri="{FF2B5EF4-FFF2-40B4-BE49-F238E27FC236}">
                <a16:creationId xmlns:a16="http://schemas.microsoft.com/office/drawing/2014/main" id="{59F19BFA-9AA8-CF64-590B-6A2B17E413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4424" y="5495498"/>
            <a:ext cx="1121572" cy="1362502"/>
          </a:xfrm>
          <a:prstGeom prst="rect">
            <a:avLst/>
          </a:prstGeom>
        </p:spPr>
      </p:pic>
    </p:spTree>
    <p:extLst>
      <p:ext uri="{BB962C8B-B14F-4D97-AF65-F5344CB8AC3E}">
        <p14:creationId xmlns:p14="http://schemas.microsoft.com/office/powerpoint/2010/main" val="4964407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2 – overview: four ways to run the flow</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60</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417461439"/>
              </p:ext>
            </p:extLst>
          </p:nvPr>
        </p:nvGraphicFramePr>
        <p:xfrm>
          <a:off x="412375" y="1376678"/>
          <a:ext cx="8435790" cy="4178127"/>
        </p:xfrm>
        <a:graphic>
          <a:graphicData uri="http://schemas.openxmlformats.org/drawingml/2006/table">
            <a:tbl>
              <a:tblPr firstRow="1" bandRow="1">
                <a:tableStyleId>{3C2FFA5D-87B4-456A-9821-1D502468CF0F}</a:tableStyleId>
              </a:tblPr>
              <a:tblGrid>
                <a:gridCol w="1737360">
                  <a:extLst>
                    <a:ext uri="{9D8B030D-6E8A-4147-A177-3AD203B41FA5}">
                      <a16:colId xmlns:a16="http://schemas.microsoft.com/office/drawing/2014/main" val="2743157295"/>
                    </a:ext>
                  </a:extLst>
                </a:gridCol>
                <a:gridCol w="3657600">
                  <a:extLst>
                    <a:ext uri="{9D8B030D-6E8A-4147-A177-3AD203B41FA5}">
                      <a16:colId xmlns:a16="http://schemas.microsoft.com/office/drawing/2014/main" val="3671494132"/>
                    </a:ext>
                  </a:extLst>
                </a:gridCol>
                <a:gridCol w="30408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Task</a:t>
                      </a:r>
                    </a:p>
                  </a:txBody>
                  <a:tcPr anchor="ctr"/>
                </a:tc>
                <a:tc>
                  <a:txBody>
                    <a:bodyPr/>
                    <a:lstStyle/>
                    <a:p>
                      <a:pPr algn="ctr"/>
                      <a:r>
                        <a:rPr lang="en-US" sz="2000">
                          <a:solidFill>
                            <a:schemeClr val="bg1"/>
                          </a:solidFill>
                        </a:rPr>
                        <a:t>Agents &amp; models</a:t>
                      </a:r>
                    </a:p>
                  </a:txBody>
                  <a:tcPr anchor="ctr"/>
                </a:tc>
                <a:tc>
                  <a:txBody>
                    <a:bodyPr/>
                    <a:lstStyle/>
                    <a:p>
                      <a:pPr algn="ctr"/>
                      <a:r>
                        <a:rPr lang="en-US" sz="2000">
                          <a:solidFill>
                            <a:schemeClr val="bg1"/>
                          </a:solidFill>
                        </a:rPr>
                        <a:t>What to look for?</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2.1  Single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1 agent writes TB + RTL + SDC + config.mk · Gemini Flash Lite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Which stages fail? Runtime?</a:t>
                      </a:r>
                    </a:p>
                  </a:txBody>
                  <a:tcPr anchor="ctr"/>
                </a:tc>
                <a:extLst>
                  <a:ext uri="{0D108BD9-81ED-4DB2-BD59-A6C34878D82A}">
                    <a16:rowId xmlns:a16="http://schemas.microsoft.com/office/drawing/2014/main" val="666777034"/>
                  </a:ext>
                </a:extLst>
              </a:tr>
              <a:tr h="791083">
                <a:tc>
                  <a:txBody>
                    <a:bodyPr/>
                    <a:lstStyle/>
                    <a:p>
                      <a:r>
                        <a:rPr lang="en-US" b="1">
                          <a:solidFill>
                            <a:schemeClr val="tx1"/>
                          </a:solidFill>
                        </a:rPr>
                        <a:t>Task 2.2  Multi-agent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TB, RTL, SDC, config.mk agents · all Gemini Flash Lite</a:t>
                      </a:r>
                    </a:p>
                  </a:txBody>
                  <a:tcPr anchor="ctr"/>
                </a:tc>
                <a:tc>
                  <a:txBody>
                    <a:bodyPr/>
                    <a:lstStyle/>
                    <a:p>
                      <a:pPr lvl="0" algn="ctr">
                        <a:lnSpc>
                          <a:spcPct val="115000"/>
                        </a:lnSpc>
                        <a:buClr>
                          <a:srgbClr val="FFFFFF"/>
                        </a:buClr>
                        <a:buSzPts val="1344"/>
                      </a:pPr>
                      <a:r>
                        <a:rPr lang="en-US" sz="1400">
                          <a:solidFill>
                            <a:schemeClr val="tx1"/>
                          </a:solidFill>
                          <a:sym typeface="Roboto"/>
                        </a:rPr>
                        <a:t>Iterations per stage and tokens vs Task 2.1</a:t>
                      </a:r>
                    </a:p>
                  </a:txBody>
                  <a:tcPr anchor="ctr"/>
                </a:tc>
                <a:extLst>
                  <a:ext uri="{0D108BD9-81ED-4DB2-BD59-A6C34878D82A}">
                    <a16:rowId xmlns:a16="http://schemas.microsoft.com/office/drawing/2014/main" val="1045036667"/>
                  </a:ext>
                </a:extLst>
              </a:tr>
              <a:tr h="1013795">
                <a:tc>
                  <a:txBody>
                    <a:bodyPr/>
                    <a:lstStyle/>
                    <a:p>
                      <a:r>
                        <a:rPr lang="en-US" b="1">
                          <a:solidFill>
                            <a:srgbClr val="FFFFFF"/>
                          </a:solidFill>
                        </a:rPr>
                        <a:t>Task 2.3  Hybrid models</a:t>
                      </a:r>
                    </a:p>
                  </a:txBody>
                  <a:tcPr anchor="ctr">
                    <a:solidFill>
                      <a:srgbClr val="0E2745"/>
                    </a:solidFill>
                  </a:tcPr>
                </a:tc>
                <a:tc>
                  <a:txBody>
                    <a:bodyPr/>
                    <a:lstStyle/>
                    <a:p>
                      <a:pPr lvl="0" algn="ctr">
                        <a:buClr>
                          <a:srgbClr val="FFFFFF"/>
                        </a:buClr>
                        <a:buSzPts val="1344"/>
                      </a:pPr>
                      <a:r>
                        <a:rPr lang="en-US" sz="1400" b="1">
                          <a:solidFill>
                            <a:srgbClr val="FFFFFF"/>
                          </a:solidFill>
                          <a:sym typeface="Roboto"/>
                        </a:rPr>
                        <a:t>TB + RTL: Gemini Lite (cloud) · SDC + config.mk: llama3.1 (local)</a:t>
                      </a:r>
                    </a:p>
                  </a:txBody>
                  <a:tcPr anchor="ctr">
                    <a:solidFill>
                      <a:srgbClr val="0E274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u="none" strike="noStrike" cap="none">
                          <a:solidFill>
                            <a:srgbClr val="FFFFFF"/>
                          </a:solidFill>
                          <a:sym typeface="Arial"/>
                        </a:rPr>
                        <a:t>Can a local SLM handle the template tasks?</a:t>
                      </a:r>
                    </a:p>
                  </a:txBody>
                  <a:tcPr anchor="ctr">
                    <a:solidFill>
                      <a:srgbClr val="0E2745"/>
                    </a:solidFill>
                  </a:tcPr>
                </a:tc>
                <a:extLst>
                  <a:ext uri="{0D108BD9-81ED-4DB2-BD59-A6C34878D82A}">
                    <a16:rowId xmlns:a16="http://schemas.microsoft.com/office/drawing/2014/main" val="3344965393"/>
                  </a:ext>
                </a:extLst>
              </a:tr>
              <a:tr h="791083">
                <a:tc>
                  <a:txBody>
                    <a:bodyPr/>
                    <a:lstStyle/>
                    <a:p>
                      <a:r>
                        <a:rPr lang="en-US" b="1">
                          <a:solidFill>
                            <a:schemeClr val="tx1"/>
                          </a:solidFill>
                        </a:rPr>
                        <a:t>Task 2.4  + Validators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As Task 2.3 + TB and RTL validator agents</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a:solidFill>
                            <a:schemeClr val="tx1"/>
                          </a:solidFill>
                          <a:sym typeface="Roboto"/>
                        </a:rPr>
                        <a:t>Bugs caught earlier? Worth the extra tokens?</a:t>
                      </a:r>
                    </a:p>
                  </a:txBody>
                  <a:tcPr anchor="ctr"/>
                </a:tc>
                <a:extLst>
                  <a:ext uri="{0D108BD9-81ED-4DB2-BD59-A6C34878D82A}">
                    <a16:rowId xmlns:a16="http://schemas.microsoft.com/office/drawing/2014/main" val="315752704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All runs: </a:t>
            </a:r>
            <a:r>
              <a:rPr sz="1275" b="0" err="1">
                <a:solidFill>
                  <a:srgbClr val="506573"/>
                </a:solidFill>
                <a:latin typeface="Arial"/>
                <a:ea typeface="Arial"/>
                <a:cs typeface="Arial"/>
              </a:rPr>
              <a:t>iterative_optimization</a:t>
            </a:r>
            <a:r>
              <a:rPr sz="1275" b="0">
                <a:solidFill>
                  <a:srgbClr val="506573"/>
                </a:solidFill>
                <a:latin typeface="Arial"/>
                <a:ea typeface="Arial"/>
                <a:cs typeface="Arial"/>
              </a:rPr>
              <a:t> = false, </a:t>
            </a:r>
            <a:r>
              <a:rPr sz="1275" b="0" err="1">
                <a:solidFill>
                  <a:srgbClr val="506573"/>
                </a:solidFill>
                <a:latin typeface="Arial"/>
                <a:ea typeface="Arial"/>
                <a:cs typeface="Arial"/>
              </a:rPr>
              <a:t>enable_resynthesis</a:t>
            </a:r>
            <a:r>
              <a:rPr sz="1275" b="0">
                <a:solidFill>
                  <a:srgbClr val="506573"/>
                </a:solidFill>
                <a:latin typeface="Arial"/>
                <a:ea typeface="Arial"/>
                <a:cs typeface="Arial"/>
              </a:rPr>
              <a:t> = false. Run from </a:t>
            </a:r>
            <a:r>
              <a:rPr sz="1100" b="0">
                <a:solidFill>
                  <a:srgbClr val="506573"/>
                </a:solidFill>
                <a:latin typeface="Courier New" panose="02070309020205020404" pitchFamily="49" charset="0"/>
                <a:ea typeface="Arial"/>
                <a:cs typeface="Courier New" panose="02070309020205020404" pitchFamily="49" charset="0"/>
              </a:rPr>
              <a:t>part2/problem</a:t>
            </a:r>
            <a:r>
              <a:rPr sz="1275" b="0">
                <a:solidFill>
                  <a:srgbClr val="506573"/>
                </a:solidFill>
                <a:latin typeface="Arial"/>
                <a:ea typeface="Arial"/>
                <a:cs typeface="Arial"/>
              </a:rPr>
              <a:t>:  python3 </a:t>
            </a:r>
            <a:r>
              <a:rPr sz="1200" b="0">
                <a:solidFill>
                  <a:srgbClr val="506573"/>
                </a:solidFill>
                <a:latin typeface="Courier New" panose="02070309020205020404" pitchFamily="49" charset="0"/>
                <a:ea typeface="Arial"/>
                <a:cs typeface="Courier New" panose="02070309020205020404" pitchFamily="49" charset="0"/>
              </a:rPr>
              <a:t>asic_autonomous_flow.py --config </a:t>
            </a:r>
            <a:r>
              <a:rPr sz="1200" b="0" err="1">
                <a:solidFill>
                  <a:srgbClr val="506573"/>
                </a:solidFill>
                <a:latin typeface="Courier New" panose="02070309020205020404" pitchFamily="49" charset="0"/>
                <a:ea typeface="Arial"/>
                <a:cs typeface="Courier New" panose="02070309020205020404" pitchFamily="49" charset="0"/>
              </a:rPr>
              <a:t>run_configs</a:t>
            </a:r>
            <a:r>
              <a:rPr sz="1200" b="0">
                <a:solidFill>
                  <a:srgbClr val="506573"/>
                </a:solidFill>
                <a:latin typeface="Courier New" panose="02070309020205020404" pitchFamily="49" charset="0"/>
                <a:ea typeface="Arial"/>
                <a:cs typeface="Courier New" panose="02070309020205020404" pitchFamily="49" charset="0"/>
              </a:rPr>
              <a:t>/&lt;run&gt;.</a:t>
            </a:r>
            <a:r>
              <a:rPr sz="1200" b="0" err="1">
                <a:solidFill>
                  <a:srgbClr val="506573"/>
                </a:solidFill>
                <a:latin typeface="Courier New" panose="02070309020205020404" pitchFamily="49" charset="0"/>
                <a:ea typeface="Arial"/>
                <a:cs typeface="Courier New" panose="02070309020205020404" pitchFamily="49" charset="0"/>
              </a:rPr>
              <a:t>yaml</a:t>
            </a:r>
            <a:endParaRPr sz="1200" b="0">
              <a:solidFill>
                <a:srgbClr val="506573"/>
              </a:solidFill>
              <a:latin typeface="Courier New" panose="02070309020205020404" pitchFamily="49" charset="0"/>
              <a:ea typeface="Arial"/>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2.3 – our golden run: cloud + local models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61</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golden folder</a:t>
            </a:r>
          </a:p>
          <a:p>
            <a:pPr algn="l">
              <a:spcBef>
                <a:spcPts val="0"/>
              </a:spcBef>
              <a:spcAft>
                <a:spcPts val="0"/>
              </a:spcAft>
              <a:buNone/>
            </a:pPr>
            <a:r>
              <a:rPr lang="en-US" sz="950" b="0" i="0">
                <a:solidFill>
                  <a:srgbClr val="5D6C7B"/>
                </a:solidFill>
                <a:latin typeface="Calibri"/>
                <a:ea typeface="Calibri"/>
                <a:cs typeface="Calibri"/>
              </a:rPr>
              <a:t>solution/ = our finished prompts and run configs</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/home/scripts/part2/solution</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the hybrid team</a:t>
            </a:r>
          </a:p>
          <a:p>
            <a:pPr algn="l">
              <a:spcBef>
                <a:spcPts val="0"/>
              </a:spcBef>
              <a:spcAft>
                <a:spcPts val="0"/>
              </a:spcAft>
              <a:buNone/>
            </a:pPr>
            <a:r>
              <a:rPr lang="en-US" sz="950" b="0" i="0">
                <a:solidFill>
                  <a:srgbClr val="5D6C7B"/>
                </a:solidFill>
                <a:latin typeface="Calibri"/>
                <a:ea typeface="Calibri"/>
                <a:cs typeface="Calibri"/>
              </a:rPr>
              <a:t>run config 2c: the same four agents as Task 2.2, with two of them on a local model</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run_configs/2c_multi_agent_mixed_models.yaml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the flow does</a:t>
            </a:r>
          </a:p>
          <a:p>
            <a:pPr algn="l">
              <a:spcBef>
                <a:spcPts val="0"/>
              </a:spcBef>
              <a:spcAft>
                <a:spcPts val="0"/>
              </a:spcAft>
              <a:buNone/>
            </a:pPr>
            <a:r>
              <a:rPr lang="en-US" sz="950" b="0" i="0">
                <a:solidFill>
                  <a:srgbClr val="5D6C7B"/>
                </a:solidFill>
                <a:latin typeface="Calibri"/>
                <a:ea typeface="Calibri"/>
                <a:cs typeface="Calibri"/>
              </a:rPr>
              <a:t>the same stages as Task 2.2. Only the model behind two agents changes</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to look at</a:t>
            </a:r>
          </a:p>
          <a:p>
            <a:pPr algn="l">
              <a:spcBef>
                <a:spcPts val="0"/>
              </a:spcBef>
              <a:spcAft>
                <a:spcPts val="0"/>
              </a:spcAft>
              <a:buNone/>
            </a:pPr>
            <a:r>
              <a:rPr lang="en-US" sz="950" b="0" i="0">
                <a:solidFill>
                  <a:srgbClr val="5D6C7B"/>
                </a:solidFill>
                <a:latin typeface="Calibri"/>
                <a:ea typeface="Calibri"/>
                <a:cs typeface="Calibri"/>
              </a:rPr>
              <a:t>the time and the tokens of every agent: the local model is free, but slow</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Where the files are</a:t>
            </a:r>
          </a:p>
          <a:p>
            <a:pPr algn="l">
              <a:spcBef>
                <a:spcPts val="0"/>
              </a:spcBef>
              <a:spcAft>
                <a:spcPts val="0"/>
              </a:spcAft>
              <a:buNone/>
            </a:pPr>
            <a:r>
              <a:rPr lang="en-US" sz="950" b="0" i="0">
                <a:solidFill>
                  <a:srgbClr val="5D6C7B"/>
                </a:solidFill>
                <a:latin typeface="Calibri"/>
                <a:ea typeface="Calibri"/>
                <a:cs typeface="Calibri"/>
              </a:rPr>
              <a:t>results/&lt;design&gt;/ every iteration · token_usage.json: tokens and time per agent</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LOOK AT  time and tokens per agent: what does the local model cost, and what does it save?</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TB agent, RTL agent     →  Gemini Flash Lite</a:t>
            </a:r>
          </a:p>
          <a:p>
            <a:pPr algn="l">
              <a:lnSpc>
                <a:spcPct val="100000"/>
              </a:lnSpc>
              <a:spcBef>
                <a:spcPts val="0"/>
              </a:spcBef>
              <a:spcAft>
                <a:spcPts val="0"/>
              </a:spcAft>
              <a:buNone/>
            </a:pPr>
            <a:r>
              <a:rPr lang="en-US" sz="880" b="0" i="0">
                <a:solidFill>
                  <a:srgbClr val="FFFFFF"/>
                </a:solidFill>
                <a:latin typeface="Courier New"/>
                <a:ea typeface="Courier New"/>
                <a:cs typeface="Courier New"/>
              </a:rPr>
              <a:t>SDC agent, config.mk    →  llama3.1 (local)</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sdc_generator   SDC generation, iteration 1</a:t>
            </a:r>
          </a:p>
          <a:p>
            <a:pPr algn="l">
              <a:lnSpc>
                <a:spcPct val="100000"/>
              </a:lnSpc>
              <a:spcBef>
                <a:spcPts val="0"/>
              </a:spcBef>
              <a:spcAft>
                <a:spcPts val="0"/>
              </a:spcAft>
              <a:buNone/>
            </a:pPr>
            <a:r>
              <a:rPr lang="en-US" sz="880" b="0" i="0">
                <a:solidFill>
                  <a:srgbClr val="FFFFFF"/>
                </a:solidFill>
                <a:latin typeface="Courier New"/>
                <a:ea typeface="Courier New"/>
                <a:cs typeface="Courier New"/>
              </a:rPr>
              <a:t>   1641 tokens      58.1s   1,695.8 TPM</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ls runs/2c_multi_agent_mixed_models/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2.3 – your turn: move work to the local model</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62</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Part 2</a:t>
            </a:r>
          </a:p>
          <a:p>
            <a:pPr algn="l">
              <a:spcBef>
                <a:spcPts val="0"/>
              </a:spcBef>
              <a:spcAft>
                <a:spcPts val="0"/>
              </a:spcAft>
              <a:buNone/>
            </a:pPr>
            <a:r>
              <a:rPr lang="en-US" sz="950" b="0" i="0">
                <a:solidFill>
                  <a:srgbClr val="5D6C7B"/>
                </a:solidFill>
                <a:latin typeface="Calibri"/>
                <a:ea typeface="Calibri"/>
                <a:cs typeface="Calibri"/>
              </a:rPr>
              <a:t>inside the container. You work in problem/</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/home/scripts/part2/problem</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Check the local model</a:t>
            </a:r>
          </a:p>
          <a:p>
            <a:pPr algn="l">
              <a:spcBef>
                <a:spcPts val="0"/>
              </a:spcBef>
              <a:spcAft>
                <a:spcPts val="0"/>
              </a:spcAft>
              <a:buNone/>
            </a:pPr>
            <a:r>
              <a:rPr lang="en-US" sz="950" b="0" i="0">
                <a:solidFill>
                  <a:srgbClr val="5D6C7B"/>
                </a:solidFill>
                <a:latin typeface="Calibri"/>
                <a:ea typeface="Calibri"/>
                <a:cs typeface="Calibri"/>
              </a:rPr>
              <a:t>llama3.1 must be in the list. If it is missing:  ollama pull llama3.1  (about 5 minutes)</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ollama list</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See who runs where</a:t>
            </a:r>
          </a:p>
          <a:p>
            <a:pPr algn="l">
              <a:spcBef>
                <a:spcPts val="0"/>
              </a:spcBef>
              <a:spcAft>
                <a:spcPts val="0"/>
              </a:spcAft>
              <a:buNone/>
            </a:pPr>
            <a:r>
              <a:rPr lang="en-US" sz="950" b="0" i="0">
                <a:solidFill>
                  <a:srgbClr val="5D6C7B"/>
                </a:solidFill>
                <a:latin typeface="Calibri"/>
                <a:ea typeface="Calibri"/>
                <a:cs typeface="Calibri"/>
              </a:rPr>
              <a:t>open run_configs/2c_multi_agent_mixed_models.yaml on your laptop: every agent has a profile line = its model</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it</a:t>
            </a:r>
          </a:p>
          <a:p>
            <a:pPr algn="l">
              <a:spcBef>
                <a:spcPts val="0"/>
              </a:spcBef>
              <a:spcAft>
                <a:spcPts val="0"/>
              </a:spcAft>
              <a:buNone/>
            </a:pPr>
            <a:r>
              <a:rPr lang="en-US" sz="950" b="0" i="0">
                <a:solidFill>
                  <a:srgbClr val="5D6C7B"/>
                </a:solidFill>
                <a:latin typeface="Calibri"/>
                <a:ea typeface="Calibri"/>
                <a:cs typeface="Calibri"/>
              </a:rPr>
              <a:t>SDC and config.mk now run on your laptop: slower, but free. Note the time and tokens per agent at the end</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Change the split, run again</a:t>
            </a:r>
          </a:p>
          <a:p>
            <a:pPr algn="l">
              <a:spcBef>
                <a:spcPts val="0"/>
              </a:spcBef>
              <a:spcAft>
                <a:spcPts val="0"/>
              </a:spcAft>
              <a:buNone/>
            </a:pPr>
            <a:r>
              <a:rPr lang="en-US" sz="950" b="0" i="0">
                <a:solidFill>
                  <a:srgbClr val="5D6C7B"/>
                </a:solidFill>
                <a:latin typeface="Calibri"/>
                <a:ea typeface="Calibri"/>
                <a:cs typeface="Calibri"/>
              </a:rPr>
              <a:t>edit ONE profile line, e.g. the RTL agent to the local model. Save, run step 4 again, compare time and tokens</a:t>
            </a:r>
          </a:p>
        </p:txBody>
      </p:sp>
      <p:sp>
        <p:nvSpPr>
          <p:cNvPr id="1500" name="checkpoint 1500"/>
          <p:cNvSpPr/>
          <p:nvPr/>
        </p:nvSpPr>
        <p:spPr>
          <a:xfrm>
            <a:off x="457200" y="5760720"/>
            <a:ext cx="605426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you can say which agents a local model can handle – and what it costs in time</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sdc_generator:        profile: "ollama-llama3.1"</a:t>
            </a:r>
          </a:p>
          <a:p>
            <a:pPr algn="l">
              <a:lnSpc>
                <a:spcPct val="100000"/>
              </a:lnSpc>
              <a:spcBef>
                <a:spcPts val="0"/>
              </a:spcBef>
              <a:spcAft>
                <a:spcPts val="0"/>
              </a:spcAft>
              <a:buNone/>
            </a:pPr>
            <a:r>
              <a:rPr lang="en-US" sz="880" b="0" i="0">
                <a:solidFill>
                  <a:srgbClr val="FFFFFF"/>
                </a:solidFill>
                <a:latin typeface="Courier New"/>
                <a:ea typeface="Courier New"/>
                <a:cs typeface="Courier New"/>
              </a:rPr>
              <a:t>config_mk_generator:  profile: "ollama-llama3.1"</a:t>
            </a:r>
          </a:p>
          <a:p>
            <a:pPr algn="l">
              <a:lnSpc>
                <a:spcPct val="100000"/>
              </a:lnSpc>
              <a:spcBef>
                <a:spcPts val="0"/>
              </a:spcBef>
              <a:spcAft>
                <a:spcPts val="0"/>
              </a:spcAft>
              <a:buNone/>
            </a:pPr>
            <a:r>
              <a:rPr lang="en-US" sz="880" b="0" i="0">
                <a:solidFill>
                  <a:srgbClr val="7EC699"/>
                </a:solidFill>
                <a:latin typeface="Courier New"/>
                <a:ea typeface="Courier New"/>
                <a:cs typeface="Courier New"/>
              </a:rPr>
              <a:t># tb_generator, rtl_generator: "gemini_lite"</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run_configs/2c_multi_agent_mixed_models.yaml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rtl_generator:</a:t>
            </a:r>
          </a:p>
          <a:p>
            <a:pPr algn="l">
              <a:lnSpc>
                <a:spcPct val="100000"/>
              </a:lnSpc>
              <a:spcBef>
                <a:spcPts val="0"/>
              </a:spcBef>
              <a:spcAft>
                <a:spcPts val="0"/>
              </a:spcAft>
              <a:buNone/>
            </a:pPr>
            <a:r>
              <a:rPr lang="en-US" sz="880" b="0" i="0">
                <a:solidFill>
                  <a:srgbClr val="FFFFFF"/>
                </a:solidFill>
                <a:latin typeface="Courier New"/>
                <a:ea typeface="Courier New"/>
                <a:cs typeface="Courier New"/>
              </a:rPr>
              <a:t>  profile: "ollama-llama3.1"</a:t>
            </a:r>
          </a:p>
          <a:p>
            <a:pPr algn="l">
              <a:lnSpc>
                <a:spcPct val="100000"/>
              </a:lnSpc>
              <a:spcBef>
                <a:spcPts val="0"/>
              </a:spcBef>
              <a:spcAft>
                <a:spcPts val="0"/>
              </a:spcAft>
              <a:buNone/>
            </a:pPr>
            <a:r>
              <a:rPr lang="en-US" sz="880" b="0" i="0">
                <a:solidFill>
                  <a:srgbClr val="7EC699"/>
                </a:solidFill>
                <a:latin typeface="Courier New"/>
                <a:ea typeface="Courier New"/>
                <a:cs typeface="Courier New"/>
              </a:rPr>
              <a:t># then: cat runs/2c_*/token_usage.json</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700" name="Add-in timer">
                <a:extLst>
                  <a:ext uri="{FF2B5EF4-FFF2-40B4-BE49-F238E27FC236}">
                    <a16:creationId xmlns:a16="http://schemas.microsoft.com/office/drawing/2014/main" id="{03340898-D715-89F3-D65A-91631250D20C}"/>
                  </a:ext>
                </a:extLst>
              </p:cNvPr>
              <p:cNvGraphicFramePr>
                <a:graphicFrameLocks noGrp="1"/>
              </p:cNvGraphicFramePr>
              <p:nvPr>
                <p:extLst>
                  <p:ext uri="{D42A27DB-BD31-4B8C-83A1-F6EECF244321}">
                    <p14:modId xmlns:p14="http://schemas.microsoft.com/office/powerpoint/2010/main" val="211088817"/>
                  </p:ext>
                </p:extLst>
              </p:nvPr>
            </p:nvGraphicFramePr>
            <p:xfrm>
              <a:off x="7016925" y="573561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700" name="Add-in timer">
                <a:extLst>
                  <a:ext uri="{FF2B5EF4-FFF2-40B4-BE49-F238E27FC236}">
                    <a16:creationId xmlns:a16="http://schemas.microsoft.com/office/drawing/2014/main" id="{03340898-D715-89F3-D65A-91631250D20C}"/>
                  </a:ext>
                </a:extLst>
              </p:cNvPr>
              <p:cNvPicPr>
                <a:picLocks noGrp="1" noRot="1" noChangeAspect="1" noMove="1" noResize="1" noEditPoints="1" noAdjustHandles="1" noChangeArrowheads="1" noChangeShapeType="1"/>
              </p:cNvPicPr>
              <p:nvPr/>
            </p:nvPicPr>
            <p:blipFill>
              <a:blip r:embed="rId4"/>
              <a:stretch>
                <a:fillRect/>
              </a:stretch>
            </p:blipFill>
            <p:spPr>
              <a:xfrm>
                <a:off x="7016925" y="5735618"/>
                <a:ext cx="4654855" cy="1936624"/>
              </a:xfrm>
              <a:prstGeom prst="rect">
                <a:avLst/>
              </a:prstGeom>
            </p:spPr>
          </p:pic>
        </mc:Fallback>
      </mc:AlternateContent>
      <p:pic>
        <p:nvPicPr>
          <p:cNvPr id="6" name="Picture 5" descr="Stopwatch on white background">
            <a:extLst>
              <a:ext uri="{FF2B5EF4-FFF2-40B4-BE49-F238E27FC236}">
                <a16:creationId xmlns:a16="http://schemas.microsoft.com/office/drawing/2014/main" id="{3480D1BC-1F45-CCD2-884D-5BE25471A7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8E3C9CA4-55E1-E1CA-A87C-1E0B4FA721E5}"/>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18972A1C-B7D7-B3D0-E373-DE06AD06330F}"/>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5EFE21BC-D96B-F32E-8070-CB1B9BAE78BE}"/>
              </a:ext>
            </a:extLst>
          </p:cNvPr>
          <p:cNvSpPr>
            <a:spLocks noGrp="1"/>
          </p:cNvSpPr>
          <p:nvPr/>
        </p:nvSpPr>
        <p:spPr>
          <a:xfrm>
            <a:off x="495300" y="257175"/>
            <a:ext cx="7524750" cy="514350"/>
          </a:xfrm>
          <a:prstGeom prst="rect">
            <a:avLst/>
          </a:prstGeom>
          <a:noFill/>
          <a:ln w="0">
            <a:noFill/>
          </a:ln>
        </p:spPr>
        <p:txBody>
          <a:bodyPr anchor="ctr">
            <a:normAutofit/>
          </a:bodyPr>
          <a:lstStyle/>
          <a:p>
            <a:pPr algn="l">
              <a:defRPr sz="2400" b="1">
                <a:solidFill>
                  <a:srgbClr val="17365D"/>
                </a:solidFill>
                <a:latin typeface="Calibri"/>
                <a:ea typeface="Calibri"/>
                <a:cs typeface="Calibri"/>
              </a:defRPr>
            </a:pPr>
            <a:r>
              <a:rPr lang="en-US" sz="2400" b="1">
                <a:solidFill>
                  <a:srgbClr val="17365D"/>
                </a:solidFill>
                <a:latin typeface="Calibri"/>
                <a:ea typeface="Calibri"/>
                <a:cs typeface="Calibri"/>
              </a:rPr>
              <a:t>Task 2 – overview: four ways to run the flow</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424AE461-F078-F746-C5EA-953DE3BC4BAB}"/>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D89D1A2B-3C21-B0C2-2472-BB3270695BFA}"/>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63</a:t>
            </a:fld>
            <a:endParaRPr sz="750" b="0">
              <a:solidFill>
                <a:srgbClr val="5B6573"/>
              </a:solidFill>
              <a:latin typeface="Calibri"/>
              <a:ea typeface="Calibri"/>
              <a:cs typeface="Calibri"/>
            </a:endParaRPr>
          </a:p>
        </p:txBody>
      </p:sp>
      <p:graphicFrame>
        <p:nvGraphicFramePr>
          <p:cNvPr id="8" name="Table 7">
            <a:extLst>
              <a:ext uri="{FF2B5EF4-FFF2-40B4-BE49-F238E27FC236}">
                <a16:creationId xmlns:a16="http://schemas.microsoft.com/office/drawing/2014/main" id="{C9D50D37-64EA-BF82-1450-FB7A692547B8}"/>
              </a:ext>
            </a:extLst>
          </p:cNvPr>
          <p:cNvGraphicFramePr>
            <a:graphicFrameLocks noGrp="1"/>
          </p:cNvGraphicFramePr>
          <p:nvPr>
            <p:extLst>
              <p:ext uri="{D42A27DB-BD31-4B8C-83A1-F6EECF244321}">
                <p14:modId xmlns:p14="http://schemas.microsoft.com/office/powerpoint/2010/main" val="417461439"/>
              </p:ext>
            </p:extLst>
          </p:nvPr>
        </p:nvGraphicFramePr>
        <p:xfrm>
          <a:off x="412375" y="1376678"/>
          <a:ext cx="8435790" cy="4178127"/>
        </p:xfrm>
        <a:graphic>
          <a:graphicData uri="http://schemas.openxmlformats.org/drawingml/2006/table">
            <a:tbl>
              <a:tblPr firstRow="1" bandRow="1">
                <a:tableStyleId>{3C2FFA5D-87B4-456A-9821-1D502468CF0F}</a:tableStyleId>
              </a:tblPr>
              <a:tblGrid>
                <a:gridCol w="1737360">
                  <a:extLst>
                    <a:ext uri="{9D8B030D-6E8A-4147-A177-3AD203B41FA5}">
                      <a16:colId xmlns:a16="http://schemas.microsoft.com/office/drawing/2014/main" val="2743157295"/>
                    </a:ext>
                  </a:extLst>
                </a:gridCol>
                <a:gridCol w="3657600">
                  <a:extLst>
                    <a:ext uri="{9D8B030D-6E8A-4147-A177-3AD203B41FA5}">
                      <a16:colId xmlns:a16="http://schemas.microsoft.com/office/drawing/2014/main" val="3671494132"/>
                    </a:ext>
                  </a:extLst>
                </a:gridCol>
                <a:gridCol w="3040830">
                  <a:extLst>
                    <a:ext uri="{9D8B030D-6E8A-4147-A177-3AD203B41FA5}">
                      <a16:colId xmlns:a16="http://schemas.microsoft.com/office/drawing/2014/main" val="1232688733"/>
                    </a:ext>
                  </a:extLst>
                </a:gridCol>
              </a:tblGrid>
              <a:tr h="791083">
                <a:tc>
                  <a:txBody>
                    <a:bodyPr/>
                    <a:lstStyle/>
                    <a:p>
                      <a:pPr algn="ctr"/>
                      <a:r>
                        <a:rPr lang="en-US" sz="2000">
                          <a:solidFill>
                            <a:schemeClr val="bg1"/>
                          </a:solidFill>
                        </a:rPr>
                        <a:t>Task</a:t>
                      </a:r>
                    </a:p>
                  </a:txBody>
                  <a:tcPr anchor="ctr"/>
                </a:tc>
                <a:tc>
                  <a:txBody>
                    <a:bodyPr/>
                    <a:lstStyle/>
                    <a:p>
                      <a:pPr algn="ctr"/>
                      <a:r>
                        <a:rPr lang="en-US" sz="2000">
                          <a:solidFill>
                            <a:schemeClr val="bg1"/>
                          </a:solidFill>
                        </a:rPr>
                        <a:t>Agents &amp; models</a:t>
                      </a:r>
                    </a:p>
                  </a:txBody>
                  <a:tcPr anchor="ctr"/>
                </a:tc>
                <a:tc>
                  <a:txBody>
                    <a:bodyPr/>
                    <a:lstStyle/>
                    <a:p>
                      <a:pPr algn="ctr"/>
                      <a:r>
                        <a:rPr lang="en-US" sz="2000">
                          <a:solidFill>
                            <a:schemeClr val="bg1"/>
                          </a:solidFill>
                        </a:rPr>
                        <a:t>What to look for?</a:t>
                      </a:r>
                    </a:p>
                  </a:txBody>
                  <a:tcPr anchor="ctr"/>
                </a:tc>
                <a:extLst>
                  <a:ext uri="{0D108BD9-81ED-4DB2-BD59-A6C34878D82A}">
                    <a16:rowId xmlns:a16="http://schemas.microsoft.com/office/drawing/2014/main" val="3622781573"/>
                  </a:ext>
                </a:extLst>
              </a:tr>
              <a:tr h="7910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a:solidFill>
                            <a:schemeClr val="tx1"/>
                          </a:solidFill>
                        </a:rPr>
                        <a:t>Task 2.1  Single 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1 agent writes TB + RTL + SDC + config.mk · Gemini Flash Lite</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Which stages fail? Runtime?</a:t>
                      </a:r>
                    </a:p>
                  </a:txBody>
                  <a:tcPr anchor="ctr"/>
                </a:tc>
                <a:extLst>
                  <a:ext uri="{0D108BD9-81ED-4DB2-BD59-A6C34878D82A}">
                    <a16:rowId xmlns:a16="http://schemas.microsoft.com/office/drawing/2014/main" val="666777034"/>
                  </a:ext>
                </a:extLst>
              </a:tr>
              <a:tr h="791083">
                <a:tc>
                  <a:txBody>
                    <a:bodyPr/>
                    <a:lstStyle/>
                    <a:p>
                      <a:r>
                        <a:rPr lang="en-US" b="1">
                          <a:solidFill>
                            <a:schemeClr val="tx1"/>
                          </a:solidFill>
                        </a:rPr>
                        <a:t>Task 2.2  Multi-agent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TB, RTL, SDC, config.mk agents · all Gemini Flash Lite</a:t>
                      </a:r>
                    </a:p>
                  </a:txBody>
                  <a:tcPr anchor="ctr"/>
                </a:tc>
                <a:tc>
                  <a:txBody>
                    <a:bodyPr/>
                    <a:lstStyle/>
                    <a:p>
                      <a:pPr lvl="0" algn="ctr">
                        <a:lnSpc>
                          <a:spcPct val="115000"/>
                        </a:lnSpc>
                        <a:buClr>
                          <a:srgbClr val="FFFFFF"/>
                        </a:buClr>
                        <a:buSzPts val="1344"/>
                      </a:pPr>
                      <a:r>
                        <a:rPr lang="en-US" sz="1400">
                          <a:solidFill>
                            <a:schemeClr val="tx1"/>
                          </a:solidFill>
                          <a:sym typeface="Roboto"/>
                        </a:rPr>
                        <a:t>Iterations per stage and tokens vs Task 2.1</a:t>
                      </a:r>
                    </a:p>
                  </a:txBody>
                  <a:tcPr anchor="ctr"/>
                </a:tc>
                <a:extLst>
                  <a:ext uri="{0D108BD9-81ED-4DB2-BD59-A6C34878D82A}">
                    <a16:rowId xmlns:a16="http://schemas.microsoft.com/office/drawing/2014/main" val="1045036667"/>
                  </a:ext>
                </a:extLst>
              </a:tr>
              <a:tr h="1013795">
                <a:tc>
                  <a:txBody>
                    <a:bodyPr/>
                    <a:lstStyle/>
                    <a:p>
                      <a:r>
                        <a:rPr lang="en-US" b="1">
                          <a:solidFill>
                            <a:schemeClr val="tx1"/>
                          </a:solidFill>
                        </a:rPr>
                        <a:t>Task 2.3  Hybrid models</a:t>
                      </a:r>
                    </a:p>
                  </a:txBody>
                  <a:tcPr anchor="ctr"/>
                </a:tc>
                <a:tc>
                  <a:txBody>
                    <a:bodyPr/>
                    <a:lstStyle/>
                    <a:p>
                      <a:pPr lvl="0" algn="ctr">
                        <a:buClr>
                          <a:srgbClr val="FFFFFF"/>
                        </a:buClr>
                        <a:buSzPts val="1344"/>
                      </a:pPr>
                      <a:r>
                        <a:rPr lang="en-US" sz="1400">
                          <a:solidFill>
                            <a:schemeClr val="tx1"/>
                          </a:solidFill>
                          <a:sym typeface="Roboto"/>
                        </a:rPr>
                        <a:t>TB + RTL: Gemini Lite (cloud) · SDC + config.mk: llama3.1 (local)</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a:solidFill>
                            <a:schemeClr val="tx1"/>
                          </a:solidFill>
                          <a:sym typeface="Arial"/>
                        </a:rPr>
                        <a:t>Can a local SLM handle the template tasks?</a:t>
                      </a:r>
                    </a:p>
                  </a:txBody>
                  <a:tcPr anchor="ctr"/>
                </a:tc>
                <a:extLst>
                  <a:ext uri="{0D108BD9-81ED-4DB2-BD59-A6C34878D82A}">
                    <a16:rowId xmlns:a16="http://schemas.microsoft.com/office/drawing/2014/main" val="3344965393"/>
                  </a:ext>
                </a:extLst>
              </a:tr>
              <a:tr h="791083">
                <a:tc>
                  <a:txBody>
                    <a:bodyPr/>
                    <a:lstStyle/>
                    <a:p>
                      <a:r>
                        <a:rPr lang="en-US" b="1">
                          <a:solidFill>
                            <a:srgbClr val="FFFFFF"/>
                          </a:solidFill>
                        </a:rPr>
                        <a:t>Task 2.4  + Validators</a:t>
                      </a:r>
                    </a:p>
                  </a:txBody>
                  <a:tcPr anchor="ctr">
                    <a:solidFill>
                      <a:srgbClr val="0E274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a:solidFill>
                            <a:srgbClr val="FFFFFF"/>
                          </a:solidFill>
                          <a:sym typeface="Roboto"/>
                        </a:rPr>
                        <a:t>As Task 2.3 + TB and RTL validator agents</a:t>
                      </a:r>
                    </a:p>
                  </a:txBody>
                  <a:tcPr anchor="ctr">
                    <a:solidFill>
                      <a:srgbClr val="0E274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a:solidFill>
                            <a:srgbClr val="FFFFFF"/>
                          </a:solidFill>
                          <a:sym typeface="Roboto"/>
                        </a:rPr>
                        <a:t>Bugs caught earlier? Worth the extra tokens?</a:t>
                      </a:r>
                    </a:p>
                  </a:txBody>
                  <a:tcPr anchor="ctr">
                    <a:solidFill>
                      <a:srgbClr val="0E2745"/>
                    </a:solidFill>
                  </a:tcPr>
                </a:tc>
                <a:extLst>
                  <a:ext uri="{0D108BD9-81ED-4DB2-BD59-A6C34878D82A}">
                    <a16:rowId xmlns:a16="http://schemas.microsoft.com/office/drawing/2014/main" val="3157527047"/>
                  </a:ext>
                </a:extLst>
              </a:tr>
            </a:tbl>
          </a:graphicData>
        </a:graphic>
      </p:graphicFrame>
      <p:sp>
        <p:nvSpPr>
          <p:cNvPr id="11" name="Rectangle 10">
            <a:extLst>
              <a:ext uri="{FF2B5EF4-FFF2-40B4-BE49-F238E27FC236}">
                <a16:creationId xmlns:a16="http://schemas.microsoft.com/office/drawing/2014/main" id="{6D5C459D-E640-FD9D-74F1-4FEC9D1875F5}"/>
              </a:ext>
            </a:extLst>
          </p:cNvPr>
          <p:cNvSpPr>
            <a:spLocks noGrp="1"/>
          </p:cNvSpPr>
          <p:nvPr/>
        </p:nvSpPr>
        <p:spPr>
          <a:xfrm>
            <a:off x="361950" y="5592039"/>
            <a:ext cx="8115300" cy="409575"/>
          </a:xfrm>
          <a:prstGeom prst="rect">
            <a:avLst/>
          </a:prstGeom>
          <a:noFill/>
          <a:ln w="0">
            <a:noFill/>
          </a:ln>
        </p:spPr>
        <p:txBody>
          <a:bodyPr>
            <a:noAutofit/>
          </a:bodyPr>
          <a:lstStyle/>
          <a:p>
            <a:pPr>
              <a:defRPr sz="1275" b="0">
                <a:solidFill>
                  <a:srgbClr val="506573"/>
                </a:solidFill>
                <a:latin typeface="Arial"/>
                <a:ea typeface="Arial"/>
                <a:cs typeface="Arial"/>
              </a:defRPr>
            </a:pPr>
            <a:r>
              <a:rPr sz="1275" b="0">
                <a:solidFill>
                  <a:srgbClr val="506573"/>
                </a:solidFill>
                <a:latin typeface="Arial"/>
                <a:ea typeface="Arial"/>
                <a:cs typeface="Arial"/>
              </a:rPr>
              <a:t>All runs: </a:t>
            </a:r>
            <a:r>
              <a:rPr sz="1275" b="0" err="1">
                <a:solidFill>
                  <a:srgbClr val="506573"/>
                </a:solidFill>
                <a:latin typeface="Arial"/>
                <a:ea typeface="Arial"/>
                <a:cs typeface="Arial"/>
              </a:rPr>
              <a:t>iterative_optimization</a:t>
            </a:r>
            <a:r>
              <a:rPr sz="1275" b="0">
                <a:solidFill>
                  <a:srgbClr val="506573"/>
                </a:solidFill>
                <a:latin typeface="Arial"/>
                <a:ea typeface="Arial"/>
                <a:cs typeface="Arial"/>
              </a:rPr>
              <a:t> = false, </a:t>
            </a:r>
            <a:r>
              <a:rPr sz="1275" b="0" err="1">
                <a:solidFill>
                  <a:srgbClr val="506573"/>
                </a:solidFill>
                <a:latin typeface="Arial"/>
                <a:ea typeface="Arial"/>
                <a:cs typeface="Arial"/>
              </a:rPr>
              <a:t>enable_resynthesis</a:t>
            </a:r>
            <a:r>
              <a:rPr sz="1275" b="0">
                <a:solidFill>
                  <a:srgbClr val="506573"/>
                </a:solidFill>
                <a:latin typeface="Arial"/>
                <a:ea typeface="Arial"/>
                <a:cs typeface="Arial"/>
              </a:rPr>
              <a:t> = false. Run from </a:t>
            </a:r>
            <a:r>
              <a:rPr sz="1100" b="0">
                <a:solidFill>
                  <a:srgbClr val="506573"/>
                </a:solidFill>
                <a:latin typeface="Courier New" panose="02070309020205020404" pitchFamily="49" charset="0"/>
                <a:ea typeface="Arial"/>
                <a:cs typeface="Courier New" panose="02070309020205020404" pitchFamily="49" charset="0"/>
              </a:rPr>
              <a:t>part2/problem</a:t>
            </a:r>
            <a:r>
              <a:rPr sz="1275" b="0">
                <a:solidFill>
                  <a:srgbClr val="506573"/>
                </a:solidFill>
                <a:latin typeface="Arial"/>
                <a:ea typeface="Arial"/>
                <a:cs typeface="Arial"/>
              </a:rPr>
              <a:t>:  python3 </a:t>
            </a:r>
            <a:r>
              <a:rPr sz="1200" b="0">
                <a:solidFill>
                  <a:srgbClr val="506573"/>
                </a:solidFill>
                <a:latin typeface="Courier New" panose="02070309020205020404" pitchFamily="49" charset="0"/>
                <a:ea typeface="Arial"/>
                <a:cs typeface="Courier New" panose="02070309020205020404" pitchFamily="49" charset="0"/>
              </a:rPr>
              <a:t>asic_autonomous_flow.py --config </a:t>
            </a:r>
            <a:r>
              <a:rPr sz="1200" b="0" err="1">
                <a:solidFill>
                  <a:srgbClr val="506573"/>
                </a:solidFill>
                <a:latin typeface="Courier New" panose="02070309020205020404" pitchFamily="49" charset="0"/>
                <a:ea typeface="Arial"/>
                <a:cs typeface="Courier New" panose="02070309020205020404" pitchFamily="49" charset="0"/>
              </a:rPr>
              <a:t>run_configs</a:t>
            </a:r>
            <a:r>
              <a:rPr sz="1200" b="0">
                <a:solidFill>
                  <a:srgbClr val="506573"/>
                </a:solidFill>
                <a:latin typeface="Courier New" panose="02070309020205020404" pitchFamily="49" charset="0"/>
                <a:ea typeface="Arial"/>
                <a:cs typeface="Courier New" panose="02070309020205020404" pitchFamily="49" charset="0"/>
              </a:rPr>
              <a:t>/&lt;run&gt;.</a:t>
            </a:r>
            <a:r>
              <a:rPr sz="1200" b="0" err="1">
                <a:solidFill>
                  <a:srgbClr val="506573"/>
                </a:solidFill>
                <a:latin typeface="Courier New" panose="02070309020205020404" pitchFamily="49" charset="0"/>
                <a:ea typeface="Arial"/>
                <a:cs typeface="Courier New" panose="02070309020205020404" pitchFamily="49" charset="0"/>
              </a:rPr>
              <a:t>yaml</a:t>
            </a:r>
            <a:endParaRPr sz="1200" b="0">
              <a:solidFill>
                <a:srgbClr val="506573"/>
              </a:solidFill>
              <a:latin typeface="Courier New" panose="02070309020205020404" pitchFamily="49" charset="0"/>
              <a:ea typeface="Arial"/>
              <a:cs typeface="Courier New" panose="020703090202050204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2.4 – our golden run: validator agents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64</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golden folder</a:t>
            </a:r>
          </a:p>
          <a:p>
            <a:pPr algn="l">
              <a:spcBef>
                <a:spcPts val="0"/>
              </a:spcBef>
              <a:spcAft>
                <a:spcPts val="0"/>
              </a:spcAft>
              <a:buNone/>
            </a:pPr>
            <a:r>
              <a:rPr lang="en-US" sz="950" b="0" i="0">
                <a:solidFill>
                  <a:srgbClr val="5D6C7B"/>
                </a:solidFill>
                <a:latin typeface="Calibri"/>
                <a:ea typeface="Calibri"/>
                <a:cs typeface="Calibri"/>
              </a:rPr>
              <a:t>solution/ = our finished prompts and run configs</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/home/scripts/part2/solution</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with validators</a:t>
            </a:r>
          </a:p>
          <a:p>
            <a:pPr algn="l">
              <a:spcBef>
                <a:spcPts val="0"/>
              </a:spcBef>
              <a:spcAft>
                <a:spcPts val="0"/>
              </a:spcAft>
              <a:buNone/>
            </a:pPr>
            <a:r>
              <a:rPr lang="en-US" sz="950" b="0" i="0">
                <a:solidFill>
                  <a:srgbClr val="5D6C7B"/>
                </a:solidFill>
                <a:latin typeface="Calibri"/>
                <a:ea typeface="Calibri"/>
                <a:cs typeface="Calibri"/>
              </a:rPr>
              <a:t>run config 2d (2d_multi_agent_mixed_models_validators.yaml): Task 2.3 + two validator agents</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run_configs/2d_*.yaml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the flow does</a:t>
            </a:r>
          </a:p>
          <a:p>
            <a:pPr algn="l">
              <a:spcBef>
                <a:spcPts val="0"/>
              </a:spcBef>
              <a:spcAft>
                <a:spcPts val="0"/>
              </a:spcAft>
              <a:buNone/>
            </a:pPr>
            <a:r>
              <a:rPr lang="en-US" sz="950" b="0" i="0">
                <a:solidFill>
                  <a:srgbClr val="5D6C7B"/>
                </a:solidFill>
                <a:latin typeface="Calibri"/>
                <a:ea typeface="Calibri"/>
                <a:cs typeface="Calibri"/>
              </a:rPr>
              <a:t>after every testbench and every RTL, a validator agent audits it against the spec</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to look at</a:t>
            </a:r>
          </a:p>
          <a:p>
            <a:pPr algn="l">
              <a:spcBef>
                <a:spcPts val="0"/>
              </a:spcBef>
              <a:spcAft>
                <a:spcPts val="0"/>
              </a:spcAft>
              <a:buNone/>
            </a:pPr>
            <a:r>
              <a:rPr lang="en-US" sz="950" b="0" i="0">
                <a:solidFill>
                  <a:srgbClr val="5D6C7B"/>
                </a:solidFill>
                <a:latin typeface="Calibri"/>
                <a:ea typeface="Calibri"/>
                <a:cs typeface="Calibri"/>
              </a:rPr>
              <a:t>what the validators say, and their share of the tokens</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Where the files are</a:t>
            </a:r>
          </a:p>
          <a:p>
            <a:pPr algn="l">
              <a:spcBef>
                <a:spcPts val="0"/>
              </a:spcBef>
              <a:spcAft>
                <a:spcPts val="0"/>
              </a:spcAft>
              <a:buNone/>
            </a:pPr>
            <a:r>
              <a:rPr lang="en-US" sz="950" b="0" i="0">
                <a:solidFill>
                  <a:srgbClr val="5D6C7B"/>
                </a:solidFill>
                <a:latin typeface="Calibri"/>
                <a:ea typeface="Calibri"/>
                <a:cs typeface="Calibri"/>
              </a:rPr>
              <a:t>token_usage.json: the validators' rows</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LOOK AT  do the validators catch a bug before the simulator does – and how many tokens does that cost?</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[RTL VALIDATOR] Auditing RTL against spec</a:t>
            </a:r>
          </a:p>
          <a:p>
            <a:pPr algn="l">
              <a:lnSpc>
                <a:spcPct val="100000"/>
              </a:lnSpc>
              <a:spcBef>
                <a:spcPts val="0"/>
              </a:spcBef>
              <a:spcAft>
                <a:spcPts val="0"/>
              </a:spcAft>
              <a:buNone/>
            </a:pPr>
            <a:r>
              <a:rPr lang="en-US" sz="880" b="0" i="0">
                <a:solidFill>
                  <a:srgbClr val="FFFFFF"/>
                </a:solidFill>
                <a:latin typeface="Courier New"/>
                <a:ea typeface="Courier New"/>
                <a:cs typeface="Courier New"/>
              </a:rPr>
              <a:t>and rules...</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               calls   tokens    time</a:t>
            </a:r>
          </a:p>
          <a:p>
            <a:pPr algn="l">
              <a:lnSpc>
                <a:spcPct val="100000"/>
              </a:lnSpc>
              <a:spcBef>
                <a:spcPts val="0"/>
              </a:spcBef>
              <a:spcAft>
                <a:spcPts val="0"/>
              </a:spcAft>
              <a:buNone/>
            </a:pPr>
            <a:r>
              <a:rPr lang="en-US" sz="880" b="0" i="0">
                <a:solidFill>
                  <a:srgbClr val="FFFFFF"/>
                </a:solidFill>
                <a:latin typeface="Courier New"/>
                <a:ea typeface="Courier New"/>
                <a:cs typeface="Courier New"/>
              </a:rPr>
              <a:t>tb_validator       5    13230   12.6s</a:t>
            </a:r>
          </a:p>
          <a:p>
            <a:pPr algn="l">
              <a:lnSpc>
                <a:spcPct val="100000"/>
              </a:lnSpc>
              <a:spcBef>
                <a:spcPts val="0"/>
              </a:spcBef>
              <a:spcAft>
                <a:spcPts val="0"/>
              </a:spcAft>
              <a:buNone/>
            </a:pPr>
            <a:r>
              <a:rPr lang="en-US" sz="880" b="0" i="0">
                <a:solidFill>
                  <a:srgbClr val="FFFFFF"/>
                </a:solidFill>
                <a:latin typeface="Courier New"/>
                <a:ea typeface="Courier New"/>
                <a:cs typeface="Courier New"/>
              </a:rPr>
              <a:t>rtl_validator     10    16534    9.0s</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ls runs/2d_multi_agent_mixed_models_validators/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2.4 – your turn: fill the validators' prompts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65</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Open the two prompts on your laptop</a:t>
            </a:r>
          </a:p>
          <a:p>
            <a:pPr algn="l">
              <a:spcBef>
                <a:spcPts val="0"/>
              </a:spcBef>
              <a:spcAft>
                <a:spcPts val="0"/>
              </a:spcAft>
              <a:buNone/>
            </a:pPr>
            <a:r>
              <a:rPr lang="en-US" sz="950" b="0" i="0">
                <a:solidFill>
                  <a:srgbClr val="5D6C7B"/>
                </a:solidFill>
                <a:latin typeface="Calibri"/>
                <a:ea typeface="Calibri"/>
                <a:cs typeface="Calibri"/>
              </a:rPr>
              <a:t>both have blanks marked &lt;Fill here&gt; in # Role and Objective</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scripts/part2/problem/configs/</a:t>
            </a:r>
          </a:p>
          <a:p>
            <a:pPr algn="l">
              <a:lnSpc>
                <a:spcPct val="100000"/>
              </a:lnSpc>
              <a:spcBef>
                <a:spcPts val="0"/>
              </a:spcBef>
              <a:spcAft>
                <a:spcPts val="0"/>
              </a:spcAft>
              <a:buNone/>
            </a:pPr>
            <a:r>
              <a:rPr lang="en-US" sz="950" b="0" i="0">
                <a:solidFill>
                  <a:srgbClr val="FFFFFF"/>
                </a:solidFill>
                <a:latin typeface="Courier New"/>
                <a:ea typeface="Courier New"/>
                <a:cs typeface="Courier New"/>
              </a:rPr>
              <a:t>  tb_validator/Agent.md</a:t>
            </a:r>
          </a:p>
          <a:p>
            <a:pPr algn="l">
              <a:lnSpc>
                <a:spcPct val="100000"/>
              </a:lnSpc>
              <a:spcBef>
                <a:spcPts val="0"/>
              </a:spcBef>
              <a:spcAft>
                <a:spcPts val="0"/>
              </a:spcAft>
              <a:buNone/>
            </a:pPr>
            <a:r>
              <a:rPr lang="en-US" sz="950" b="0" i="0">
                <a:solidFill>
                  <a:srgbClr val="FFFFFF"/>
                </a:solidFill>
                <a:latin typeface="Courier New"/>
                <a:ea typeface="Courier New"/>
                <a:cs typeface="Courier New"/>
              </a:rPr>
              <a:t>  rtl_validator/Agent.md</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TB validator: the role</a:t>
            </a:r>
          </a:p>
          <a:p>
            <a:pPr algn="l">
              <a:spcBef>
                <a:spcPts val="0"/>
              </a:spcBef>
              <a:spcAft>
                <a:spcPts val="0"/>
              </a:spcAft>
              <a:buNone/>
            </a:pPr>
            <a:r>
              <a:rPr lang="en-US" sz="950" b="0" i="0">
                <a:solidFill>
                  <a:srgbClr val="5D6C7B"/>
                </a:solidFill>
                <a:latin typeface="Calibri"/>
                <a:ea typeface="Calibri"/>
                <a:cs typeface="Calibri"/>
              </a:rPr>
              <a:t>tb_validator/Agent.md: which kind of engineer audits a testbench?</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You are an expert &lt;Fill here&gt; Engineer.</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Design Verification</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RTL validator: role and reference</a:t>
            </a:r>
          </a:p>
          <a:p>
            <a:pPr algn="l">
              <a:spcBef>
                <a:spcPts val="0"/>
              </a:spcBef>
              <a:spcAft>
                <a:spcPts val="0"/>
              </a:spcAft>
              <a:buNone/>
            </a:pPr>
            <a:r>
              <a:rPr lang="en-US" sz="950" b="0" i="0">
                <a:solidFill>
                  <a:srgbClr val="5D6C7B"/>
                </a:solidFill>
                <a:latin typeface="Calibri"/>
                <a:ea typeface="Calibri"/>
                <a:cs typeface="Calibri"/>
              </a:rPr>
              <a:t>rtl_validator/Agent.md: who audits the RTL, and against which document? Save both files</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it</a:t>
            </a:r>
          </a:p>
          <a:p>
            <a:pPr algn="l">
              <a:spcBef>
                <a:spcPts val="0"/>
              </a:spcBef>
              <a:spcAft>
                <a:spcPts val="0"/>
              </a:spcAft>
              <a:buNone/>
            </a:pPr>
            <a:r>
              <a:rPr lang="en-US" sz="950" b="0" i="0">
                <a:solidFill>
                  <a:srgbClr val="5D6C7B"/>
                </a:solidFill>
                <a:latin typeface="Calibri"/>
                <a:ea typeface="Calibri"/>
                <a:cs typeface="Calibri"/>
              </a:rPr>
              <a:t>inside the container, from /home/scripts/part2/problem. The validators speak after every testbench and RTL</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Compare with Task 2.3</a:t>
            </a:r>
          </a:p>
          <a:p>
            <a:pPr algn="l">
              <a:spcBef>
                <a:spcPts val="0"/>
              </a:spcBef>
              <a:spcAft>
                <a:spcPts val="0"/>
              </a:spcAft>
              <a:buNone/>
            </a:pPr>
            <a:r>
              <a:rPr lang="en-US" sz="950" b="0" i="0">
                <a:solidFill>
                  <a:srgbClr val="5D6C7B"/>
                </a:solidFill>
                <a:latin typeface="Calibri"/>
                <a:ea typeface="Calibri"/>
                <a:cs typeface="Calibri"/>
              </a:rPr>
              <a:t>token_usage.json: how many tokens did the validators use? Quota error (429): wait a minute, run again</a:t>
            </a:r>
          </a:p>
        </p:txBody>
      </p:sp>
      <p:sp>
        <p:nvSpPr>
          <p:cNvPr id="1500" name="checkpoint 1500"/>
          <p:cNvSpPr/>
          <p:nvPr/>
        </p:nvSpPr>
        <p:spPr>
          <a:xfrm>
            <a:off x="457200" y="5760720"/>
            <a:ext cx="605426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no &lt;Fill here&gt; left, and you can say what the validators cost in tokens</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You are a senior &lt;Fill here&gt;. Audit the RTL</a:t>
            </a:r>
          </a:p>
          <a:p>
            <a:pPr algn="l">
              <a:lnSpc>
                <a:spcPct val="100000"/>
              </a:lnSpc>
              <a:spcBef>
                <a:spcPts val="0"/>
              </a:spcBef>
              <a:spcAft>
                <a:spcPts val="0"/>
              </a:spcAft>
              <a:buNone/>
            </a:pPr>
            <a:r>
              <a:rPr lang="en-US" sz="880" b="0" i="0">
                <a:solidFill>
                  <a:srgbClr val="FFFFFF"/>
                </a:solidFill>
                <a:latin typeface="Courier New"/>
                <a:ea typeface="Courier New"/>
                <a:cs typeface="Courier New"/>
              </a:rPr>
              <a:t>against the &lt;Fill here&gt; and the Checklist.</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RTL verification lead · YAML specification</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run_configs/2d_*.yaml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p11.yaml</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cat runs/2d_*/token_usage.json</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700" name="Add-in timer">
                <a:extLst>
                  <a:ext uri="{FF2B5EF4-FFF2-40B4-BE49-F238E27FC236}">
                    <a16:creationId xmlns:a16="http://schemas.microsoft.com/office/drawing/2014/main" id="{03340898-D715-89F3-D65A-91631250D20C}"/>
                  </a:ext>
                </a:extLst>
              </p:cNvPr>
              <p:cNvGraphicFramePr>
                <a:graphicFrameLocks noGrp="1"/>
              </p:cNvGraphicFramePr>
              <p:nvPr>
                <p:extLst>
                  <p:ext uri="{D42A27DB-BD31-4B8C-83A1-F6EECF244321}">
                    <p14:modId xmlns:p14="http://schemas.microsoft.com/office/powerpoint/2010/main" val="3138323171"/>
                  </p:ext>
                </p:extLst>
              </p:nvPr>
            </p:nvGraphicFramePr>
            <p:xfrm>
              <a:off x="7016925" y="573561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1700" name="Add-in timer">
                <a:extLst>
                  <a:ext uri="{FF2B5EF4-FFF2-40B4-BE49-F238E27FC236}">
                    <a16:creationId xmlns:a16="http://schemas.microsoft.com/office/drawing/2014/main" id="{03340898-D715-89F3-D65A-91631250D20C}"/>
                  </a:ext>
                </a:extLst>
              </p:cNvPr>
              <p:cNvPicPr>
                <a:picLocks noGrp="1" noRot="1" noChangeAspect="1" noMove="1" noResize="1" noEditPoints="1" noAdjustHandles="1" noChangeArrowheads="1" noChangeShapeType="1"/>
              </p:cNvPicPr>
              <p:nvPr/>
            </p:nvPicPr>
            <p:blipFill>
              <a:blip r:embed="rId4"/>
              <a:stretch>
                <a:fillRect/>
              </a:stretch>
            </p:blipFill>
            <p:spPr>
              <a:xfrm>
                <a:off x="7016925" y="5735618"/>
                <a:ext cx="4654855" cy="1936624"/>
              </a:xfrm>
              <a:prstGeom prst="rect">
                <a:avLst/>
              </a:prstGeom>
            </p:spPr>
          </p:pic>
        </mc:Fallback>
      </mc:AlternateContent>
      <p:pic>
        <p:nvPicPr>
          <p:cNvPr id="6" name="Picture 5" descr="Stopwatch on white background">
            <a:extLst>
              <a:ext uri="{FF2B5EF4-FFF2-40B4-BE49-F238E27FC236}">
                <a16:creationId xmlns:a16="http://schemas.microsoft.com/office/drawing/2014/main" id="{52FD9CC4-F055-62BC-34C4-F4F621C92C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Who checks the agents? check_designs.py</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2</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66</a:t>
            </a:fld>
            <a:endParaRPr sz="750" b="0">
              <a:solidFill>
                <a:srgbClr val="5B6573"/>
              </a:solidFill>
              <a:latin typeface="Calibri"/>
              <a:ea typeface="Calibri"/>
              <a:cs typeface="Calibri"/>
            </a:endParaRPr>
          </a:p>
        </p:txBody>
      </p:sp>
      <p:sp>
        <p:nvSpPr>
          <p:cNvPr id="1116" name="shape 1116"/>
          <p:cNvSpPr/>
          <p:nvPr/>
        </p:nvSpPr>
        <p:spPr>
          <a:xfrm>
            <a:off x="457200" y="960120"/>
            <a:ext cx="2514600" cy="777240"/>
          </a:xfrm>
          <a:prstGeom prst="roundRect">
            <a:avLst>
              <a:gd name="adj" fmla="val 12000"/>
            </a:avLst>
          </a:prstGeom>
          <a:solidFill>
            <a:srgbClr val="E6EEF7"/>
          </a:solidFill>
          <a:ln w="12700">
            <a:solidFill>
              <a:srgbClr val="4F81BD"/>
            </a:solidFill>
          </a:ln>
        </p:spPr>
        <p:txBody>
          <a:bodyPr wrap="square" lIns="73152" tIns="73152" rIns="73152" bIns="73152" anchor="t">
            <a:noAutofit/>
          </a:bodyPr>
          <a:lstStyle/>
          <a:p>
            <a:pPr algn="l">
              <a:spcBef>
                <a:spcPts val="0"/>
              </a:spcBef>
              <a:spcAft>
                <a:spcPts val="0"/>
              </a:spcAft>
              <a:buNone/>
            </a:pPr>
            <a:endParaRPr lang="en-US" sz="600"/>
          </a:p>
        </p:txBody>
      </p:sp>
      <p:sp>
        <p:nvSpPr>
          <p:cNvPr id="1117" name="shape 1117"/>
          <p:cNvSpPr/>
          <p:nvPr/>
        </p:nvSpPr>
        <p:spPr>
          <a:xfrm>
            <a:off x="566928" y="1143000"/>
            <a:ext cx="411480" cy="41148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1</a:t>
            </a:r>
          </a:p>
        </p:txBody>
      </p:sp>
      <p:sp>
        <p:nvSpPr>
          <p:cNvPr id="1118" name="text 1118"/>
          <p:cNvSpPr txBox="1"/>
          <p:nvPr/>
        </p:nvSpPr>
        <p:spPr>
          <a:xfrm>
            <a:off x="1069848" y="987552"/>
            <a:ext cx="1828800" cy="7315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0E2745"/>
                </a:solidFill>
                <a:latin typeface="Calibri"/>
                <a:ea typeface="Calibri"/>
                <a:cs typeface="Calibri"/>
              </a:rPr>
              <a:t>Agent writes the testbench</a:t>
            </a:r>
          </a:p>
          <a:p>
            <a:pPr algn="l">
              <a:spcBef>
                <a:spcPts val="0"/>
              </a:spcBef>
              <a:spcAft>
                <a:spcPts val="0"/>
              </a:spcAft>
              <a:buNone/>
            </a:pPr>
            <a:r>
              <a:rPr lang="en-US" sz="950" b="0" i="0">
                <a:solidFill>
                  <a:srgbClr val="5D6C7B"/>
                </a:solidFill>
                <a:latin typeface="Calibri"/>
                <a:ea typeface="Calibri"/>
                <a:cs typeface="Calibri"/>
              </a:rPr>
              <a:t>from the spec</a:t>
            </a:r>
          </a:p>
        </p:txBody>
      </p:sp>
      <p:sp>
        <p:nvSpPr>
          <p:cNvPr id="1119" name="arrow 1119"/>
          <p:cNvSpPr/>
          <p:nvPr/>
        </p:nvSpPr>
        <p:spPr>
          <a:xfrm>
            <a:off x="3017520" y="1216152"/>
            <a:ext cx="237744" cy="274320"/>
          </a:xfrm>
          <a:prstGeom prst="rightArrow">
            <a:avLst/>
          </a:prstGeom>
          <a:solidFill>
            <a:srgbClr val="4F81BD"/>
          </a:solidFill>
          <a:ln>
            <a:noFill/>
          </a:ln>
        </p:spPr>
        <p:txBody>
          <a:bodyPr/>
          <a:lstStyle/>
          <a:p>
            <a:endParaRPr lang="en-US"/>
          </a:p>
        </p:txBody>
      </p:sp>
      <p:sp>
        <p:nvSpPr>
          <p:cNvPr id="1120" name="shape 1120"/>
          <p:cNvSpPr/>
          <p:nvPr/>
        </p:nvSpPr>
        <p:spPr>
          <a:xfrm>
            <a:off x="3291840" y="960120"/>
            <a:ext cx="2514600" cy="777240"/>
          </a:xfrm>
          <a:prstGeom prst="roundRect">
            <a:avLst>
              <a:gd name="adj" fmla="val 12000"/>
            </a:avLst>
          </a:prstGeom>
          <a:solidFill>
            <a:srgbClr val="E6EEF7"/>
          </a:solidFill>
          <a:ln w="12700">
            <a:solidFill>
              <a:srgbClr val="4F81BD"/>
            </a:solidFill>
          </a:ln>
        </p:spPr>
        <p:txBody>
          <a:bodyPr wrap="square" lIns="73152" tIns="73152" rIns="73152" bIns="73152" anchor="t">
            <a:noAutofit/>
          </a:bodyPr>
          <a:lstStyle/>
          <a:p>
            <a:pPr algn="l">
              <a:spcBef>
                <a:spcPts val="0"/>
              </a:spcBef>
              <a:spcAft>
                <a:spcPts val="0"/>
              </a:spcAft>
              <a:buNone/>
            </a:pPr>
            <a:endParaRPr lang="en-US" sz="600"/>
          </a:p>
        </p:txBody>
      </p:sp>
      <p:sp>
        <p:nvSpPr>
          <p:cNvPr id="1121" name="shape 1121"/>
          <p:cNvSpPr/>
          <p:nvPr/>
        </p:nvSpPr>
        <p:spPr>
          <a:xfrm>
            <a:off x="3401568" y="1143000"/>
            <a:ext cx="411480" cy="41148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2</a:t>
            </a:r>
          </a:p>
        </p:txBody>
      </p:sp>
      <p:sp>
        <p:nvSpPr>
          <p:cNvPr id="1122" name="text 1122"/>
          <p:cNvSpPr txBox="1"/>
          <p:nvPr/>
        </p:nvSpPr>
        <p:spPr>
          <a:xfrm>
            <a:off x="3904488" y="987552"/>
            <a:ext cx="1828800" cy="7315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0E2745"/>
                </a:solidFill>
                <a:latin typeface="Calibri"/>
                <a:ea typeface="Calibri"/>
                <a:cs typeface="Calibri"/>
              </a:rPr>
              <a:t>Agent writes the RTL</a:t>
            </a:r>
          </a:p>
          <a:p>
            <a:pPr algn="l">
              <a:spcBef>
                <a:spcPts val="0"/>
              </a:spcBef>
              <a:spcAft>
                <a:spcPts val="0"/>
              </a:spcAft>
              <a:buNone/>
            </a:pPr>
            <a:r>
              <a:rPr lang="en-US" sz="950" b="0" i="0">
                <a:solidFill>
                  <a:srgbClr val="5D6C7B"/>
                </a:solidFill>
                <a:latin typeface="Calibri"/>
                <a:ea typeface="Calibri"/>
                <a:cs typeface="Calibri"/>
              </a:rPr>
              <a:t>until it passes that testbench</a:t>
            </a:r>
          </a:p>
        </p:txBody>
      </p:sp>
      <p:sp>
        <p:nvSpPr>
          <p:cNvPr id="1123" name="arrow 1123"/>
          <p:cNvSpPr/>
          <p:nvPr/>
        </p:nvSpPr>
        <p:spPr>
          <a:xfrm>
            <a:off x="5852160" y="1216152"/>
            <a:ext cx="237744" cy="274320"/>
          </a:xfrm>
          <a:prstGeom prst="rightArrow">
            <a:avLst/>
          </a:prstGeom>
          <a:solidFill>
            <a:srgbClr val="4F81BD"/>
          </a:solidFill>
          <a:ln>
            <a:noFill/>
          </a:ln>
        </p:spPr>
        <p:txBody>
          <a:bodyPr/>
          <a:lstStyle/>
          <a:p>
            <a:endParaRPr lang="en-US"/>
          </a:p>
        </p:txBody>
      </p:sp>
      <p:sp>
        <p:nvSpPr>
          <p:cNvPr id="1124" name="shape 1124"/>
          <p:cNvSpPr/>
          <p:nvPr/>
        </p:nvSpPr>
        <p:spPr>
          <a:xfrm>
            <a:off x="6126480" y="960120"/>
            <a:ext cx="2514600" cy="777240"/>
          </a:xfrm>
          <a:prstGeom prst="roundRect">
            <a:avLst>
              <a:gd name="adj" fmla="val 12000"/>
            </a:avLst>
          </a:prstGeom>
          <a:solidFill>
            <a:srgbClr val="EAF4EC"/>
          </a:solidFill>
          <a:ln w="12700">
            <a:solidFill>
              <a:srgbClr val="2E7D4F"/>
            </a:solidFill>
          </a:ln>
        </p:spPr>
        <p:txBody>
          <a:bodyPr wrap="square" lIns="73152" tIns="73152" rIns="73152" bIns="73152" anchor="t">
            <a:noAutofit/>
          </a:bodyPr>
          <a:lstStyle/>
          <a:p>
            <a:pPr algn="l">
              <a:spcBef>
                <a:spcPts val="0"/>
              </a:spcBef>
              <a:spcAft>
                <a:spcPts val="0"/>
              </a:spcAft>
              <a:buNone/>
            </a:pPr>
            <a:endParaRPr lang="en-US" sz="600"/>
          </a:p>
        </p:txBody>
      </p:sp>
      <p:sp>
        <p:nvSpPr>
          <p:cNvPr id="1125" name="shape 1125"/>
          <p:cNvSpPr/>
          <p:nvPr/>
        </p:nvSpPr>
        <p:spPr>
          <a:xfrm>
            <a:off x="6236208" y="1143000"/>
            <a:ext cx="411480" cy="411480"/>
          </a:xfrm>
          <a:prstGeom prst="ellipse">
            <a:avLst/>
          </a:prstGeom>
          <a:solidFill>
            <a:srgbClr val="2E7D4F"/>
          </a:solidFill>
          <a:ln>
            <a:noFill/>
          </a:ln>
        </p:spPr>
        <p:txBody>
          <a:bodyPr wrap="square" lIns="0" tIns="0" rIns="0" bIns="0" anchor="ctr">
            <a:noAutofit/>
          </a:bodyPr>
          <a:lstStyle/>
          <a:p>
            <a:pPr algn="ctr">
              <a:spcBef>
                <a:spcPts val="0"/>
              </a:spcBef>
              <a:spcAft>
                <a:spcPts val="0"/>
              </a:spcAft>
              <a:buNone/>
            </a:pPr>
            <a:r>
              <a:rPr lang="en-US" sz="1200" b="1" i="0">
                <a:solidFill>
                  <a:srgbClr val="FFFFFF"/>
                </a:solidFill>
                <a:latin typeface="Calibri"/>
                <a:ea typeface="Calibri"/>
                <a:cs typeface="Calibri"/>
              </a:rPr>
              <a:t>✓</a:t>
            </a:r>
          </a:p>
        </p:txBody>
      </p:sp>
      <p:sp>
        <p:nvSpPr>
          <p:cNvPr id="1126" name="text 1126"/>
          <p:cNvSpPr txBox="1"/>
          <p:nvPr/>
        </p:nvSpPr>
        <p:spPr>
          <a:xfrm>
            <a:off x="6739128" y="987552"/>
            <a:ext cx="1828800" cy="73152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100" b="1" i="0">
                <a:solidFill>
                  <a:srgbClr val="2E7D4F"/>
                </a:solidFill>
                <a:latin typeface="Calibri"/>
                <a:ea typeface="Calibri"/>
                <a:cs typeface="Calibri"/>
              </a:rPr>
              <a:t>Flow says PASS</a:t>
            </a:r>
          </a:p>
        </p:txBody>
      </p:sp>
      <p:sp>
        <p:nvSpPr>
          <p:cNvPr id="1127" name="shape 1127"/>
          <p:cNvSpPr/>
          <p:nvPr/>
        </p:nvSpPr>
        <p:spPr>
          <a:xfrm>
            <a:off x="457200" y="1920240"/>
            <a:ext cx="8229600" cy="960120"/>
          </a:xfrm>
          <a:prstGeom prst="roundRect">
            <a:avLst>
              <a:gd name="adj" fmla="val 8000"/>
            </a:avLst>
          </a:prstGeom>
          <a:solidFill>
            <a:srgbClr val="FBE9EB"/>
          </a:solidFill>
          <a:ln>
            <a:noFill/>
          </a:ln>
        </p:spPr>
        <p:txBody>
          <a:bodyPr wrap="square" lIns="137160" tIns="137160" rIns="137160" bIns="137160" anchor="ctr">
            <a:noAutofit/>
          </a:bodyPr>
          <a:lstStyle/>
          <a:p>
            <a:pPr algn="l">
              <a:spcBef>
                <a:spcPts val="0"/>
              </a:spcBef>
              <a:spcAft>
                <a:spcPts val="250"/>
              </a:spcAft>
              <a:buNone/>
            </a:pPr>
            <a:r>
              <a:rPr lang="en-US" sz="1250" b="1" i="0">
                <a:solidFill>
                  <a:srgbClr val="B91F2D"/>
                </a:solidFill>
                <a:latin typeface="Calibri"/>
                <a:ea typeface="Calibri"/>
                <a:cs typeface="Calibri"/>
              </a:rPr>
              <a:t>But what if the testbench is wrong?</a:t>
            </a:r>
          </a:p>
          <a:p>
            <a:pPr algn="l">
              <a:spcBef>
                <a:spcPts val="0"/>
              </a:spcBef>
              <a:spcAft>
                <a:spcPts val="0"/>
              </a:spcAft>
              <a:buNone/>
            </a:pPr>
            <a:r>
              <a:rPr lang="en-US" sz="1050" b="0" i="0">
                <a:solidFill>
                  <a:srgbClr val="0E2745"/>
                </a:solidFill>
                <a:latin typeface="Calibri"/>
                <a:ea typeface="Calibri"/>
                <a:cs typeface="Calibri"/>
              </a:rPr>
              <a:t>Agents can hallucinate. Our p8 run: the agent's testbench expected −3 × 4 = −10. A correct multiplier failed again and again, and a wrong RTL could have passed. PASS only means the RTL agrees with the agent's own testbench.</a:t>
            </a:r>
          </a:p>
        </p:txBody>
      </p:sp>
      <p:sp>
        <p:nvSpPr>
          <p:cNvPr id="1128" name="text 1128"/>
          <p:cNvSpPr txBox="1"/>
          <p:nvPr/>
        </p:nvSpPr>
        <p:spPr>
          <a:xfrm>
            <a:off x="457200" y="3017520"/>
            <a:ext cx="822960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200" b="1" i="0">
                <a:solidFill>
                  <a:srgbClr val="17365D"/>
                </a:solidFill>
                <a:latin typeface="Calibri"/>
                <a:ea typeface="Calibri"/>
                <a:cs typeface="Calibri"/>
              </a:rPr>
              <a:t>So we check with files the agents never wrote </a:t>
            </a:r>
            <a:r>
              <a:rPr lang="en-US" sz="1000" b="0" i="0">
                <a:solidFill>
                  <a:srgbClr val="5D6C7B"/>
                </a:solidFill>
                <a:latin typeface="Calibri"/>
                <a:ea typeface="Calibri"/>
                <a:cs typeface="Calibri"/>
              </a:rPr>
              <a:t>(</a:t>
            </a:r>
            <a:r>
              <a:rPr lang="en-US" sz="1000" b="0" i="0">
                <a:solidFill>
                  <a:srgbClr val="5D6C7B"/>
                </a:solidFill>
                <a:latin typeface="Courier New" panose="02070309020205020404" pitchFamily="49" charset="0"/>
                <a:ea typeface="Calibri"/>
                <a:cs typeface="Courier New" panose="02070309020205020404" pitchFamily="49" charset="0"/>
              </a:rPr>
              <a:t>scripts/reference</a:t>
            </a:r>
            <a:r>
              <a:rPr lang="en-US" sz="1000" b="0" i="0">
                <a:solidFill>
                  <a:srgbClr val="5D6C7B"/>
                </a:solidFill>
                <a:latin typeface="Calibri"/>
                <a:ea typeface="Calibri"/>
                <a:cs typeface="Calibri"/>
              </a:rPr>
              <a:t>: our testbench + our correct RTL for every design)</a:t>
            </a:r>
          </a:p>
        </p:txBody>
      </p:sp>
      <p:sp>
        <p:nvSpPr>
          <p:cNvPr id="1129" name="shape 1129"/>
          <p:cNvSpPr/>
          <p:nvPr/>
        </p:nvSpPr>
        <p:spPr>
          <a:xfrm>
            <a:off x="457200" y="3429000"/>
            <a:ext cx="4023360" cy="960120"/>
          </a:xfrm>
          <a:prstGeom prst="roundRect">
            <a:avLst>
              <a:gd name="adj" fmla="val 8000"/>
            </a:avLst>
          </a:prstGeom>
          <a:solidFill>
            <a:srgbClr val="F3F6FA"/>
          </a:solidFill>
          <a:ln>
            <a:noFill/>
          </a:ln>
        </p:spPr>
        <p:txBody>
          <a:bodyPr wrap="square" lIns="109728" tIns="109728" rIns="109728" bIns="109728" anchor="t">
            <a:noAutofit/>
          </a:bodyPr>
          <a:lstStyle/>
          <a:p>
            <a:pPr algn="l">
              <a:spcBef>
                <a:spcPts val="0"/>
              </a:spcBef>
              <a:spcAft>
                <a:spcPts val="300"/>
              </a:spcAft>
              <a:buNone/>
            </a:pPr>
            <a:r>
              <a:rPr lang="en-US" sz="1200" b="1" i="0">
                <a:solidFill>
                  <a:srgbClr val="0E2745"/>
                </a:solidFill>
                <a:latin typeface="Calibri"/>
                <a:ea typeface="Calibri"/>
                <a:cs typeface="Calibri"/>
              </a:rPr>
              <a:t>Check the RTL</a:t>
            </a:r>
          </a:p>
          <a:p>
            <a:pPr algn="l">
              <a:spcBef>
                <a:spcPts val="0"/>
              </a:spcBef>
              <a:spcAft>
                <a:spcPts val="0"/>
              </a:spcAft>
              <a:buNone/>
            </a:pPr>
            <a:r>
              <a:rPr lang="en-US" sz="1100" b="0" i="0">
                <a:solidFill>
                  <a:srgbClr val="0E2745"/>
                </a:solidFill>
                <a:latin typeface="Calibri"/>
                <a:ea typeface="Calibri"/>
                <a:cs typeface="Calibri"/>
              </a:rPr>
              <a:t>Run the agent's RTL with OUR testbench  →  PASS / FAIL</a:t>
            </a:r>
          </a:p>
        </p:txBody>
      </p:sp>
      <p:sp>
        <p:nvSpPr>
          <p:cNvPr id="1130" name="terminal 1130"/>
          <p:cNvSpPr/>
          <p:nvPr/>
        </p:nvSpPr>
        <p:spPr>
          <a:xfrm>
            <a:off x="457200" y="4480560"/>
            <a:ext cx="4023360" cy="86868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/home/scripts/reference</a:t>
            </a:r>
          </a:p>
          <a:p>
            <a:pPr algn="l">
              <a:lnSpc>
                <a:spcPct val="100000"/>
              </a:lnSpc>
              <a:spcBef>
                <a:spcPts val="0"/>
              </a:spcBef>
              <a:spcAft>
                <a:spcPts val="0"/>
              </a:spcAft>
              <a:buNone/>
            </a:pPr>
            <a:r>
              <a:rPr lang="en-US" sz="950" b="0" i="0">
                <a:solidFill>
                  <a:srgbClr val="FFFFFF"/>
                </a:solidFill>
                <a:latin typeface="Courier New"/>
                <a:ea typeface="Courier New"/>
                <a:cs typeface="Courier New"/>
              </a:rPr>
              <a:t>python3 check_designs.py -d p11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a:t>
            </a:r>
            <a:r>
              <a:rPr lang="en-US" sz="950" b="0" i="0" err="1">
                <a:solidFill>
                  <a:srgbClr val="FFFFFF"/>
                </a:solidFill>
                <a:latin typeface="Courier New"/>
                <a:ea typeface="Courier New"/>
                <a:cs typeface="Courier New"/>
              </a:rPr>
              <a:t>rtl</a:t>
            </a:r>
            <a:r>
              <a:rPr lang="en-US" sz="950" b="0" i="0">
                <a:solidFill>
                  <a:srgbClr val="FFFFFF"/>
                </a:solidFill>
                <a:latin typeface="Courier New"/>
                <a:ea typeface="Courier New"/>
                <a:cs typeface="Courier New"/>
              </a:rPr>
              <a:t> &lt;agent's RTL&gt;.v</a:t>
            </a:r>
          </a:p>
        </p:txBody>
      </p:sp>
      <p:sp>
        <p:nvSpPr>
          <p:cNvPr id="1131" name="shape 1131"/>
          <p:cNvSpPr/>
          <p:nvPr/>
        </p:nvSpPr>
        <p:spPr>
          <a:xfrm>
            <a:off x="4663440" y="3429000"/>
            <a:ext cx="4023360" cy="960120"/>
          </a:xfrm>
          <a:prstGeom prst="roundRect">
            <a:avLst>
              <a:gd name="adj" fmla="val 8000"/>
            </a:avLst>
          </a:prstGeom>
          <a:solidFill>
            <a:srgbClr val="F3F6FA"/>
          </a:solidFill>
          <a:ln>
            <a:noFill/>
          </a:ln>
        </p:spPr>
        <p:txBody>
          <a:bodyPr wrap="square" lIns="109728" tIns="109728" rIns="109728" bIns="109728" anchor="t">
            <a:noAutofit/>
          </a:bodyPr>
          <a:lstStyle/>
          <a:p>
            <a:pPr algn="l">
              <a:spcBef>
                <a:spcPts val="0"/>
              </a:spcBef>
              <a:spcAft>
                <a:spcPts val="300"/>
              </a:spcAft>
              <a:buNone/>
            </a:pPr>
            <a:r>
              <a:rPr lang="en-US" sz="1200" b="1" i="0">
                <a:solidFill>
                  <a:srgbClr val="0E2745"/>
                </a:solidFill>
                <a:latin typeface="Calibri"/>
                <a:ea typeface="Calibri"/>
                <a:cs typeface="Calibri"/>
              </a:rPr>
              <a:t>Check the testbench</a:t>
            </a:r>
          </a:p>
          <a:p>
            <a:pPr algn="l">
              <a:spcBef>
                <a:spcPts val="0"/>
              </a:spcBef>
              <a:spcAft>
                <a:spcPts val="0"/>
              </a:spcAft>
              <a:buNone/>
            </a:pPr>
            <a:r>
              <a:rPr lang="en-US" sz="1100" b="0" i="0">
                <a:solidFill>
                  <a:srgbClr val="0E2745"/>
                </a:solidFill>
                <a:latin typeface="Calibri"/>
                <a:ea typeface="Calibri"/>
                <a:cs typeface="Calibri"/>
              </a:rPr>
              <a:t>Run the agent's testbench on OUR correct RTL (must pass) and on buggy copies (must fail)  →  e.g. 2 / 3 bugs caught</a:t>
            </a:r>
          </a:p>
        </p:txBody>
      </p:sp>
      <p:sp>
        <p:nvSpPr>
          <p:cNvPr id="1132" name="terminal 1132"/>
          <p:cNvSpPr/>
          <p:nvPr/>
        </p:nvSpPr>
        <p:spPr>
          <a:xfrm>
            <a:off x="4663440" y="4480560"/>
            <a:ext cx="4023360" cy="868680"/>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/home/scripts/reference</a:t>
            </a:r>
          </a:p>
          <a:p>
            <a:pPr algn="l">
              <a:lnSpc>
                <a:spcPct val="100000"/>
              </a:lnSpc>
              <a:spcBef>
                <a:spcPts val="0"/>
              </a:spcBef>
              <a:spcAft>
                <a:spcPts val="0"/>
              </a:spcAft>
              <a:buNone/>
            </a:pPr>
            <a:r>
              <a:rPr lang="en-US" sz="950" b="0" i="0">
                <a:solidFill>
                  <a:srgbClr val="FFFFFF"/>
                </a:solidFill>
                <a:latin typeface="Courier New"/>
                <a:ea typeface="Courier New"/>
                <a:cs typeface="Courier New"/>
              </a:rPr>
              <a:t>python3 check_designs.py -d p11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--tb &lt;agent's testbench&gt;.v</a:t>
            </a:r>
          </a:p>
        </p:txBody>
      </p:sp>
      <p:sp>
        <p:nvSpPr>
          <p:cNvPr id="1133" name="shape 1133"/>
          <p:cNvSpPr/>
          <p:nvPr/>
        </p:nvSpPr>
        <p:spPr>
          <a:xfrm>
            <a:off x="457200" y="5623560"/>
            <a:ext cx="8229600" cy="640080"/>
          </a:xfrm>
          <a:prstGeom prst="roundRect">
            <a:avLst>
              <a:gd name="adj" fmla="val 12000"/>
            </a:avLst>
          </a:prstGeom>
          <a:solidFill>
            <a:srgbClr val="0E2745"/>
          </a:solidFill>
          <a:ln>
            <a:noFill/>
          </a:ln>
        </p:spPr>
        <p:txBody>
          <a:bodyPr wrap="square" lIns="137160" tIns="137160" rIns="137160" bIns="137160" anchor="ctr">
            <a:noAutofit/>
          </a:bodyPr>
          <a:lstStyle/>
          <a:p>
            <a:pPr algn="l">
              <a:spcBef>
                <a:spcPts val="0"/>
              </a:spcBef>
              <a:spcAft>
                <a:spcPts val="0"/>
              </a:spcAft>
              <a:buNone/>
            </a:pPr>
            <a:r>
              <a:rPr lang="en-US" sz="1100" b="1" i="0">
                <a:solidFill>
                  <a:srgbClr val="FFC000"/>
                </a:solidFill>
                <a:latin typeface="Calibri"/>
                <a:ea typeface="Calibri"/>
                <a:cs typeface="Calibri"/>
              </a:rPr>
              <a:t>Hands-on: </a:t>
            </a:r>
            <a:r>
              <a:rPr lang="en-US" sz="1100" b="1" i="0">
                <a:solidFill>
                  <a:srgbClr val="FFFFFF"/>
                </a:solidFill>
                <a:latin typeface="Calibri"/>
                <a:ea typeface="Calibri"/>
                <a:cs typeface="Calibri"/>
              </a:rPr>
              <a:t>after your run, do both checks. Which rule in Agent.md would have avoided the problem?</a:t>
            </a:r>
          </a:p>
        </p:txBody>
      </p:sp>
    </p:spTree>
    <p:extLst>
      <p:ext uri="{BB962C8B-B14F-4D97-AF65-F5344CB8AC3E}">
        <p14:creationId xmlns:p14="http://schemas.microsoft.com/office/powerpoint/2010/main" val="4964407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a:extLst>
            <a:ext uri="{FF2B5EF4-FFF2-40B4-BE49-F238E27FC236}">
              <a16:creationId xmlns:a16="http://schemas.microsoft.com/office/drawing/2014/main" id="{66A9CD0C-303E-459E-BA6B-7B52D463AC42}"/>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0AA768C2-AEDC-B346-3AAB-CC4585F2E849}"/>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36551CF9-23AE-1539-97D3-92265BDCC018}"/>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453DF443-48D5-D64D-9041-9BE7EAA7310E}"/>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Part 3</a:t>
            </a:r>
            <a:endParaRPr sz="2325" b="1">
              <a:solidFill>
                <a:srgbClr val="FFFFFF"/>
              </a:solidFill>
              <a:latin typeface="Calibri"/>
              <a:ea typeface="Calibri"/>
              <a:cs typeface="Calibri"/>
            </a:endParaRPr>
          </a:p>
        </p:txBody>
      </p:sp>
      <p:sp>
        <p:nvSpPr>
          <p:cNvPr id="4" name="Rectangle 3">
            <a:extLst>
              <a:ext uri="{FF2B5EF4-FFF2-40B4-BE49-F238E27FC236}">
                <a16:creationId xmlns:a16="http://schemas.microsoft.com/office/drawing/2014/main" id="{AB58D644-8FC4-9D58-EC62-F6FF6FABB536}"/>
              </a:ext>
            </a:extLst>
          </p:cNvPr>
          <p:cNvSpPr>
            <a:spLocks noGrp="1"/>
          </p:cNvSpPr>
          <p:nvPr/>
        </p:nvSpPr>
        <p:spPr>
          <a:xfrm>
            <a:off x="523875" y="1200150"/>
            <a:ext cx="7203701" cy="1047750"/>
          </a:xfrm>
          <a:prstGeom prst="rect">
            <a:avLst/>
          </a:prstGeom>
          <a:noFill/>
          <a:ln w="0">
            <a:noFill/>
          </a:ln>
        </p:spPr>
        <p:txBody>
          <a:bodyPr anchor="ctr">
            <a:normAutofit/>
          </a:bodyPr>
          <a:lstStyle/>
          <a:p>
            <a:pPr>
              <a:defRPr sz="2550" b="1">
                <a:solidFill>
                  <a:srgbClr val="FFFFFF"/>
                </a:solidFill>
                <a:latin typeface="Calibri"/>
                <a:ea typeface="Calibri"/>
                <a:cs typeface="Calibri"/>
              </a:defRPr>
            </a:pPr>
            <a:r>
              <a:rPr lang="en-GR" sz="2550" b="1">
                <a:solidFill>
                  <a:srgbClr val="FFFFFF"/>
                </a:solidFill>
                <a:latin typeface="Calibri"/>
              </a:rPr>
              <a:t>Multi-Agent Collaboration and Cross-Domain Feedback Loops</a:t>
            </a:r>
            <a:endParaRPr sz="2550" b="1">
              <a:solidFill>
                <a:srgbClr val="FFFFFF"/>
              </a:solidFill>
              <a:latin typeface="Calibri"/>
              <a:ea typeface="Calibri"/>
              <a:cs typeface="Calibri"/>
            </a:endParaRPr>
          </a:p>
        </p:txBody>
      </p:sp>
      <p:sp>
        <p:nvSpPr>
          <p:cNvPr id="12" name="Rectangle 11">
            <a:extLst>
              <a:ext uri="{FF2B5EF4-FFF2-40B4-BE49-F238E27FC236}">
                <a16:creationId xmlns:a16="http://schemas.microsoft.com/office/drawing/2014/main" id="{0569DDF5-1407-4327-BFA9-458DA87F6EAA}"/>
              </a:ext>
            </a:extLst>
          </p:cNvPr>
          <p:cNvSpPr>
            <a:spLocks noGrp="1"/>
          </p:cNvSpPr>
          <p:nvPr/>
        </p:nvSpPr>
        <p:spPr>
          <a:xfrm>
            <a:off x="559732" y="1724025"/>
            <a:ext cx="6238875" cy="3961000"/>
          </a:xfrm>
          <a:prstGeom prst="rect">
            <a:avLst/>
          </a:prstGeom>
          <a:noFill/>
          <a:ln w="0">
            <a:noFill/>
          </a:ln>
        </p:spPr>
        <p:txBody>
          <a:bodyPr anchor="ctr">
            <a:normAutofit/>
          </a:bodyPr>
          <a:lstStyle/>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Cross-Agent Communication</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Closed-Loop Multi-Agent</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Tool-in-the-Loop Integration</a:t>
            </a:r>
          </a:p>
          <a:p>
            <a:pPr>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p:txBody>
      </p:sp>
      <p:sp>
        <p:nvSpPr>
          <p:cNvPr id="18" name="Rectangle 17">
            <a:extLst>
              <a:ext uri="{FF2B5EF4-FFF2-40B4-BE49-F238E27FC236}">
                <a16:creationId xmlns:a16="http://schemas.microsoft.com/office/drawing/2014/main" id="{084FC2C8-28B0-F28B-CF4D-EC3B58469823}"/>
              </a:ext>
            </a:extLst>
          </p:cNvPr>
          <p:cNvSpPr>
            <a:spLocks noGrp="1"/>
          </p:cNvSpPr>
          <p:nvPr/>
        </p:nvSpPr>
        <p:spPr>
          <a:xfrm>
            <a:off x="523873" y="3009900"/>
            <a:ext cx="6238875" cy="685800"/>
          </a:xfrm>
          <a:prstGeom prst="rect">
            <a:avLst/>
          </a:prstGeom>
          <a:noFill/>
          <a:ln w="0">
            <a:noFill/>
          </a:ln>
        </p:spPr>
        <p:txBody>
          <a:bodyPr anchor="ctr">
            <a:normAutofit/>
          </a:bodyPr>
          <a:lstStyle/>
          <a:p>
            <a:pPr algn="l">
              <a:defRPr sz="1650" b="1">
                <a:solidFill>
                  <a:srgbClr val="DCE6F1"/>
                </a:solidFill>
                <a:latin typeface="Calibri"/>
                <a:ea typeface="Calibri"/>
                <a:cs typeface="Calibri"/>
              </a:defRPr>
            </a:pPr>
            <a:endParaRPr sz="1650" b="1">
              <a:solidFill>
                <a:srgbClr val="DCE6F1"/>
              </a:solidFill>
              <a:latin typeface="Calibri"/>
              <a:ea typeface="Calibri"/>
              <a:cs typeface="Calibri"/>
            </a:endParaRPr>
          </a:p>
        </p:txBody>
      </p:sp>
    </p:spTree>
    <p:extLst>
      <p:ext uri="{BB962C8B-B14F-4D97-AF65-F5344CB8AC3E}">
        <p14:creationId xmlns:p14="http://schemas.microsoft.com/office/powerpoint/2010/main" val="37712496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8C64D-7EAB-E1E6-F674-B437F433965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63C04E6-2AB3-3304-3EB4-62BE05628BBF}"/>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8C9FDE28-A799-3E1F-C10E-758F3BEDD284}"/>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62224AF7-AC5E-BCDB-9CFA-43086227833D}"/>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Current Agentic AI EDA Flow</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562BEB99-5CB8-9729-38BE-B1E2F15C727F}"/>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1" name="Rectangle 20">
            <a:extLst>
              <a:ext uri="{FF2B5EF4-FFF2-40B4-BE49-F238E27FC236}">
                <a16:creationId xmlns:a16="http://schemas.microsoft.com/office/drawing/2014/main" id="{1B677B73-F19B-AB33-A034-A00C80C00CE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68</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D24C6451-5C92-D7D2-D18E-AD5DCA0B8827}"/>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2427FF4C-BC59-BA14-CEF6-F0625270B6B6}"/>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BAD81004-0995-83E9-4D40-11CFE918F358}"/>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1496504A-5B67-5123-E1DD-543CF4016A7E}"/>
              </a:ext>
            </a:extLst>
          </p:cNvPr>
          <p:cNvSpPr>
            <a:spLocks noGrp="1"/>
          </p:cNvSpPr>
          <p:nvPr/>
        </p:nvSpPr>
        <p:spPr>
          <a:xfrm>
            <a:off x="1264482" y="418553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60FA2B47-3ED6-648E-C306-1465590CAFE5}"/>
              </a:ext>
            </a:extLst>
          </p:cNvPr>
          <p:cNvSpPr>
            <a:spLocks noGrp="1"/>
          </p:cNvSpPr>
          <p:nvPr/>
        </p:nvSpPr>
        <p:spPr>
          <a:xfrm>
            <a:off x="2036007" y="1947861"/>
            <a:ext cx="152400" cy="352425"/>
          </a:xfrm>
          <a:prstGeom prst="downArrow">
            <a:avLst/>
          </a:prstGeom>
          <a:solidFill>
            <a:srgbClr val="4F81BD"/>
          </a:solidFill>
          <a:ln w="0">
            <a:noFill/>
          </a:ln>
        </p:spPr>
        <p:txBody>
          <a:bodyPr/>
          <a:lstStyle/>
          <a:p>
            <a:endParaRPr lang="en-GR"/>
          </a:p>
        </p:txBody>
      </p:sp>
      <p:sp>
        <p:nvSpPr>
          <p:cNvPr id="10" name="decomposition arrow">
            <a:extLst>
              <a:ext uri="{FF2B5EF4-FFF2-40B4-BE49-F238E27FC236}">
                <a16:creationId xmlns:a16="http://schemas.microsoft.com/office/drawing/2014/main" id="{5B965811-7E88-DBEF-F0BF-1152F36EA6E8}"/>
              </a:ext>
            </a:extLst>
          </p:cNvPr>
          <p:cNvSpPr>
            <a:spLocks noGrp="1"/>
          </p:cNvSpPr>
          <p:nvPr/>
        </p:nvSpPr>
        <p:spPr>
          <a:xfrm>
            <a:off x="2036007" y="2895597"/>
            <a:ext cx="152400" cy="352425"/>
          </a:xfrm>
          <a:prstGeom prst="downArrow">
            <a:avLst/>
          </a:prstGeom>
          <a:solidFill>
            <a:srgbClr val="4F81BD"/>
          </a:solidFill>
          <a:ln w="0">
            <a:noFill/>
          </a:ln>
        </p:spPr>
        <p:txBody>
          <a:bodyPr/>
          <a:lstStyle/>
          <a:p>
            <a:endParaRPr lang="en-GR"/>
          </a:p>
        </p:txBody>
      </p:sp>
      <p:sp>
        <p:nvSpPr>
          <p:cNvPr id="11" name="decomposition arrow">
            <a:extLst>
              <a:ext uri="{FF2B5EF4-FFF2-40B4-BE49-F238E27FC236}">
                <a16:creationId xmlns:a16="http://schemas.microsoft.com/office/drawing/2014/main" id="{08F7C2D8-C62C-E6AB-9145-686040B96748}"/>
              </a:ext>
            </a:extLst>
          </p:cNvPr>
          <p:cNvSpPr>
            <a:spLocks noGrp="1"/>
          </p:cNvSpPr>
          <p:nvPr/>
        </p:nvSpPr>
        <p:spPr>
          <a:xfrm>
            <a:off x="2036007" y="3795359"/>
            <a:ext cx="152400" cy="352425"/>
          </a:xfrm>
          <a:prstGeom prst="downArrow">
            <a:avLst/>
          </a:prstGeom>
          <a:solidFill>
            <a:srgbClr val="4F81BD"/>
          </a:solidFill>
          <a:ln w="0">
            <a:noFill/>
          </a:ln>
        </p:spPr>
        <p:txBody>
          <a:bodyPr/>
          <a:lstStyle/>
          <a:p>
            <a:endParaRPr lang="en-GR"/>
          </a:p>
        </p:txBody>
      </p:sp>
    </p:spTree>
    <p:extLst>
      <p:ext uri="{BB962C8B-B14F-4D97-AF65-F5344CB8AC3E}">
        <p14:creationId xmlns:p14="http://schemas.microsoft.com/office/powerpoint/2010/main" val="760284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18FB3-BA82-62FF-3A7A-5255DA06DE3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9B5F623-90B8-140D-FA81-E3C181249ECF}"/>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A6C40844-380B-F80B-6C6E-98F4BB62C4FD}"/>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5CC14C61-D890-D9CE-A8CB-1BDE559BF8C1}"/>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Current Agentic AI EDA Flow</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0CAFDF4-549D-DD1C-E833-CEE19217118A}"/>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0" name="Rounded Rectangle 19">
            <a:extLst>
              <a:ext uri="{FF2B5EF4-FFF2-40B4-BE49-F238E27FC236}">
                <a16:creationId xmlns:a16="http://schemas.microsoft.com/office/drawing/2014/main" id="{98E87432-3E0A-BE94-DF4B-7ADA61BF3D21}"/>
              </a:ext>
            </a:extLst>
          </p:cNvPr>
          <p:cNvSpPr>
            <a:spLocks noGrp="1"/>
          </p:cNvSpPr>
          <p:nvPr/>
        </p:nvSpPr>
        <p:spPr>
          <a:xfrm>
            <a:off x="1143000" y="5676900"/>
            <a:ext cx="6858000" cy="428625"/>
          </a:xfrm>
          <a:prstGeom prst="roundRect">
            <a:avLst>
              <a:gd name="adj" fmla="val 26667"/>
            </a:avLst>
          </a:prstGeom>
          <a:solidFill>
            <a:srgbClr val="DCE6F1"/>
          </a:solidFill>
          <a:ln w="0">
            <a:noFill/>
          </a:ln>
        </p:spPr>
        <p:txBody>
          <a:bodyPr anchor="ctr">
            <a:normAutofit fontScale="98237"/>
          </a:bodyPr>
          <a:lstStyle/>
          <a:p>
            <a:pPr algn="ctr">
              <a:defRPr sz="1500" b="1">
                <a:solidFill>
                  <a:srgbClr val="0E2745"/>
                </a:solidFill>
                <a:latin typeface="Calibri"/>
                <a:ea typeface="Calibri"/>
                <a:cs typeface="Calibri"/>
              </a:defRPr>
            </a:pPr>
            <a:r>
              <a:rPr lang="en-US" sz="1500" b="1">
                <a:solidFill>
                  <a:srgbClr val="0E2745"/>
                </a:solidFill>
                <a:latin typeface="Calibri"/>
                <a:ea typeface="Calibri"/>
                <a:cs typeface="Calibri"/>
              </a:rPr>
              <a:t>What happens if the </a:t>
            </a:r>
            <a:r>
              <a:rPr lang="en-US" sz="1500" b="1" err="1">
                <a:solidFill>
                  <a:srgbClr val="0E2745"/>
                </a:solidFill>
                <a:latin typeface="Calibri"/>
                <a:ea typeface="Calibri"/>
                <a:cs typeface="Calibri"/>
              </a:rPr>
              <a:t>PnR</a:t>
            </a:r>
            <a:r>
              <a:rPr lang="en-US" sz="1500" b="1">
                <a:solidFill>
                  <a:srgbClr val="0E2745"/>
                </a:solidFill>
                <a:latin typeface="Calibri"/>
                <a:ea typeface="Calibri"/>
                <a:cs typeface="Calibri"/>
              </a:rPr>
              <a:t> agent fails?</a:t>
            </a:r>
            <a:endParaRPr sz="1500" b="1">
              <a:solidFill>
                <a:srgbClr val="0E2745"/>
              </a:solidFill>
              <a:latin typeface="Calibri"/>
              <a:ea typeface="Calibri"/>
              <a:cs typeface="Calibri"/>
            </a:endParaRPr>
          </a:p>
        </p:txBody>
      </p:sp>
      <p:sp>
        <p:nvSpPr>
          <p:cNvPr id="21" name="Rectangle 20">
            <a:extLst>
              <a:ext uri="{FF2B5EF4-FFF2-40B4-BE49-F238E27FC236}">
                <a16:creationId xmlns:a16="http://schemas.microsoft.com/office/drawing/2014/main" id="{7F6B526C-D821-D7EB-BB12-26D8DB6E2FF4}"/>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69</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87A6AAC4-C201-6ACB-3916-23FEDC349277}"/>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6F6C574C-39D0-D2F1-A73E-7279F7AC98E9}"/>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A7FE1561-6E17-6FC8-6D85-EDAA67D3D450}"/>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23AAFC26-EEAB-EACB-D827-A88AE4A0CF99}"/>
              </a:ext>
            </a:extLst>
          </p:cNvPr>
          <p:cNvSpPr>
            <a:spLocks noGrp="1"/>
          </p:cNvSpPr>
          <p:nvPr/>
        </p:nvSpPr>
        <p:spPr>
          <a:xfrm>
            <a:off x="1264482" y="418553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E5B3C81B-95A7-F2ED-147A-698BAE86DF28}"/>
              </a:ext>
            </a:extLst>
          </p:cNvPr>
          <p:cNvSpPr>
            <a:spLocks noGrp="1"/>
          </p:cNvSpPr>
          <p:nvPr/>
        </p:nvSpPr>
        <p:spPr>
          <a:xfrm>
            <a:off x="2036007" y="1947861"/>
            <a:ext cx="152400" cy="352425"/>
          </a:xfrm>
          <a:prstGeom prst="downArrow">
            <a:avLst/>
          </a:prstGeom>
          <a:solidFill>
            <a:srgbClr val="4F81BD"/>
          </a:solidFill>
          <a:ln w="0">
            <a:noFill/>
          </a:ln>
        </p:spPr>
        <p:txBody>
          <a:bodyPr/>
          <a:lstStyle/>
          <a:p>
            <a:endParaRPr lang="en-GR"/>
          </a:p>
        </p:txBody>
      </p:sp>
      <p:sp>
        <p:nvSpPr>
          <p:cNvPr id="10" name="decomposition arrow">
            <a:extLst>
              <a:ext uri="{FF2B5EF4-FFF2-40B4-BE49-F238E27FC236}">
                <a16:creationId xmlns:a16="http://schemas.microsoft.com/office/drawing/2014/main" id="{AA57008E-6E2D-3426-B461-D80C30B64F23}"/>
              </a:ext>
            </a:extLst>
          </p:cNvPr>
          <p:cNvSpPr>
            <a:spLocks noGrp="1"/>
          </p:cNvSpPr>
          <p:nvPr/>
        </p:nvSpPr>
        <p:spPr>
          <a:xfrm>
            <a:off x="2036007" y="2895597"/>
            <a:ext cx="152400" cy="352425"/>
          </a:xfrm>
          <a:prstGeom prst="downArrow">
            <a:avLst/>
          </a:prstGeom>
          <a:solidFill>
            <a:srgbClr val="4F81BD"/>
          </a:solidFill>
          <a:ln w="0">
            <a:noFill/>
          </a:ln>
        </p:spPr>
        <p:txBody>
          <a:bodyPr/>
          <a:lstStyle/>
          <a:p>
            <a:endParaRPr lang="en-GR"/>
          </a:p>
        </p:txBody>
      </p:sp>
      <p:sp>
        <p:nvSpPr>
          <p:cNvPr id="11" name="decomposition arrow">
            <a:extLst>
              <a:ext uri="{FF2B5EF4-FFF2-40B4-BE49-F238E27FC236}">
                <a16:creationId xmlns:a16="http://schemas.microsoft.com/office/drawing/2014/main" id="{0E0F3861-C198-3E84-E504-BB860801C6F5}"/>
              </a:ext>
            </a:extLst>
          </p:cNvPr>
          <p:cNvSpPr>
            <a:spLocks noGrp="1"/>
          </p:cNvSpPr>
          <p:nvPr/>
        </p:nvSpPr>
        <p:spPr>
          <a:xfrm>
            <a:off x="2036007" y="3795359"/>
            <a:ext cx="152400" cy="352425"/>
          </a:xfrm>
          <a:prstGeom prst="downArrow">
            <a:avLst/>
          </a:prstGeom>
          <a:solidFill>
            <a:srgbClr val="4F81BD"/>
          </a:solidFill>
          <a:ln w="0">
            <a:noFill/>
          </a:ln>
        </p:spPr>
        <p:txBody>
          <a:bodyPr/>
          <a:lstStyle/>
          <a:p>
            <a:endParaRPr lang="en-GR"/>
          </a:p>
        </p:txBody>
      </p:sp>
    </p:spTree>
    <p:extLst>
      <p:ext uri="{BB962C8B-B14F-4D97-AF65-F5344CB8AC3E}">
        <p14:creationId xmlns:p14="http://schemas.microsoft.com/office/powerpoint/2010/main" val="22627066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3698-6E49-3247-2C69-CCCD30BE294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E4A32F0-D0E9-4AD5-2164-D7B5B0EEC23D}"/>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79583438-0654-23CD-3741-BE3FAB8E01C4}"/>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1163D7E3-3A56-BA03-868F-99210A8045B4}"/>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Current Agentic AI EDA Flow</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B401DA26-FC53-7332-31F6-508E875D34CE}"/>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0" name="Rounded Rectangle 19">
            <a:extLst>
              <a:ext uri="{FF2B5EF4-FFF2-40B4-BE49-F238E27FC236}">
                <a16:creationId xmlns:a16="http://schemas.microsoft.com/office/drawing/2014/main" id="{DEA6A5A1-F5E5-6E8D-10C3-E209242DF909}"/>
              </a:ext>
            </a:extLst>
          </p:cNvPr>
          <p:cNvSpPr>
            <a:spLocks noGrp="1"/>
          </p:cNvSpPr>
          <p:nvPr/>
        </p:nvSpPr>
        <p:spPr>
          <a:xfrm>
            <a:off x="1143000" y="5676900"/>
            <a:ext cx="6858000" cy="428625"/>
          </a:xfrm>
          <a:prstGeom prst="roundRect">
            <a:avLst>
              <a:gd name="adj" fmla="val 26667"/>
            </a:avLst>
          </a:prstGeom>
          <a:solidFill>
            <a:srgbClr val="DCE6F1"/>
          </a:solidFill>
          <a:ln w="0">
            <a:noFill/>
          </a:ln>
        </p:spPr>
        <p:txBody>
          <a:bodyPr anchor="ctr">
            <a:normAutofit fontScale="98237"/>
          </a:bodyPr>
          <a:lstStyle/>
          <a:p>
            <a:pPr algn="ctr">
              <a:defRPr sz="1500" b="1">
                <a:solidFill>
                  <a:srgbClr val="0E2745"/>
                </a:solidFill>
                <a:latin typeface="Calibri"/>
                <a:ea typeface="Calibri"/>
                <a:cs typeface="Calibri"/>
              </a:defRPr>
            </a:pPr>
            <a:r>
              <a:rPr lang="en-US" sz="1500" b="1">
                <a:solidFill>
                  <a:srgbClr val="0E2745"/>
                </a:solidFill>
                <a:latin typeface="Calibri"/>
                <a:ea typeface="Calibri"/>
                <a:cs typeface="Calibri"/>
              </a:rPr>
              <a:t>What happens if the </a:t>
            </a:r>
            <a:r>
              <a:rPr lang="en-US" sz="1500" b="1" err="1">
                <a:solidFill>
                  <a:srgbClr val="0E2745"/>
                </a:solidFill>
                <a:latin typeface="Calibri"/>
                <a:ea typeface="Calibri"/>
                <a:cs typeface="Calibri"/>
              </a:rPr>
              <a:t>PnR</a:t>
            </a:r>
            <a:r>
              <a:rPr lang="en-US" sz="1500" b="1">
                <a:solidFill>
                  <a:srgbClr val="0E2745"/>
                </a:solidFill>
                <a:latin typeface="Calibri"/>
                <a:ea typeface="Calibri"/>
                <a:cs typeface="Calibri"/>
              </a:rPr>
              <a:t> agent fails?</a:t>
            </a:r>
            <a:endParaRPr sz="1500" b="1">
              <a:solidFill>
                <a:srgbClr val="0E2745"/>
              </a:solidFill>
              <a:latin typeface="Calibri"/>
              <a:ea typeface="Calibri"/>
              <a:cs typeface="Calibri"/>
            </a:endParaRPr>
          </a:p>
        </p:txBody>
      </p:sp>
      <p:sp>
        <p:nvSpPr>
          <p:cNvPr id="21" name="Rectangle 20">
            <a:extLst>
              <a:ext uri="{FF2B5EF4-FFF2-40B4-BE49-F238E27FC236}">
                <a16:creationId xmlns:a16="http://schemas.microsoft.com/office/drawing/2014/main" id="{103248FC-45D4-0A2A-088F-7BC5E959ECA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70</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398A029F-FEB8-899B-C6FA-F918DC4A6237}"/>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D3B8EADD-303F-A7C3-CA17-46F91F43154F}"/>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F46578A9-9365-EAE5-532C-36FA29C34E6F}"/>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F627BB84-81D0-99D0-F71A-1AAF7CBA4BAA}"/>
              </a:ext>
            </a:extLst>
          </p:cNvPr>
          <p:cNvSpPr>
            <a:spLocks noGrp="1"/>
          </p:cNvSpPr>
          <p:nvPr/>
        </p:nvSpPr>
        <p:spPr>
          <a:xfrm>
            <a:off x="1264482" y="418553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3C918E8B-F75F-7D6C-6F3D-A0F67055AEC7}"/>
              </a:ext>
            </a:extLst>
          </p:cNvPr>
          <p:cNvSpPr>
            <a:spLocks noGrp="1"/>
          </p:cNvSpPr>
          <p:nvPr/>
        </p:nvSpPr>
        <p:spPr>
          <a:xfrm>
            <a:off x="2036007" y="1947861"/>
            <a:ext cx="152400" cy="352425"/>
          </a:xfrm>
          <a:prstGeom prst="downArrow">
            <a:avLst/>
          </a:prstGeom>
          <a:solidFill>
            <a:srgbClr val="4F81BD"/>
          </a:solidFill>
          <a:ln w="0">
            <a:noFill/>
          </a:ln>
        </p:spPr>
        <p:txBody>
          <a:bodyPr/>
          <a:lstStyle/>
          <a:p>
            <a:endParaRPr lang="en-GR"/>
          </a:p>
        </p:txBody>
      </p:sp>
      <p:sp>
        <p:nvSpPr>
          <p:cNvPr id="10" name="decomposition arrow">
            <a:extLst>
              <a:ext uri="{FF2B5EF4-FFF2-40B4-BE49-F238E27FC236}">
                <a16:creationId xmlns:a16="http://schemas.microsoft.com/office/drawing/2014/main" id="{5ACB85B2-046F-0833-A2F7-E777B6BA2E17}"/>
              </a:ext>
            </a:extLst>
          </p:cNvPr>
          <p:cNvSpPr>
            <a:spLocks noGrp="1"/>
          </p:cNvSpPr>
          <p:nvPr/>
        </p:nvSpPr>
        <p:spPr>
          <a:xfrm>
            <a:off x="2036007" y="2895597"/>
            <a:ext cx="152400" cy="352425"/>
          </a:xfrm>
          <a:prstGeom prst="downArrow">
            <a:avLst/>
          </a:prstGeom>
          <a:solidFill>
            <a:srgbClr val="4F81BD"/>
          </a:solidFill>
          <a:ln w="0">
            <a:noFill/>
          </a:ln>
        </p:spPr>
        <p:txBody>
          <a:bodyPr/>
          <a:lstStyle/>
          <a:p>
            <a:endParaRPr lang="en-GR"/>
          </a:p>
        </p:txBody>
      </p:sp>
      <p:sp>
        <p:nvSpPr>
          <p:cNvPr id="11" name="decomposition arrow">
            <a:extLst>
              <a:ext uri="{FF2B5EF4-FFF2-40B4-BE49-F238E27FC236}">
                <a16:creationId xmlns:a16="http://schemas.microsoft.com/office/drawing/2014/main" id="{720BF213-4CF1-A723-4D8F-B927BEF02197}"/>
              </a:ext>
            </a:extLst>
          </p:cNvPr>
          <p:cNvSpPr>
            <a:spLocks noGrp="1"/>
          </p:cNvSpPr>
          <p:nvPr/>
        </p:nvSpPr>
        <p:spPr>
          <a:xfrm>
            <a:off x="2036007" y="3795359"/>
            <a:ext cx="152400" cy="352425"/>
          </a:xfrm>
          <a:prstGeom prst="downArrow">
            <a:avLst/>
          </a:prstGeom>
          <a:solidFill>
            <a:srgbClr val="4F81BD"/>
          </a:solidFill>
          <a:ln w="0">
            <a:noFill/>
          </a:ln>
        </p:spPr>
        <p:txBody>
          <a:bodyPr/>
          <a:lstStyle/>
          <a:p>
            <a:endParaRPr lang="en-GR"/>
          </a:p>
        </p:txBody>
      </p:sp>
      <p:sp>
        <p:nvSpPr>
          <p:cNvPr id="12" name="Rounded Rectangle 11">
            <a:extLst>
              <a:ext uri="{FF2B5EF4-FFF2-40B4-BE49-F238E27FC236}">
                <a16:creationId xmlns:a16="http://schemas.microsoft.com/office/drawing/2014/main" id="{27BD8FBC-7521-994D-EA30-AEA0B28ED105}"/>
              </a:ext>
            </a:extLst>
          </p:cNvPr>
          <p:cNvSpPr>
            <a:spLocks noGrp="1"/>
          </p:cNvSpPr>
          <p:nvPr/>
        </p:nvSpPr>
        <p:spPr>
          <a:xfrm>
            <a:off x="4371193" y="1781872"/>
            <a:ext cx="3393711" cy="2475105"/>
          </a:xfrm>
          <a:prstGeom prst="roundRect">
            <a:avLst>
              <a:gd name="adj" fmla="val 4902"/>
            </a:avLst>
          </a:prstGeom>
          <a:solidFill>
            <a:srgbClr val="F3F6FA"/>
          </a:solidFill>
          <a:ln w="0">
            <a:noFill/>
          </a:ln>
        </p:spPr>
        <p:txBody>
          <a:bodyPr/>
          <a:lstStyle/>
          <a:p>
            <a:endParaRPr lang="en-GR"/>
          </a:p>
        </p:txBody>
      </p:sp>
      <p:sp>
        <p:nvSpPr>
          <p:cNvPr id="13" name="Rectangle 12">
            <a:extLst>
              <a:ext uri="{FF2B5EF4-FFF2-40B4-BE49-F238E27FC236}">
                <a16:creationId xmlns:a16="http://schemas.microsoft.com/office/drawing/2014/main" id="{03535F33-FB69-2E57-CC9B-A2CA7DCDD905}"/>
              </a:ext>
            </a:extLst>
          </p:cNvPr>
          <p:cNvSpPr>
            <a:spLocks noGrp="1"/>
          </p:cNvSpPr>
          <p:nvPr/>
        </p:nvSpPr>
        <p:spPr>
          <a:xfrm>
            <a:off x="4561694" y="2019996"/>
            <a:ext cx="116451" cy="253457"/>
          </a:xfrm>
          <a:prstGeom prst="rect">
            <a:avLst/>
          </a:prstGeom>
          <a:solidFill>
            <a:srgbClr val="B21F2D"/>
          </a:solidFill>
          <a:ln w="0">
            <a:noFill/>
          </a:ln>
        </p:spPr>
        <p:txBody>
          <a:bodyPr/>
          <a:lstStyle/>
          <a:p>
            <a:endParaRPr lang="en-GR"/>
          </a:p>
        </p:txBody>
      </p:sp>
      <p:sp>
        <p:nvSpPr>
          <p:cNvPr id="14" name="Rectangle 13">
            <a:extLst>
              <a:ext uri="{FF2B5EF4-FFF2-40B4-BE49-F238E27FC236}">
                <a16:creationId xmlns:a16="http://schemas.microsoft.com/office/drawing/2014/main" id="{EB411CDF-D571-CAB4-061C-3B1FEE773EF3}"/>
              </a:ext>
            </a:extLst>
          </p:cNvPr>
          <p:cNvSpPr>
            <a:spLocks noGrp="1"/>
          </p:cNvSpPr>
          <p:nvPr/>
        </p:nvSpPr>
        <p:spPr>
          <a:xfrm>
            <a:off x="4704569" y="2000946"/>
            <a:ext cx="2412197" cy="283275"/>
          </a:xfrm>
          <a:prstGeom prst="rect">
            <a:avLst/>
          </a:prstGeom>
          <a:noFill/>
          <a:ln w="0">
            <a:noFill/>
          </a:ln>
        </p:spPr>
        <p:txBody>
          <a:bodyPr anchor="ctr">
            <a:normAutofit lnSpcReduction="10000"/>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Human</a:t>
            </a:r>
            <a:endParaRPr sz="1350" b="1">
              <a:solidFill>
                <a:srgbClr val="17365D"/>
              </a:solidFill>
              <a:latin typeface="Calibri"/>
              <a:ea typeface="Calibri"/>
              <a:cs typeface="Calibri"/>
            </a:endParaRPr>
          </a:p>
        </p:txBody>
      </p:sp>
      <p:sp>
        <p:nvSpPr>
          <p:cNvPr id="16" name="Rectangle 15">
            <a:extLst>
              <a:ext uri="{FF2B5EF4-FFF2-40B4-BE49-F238E27FC236}">
                <a16:creationId xmlns:a16="http://schemas.microsoft.com/office/drawing/2014/main" id="{4507A4D0-BEE6-CD3A-81A5-2C467C9C4163}"/>
              </a:ext>
            </a:extLst>
          </p:cNvPr>
          <p:cNvSpPr>
            <a:spLocks noGrp="1"/>
          </p:cNvSpPr>
          <p:nvPr/>
        </p:nvSpPr>
        <p:spPr>
          <a:xfrm>
            <a:off x="4678145" y="2273453"/>
            <a:ext cx="2611827" cy="1983524"/>
          </a:xfrm>
          <a:prstGeom prst="rect">
            <a:avLst/>
          </a:prstGeom>
          <a:noFill/>
          <a:ln w="0">
            <a:noFill/>
          </a:ln>
        </p:spPr>
        <p:txBody>
          <a:bodyPr anchor="ctr">
            <a:normAutofit/>
          </a:bodyPr>
          <a:lstStyle/>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Reads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log</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Changes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parameters according to specs</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If it still fails, changes RTL to improve </a:t>
            </a:r>
            <a:r>
              <a:rPr lang="en-US" sz="1200" b="1" err="1">
                <a:solidFill>
                  <a:srgbClr val="5B6573"/>
                </a:solidFill>
                <a:latin typeface="Calibri"/>
                <a:ea typeface="Calibri"/>
                <a:cs typeface="Calibri"/>
              </a:rPr>
              <a:t>PnR</a:t>
            </a: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Instructs the agents accordingly</a:t>
            </a:r>
          </a:p>
          <a:p>
            <a:pPr algn="ctr">
              <a:defRPr sz="1200" b="1">
                <a:solidFill>
                  <a:srgbClr val="5B6573"/>
                </a:solidFill>
                <a:latin typeface="Calibri"/>
                <a:ea typeface="Calibri"/>
                <a:cs typeface="Calibri"/>
              </a:defRPr>
            </a:pPr>
            <a:endParaRPr sz="1200" b="1">
              <a:solidFill>
                <a:srgbClr val="5B6573"/>
              </a:solidFill>
              <a:latin typeface="Calibri"/>
              <a:ea typeface="Calibri"/>
              <a:cs typeface="Calibri"/>
            </a:endParaRPr>
          </a:p>
        </p:txBody>
      </p:sp>
    </p:spTree>
    <p:extLst>
      <p:ext uri="{BB962C8B-B14F-4D97-AF65-F5344CB8AC3E}">
        <p14:creationId xmlns:p14="http://schemas.microsoft.com/office/powerpoint/2010/main" val="33219340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CC4-7264-941C-9773-CCA7328950A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3A49AED-1EC2-5709-8695-589F3BE06BA7}"/>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8C28C2C1-0EA9-4AB0-6778-47B1DA72F54C}"/>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90CB0216-C9DB-A606-3B43-3C0BEACC895E}"/>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Multi-Agent Agentic AI EDA Flow</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1F294A8E-1B01-B3A2-EBF2-7AA1177E7A7D}"/>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1" name="Rectangle 20">
            <a:extLst>
              <a:ext uri="{FF2B5EF4-FFF2-40B4-BE49-F238E27FC236}">
                <a16:creationId xmlns:a16="http://schemas.microsoft.com/office/drawing/2014/main" id="{2B5FD7D5-AAF9-8AE3-CB2E-FD1922959039}"/>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71</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83AA2A3F-7B24-B86D-6245-8AFEF5FE67F2}"/>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746CE5BC-1075-D86F-535D-E0F0C9D2E2FB}"/>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37A9345D-E6C7-4EC3-EB39-E98DC41CE881}"/>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DFC25A79-3DCB-B55B-8887-F9EFE004D31C}"/>
              </a:ext>
            </a:extLst>
          </p:cNvPr>
          <p:cNvSpPr>
            <a:spLocks noGrp="1"/>
          </p:cNvSpPr>
          <p:nvPr/>
        </p:nvSpPr>
        <p:spPr>
          <a:xfrm>
            <a:off x="1264482" y="423051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FE8CE11F-0FAB-9C1A-BD9F-8A6717ACF27E}"/>
              </a:ext>
            </a:extLst>
          </p:cNvPr>
          <p:cNvSpPr>
            <a:spLocks noGrp="1"/>
          </p:cNvSpPr>
          <p:nvPr/>
        </p:nvSpPr>
        <p:spPr>
          <a:xfrm>
            <a:off x="1891396" y="1947861"/>
            <a:ext cx="152400" cy="352425"/>
          </a:xfrm>
          <a:prstGeom prst="downArrow">
            <a:avLst/>
          </a:prstGeom>
          <a:solidFill>
            <a:srgbClr val="4F81BD"/>
          </a:solidFill>
          <a:ln w="0">
            <a:noFill/>
          </a:ln>
        </p:spPr>
        <p:txBody>
          <a:bodyPr/>
          <a:lstStyle/>
          <a:p>
            <a:endParaRPr lang="en-GR"/>
          </a:p>
        </p:txBody>
      </p:sp>
      <p:sp>
        <p:nvSpPr>
          <p:cNvPr id="12" name="Rounded Rectangle 11">
            <a:extLst>
              <a:ext uri="{FF2B5EF4-FFF2-40B4-BE49-F238E27FC236}">
                <a16:creationId xmlns:a16="http://schemas.microsoft.com/office/drawing/2014/main" id="{89B76033-3443-98E8-5654-FCFEED481A18}"/>
              </a:ext>
            </a:extLst>
          </p:cNvPr>
          <p:cNvSpPr>
            <a:spLocks noGrp="1"/>
          </p:cNvSpPr>
          <p:nvPr/>
        </p:nvSpPr>
        <p:spPr>
          <a:xfrm>
            <a:off x="4371193" y="1781872"/>
            <a:ext cx="3393711" cy="2475105"/>
          </a:xfrm>
          <a:prstGeom prst="roundRect">
            <a:avLst>
              <a:gd name="adj" fmla="val 4902"/>
            </a:avLst>
          </a:prstGeom>
          <a:solidFill>
            <a:srgbClr val="F3F6FA"/>
          </a:solidFill>
          <a:ln w="0">
            <a:noFill/>
          </a:ln>
        </p:spPr>
        <p:txBody>
          <a:bodyPr/>
          <a:lstStyle/>
          <a:p>
            <a:endParaRPr lang="en-GR"/>
          </a:p>
        </p:txBody>
      </p:sp>
      <p:sp>
        <p:nvSpPr>
          <p:cNvPr id="13" name="Rectangle 12">
            <a:extLst>
              <a:ext uri="{FF2B5EF4-FFF2-40B4-BE49-F238E27FC236}">
                <a16:creationId xmlns:a16="http://schemas.microsoft.com/office/drawing/2014/main" id="{9170B8C5-75A9-9841-07B7-917442AA311B}"/>
              </a:ext>
            </a:extLst>
          </p:cNvPr>
          <p:cNvSpPr>
            <a:spLocks noGrp="1"/>
          </p:cNvSpPr>
          <p:nvPr/>
        </p:nvSpPr>
        <p:spPr>
          <a:xfrm>
            <a:off x="4561694" y="2019996"/>
            <a:ext cx="116451" cy="253457"/>
          </a:xfrm>
          <a:prstGeom prst="rect">
            <a:avLst/>
          </a:prstGeom>
          <a:solidFill>
            <a:srgbClr val="B21F2D"/>
          </a:solidFill>
          <a:ln w="0">
            <a:noFill/>
          </a:ln>
        </p:spPr>
        <p:txBody>
          <a:bodyPr/>
          <a:lstStyle/>
          <a:p>
            <a:endParaRPr lang="en-GR"/>
          </a:p>
        </p:txBody>
      </p:sp>
      <p:sp>
        <p:nvSpPr>
          <p:cNvPr id="14" name="Rectangle 13">
            <a:extLst>
              <a:ext uri="{FF2B5EF4-FFF2-40B4-BE49-F238E27FC236}">
                <a16:creationId xmlns:a16="http://schemas.microsoft.com/office/drawing/2014/main" id="{DE03B17E-E003-C3DF-F1EA-09BF676BBCDD}"/>
              </a:ext>
            </a:extLst>
          </p:cNvPr>
          <p:cNvSpPr>
            <a:spLocks noGrp="1"/>
          </p:cNvSpPr>
          <p:nvPr/>
        </p:nvSpPr>
        <p:spPr>
          <a:xfrm>
            <a:off x="4704569" y="2000946"/>
            <a:ext cx="2412197" cy="283275"/>
          </a:xfrm>
          <a:prstGeom prst="rect">
            <a:avLst/>
          </a:prstGeom>
          <a:noFill/>
          <a:ln w="0">
            <a:noFill/>
          </a:ln>
        </p:spPr>
        <p:txBody>
          <a:bodyPr anchor="ctr">
            <a:normAutofit lnSpcReduction="10000"/>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AI Agents</a:t>
            </a:r>
            <a:endParaRPr sz="1350" b="1">
              <a:solidFill>
                <a:srgbClr val="17365D"/>
              </a:solidFill>
              <a:latin typeface="Calibri"/>
              <a:ea typeface="Calibri"/>
              <a:cs typeface="Calibri"/>
            </a:endParaRPr>
          </a:p>
        </p:txBody>
      </p:sp>
      <p:sp>
        <p:nvSpPr>
          <p:cNvPr id="16" name="Rectangle 15">
            <a:extLst>
              <a:ext uri="{FF2B5EF4-FFF2-40B4-BE49-F238E27FC236}">
                <a16:creationId xmlns:a16="http://schemas.microsoft.com/office/drawing/2014/main" id="{A90DDAAB-AFB0-8C4B-13F3-E91C645CAEE2}"/>
              </a:ext>
            </a:extLst>
          </p:cNvPr>
          <p:cNvSpPr>
            <a:spLocks noGrp="1"/>
          </p:cNvSpPr>
          <p:nvPr/>
        </p:nvSpPr>
        <p:spPr>
          <a:xfrm>
            <a:off x="4678145" y="2273453"/>
            <a:ext cx="2611827" cy="1983524"/>
          </a:xfrm>
          <a:prstGeom prst="rect">
            <a:avLst/>
          </a:prstGeom>
          <a:noFill/>
          <a:ln w="0">
            <a:noFill/>
          </a:ln>
        </p:spPr>
        <p:txBody>
          <a:bodyPr anchor="ctr">
            <a:normAutofit/>
          </a:bodyPr>
          <a:lstStyle/>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Reads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log</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Changes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parameters according to specs</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If it still fails, changes RTL to improve </a:t>
            </a:r>
            <a:r>
              <a:rPr lang="en-US" sz="1200" b="1" err="1">
                <a:solidFill>
                  <a:srgbClr val="5B6573"/>
                </a:solidFill>
                <a:latin typeface="Calibri"/>
                <a:ea typeface="Calibri"/>
                <a:cs typeface="Calibri"/>
              </a:rPr>
              <a:t>PnR</a:t>
            </a: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All in an automated agentic AI flow</a:t>
            </a:r>
          </a:p>
          <a:p>
            <a:pPr algn="ctr">
              <a:defRPr sz="1200" b="1">
                <a:solidFill>
                  <a:srgbClr val="5B6573"/>
                </a:solidFill>
                <a:latin typeface="Calibri"/>
                <a:ea typeface="Calibri"/>
                <a:cs typeface="Calibri"/>
              </a:defRPr>
            </a:pPr>
            <a:endParaRPr sz="1200" b="1">
              <a:solidFill>
                <a:srgbClr val="5B6573"/>
              </a:solidFill>
              <a:latin typeface="Calibri"/>
              <a:ea typeface="Calibri"/>
              <a:cs typeface="Calibri"/>
            </a:endParaRPr>
          </a:p>
        </p:txBody>
      </p:sp>
      <p:sp>
        <p:nvSpPr>
          <p:cNvPr id="15" name="decomposition arrow">
            <a:extLst>
              <a:ext uri="{FF2B5EF4-FFF2-40B4-BE49-F238E27FC236}">
                <a16:creationId xmlns:a16="http://schemas.microsoft.com/office/drawing/2014/main" id="{6EC8E123-F108-D62F-E6D6-7DEE7AF21A54}"/>
              </a:ext>
            </a:extLst>
          </p:cNvPr>
          <p:cNvSpPr>
            <a:spLocks noGrp="1"/>
          </p:cNvSpPr>
          <p:nvPr/>
        </p:nvSpPr>
        <p:spPr>
          <a:xfrm rot="10800000">
            <a:off x="2139265" y="1940014"/>
            <a:ext cx="152400" cy="352425"/>
          </a:xfrm>
          <a:prstGeom prst="downArrow">
            <a:avLst/>
          </a:prstGeom>
          <a:solidFill>
            <a:schemeClr val="accent2"/>
          </a:solidFill>
          <a:ln w="0">
            <a:noFill/>
          </a:ln>
        </p:spPr>
        <p:txBody>
          <a:bodyPr/>
          <a:lstStyle/>
          <a:p>
            <a:endParaRPr lang="en-GR"/>
          </a:p>
        </p:txBody>
      </p:sp>
      <p:sp>
        <p:nvSpPr>
          <p:cNvPr id="19" name="decomposition arrow">
            <a:extLst>
              <a:ext uri="{FF2B5EF4-FFF2-40B4-BE49-F238E27FC236}">
                <a16:creationId xmlns:a16="http://schemas.microsoft.com/office/drawing/2014/main" id="{A3AEAB43-C053-32BF-4247-3AD2E4C85EEC}"/>
              </a:ext>
            </a:extLst>
          </p:cNvPr>
          <p:cNvSpPr>
            <a:spLocks noGrp="1"/>
          </p:cNvSpPr>
          <p:nvPr/>
        </p:nvSpPr>
        <p:spPr>
          <a:xfrm>
            <a:off x="1891396" y="2877386"/>
            <a:ext cx="152400" cy="352425"/>
          </a:xfrm>
          <a:prstGeom prst="downArrow">
            <a:avLst/>
          </a:prstGeom>
          <a:solidFill>
            <a:srgbClr val="4F81BD"/>
          </a:solidFill>
          <a:ln w="0">
            <a:noFill/>
          </a:ln>
        </p:spPr>
        <p:txBody>
          <a:bodyPr/>
          <a:lstStyle/>
          <a:p>
            <a:endParaRPr lang="en-GR"/>
          </a:p>
        </p:txBody>
      </p:sp>
      <p:sp>
        <p:nvSpPr>
          <p:cNvPr id="23" name="decomposition arrow">
            <a:extLst>
              <a:ext uri="{FF2B5EF4-FFF2-40B4-BE49-F238E27FC236}">
                <a16:creationId xmlns:a16="http://schemas.microsoft.com/office/drawing/2014/main" id="{B21891E5-5B9C-5C14-FDA5-0EB191B26AA0}"/>
              </a:ext>
            </a:extLst>
          </p:cNvPr>
          <p:cNvSpPr>
            <a:spLocks noGrp="1"/>
          </p:cNvSpPr>
          <p:nvPr/>
        </p:nvSpPr>
        <p:spPr>
          <a:xfrm rot="10800000">
            <a:off x="2139265" y="2869539"/>
            <a:ext cx="152400" cy="352425"/>
          </a:xfrm>
          <a:prstGeom prst="downArrow">
            <a:avLst/>
          </a:prstGeom>
          <a:solidFill>
            <a:schemeClr val="accent2"/>
          </a:solidFill>
          <a:ln w="0">
            <a:noFill/>
          </a:ln>
        </p:spPr>
        <p:txBody>
          <a:bodyPr/>
          <a:lstStyle/>
          <a:p>
            <a:endParaRPr lang="en-GR"/>
          </a:p>
        </p:txBody>
      </p:sp>
      <p:sp>
        <p:nvSpPr>
          <p:cNvPr id="24" name="decomposition arrow">
            <a:extLst>
              <a:ext uri="{FF2B5EF4-FFF2-40B4-BE49-F238E27FC236}">
                <a16:creationId xmlns:a16="http://schemas.microsoft.com/office/drawing/2014/main" id="{58AE5961-393D-991E-EB4B-7807A9A51373}"/>
              </a:ext>
            </a:extLst>
          </p:cNvPr>
          <p:cNvSpPr>
            <a:spLocks noGrp="1"/>
          </p:cNvSpPr>
          <p:nvPr/>
        </p:nvSpPr>
        <p:spPr>
          <a:xfrm>
            <a:off x="1891396" y="3817849"/>
            <a:ext cx="152400" cy="352425"/>
          </a:xfrm>
          <a:prstGeom prst="downArrow">
            <a:avLst/>
          </a:prstGeom>
          <a:solidFill>
            <a:srgbClr val="4F81BD"/>
          </a:solidFill>
          <a:ln w="0">
            <a:noFill/>
          </a:ln>
        </p:spPr>
        <p:txBody>
          <a:bodyPr/>
          <a:lstStyle/>
          <a:p>
            <a:endParaRPr lang="en-GR"/>
          </a:p>
        </p:txBody>
      </p:sp>
      <p:sp>
        <p:nvSpPr>
          <p:cNvPr id="25" name="decomposition arrow">
            <a:extLst>
              <a:ext uri="{FF2B5EF4-FFF2-40B4-BE49-F238E27FC236}">
                <a16:creationId xmlns:a16="http://schemas.microsoft.com/office/drawing/2014/main" id="{E6CCF020-BD4F-6EA9-6DDF-CE18CE6DDAED}"/>
              </a:ext>
            </a:extLst>
          </p:cNvPr>
          <p:cNvSpPr>
            <a:spLocks noGrp="1"/>
          </p:cNvSpPr>
          <p:nvPr/>
        </p:nvSpPr>
        <p:spPr>
          <a:xfrm rot="10800000">
            <a:off x="2139265" y="3810002"/>
            <a:ext cx="152400" cy="352425"/>
          </a:xfrm>
          <a:prstGeom prst="downArrow">
            <a:avLst/>
          </a:prstGeom>
          <a:solidFill>
            <a:schemeClr val="accent2"/>
          </a:solidFill>
          <a:ln w="0">
            <a:noFill/>
          </a:ln>
        </p:spPr>
        <p:txBody>
          <a:bodyPr/>
          <a:lstStyle/>
          <a:p>
            <a:endParaRPr lang="en-GR"/>
          </a:p>
        </p:txBody>
      </p:sp>
    </p:spTree>
    <p:extLst>
      <p:ext uri="{BB962C8B-B14F-4D97-AF65-F5344CB8AC3E}">
        <p14:creationId xmlns:p14="http://schemas.microsoft.com/office/powerpoint/2010/main" val="17378615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D8227-76CF-B649-4D67-B887B1F8D509}"/>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897E805-58F0-8D4C-2125-173DEA1FC202}"/>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238A5EDD-7C9A-D0A1-7BB4-D409586C4999}"/>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442FC28A-C83C-9935-AB1A-E11A9FCB753C}"/>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Multi-Agent Agentic AI EDA Flow</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38CD472-9EA5-BEF8-1460-10EACDEB4CA2}"/>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0" name="Rounded Rectangle 19">
            <a:extLst>
              <a:ext uri="{FF2B5EF4-FFF2-40B4-BE49-F238E27FC236}">
                <a16:creationId xmlns:a16="http://schemas.microsoft.com/office/drawing/2014/main" id="{068861E3-57B5-E518-FC24-8A162B8BF4E8}"/>
              </a:ext>
            </a:extLst>
          </p:cNvPr>
          <p:cNvSpPr>
            <a:spLocks noGrp="1"/>
          </p:cNvSpPr>
          <p:nvPr/>
        </p:nvSpPr>
        <p:spPr>
          <a:xfrm>
            <a:off x="1143000" y="5676900"/>
            <a:ext cx="6858000" cy="428625"/>
          </a:xfrm>
          <a:prstGeom prst="roundRect">
            <a:avLst>
              <a:gd name="adj" fmla="val 26667"/>
            </a:avLst>
          </a:prstGeom>
          <a:solidFill>
            <a:srgbClr val="DCE6F1"/>
          </a:solidFill>
          <a:ln w="0">
            <a:noFill/>
          </a:ln>
        </p:spPr>
        <p:txBody>
          <a:bodyPr anchor="ctr">
            <a:normAutofit fontScale="98237"/>
          </a:bodyPr>
          <a:lstStyle/>
          <a:p>
            <a:pPr algn="ctr">
              <a:defRPr sz="1500" b="1">
                <a:solidFill>
                  <a:srgbClr val="0E2745"/>
                </a:solidFill>
                <a:latin typeface="Calibri"/>
                <a:ea typeface="Calibri"/>
                <a:cs typeface="Calibri"/>
              </a:defRPr>
            </a:pPr>
            <a:r>
              <a:rPr lang="en-US" sz="1500" b="1">
                <a:solidFill>
                  <a:srgbClr val="0E2745"/>
                </a:solidFill>
                <a:latin typeface="Calibri"/>
                <a:ea typeface="Calibri"/>
                <a:cs typeface="Calibri"/>
              </a:rPr>
              <a:t>Agents collaborate to achieve the user’s specification</a:t>
            </a:r>
            <a:endParaRPr sz="1500" b="1">
              <a:solidFill>
                <a:srgbClr val="0E2745"/>
              </a:solidFill>
              <a:latin typeface="Calibri"/>
              <a:ea typeface="Calibri"/>
              <a:cs typeface="Calibri"/>
            </a:endParaRPr>
          </a:p>
        </p:txBody>
      </p:sp>
      <p:sp>
        <p:nvSpPr>
          <p:cNvPr id="21" name="Rectangle 20">
            <a:extLst>
              <a:ext uri="{FF2B5EF4-FFF2-40B4-BE49-F238E27FC236}">
                <a16:creationId xmlns:a16="http://schemas.microsoft.com/office/drawing/2014/main" id="{FCC5FC31-F2D1-73E9-15CE-D293F574FE63}"/>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72</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8A29C098-09CD-7C48-99B3-8FD203AB030B}"/>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7CB3E370-B6AF-5516-EBD4-228EC1C123AD}"/>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2985A1F3-4031-5DB7-CAB2-772A5344D342}"/>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36EE7A5E-A68D-299A-3297-1D62333FB199}"/>
              </a:ext>
            </a:extLst>
          </p:cNvPr>
          <p:cNvSpPr>
            <a:spLocks noGrp="1"/>
          </p:cNvSpPr>
          <p:nvPr/>
        </p:nvSpPr>
        <p:spPr>
          <a:xfrm>
            <a:off x="1264482" y="423051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2A6A82C7-9100-B074-7B39-DB1ADBD54983}"/>
              </a:ext>
            </a:extLst>
          </p:cNvPr>
          <p:cNvSpPr>
            <a:spLocks noGrp="1"/>
          </p:cNvSpPr>
          <p:nvPr/>
        </p:nvSpPr>
        <p:spPr>
          <a:xfrm>
            <a:off x="1891396" y="1947861"/>
            <a:ext cx="152400" cy="352425"/>
          </a:xfrm>
          <a:prstGeom prst="downArrow">
            <a:avLst/>
          </a:prstGeom>
          <a:solidFill>
            <a:srgbClr val="4F81BD"/>
          </a:solidFill>
          <a:ln w="0">
            <a:noFill/>
          </a:ln>
        </p:spPr>
        <p:txBody>
          <a:bodyPr/>
          <a:lstStyle/>
          <a:p>
            <a:endParaRPr lang="en-GR"/>
          </a:p>
        </p:txBody>
      </p:sp>
      <p:sp>
        <p:nvSpPr>
          <p:cNvPr id="12" name="Rounded Rectangle 11">
            <a:extLst>
              <a:ext uri="{FF2B5EF4-FFF2-40B4-BE49-F238E27FC236}">
                <a16:creationId xmlns:a16="http://schemas.microsoft.com/office/drawing/2014/main" id="{58301674-6718-CC2C-1280-D43E5532F125}"/>
              </a:ext>
            </a:extLst>
          </p:cNvPr>
          <p:cNvSpPr>
            <a:spLocks noGrp="1"/>
          </p:cNvSpPr>
          <p:nvPr/>
        </p:nvSpPr>
        <p:spPr>
          <a:xfrm>
            <a:off x="4371193" y="1781872"/>
            <a:ext cx="3393711" cy="2475105"/>
          </a:xfrm>
          <a:prstGeom prst="roundRect">
            <a:avLst>
              <a:gd name="adj" fmla="val 4902"/>
            </a:avLst>
          </a:prstGeom>
          <a:solidFill>
            <a:srgbClr val="F3F6FA"/>
          </a:solidFill>
          <a:ln w="0">
            <a:noFill/>
          </a:ln>
        </p:spPr>
        <p:txBody>
          <a:bodyPr/>
          <a:lstStyle/>
          <a:p>
            <a:endParaRPr lang="en-GR"/>
          </a:p>
        </p:txBody>
      </p:sp>
      <p:sp>
        <p:nvSpPr>
          <p:cNvPr id="13" name="Rectangle 12">
            <a:extLst>
              <a:ext uri="{FF2B5EF4-FFF2-40B4-BE49-F238E27FC236}">
                <a16:creationId xmlns:a16="http://schemas.microsoft.com/office/drawing/2014/main" id="{DAEDABFE-17D6-7F88-FF6F-9F1AA614AD0E}"/>
              </a:ext>
            </a:extLst>
          </p:cNvPr>
          <p:cNvSpPr>
            <a:spLocks noGrp="1"/>
          </p:cNvSpPr>
          <p:nvPr/>
        </p:nvSpPr>
        <p:spPr>
          <a:xfrm>
            <a:off x="4561694" y="2019996"/>
            <a:ext cx="116451" cy="253457"/>
          </a:xfrm>
          <a:prstGeom prst="rect">
            <a:avLst/>
          </a:prstGeom>
          <a:solidFill>
            <a:srgbClr val="B21F2D"/>
          </a:solidFill>
          <a:ln w="0">
            <a:noFill/>
          </a:ln>
        </p:spPr>
        <p:txBody>
          <a:bodyPr/>
          <a:lstStyle/>
          <a:p>
            <a:endParaRPr lang="en-GR"/>
          </a:p>
        </p:txBody>
      </p:sp>
      <p:sp>
        <p:nvSpPr>
          <p:cNvPr id="14" name="Rectangle 13">
            <a:extLst>
              <a:ext uri="{FF2B5EF4-FFF2-40B4-BE49-F238E27FC236}">
                <a16:creationId xmlns:a16="http://schemas.microsoft.com/office/drawing/2014/main" id="{5F8EA2C9-32D4-2759-13A9-D534D1F867B3}"/>
              </a:ext>
            </a:extLst>
          </p:cNvPr>
          <p:cNvSpPr>
            <a:spLocks noGrp="1"/>
          </p:cNvSpPr>
          <p:nvPr/>
        </p:nvSpPr>
        <p:spPr>
          <a:xfrm>
            <a:off x="4704569" y="2000946"/>
            <a:ext cx="2412197" cy="283275"/>
          </a:xfrm>
          <a:prstGeom prst="rect">
            <a:avLst/>
          </a:prstGeom>
          <a:noFill/>
          <a:ln w="0">
            <a:noFill/>
          </a:ln>
        </p:spPr>
        <p:txBody>
          <a:bodyPr anchor="ctr">
            <a:normAutofit lnSpcReduction="10000"/>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AI Agents</a:t>
            </a:r>
            <a:endParaRPr sz="1350" b="1">
              <a:solidFill>
                <a:srgbClr val="17365D"/>
              </a:solidFill>
              <a:latin typeface="Calibri"/>
              <a:ea typeface="Calibri"/>
              <a:cs typeface="Calibri"/>
            </a:endParaRPr>
          </a:p>
        </p:txBody>
      </p:sp>
      <p:sp>
        <p:nvSpPr>
          <p:cNvPr id="16" name="Rectangle 15">
            <a:extLst>
              <a:ext uri="{FF2B5EF4-FFF2-40B4-BE49-F238E27FC236}">
                <a16:creationId xmlns:a16="http://schemas.microsoft.com/office/drawing/2014/main" id="{8CAEFCBC-7C7B-52E3-AC8D-7646C2186460}"/>
              </a:ext>
            </a:extLst>
          </p:cNvPr>
          <p:cNvSpPr>
            <a:spLocks noGrp="1"/>
          </p:cNvSpPr>
          <p:nvPr/>
        </p:nvSpPr>
        <p:spPr>
          <a:xfrm>
            <a:off x="4678145" y="2273453"/>
            <a:ext cx="2611827" cy="1983524"/>
          </a:xfrm>
          <a:prstGeom prst="rect">
            <a:avLst/>
          </a:prstGeom>
          <a:noFill/>
          <a:ln w="0">
            <a:noFill/>
          </a:ln>
        </p:spPr>
        <p:txBody>
          <a:bodyPr anchor="ctr">
            <a:normAutofit/>
          </a:bodyPr>
          <a:lstStyle/>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Reads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log</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Changes </a:t>
            </a:r>
            <a:r>
              <a:rPr lang="en-US" sz="1200" b="1" err="1">
                <a:solidFill>
                  <a:srgbClr val="5B6573"/>
                </a:solidFill>
                <a:latin typeface="Calibri"/>
                <a:ea typeface="Calibri"/>
                <a:cs typeface="Calibri"/>
              </a:rPr>
              <a:t>PnR</a:t>
            </a:r>
            <a:r>
              <a:rPr lang="en-US" sz="1200" b="1">
                <a:solidFill>
                  <a:srgbClr val="5B6573"/>
                </a:solidFill>
                <a:latin typeface="Calibri"/>
                <a:ea typeface="Calibri"/>
                <a:cs typeface="Calibri"/>
              </a:rPr>
              <a:t> parameters according to specs</a:t>
            </a: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If it still fails, changes RTL to improve </a:t>
            </a:r>
            <a:r>
              <a:rPr lang="en-US" sz="1200" b="1" err="1">
                <a:solidFill>
                  <a:srgbClr val="5B6573"/>
                </a:solidFill>
                <a:latin typeface="Calibri"/>
                <a:ea typeface="Calibri"/>
                <a:cs typeface="Calibri"/>
              </a:rPr>
              <a:t>PnR</a:t>
            </a: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endParaRPr lang="en-US" sz="1200" b="1">
              <a:solidFill>
                <a:srgbClr val="5B6573"/>
              </a:solidFill>
              <a:latin typeface="Calibri"/>
              <a:ea typeface="Calibri"/>
              <a:cs typeface="Calibri"/>
            </a:endParaRPr>
          </a:p>
          <a:p>
            <a:pPr algn="ctr">
              <a:defRPr sz="1200" b="1">
                <a:solidFill>
                  <a:srgbClr val="5B6573"/>
                </a:solidFill>
                <a:latin typeface="Calibri"/>
                <a:ea typeface="Calibri"/>
                <a:cs typeface="Calibri"/>
              </a:defRPr>
            </a:pPr>
            <a:r>
              <a:rPr lang="en-US" sz="1200" b="1">
                <a:solidFill>
                  <a:srgbClr val="5B6573"/>
                </a:solidFill>
                <a:latin typeface="Calibri"/>
                <a:ea typeface="Calibri"/>
                <a:cs typeface="Calibri"/>
              </a:rPr>
              <a:t>All in an automated agentic AI flow</a:t>
            </a:r>
          </a:p>
          <a:p>
            <a:pPr algn="ctr">
              <a:defRPr sz="1200" b="1">
                <a:solidFill>
                  <a:srgbClr val="5B6573"/>
                </a:solidFill>
                <a:latin typeface="Calibri"/>
                <a:ea typeface="Calibri"/>
                <a:cs typeface="Calibri"/>
              </a:defRPr>
            </a:pPr>
            <a:endParaRPr sz="1200" b="1">
              <a:solidFill>
                <a:srgbClr val="5B6573"/>
              </a:solidFill>
              <a:latin typeface="Calibri"/>
              <a:ea typeface="Calibri"/>
              <a:cs typeface="Calibri"/>
            </a:endParaRPr>
          </a:p>
        </p:txBody>
      </p:sp>
      <p:sp>
        <p:nvSpPr>
          <p:cNvPr id="15" name="decomposition arrow">
            <a:extLst>
              <a:ext uri="{FF2B5EF4-FFF2-40B4-BE49-F238E27FC236}">
                <a16:creationId xmlns:a16="http://schemas.microsoft.com/office/drawing/2014/main" id="{1D11071C-F86C-58E3-3C20-D9A510B0B8C7}"/>
              </a:ext>
            </a:extLst>
          </p:cNvPr>
          <p:cNvSpPr>
            <a:spLocks noGrp="1"/>
          </p:cNvSpPr>
          <p:nvPr/>
        </p:nvSpPr>
        <p:spPr>
          <a:xfrm rot="10800000">
            <a:off x="2139265" y="1940014"/>
            <a:ext cx="152400" cy="352425"/>
          </a:xfrm>
          <a:prstGeom prst="downArrow">
            <a:avLst/>
          </a:prstGeom>
          <a:solidFill>
            <a:schemeClr val="accent2"/>
          </a:solidFill>
          <a:ln w="0">
            <a:noFill/>
          </a:ln>
        </p:spPr>
        <p:txBody>
          <a:bodyPr/>
          <a:lstStyle/>
          <a:p>
            <a:endParaRPr lang="en-GR"/>
          </a:p>
        </p:txBody>
      </p:sp>
      <p:sp>
        <p:nvSpPr>
          <p:cNvPr id="19" name="decomposition arrow">
            <a:extLst>
              <a:ext uri="{FF2B5EF4-FFF2-40B4-BE49-F238E27FC236}">
                <a16:creationId xmlns:a16="http://schemas.microsoft.com/office/drawing/2014/main" id="{B83BA4DB-6140-290C-41DC-34A34C3ECF5C}"/>
              </a:ext>
            </a:extLst>
          </p:cNvPr>
          <p:cNvSpPr>
            <a:spLocks noGrp="1"/>
          </p:cNvSpPr>
          <p:nvPr/>
        </p:nvSpPr>
        <p:spPr>
          <a:xfrm>
            <a:off x="1891396" y="2877386"/>
            <a:ext cx="152400" cy="352425"/>
          </a:xfrm>
          <a:prstGeom prst="downArrow">
            <a:avLst/>
          </a:prstGeom>
          <a:solidFill>
            <a:srgbClr val="4F81BD"/>
          </a:solidFill>
          <a:ln w="0">
            <a:noFill/>
          </a:ln>
        </p:spPr>
        <p:txBody>
          <a:bodyPr/>
          <a:lstStyle/>
          <a:p>
            <a:endParaRPr lang="en-GR"/>
          </a:p>
        </p:txBody>
      </p:sp>
      <p:sp>
        <p:nvSpPr>
          <p:cNvPr id="23" name="decomposition arrow">
            <a:extLst>
              <a:ext uri="{FF2B5EF4-FFF2-40B4-BE49-F238E27FC236}">
                <a16:creationId xmlns:a16="http://schemas.microsoft.com/office/drawing/2014/main" id="{9ACC34DF-B96B-7BD5-37C1-A3875D6E85E0}"/>
              </a:ext>
            </a:extLst>
          </p:cNvPr>
          <p:cNvSpPr>
            <a:spLocks noGrp="1"/>
          </p:cNvSpPr>
          <p:nvPr/>
        </p:nvSpPr>
        <p:spPr>
          <a:xfrm rot="10800000">
            <a:off x="2139265" y="2869539"/>
            <a:ext cx="152400" cy="352425"/>
          </a:xfrm>
          <a:prstGeom prst="downArrow">
            <a:avLst/>
          </a:prstGeom>
          <a:solidFill>
            <a:schemeClr val="accent2"/>
          </a:solidFill>
          <a:ln w="0">
            <a:noFill/>
          </a:ln>
        </p:spPr>
        <p:txBody>
          <a:bodyPr/>
          <a:lstStyle/>
          <a:p>
            <a:endParaRPr lang="en-GR"/>
          </a:p>
        </p:txBody>
      </p:sp>
      <p:sp>
        <p:nvSpPr>
          <p:cNvPr id="24" name="decomposition arrow">
            <a:extLst>
              <a:ext uri="{FF2B5EF4-FFF2-40B4-BE49-F238E27FC236}">
                <a16:creationId xmlns:a16="http://schemas.microsoft.com/office/drawing/2014/main" id="{68A9BB2E-6EDE-9A1B-3F72-3E9777A29CA6}"/>
              </a:ext>
            </a:extLst>
          </p:cNvPr>
          <p:cNvSpPr>
            <a:spLocks noGrp="1"/>
          </p:cNvSpPr>
          <p:nvPr/>
        </p:nvSpPr>
        <p:spPr>
          <a:xfrm>
            <a:off x="1891396" y="3817849"/>
            <a:ext cx="152400" cy="352425"/>
          </a:xfrm>
          <a:prstGeom prst="downArrow">
            <a:avLst/>
          </a:prstGeom>
          <a:solidFill>
            <a:srgbClr val="4F81BD"/>
          </a:solidFill>
          <a:ln w="0">
            <a:noFill/>
          </a:ln>
        </p:spPr>
        <p:txBody>
          <a:bodyPr/>
          <a:lstStyle/>
          <a:p>
            <a:endParaRPr lang="en-GR"/>
          </a:p>
        </p:txBody>
      </p:sp>
      <p:sp>
        <p:nvSpPr>
          <p:cNvPr id="25" name="decomposition arrow">
            <a:extLst>
              <a:ext uri="{FF2B5EF4-FFF2-40B4-BE49-F238E27FC236}">
                <a16:creationId xmlns:a16="http://schemas.microsoft.com/office/drawing/2014/main" id="{C9B07192-CA4D-5F1C-BD69-3233120E8A6C}"/>
              </a:ext>
            </a:extLst>
          </p:cNvPr>
          <p:cNvSpPr>
            <a:spLocks noGrp="1"/>
          </p:cNvSpPr>
          <p:nvPr/>
        </p:nvSpPr>
        <p:spPr>
          <a:xfrm rot="10800000">
            <a:off x="2139265" y="3810002"/>
            <a:ext cx="152400" cy="352425"/>
          </a:xfrm>
          <a:prstGeom prst="downArrow">
            <a:avLst/>
          </a:prstGeom>
          <a:solidFill>
            <a:schemeClr val="accent2"/>
          </a:solidFill>
          <a:ln w="0">
            <a:noFill/>
          </a:ln>
        </p:spPr>
        <p:txBody>
          <a:bodyPr/>
          <a:lstStyle/>
          <a:p>
            <a:endParaRPr lang="en-GR"/>
          </a:p>
        </p:txBody>
      </p:sp>
    </p:spTree>
    <p:extLst>
      <p:ext uri="{BB962C8B-B14F-4D97-AF65-F5344CB8AC3E}">
        <p14:creationId xmlns:p14="http://schemas.microsoft.com/office/powerpoint/2010/main" val="36588263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8379BE5-F5FB-48B2-8993-6CD7E5741B24}"/>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607C2DEB-A26C-444C-A73F-F6AD04289BEA}"/>
              </a:ext>
            </a:extLst>
          </p:cNvPr>
          <p:cNvSpPr>
            <a:spLocks noGrp="1"/>
          </p:cNvSpPr>
          <p:nvPr/>
        </p:nvSpPr>
        <p:spPr>
          <a:xfrm>
            <a:off x="0" y="6724650"/>
            <a:ext cx="9144000" cy="133350"/>
          </a:xfrm>
          <a:prstGeom prst="rect">
            <a:avLst/>
          </a:prstGeom>
          <a:solidFill>
            <a:srgbClr val="B21F2D"/>
          </a:solidFill>
          <a:ln w="0">
            <a:noFill/>
          </a:ln>
        </p:spPr>
        <p:txBody>
          <a:bodyPr/>
          <a:lstStyle/>
          <a:p>
            <a:endParaRPr/>
          </a:p>
        </p:txBody>
      </p:sp>
      <p:sp>
        <p:nvSpPr>
          <p:cNvPr id="3" name="Rectangle 2">
            <a:extLst>
              <a:ext uri="{FF2B5EF4-FFF2-40B4-BE49-F238E27FC236}">
                <a16:creationId xmlns:a16="http://schemas.microsoft.com/office/drawing/2014/main" id="{14F61614-28A9-4775-B59C-DEA6ED6332EB}"/>
              </a:ext>
            </a:extLst>
          </p:cNvPr>
          <p:cNvSpPr>
            <a:spLocks noGrp="1"/>
          </p:cNvSpPr>
          <p:nvPr/>
        </p:nvSpPr>
        <p:spPr>
          <a:xfrm>
            <a:off x="400050" y="209550"/>
            <a:ext cx="7762875" cy="514350"/>
          </a:xfrm>
          <a:prstGeom prst="rect">
            <a:avLst/>
          </a:prstGeom>
          <a:noFill/>
          <a:ln w="0">
            <a:noFill/>
          </a:ln>
        </p:spPr>
        <p:txBody>
          <a:bodyPr anchor="ctr">
            <a:normAutofit/>
          </a:bodyPr>
          <a:lstStyle/>
          <a:p>
            <a:pPr algn="l">
              <a:buNone/>
              <a:defRPr sz="2250" b="1">
                <a:solidFill>
                  <a:srgbClr val="17365D"/>
                </a:solidFill>
                <a:latin typeface="Calibri"/>
                <a:ea typeface="Calibri"/>
                <a:cs typeface="Calibri"/>
              </a:defRPr>
            </a:pPr>
            <a:r>
              <a:rPr sz="2250" b="1">
                <a:solidFill>
                  <a:srgbClr val="17365D"/>
                </a:solidFill>
                <a:latin typeface="Calibri"/>
                <a:ea typeface="Calibri"/>
                <a:cs typeface="Calibri"/>
              </a:rPr>
              <a:t>FPU timing feedback loop</a:t>
            </a:r>
          </a:p>
        </p:txBody>
      </p:sp>
      <p:sp>
        <p:nvSpPr>
          <p:cNvPr id="4" name="Rectangle 3">
            <a:extLst>
              <a:ext uri="{FF2B5EF4-FFF2-40B4-BE49-F238E27FC236}">
                <a16:creationId xmlns:a16="http://schemas.microsoft.com/office/drawing/2014/main" id="{AE0EAB55-6F48-4B45-9EAF-6E1010B5E47B}"/>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buNone/>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21" name="Rectangle 20">
            <a:extLst>
              <a:ext uri="{FF2B5EF4-FFF2-40B4-BE49-F238E27FC236}">
                <a16:creationId xmlns:a16="http://schemas.microsoft.com/office/drawing/2014/main" id="{524D9ED9-8D5C-45C7-89C6-62E811E06C7B}"/>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73</a:t>
            </a:fld>
            <a:endParaRPr sz="750" b="0">
              <a:solidFill>
                <a:srgbClr val="5B6573"/>
              </a:solidFill>
              <a:latin typeface="Calibri"/>
              <a:ea typeface="Calibri"/>
              <a:cs typeface="Calibri"/>
            </a:endParaRPr>
          </a:p>
        </p:txBody>
      </p:sp>
      <p:sp>
        <p:nvSpPr>
          <p:cNvPr id="23" name="diagram: FPU RTL&#10;revision r0">
            <a:extLst>
              <a:ext uri="{FF2B5EF4-FFF2-40B4-BE49-F238E27FC236}">
                <a16:creationId xmlns:a16="http://schemas.microsoft.com/office/drawing/2014/main" id="{2D2F06E4-028D-4E11-8A62-4B8FF9299CC0}"/>
              </a:ext>
            </a:extLst>
          </p:cNvPr>
          <p:cNvSpPr>
            <a:spLocks noGrp="1"/>
          </p:cNvSpPr>
          <p:nvPr/>
        </p:nvSpPr>
        <p:spPr>
          <a:xfrm>
            <a:off x="542925" y="2095500"/>
            <a:ext cx="1476375" cy="904875"/>
          </a:xfrm>
          <a:prstGeom prst="roundRect">
            <a:avLst>
              <a:gd name="adj" fmla="val 10526"/>
            </a:avLst>
          </a:prstGeom>
          <a:solidFill>
            <a:srgbClr val="DCE7F3"/>
          </a:solidFill>
          <a:ln w="13335">
            <a:solidFill>
              <a:srgbClr val="4F81BD"/>
            </a:solidFill>
            <a:prstDash val="solid"/>
          </a:ln>
        </p:spPr>
        <p:txBody>
          <a:bodyPr lIns="66675" tIns="38100" rIns="66675" bIns="38100" anchor="ctr">
            <a:norm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FPU RTL</a:t>
            </a:r>
          </a:p>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revision </a:t>
            </a:r>
          </a:p>
        </p:txBody>
      </p:sp>
      <p:sp>
        <p:nvSpPr>
          <p:cNvPr id="24" name="diagram arrow">
            <a:extLst>
              <a:ext uri="{FF2B5EF4-FFF2-40B4-BE49-F238E27FC236}">
                <a16:creationId xmlns:a16="http://schemas.microsoft.com/office/drawing/2014/main" id="{874C9221-38F3-493D-BEC9-96174CE8BF7E}"/>
              </a:ext>
            </a:extLst>
          </p:cNvPr>
          <p:cNvSpPr>
            <a:spLocks noGrp="1"/>
          </p:cNvSpPr>
          <p:nvPr/>
        </p:nvSpPr>
        <p:spPr>
          <a:xfrm>
            <a:off x="2133600" y="2447925"/>
            <a:ext cx="361950" cy="152400"/>
          </a:xfrm>
          <a:prstGeom prst="rightArrow">
            <a:avLst/>
          </a:prstGeom>
          <a:solidFill>
            <a:srgbClr val="4F81BD"/>
          </a:solidFill>
          <a:ln w="0">
            <a:noFill/>
          </a:ln>
        </p:spPr>
        <p:txBody>
          <a:bodyPr/>
          <a:lstStyle/>
          <a:p>
            <a:endParaRPr lang="en-GR"/>
          </a:p>
        </p:txBody>
      </p:sp>
      <p:sp>
        <p:nvSpPr>
          <p:cNvPr id="25" name="diagram: Synthesis + PnR&#10;OpenROAD or custom ">
            <a:extLst>
              <a:ext uri="{FF2B5EF4-FFF2-40B4-BE49-F238E27FC236}">
                <a16:creationId xmlns:a16="http://schemas.microsoft.com/office/drawing/2014/main" id="{1231A0AE-0517-4592-8114-548129C5C38B}"/>
              </a:ext>
            </a:extLst>
          </p:cNvPr>
          <p:cNvSpPr>
            <a:spLocks noGrp="1"/>
          </p:cNvSpPr>
          <p:nvPr/>
        </p:nvSpPr>
        <p:spPr>
          <a:xfrm>
            <a:off x="2619375" y="2095500"/>
            <a:ext cx="2038350" cy="904875"/>
          </a:xfrm>
          <a:prstGeom prst="roundRect">
            <a:avLst>
              <a:gd name="adj" fmla="val 10526"/>
            </a:avLst>
          </a:prstGeom>
          <a:solidFill>
            <a:srgbClr val="DCE7F3"/>
          </a:solidFill>
          <a:ln w="13335">
            <a:solidFill>
              <a:srgbClr val="4F81BD"/>
            </a:solidFill>
            <a:prstDash val="solid"/>
          </a:ln>
        </p:spPr>
        <p:txBody>
          <a:bodyPr lIns="66675" tIns="38100" rIns="66675" bIns="38100" anchor="ctr">
            <a:normAutofit/>
          </a:bodyPr>
          <a:lstStyle/>
          <a:p>
            <a:pPr algn="ctr">
              <a:defRPr sz="1275" b="1">
                <a:solidFill>
                  <a:srgbClr val="17365D"/>
                </a:solidFill>
                <a:latin typeface="Calibri"/>
                <a:ea typeface="Calibri"/>
                <a:cs typeface="Calibri"/>
              </a:defRPr>
            </a:pPr>
            <a:r>
              <a:rPr sz="1275" b="1">
                <a:solidFill>
                  <a:srgbClr val="17365D"/>
                </a:solidFill>
                <a:latin typeface="Calibri"/>
                <a:ea typeface="Calibri"/>
                <a:cs typeface="Calibri"/>
              </a:rPr>
              <a:t>Synthesis + </a:t>
            </a:r>
            <a:r>
              <a:rPr sz="1275" b="1" err="1">
                <a:solidFill>
                  <a:srgbClr val="17365D"/>
                </a:solidFill>
                <a:latin typeface="Calibri"/>
                <a:ea typeface="Calibri"/>
                <a:cs typeface="Calibri"/>
              </a:rPr>
              <a:t>PnR</a:t>
            </a:r>
            <a:endParaRPr sz="1275" b="1">
              <a:solidFill>
                <a:srgbClr val="17365D"/>
              </a:solidFill>
              <a:latin typeface="Calibri"/>
              <a:ea typeface="Calibri"/>
              <a:cs typeface="Calibri"/>
            </a:endParaRPr>
          </a:p>
        </p:txBody>
      </p:sp>
      <p:sp>
        <p:nvSpPr>
          <p:cNvPr id="26" name="diagram arrow">
            <a:extLst>
              <a:ext uri="{FF2B5EF4-FFF2-40B4-BE49-F238E27FC236}">
                <a16:creationId xmlns:a16="http://schemas.microsoft.com/office/drawing/2014/main" id="{D5E69501-B225-41C8-918A-D8C6D000092C}"/>
              </a:ext>
            </a:extLst>
          </p:cNvPr>
          <p:cNvSpPr>
            <a:spLocks noGrp="1"/>
          </p:cNvSpPr>
          <p:nvPr/>
        </p:nvSpPr>
        <p:spPr>
          <a:xfrm>
            <a:off x="4781550" y="2447925"/>
            <a:ext cx="361950" cy="152400"/>
          </a:xfrm>
          <a:prstGeom prst="rightArrow">
            <a:avLst/>
          </a:prstGeom>
          <a:solidFill>
            <a:srgbClr val="4F81BD"/>
          </a:solidFill>
          <a:ln w="0">
            <a:noFill/>
          </a:ln>
        </p:spPr>
        <p:txBody>
          <a:bodyPr/>
          <a:lstStyle/>
          <a:p>
            <a:endParaRPr lang="en-GR"/>
          </a:p>
        </p:txBody>
      </p:sp>
      <p:sp>
        <p:nvSpPr>
          <p:cNvPr id="27" name="diagram: JSON reports&#10;slack + congestion">
            <a:extLst>
              <a:ext uri="{FF2B5EF4-FFF2-40B4-BE49-F238E27FC236}">
                <a16:creationId xmlns:a16="http://schemas.microsoft.com/office/drawing/2014/main" id="{6DBECED9-4132-4C0E-9A3F-135975486BB6}"/>
              </a:ext>
            </a:extLst>
          </p:cNvPr>
          <p:cNvSpPr>
            <a:spLocks noGrp="1"/>
          </p:cNvSpPr>
          <p:nvPr/>
        </p:nvSpPr>
        <p:spPr>
          <a:xfrm>
            <a:off x="5267325" y="2095500"/>
            <a:ext cx="1638300" cy="904875"/>
          </a:xfrm>
          <a:prstGeom prst="roundRect">
            <a:avLst>
              <a:gd name="adj" fmla="val 10526"/>
            </a:avLst>
          </a:prstGeom>
          <a:solidFill>
            <a:srgbClr val="DCE7F3"/>
          </a:solidFill>
          <a:ln w="13335">
            <a:solidFill>
              <a:srgbClr val="4F81BD"/>
            </a:solidFill>
            <a:prstDash val="solid"/>
          </a:ln>
        </p:spPr>
        <p:txBody>
          <a:bodyPr lIns="66675" tIns="38100" rIns="66675"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JSON reports</a:t>
            </a:r>
          </a:p>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slack + congestion</a:t>
            </a:r>
          </a:p>
        </p:txBody>
      </p:sp>
      <p:sp>
        <p:nvSpPr>
          <p:cNvPr id="28" name="diagram arrow">
            <a:extLst>
              <a:ext uri="{FF2B5EF4-FFF2-40B4-BE49-F238E27FC236}">
                <a16:creationId xmlns:a16="http://schemas.microsoft.com/office/drawing/2014/main" id="{D17BC73D-B92D-49C8-8C2D-4F5C03F179FF}"/>
              </a:ext>
            </a:extLst>
          </p:cNvPr>
          <p:cNvSpPr>
            <a:spLocks noGrp="1"/>
          </p:cNvSpPr>
          <p:nvPr/>
        </p:nvSpPr>
        <p:spPr>
          <a:xfrm>
            <a:off x="7029450" y="2447925"/>
            <a:ext cx="361950" cy="152400"/>
          </a:xfrm>
          <a:prstGeom prst="rightArrow">
            <a:avLst/>
          </a:prstGeom>
          <a:solidFill>
            <a:srgbClr val="4F81BD"/>
          </a:solidFill>
          <a:ln w="0">
            <a:noFill/>
          </a:ln>
        </p:spPr>
        <p:txBody>
          <a:bodyPr/>
          <a:lstStyle/>
          <a:p>
            <a:endParaRPr lang="en-GR"/>
          </a:p>
        </p:txBody>
      </p:sp>
      <p:sp>
        <p:nvSpPr>
          <p:cNvPr id="29" name="diagram: RTL agent&#10;retime or change topology">
            <a:extLst>
              <a:ext uri="{FF2B5EF4-FFF2-40B4-BE49-F238E27FC236}">
                <a16:creationId xmlns:a16="http://schemas.microsoft.com/office/drawing/2014/main" id="{88BC4200-9A23-4541-BCE4-4A97CF419B0F}"/>
              </a:ext>
            </a:extLst>
          </p:cNvPr>
          <p:cNvSpPr>
            <a:spLocks noGrp="1"/>
          </p:cNvSpPr>
          <p:nvPr/>
        </p:nvSpPr>
        <p:spPr>
          <a:xfrm>
            <a:off x="7496175" y="2095500"/>
            <a:ext cx="1362075" cy="904875"/>
          </a:xfrm>
          <a:prstGeom prst="roundRect">
            <a:avLst>
              <a:gd name="adj" fmla="val 10526"/>
            </a:avLst>
          </a:prstGeom>
          <a:solidFill>
            <a:srgbClr val="F8E3E5"/>
          </a:solidFill>
          <a:ln w="13335">
            <a:solidFill>
              <a:srgbClr val="C82132"/>
            </a:solidFill>
            <a:prstDash val="solid"/>
          </a:ln>
        </p:spPr>
        <p:txBody>
          <a:bodyPr lIns="66675" tIns="38100" rIns="66675" bIns="38100" anchor="ctr">
            <a:normAutofit/>
          </a:bodyPr>
          <a:lstStyle/>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RTL agent</a:t>
            </a:r>
          </a:p>
          <a:p>
            <a:pPr algn="ctr">
              <a:defRPr sz="1200" b="1">
                <a:solidFill>
                  <a:srgbClr val="17365D"/>
                </a:solidFill>
                <a:latin typeface="Calibri"/>
                <a:ea typeface="Calibri"/>
                <a:cs typeface="Calibri"/>
              </a:defRPr>
            </a:pPr>
            <a:r>
              <a:rPr sz="1200" b="1">
                <a:solidFill>
                  <a:srgbClr val="17365D"/>
                </a:solidFill>
                <a:latin typeface="Calibri"/>
                <a:ea typeface="Calibri"/>
                <a:cs typeface="Calibri"/>
              </a:rPr>
              <a:t>retime or change topology</a:t>
            </a:r>
          </a:p>
        </p:txBody>
      </p:sp>
      <p:sp>
        <p:nvSpPr>
          <p:cNvPr id="30" name="diagram: Rerun with same corner + constraint">
            <a:extLst>
              <a:ext uri="{FF2B5EF4-FFF2-40B4-BE49-F238E27FC236}">
                <a16:creationId xmlns:a16="http://schemas.microsoft.com/office/drawing/2014/main" id="{4E71A998-3067-4E24-8F1D-C07CA395D540}"/>
              </a:ext>
            </a:extLst>
          </p:cNvPr>
          <p:cNvSpPr>
            <a:spLocks noGrp="1"/>
          </p:cNvSpPr>
          <p:nvPr/>
        </p:nvSpPr>
        <p:spPr>
          <a:xfrm>
            <a:off x="714375" y="4143375"/>
            <a:ext cx="2286000" cy="762000"/>
          </a:xfrm>
          <a:prstGeom prst="roundRect">
            <a:avLst>
              <a:gd name="adj" fmla="val 12500"/>
            </a:avLst>
          </a:prstGeom>
          <a:solidFill>
            <a:srgbClr val="EEF3F8"/>
          </a:solidFill>
          <a:ln w="13335">
            <a:solidFill>
              <a:srgbClr val="4F81BD"/>
            </a:solidFill>
            <a:prstDash val="solid"/>
          </a:ln>
        </p:spPr>
        <p:txBody>
          <a:bodyPr lIns="66675" tIns="38100" rIns="66675" bIns="38100" anchor="ctr">
            <a:normAutofit/>
          </a:bodyPr>
          <a:lstStyle/>
          <a:p>
            <a:pPr algn="ctr">
              <a:defRPr sz="1275" b="1">
                <a:solidFill>
                  <a:srgbClr val="17365D"/>
                </a:solidFill>
                <a:latin typeface="Calibri"/>
                <a:ea typeface="Calibri"/>
                <a:cs typeface="Calibri"/>
              </a:defRPr>
            </a:pPr>
            <a:r>
              <a:rPr sz="1275" b="1">
                <a:solidFill>
                  <a:srgbClr val="17365D"/>
                </a:solidFill>
                <a:latin typeface="Calibri"/>
                <a:ea typeface="Calibri"/>
                <a:cs typeface="Calibri"/>
              </a:rPr>
              <a:t>Rerun with same corner + constraints</a:t>
            </a:r>
          </a:p>
        </p:txBody>
      </p:sp>
      <p:sp>
        <p:nvSpPr>
          <p:cNvPr id="31" name="diagram: Recheck equivalence / function">
            <a:extLst>
              <a:ext uri="{FF2B5EF4-FFF2-40B4-BE49-F238E27FC236}">
                <a16:creationId xmlns:a16="http://schemas.microsoft.com/office/drawing/2014/main" id="{7D6088FB-E729-4B81-BFF5-6B53E34489F0}"/>
              </a:ext>
            </a:extLst>
          </p:cNvPr>
          <p:cNvSpPr>
            <a:spLocks noGrp="1"/>
          </p:cNvSpPr>
          <p:nvPr/>
        </p:nvSpPr>
        <p:spPr>
          <a:xfrm>
            <a:off x="3429000" y="4143375"/>
            <a:ext cx="2286000" cy="762000"/>
          </a:xfrm>
          <a:prstGeom prst="roundRect">
            <a:avLst>
              <a:gd name="adj" fmla="val 12500"/>
            </a:avLst>
          </a:prstGeom>
          <a:solidFill>
            <a:srgbClr val="EEF3F8"/>
          </a:solidFill>
          <a:ln w="13335">
            <a:solidFill>
              <a:srgbClr val="4F81BD"/>
            </a:solidFill>
            <a:prstDash val="solid"/>
          </a:ln>
        </p:spPr>
        <p:txBody>
          <a:bodyPr lIns="66675" tIns="38100" rIns="66675" bIns="38100" anchor="ctr">
            <a:normAutofit/>
          </a:bodyPr>
          <a:lstStyle/>
          <a:p>
            <a:pPr algn="ctr">
              <a:defRPr sz="1275" b="1">
                <a:solidFill>
                  <a:srgbClr val="17365D"/>
                </a:solidFill>
                <a:latin typeface="Calibri"/>
                <a:ea typeface="Calibri"/>
                <a:cs typeface="Calibri"/>
              </a:defRPr>
            </a:pPr>
            <a:r>
              <a:rPr sz="1275" b="1">
                <a:solidFill>
                  <a:srgbClr val="17365D"/>
                </a:solidFill>
                <a:latin typeface="Calibri"/>
                <a:ea typeface="Calibri"/>
                <a:cs typeface="Calibri"/>
              </a:rPr>
              <a:t>Recheck equivalence / function</a:t>
            </a:r>
          </a:p>
        </p:txBody>
      </p:sp>
      <p:sp>
        <p:nvSpPr>
          <p:cNvPr id="32" name="diagram: Update TB and latency contract">
            <a:extLst>
              <a:ext uri="{FF2B5EF4-FFF2-40B4-BE49-F238E27FC236}">
                <a16:creationId xmlns:a16="http://schemas.microsoft.com/office/drawing/2014/main" id="{0AE3A272-0579-4802-9CEE-8EE4AE679AF5}"/>
              </a:ext>
            </a:extLst>
          </p:cNvPr>
          <p:cNvSpPr>
            <a:spLocks noGrp="1"/>
          </p:cNvSpPr>
          <p:nvPr/>
        </p:nvSpPr>
        <p:spPr>
          <a:xfrm>
            <a:off x="6143625" y="4143375"/>
            <a:ext cx="2286000" cy="762000"/>
          </a:xfrm>
          <a:prstGeom prst="roundRect">
            <a:avLst>
              <a:gd name="adj" fmla="val 12500"/>
            </a:avLst>
          </a:prstGeom>
          <a:solidFill>
            <a:srgbClr val="EEF3F8"/>
          </a:solidFill>
          <a:ln w="13335">
            <a:solidFill>
              <a:srgbClr val="4F81BD"/>
            </a:solidFill>
            <a:prstDash val="solid"/>
          </a:ln>
        </p:spPr>
        <p:txBody>
          <a:bodyPr lIns="66675" tIns="38100" rIns="66675" bIns="38100" anchor="ctr">
            <a:normAutofit/>
          </a:bodyPr>
          <a:lstStyle/>
          <a:p>
            <a:pPr algn="ctr">
              <a:defRPr sz="1275" b="1">
                <a:solidFill>
                  <a:srgbClr val="17365D"/>
                </a:solidFill>
                <a:latin typeface="Calibri"/>
                <a:ea typeface="Calibri"/>
                <a:cs typeface="Calibri"/>
              </a:defRPr>
            </a:pPr>
            <a:r>
              <a:rPr sz="1275" b="1">
                <a:solidFill>
                  <a:srgbClr val="17365D"/>
                </a:solidFill>
                <a:latin typeface="Calibri"/>
                <a:ea typeface="Calibri"/>
                <a:cs typeface="Calibri"/>
              </a:rPr>
              <a:t>Update TB and latency contract</a:t>
            </a:r>
          </a:p>
        </p:txBody>
      </p:sp>
      <p:sp>
        <p:nvSpPr>
          <p:cNvPr id="33" name="diagram arrow">
            <a:extLst>
              <a:ext uri="{FF2B5EF4-FFF2-40B4-BE49-F238E27FC236}">
                <a16:creationId xmlns:a16="http://schemas.microsoft.com/office/drawing/2014/main" id="{8E255F82-6D01-4117-9160-FD020BEB9F76}"/>
              </a:ext>
            </a:extLst>
          </p:cNvPr>
          <p:cNvSpPr>
            <a:spLocks noGrp="1"/>
          </p:cNvSpPr>
          <p:nvPr/>
        </p:nvSpPr>
        <p:spPr>
          <a:xfrm>
            <a:off x="3048000" y="4410075"/>
            <a:ext cx="333375" cy="152400"/>
          </a:xfrm>
          <a:prstGeom prst="leftArrow">
            <a:avLst/>
          </a:prstGeom>
          <a:solidFill>
            <a:srgbClr val="4F81BD"/>
          </a:solidFill>
          <a:ln w="0">
            <a:noFill/>
          </a:ln>
        </p:spPr>
        <p:txBody>
          <a:bodyPr/>
          <a:lstStyle/>
          <a:p>
            <a:endParaRPr lang="en-GR"/>
          </a:p>
        </p:txBody>
      </p:sp>
      <p:sp>
        <p:nvSpPr>
          <p:cNvPr id="34" name="diagram arrow">
            <a:extLst>
              <a:ext uri="{FF2B5EF4-FFF2-40B4-BE49-F238E27FC236}">
                <a16:creationId xmlns:a16="http://schemas.microsoft.com/office/drawing/2014/main" id="{8EFE7B3F-26F7-4A87-B99A-3FC86F43CAB8}"/>
              </a:ext>
            </a:extLst>
          </p:cNvPr>
          <p:cNvSpPr>
            <a:spLocks noGrp="1"/>
          </p:cNvSpPr>
          <p:nvPr/>
        </p:nvSpPr>
        <p:spPr>
          <a:xfrm>
            <a:off x="5762625" y="4410075"/>
            <a:ext cx="333375" cy="152400"/>
          </a:xfrm>
          <a:prstGeom prst="leftArrow">
            <a:avLst/>
          </a:prstGeom>
          <a:solidFill>
            <a:srgbClr val="4F81BD"/>
          </a:solidFill>
          <a:ln w="0">
            <a:noFill/>
          </a:ln>
        </p:spPr>
        <p:txBody>
          <a:bodyPr/>
          <a:lstStyle/>
          <a:p>
            <a:endParaRPr lang="en-GR"/>
          </a:p>
        </p:txBody>
      </p:sp>
      <p:sp>
        <p:nvSpPr>
          <p:cNvPr id="35" name="diagram arrow">
            <a:extLst>
              <a:ext uri="{FF2B5EF4-FFF2-40B4-BE49-F238E27FC236}">
                <a16:creationId xmlns:a16="http://schemas.microsoft.com/office/drawing/2014/main" id="{F2D5BBC6-F653-4389-87EA-D3B423AB5676}"/>
              </a:ext>
            </a:extLst>
          </p:cNvPr>
          <p:cNvSpPr>
            <a:spLocks noGrp="1"/>
          </p:cNvSpPr>
          <p:nvPr/>
        </p:nvSpPr>
        <p:spPr>
          <a:xfrm>
            <a:off x="7905750" y="3238500"/>
            <a:ext cx="190500" cy="590550"/>
          </a:xfrm>
          <a:prstGeom prst="downArrow">
            <a:avLst/>
          </a:prstGeom>
          <a:solidFill>
            <a:srgbClr val="C82132"/>
          </a:solidFill>
          <a:ln w="0">
            <a:noFill/>
          </a:ln>
        </p:spPr>
        <p:txBody>
          <a:bodyPr/>
          <a:lstStyle/>
          <a:p>
            <a:endParaRPr lang="en-GR"/>
          </a:p>
        </p:txBody>
      </p:sp>
      <p:sp>
        <p:nvSpPr>
          <p:cNvPr id="36" name="diagram arrow">
            <a:extLst>
              <a:ext uri="{FF2B5EF4-FFF2-40B4-BE49-F238E27FC236}">
                <a16:creationId xmlns:a16="http://schemas.microsoft.com/office/drawing/2014/main" id="{0A6E8B57-6AC1-4E61-91A3-AB1FCE70A691}"/>
              </a:ext>
            </a:extLst>
          </p:cNvPr>
          <p:cNvSpPr>
            <a:spLocks noGrp="1"/>
          </p:cNvSpPr>
          <p:nvPr/>
        </p:nvSpPr>
        <p:spPr>
          <a:xfrm>
            <a:off x="1362075" y="3238500"/>
            <a:ext cx="190500" cy="590550"/>
          </a:xfrm>
          <a:prstGeom prst="upArrow">
            <a:avLst/>
          </a:prstGeom>
          <a:solidFill>
            <a:srgbClr val="4F81BD"/>
          </a:solidFill>
          <a:ln w="0">
            <a:noFill/>
          </a:ln>
        </p:spPr>
        <p:txBody>
          <a:bodyPr/>
          <a:lstStyle/>
          <a:p>
            <a:endParaRPr lang="en-GR"/>
          </a:p>
        </p:txBody>
      </p:sp>
      <p:sp>
        <p:nvSpPr>
          <p:cNvPr id="1134" name="shape 1134"/>
          <p:cNvSpPr/>
          <p:nvPr/>
        </p:nvSpPr>
        <p:spPr>
          <a:xfrm>
            <a:off x="2057400" y="3200400"/>
            <a:ext cx="5394960" cy="685800"/>
          </a:xfrm>
          <a:prstGeom prst="roundRect">
            <a:avLst>
              <a:gd name="adj" fmla="val 12000"/>
            </a:avLst>
          </a:prstGeom>
          <a:solidFill>
            <a:srgbClr val="FBE9EB"/>
          </a:solidFill>
          <a:ln>
            <a:noFill/>
          </a:ln>
        </p:spPr>
        <p:txBody>
          <a:bodyPr wrap="square" lIns="73152" tIns="73152" rIns="73152" bIns="73152" anchor="ctr">
            <a:noAutofit/>
          </a:bodyPr>
          <a:lstStyle/>
          <a:p>
            <a:pPr algn="ctr">
              <a:spcBef>
                <a:spcPts val="0"/>
              </a:spcBef>
              <a:spcAft>
                <a:spcPts val="100"/>
              </a:spcAft>
              <a:buNone/>
            </a:pPr>
            <a:r>
              <a:rPr lang="en-US" sz="1100" b="1" i="0">
                <a:solidFill>
                  <a:srgbClr val="B91F2D"/>
                </a:solidFill>
                <a:latin typeface="Calibri"/>
                <a:ea typeface="Calibri"/>
                <a:cs typeface="Calibri"/>
              </a:rPr>
              <a:t>When does the loop start?</a:t>
            </a:r>
          </a:p>
          <a:p>
            <a:pPr algn="ctr">
              <a:spcBef>
                <a:spcPts val="0"/>
              </a:spcBef>
              <a:spcAft>
                <a:spcPts val="0"/>
              </a:spcAft>
              <a:buNone/>
            </a:pPr>
            <a:r>
              <a:rPr lang="en-US" sz="1050" b="0" i="0">
                <a:solidFill>
                  <a:srgbClr val="0E2745"/>
                </a:solidFill>
                <a:latin typeface="Calibri"/>
                <a:ea typeface="Calibri"/>
                <a:cs typeface="Calibri"/>
              </a:rPr>
              <a:t>negative slack, or a score requirement the PnR settings cannot meet</a:t>
            </a:r>
          </a:p>
        </p:txBody>
      </p:sp>
      <p:sp>
        <p:nvSpPr>
          <p:cNvPr id="1135" name="shape 1135"/>
          <p:cNvSpPr/>
          <p:nvPr/>
        </p:nvSpPr>
        <p:spPr>
          <a:xfrm>
            <a:off x="548640" y="5257800"/>
            <a:ext cx="8046720" cy="777240"/>
          </a:xfrm>
          <a:prstGeom prst="roundRect">
            <a:avLst>
              <a:gd name="adj" fmla="val 10000"/>
            </a:avLst>
          </a:prstGeom>
          <a:solidFill>
            <a:srgbClr val="F3F6FA"/>
          </a:solidFill>
          <a:ln>
            <a:noFill/>
          </a:ln>
        </p:spPr>
        <p:txBody>
          <a:bodyPr wrap="square" lIns="128016" tIns="128016" rIns="128016" bIns="128016" anchor="ctr">
            <a:noAutofit/>
          </a:bodyPr>
          <a:lstStyle/>
          <a:p>
            <a:pPr algn="l">
              <a:spcBef>
                <a:spcPts val="0"/>
              </a:spcBef>
              <a:spcAft>
                <a:spcPts val="0"/>
              </a:spcAft>
              <a:buNone/>
            </a:pPr>
            <a:r>
              <a:rPr lang="en-US" sz="1050" b="1" i="0">
                <a:solidFill>
                  <a:srgbClr val="0E2745"/>
                </a:solidFill>
                <a:latin typeface="Calibri"/>
                <a:ea typeface="Calibri"/>
                <a:cs typeface="Calibri"/>
              </a:rPr>
              <a:t>In our flow (Part 3): </a:t>
            </a:r>
            <a:r>
              <a:rPr lang="en-US" sz="1050" b="0" i="0">
                <a:solidFill>
                  <a:srgbClr val="0E2745"/>
                </a:solidFill>
                <a:latin typeface="Calibri"/>
                <a:ea typeface="Calibri"/>
                <a:cs typeface="Calibri"/>
              </a:rPr>
              <a:t>score below score_threshold → the config.mk agent tunes the PnR knobs again. WNS &lt; −0.5 ns → no knob can fix that, so the RTL agent re-designs (pipelines) the RTL.</a:t>
            </a:r>
          </a:p>
        </p:txBody>
      </p:sp>
    </p:spTree>
    <p:extLst>
      <p:ext uri="{BB962C8B-B14F-4D97-AF65-F5344CB8AC3E}">
        <p14:creationId xmlns:p14="http://schemas.microsoft.com/office/powerpoint/2010/main" val="9952124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6C877-46C1-547F-DF3D-8BF42908DC5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711A468-7670-0DA0-7D29-C43C6B47163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BDA0AE3C-FEE8-8C75-2783-7F1FC8725309}"/>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CCD461D8-663D-ACD8-B93F-DF1F56CB4F01}"/>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Why Custom EDA tools improve agent performance</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63B00E2-E478-04F3-4D67-174A84E93B33}"/>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3</a:t>
            </a:r>
          </a:p>
        </p:txBody>
      </p:sp>
      <p:sp>
        <p:nvSpPr>
          <p:cNvPr id="5" name="Rectangle 4">
            <a:extLst>
              <a:ext uri="{FF2B5EF4-FFF2-40B4-BE49-F238E27FC236}">
                <a16:creationId xmlns:a16="http://schemas.microsoft.com/office/drawing/2014/main" id="{1E544C1A-AE1A-1531-6CAA-D4E64E55CC86}"/>
              </a:ext>
            </a:extLst>
          </p:cNvPr>
          <p:cNvSpPr>
            <a:spLocks noGrp="1"/>
          </p:cNvSpPr>
          <p:nvPr/>
        </p:nvSpPr>
        <p:spPr>
          <a:xfrm>
            <a:off x="361950" y="1046069"/>
            <a:ext cx="3333750" cy="457200"/>
          </a:xfrm>
          <a:prstGeom prst="rect">
            <a:avLst/>
          </a:prstGeom>
          <a:noFill/>
          <a:ln w="0">
            <a:noFill/>
          </a:ln>
        </p:spPr>
        <p:txBody>
          <a:bodyPr anchor="ctr">
            <a:normAutofit fontScale="95937"/>
          </a:bodyPr>
          <a:lstStyle/>
          <a:p>
            <a:pPr algn="l">
              <a:defRPr sz="1725" b="1">
                <a:solidFill>
                  <a:srgbClr val="5B6573"/>
                </a:solidFill>
                <a:latin typeface="Calibri"/>
                <a:ea typeface="Calibri"/>
                <a:cs typeface="Calibri"/>
              </a:defRPr>
            </a:pPr>
            <a:r>
              <a:rPr lang="en-US" sz="1725" b="1">
                <a:solidFill>
                  <a:srgbClr val="5B6573"/>
                </a:solidFill>
                <a:latin typeface="Calibri"/>
                <a:ea typeface="Calibri"/>
                <a:cs typeface="Calibri"/>
              </a:rPr>
              <a:t>Agents Communicate through logs</a:t>
            </a:r>
            <a:endParaRPr sz="1725" b="1">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E2C49BA7-2B33-AC9D-038C-9F04C059E413}"/>
              </a:ext>
            </a:extLst>
          </p:cNvPr>
          <p:cNvSpPr>
            <a:spLocks noGrp="1"/>
          </p:cNvSpPr>
          <p:nvPr/>
        </p:nvSpPr>
        <p:spPr>
          <a:xfrm>
            <a:off x="5029200" y="1025619"/>
            <a:ext cx="3714750" cy="457200"/>
          </a:xfrm>
          <a:prstGeom prst="rect">
            <a:avLst/>
          </a:prstGeom>
          <a:noFill/>
          <a:ln w="0">
            <a:noFill/>
          </a:ln>
        </p:spPr>
        <p:txBody>
          <a:bodyPr anchor="ctr">
            <a:normAutofit fontScale="98506"/>
          </a:bodyPr>
          <a:lstStyle/>
          <a:p>
            <a:pPr algn="r">
              <a:defRPr sz="1725" b="1">
                <a:solidFill>
                  <a:srgbClr val="17365D"/>
                </a:solidFill>
                <a:latin typeface="Calibri"/>
                <a:ea typeface="Calibri"/>
                <a:cs typeface="Calibri"/>
              </a:defRPr>
            </a:pPr>
            <a:r>
              <a:rPr sz="1725" b="1">
                <a:solidFill>
                  <a:srgbClr val="17365D"/>
                </a:solidFill>
                <a:latin typeface="Calibri"/>
                <a:ea typeface="Calibri"/>
                <a:cs typeface="Calibri"/>
              </a:rPr>
              <a:t>…</a:t>
            </a:r>
            <a:r>
              <a:rPr lang="en-US" sz="1725" b="1">
                <a:solidFill>
                  <a:srgbClr val="17365D"/>
                </a:solidFill>
                <a:latin typeface="Calibri"/>
                <a:ea typeface="Calibri"/>
                <a:cs typeface="Calibri"/>
              </a:rPr>
              <a:t>custom EDA tools optimize the agents</a:t>
            </a:r>
            <a:endParaRPr sz="1725" b="1">
              <a:solidFill>
                <a:srgbClr val="17365D"/>
              </a:solidFill>
              <a:latin typeface="Calibri"/>
              <a:ea typeface="Calibri"/>
              <a:cs typeface="Calibri"/>
            </a:endParaRPr>
          </a:p>
        </p:txBody>
      </p:sp>
      <p:sp>
        <p:nvSpPr>
          <p:cNvPr id="7" name="Right Arrow 6">
            <a:extLst>
              <a:ext uri="{FF2B5EF4-FFF2-40B4-BE49-F238E27FC236}">
                <a16:creationId xmlns:a16="http://schemas.microsoft.com/office/drawing/2014/main" id="{C97D01B6-CB9F-EEB4-8509-2B0C59F828C5}"/>
              </a:ext>
            </a:extLst>
          </p:cNvPr>
          <p:cNvSpPr>
            <a:spLocks noGrp="1"/>
          </p:cNvSpPr>
          <p:nvPr/>
        </p:nvSpPr>
        <p:spPr>
          <a:xfrm>
            <a:off x="3695700" y="1104900"/>
            <a:ext cx="1333500" cy="333375"/>
          </a:xfrm>
          <a:prstGeom prst="rightArrow">
            <a:avLst/>
          </a:prstGeom>
          <a:solidFill>
            <a:srgbClr val="B21F2D"/>
          </a:solidFill>
          <a:ln w="0">
            <a:noFill/>
          </a:ln>
        </p:spPr>
        <p:txBody>
          <a:bodyPr/>
          <a:lstStyle/>
          <a:p>
            <a:endParaRPr lang="en-GR"/>
          </a:p>
        </p:txBody>
      </p:sp>
      <p:sp>
        <p:nvSpPr>
          <p:cNvPr id="21" name="Rectangle 20">
            <a:extLst>
              <a:ext uri="{FF2B5EF4-FFF2-40B4-BE49-F238E27FC236}">
                <a16:creationId xmlns:a16="http://schemas.microsoft.com/office/drawing/2014/main" id="{13E3310A-043C-5E3E-FD9C-F7C4BF3FEF16}"/>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74</a:t>
            </a:fld>
            <a:endParaRPr sz="750" b="0">
              <a:solidFill>
                <a:srgbClr val="5B6573"/>
              </a:solidFill>
              <a:latin typeface="Calibri"/>
              <a:ea typeface="Calibri"/>
              <a:cs typeface="Calibri"/>
            </a:endParaRPr>
          </a:p>
        </p:txBody>
      </p:sp>
      <p:sp>
        <p:nvSpPr>
          <p:cNvPr id="23" name="raw title"/>
          <p:cNvSpPr txBox="1"/>
          <p:nvPr/>
        </p:nvSpPr>
        <p:spPr>
          <a:xfrm>
            <a:off x="365760" y="1737360"/>
            <a:ext cx="4023360" cy="365760"/>
          </a:xfrm>
          <a:prstGeom prst="rect">
            <a:avLst/>
          </a:prstGeom>
          <a:noFill/>
          <a:ln>
            <a:noFill/>
          </a:ln>
        </p:spPr>
        <p:txBody>
          <a:bodyPr wrap="square" lIns="73152" tIns="73152" rIns="73152" bIns="73152" anchor="t">
            <a:normAutofit/>
          </a:bodyPr>
          <a:lstStyle/>
          <a:p>
            <a:pPr algn="l">
              <a:spcAft>
                <a:spcPts val="0"/>
              </a:spcAft>
              <a:buNone/>
            </a:pPr>
            <a:r>
              <a:rPr lang="en-US" sz="1300" b="1" i="0">
                <a:solidFill>
                  <a:srgbClr val="0E2745"/>
                </a:solidFill>
                <a:latin typeface="Calibri"/>
                <a:ea typeface="Calibri"/>
                <a:cs typeface="Calibri"/>
              </a:rPr>
              <a:t>Raw tool log – what the agent reads today</a:t>
            </a:r>
          </a:p>
        </p:txBody>
      </p:sp>
      <p:sp>
        <p:nvSpPr>
          <p:cNvPr id="24" name="raw log"/>
          <p:cNvSpPr/>
          <p:nvPr/>
        </p:nvSpPr>
        <p:spPr>
          <a:xfrm>
            <a:off x="365760" y="2148840"/>
            <a:ext cx="4023360" cy="251460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950" b="0" i="0">
                <a:solidFill>
                  <a:srgbClr val="FFFFFF"/>
                </a:solidFill>
                <a:latin typeface="Courier New"/>
                <a:ea typeface="Courier New"/>
                <a:cs typeface="Courier New"/>
              </a:rPr>
              <a:t>[INFO IFP-0107] Defining die area using utilization: 50.00% ...</a:t>
            </a:r>
          </a:p>
          <a:p>
            <a:pPr algn="l">
              <a:spcAft>
                <a:spcPts val="300"/>
              </a:spcAft>
              <a:buNone/>
            </a:pPr>
            <a:r>
              <a:rPr lang="en-US" sz="950" b="0" i="0">
                <a:solidFill>
                  <a:srgbClr val="FFFFFF"/>
                </a:solidFill>
                <a:latin typeface="Courier New"/>
                <a:ea typeface="Courier New"/>
                <a:cs typeface="Courier New"/>
              </a:rPr>
              <a:t>[ERROR PDN-0185] Insufficient width (26.22 um) to add straps</a:t>
            </a:r>
          </a:p>
          <a:p>
            <a:pPr algn="l">
              <a:spcAft>
                <a:spcPts val="300"/>
              </a:spcAft>
              <a:buNone/>
            </a:pPr>
            <a:r>
              <a:rPr lang="en-US" sz="950" b="0" i="0">
                <a:solidFill>
                  <a:srgbClr val="FFFFFF"/>
                </a:solidFill>
                <a:latin typeface="Courier New"/>
                <a:ea typeface="Courier New"/>
                <a:cs typeface="Courier New"/>
              </a:rPr>
              <a:t>  on layer met4 in grid "grid" with total strap width 15.2 um</a:t>
            </a:r>
          </a:p>
          <a:p>
            <a:pPr algn="l">
              <a:spcAft>
                <a:spcPts val="300"/>
              </a:spcAft>
              <a:buNone/>
            </a:pPr>
            <a:r>
              <a:rPr lang="en-US" sz="950" b="0" i="0">
                <a:solidFill>
                  <a:srgbClr val="FFFFFF"/>
                </a:solidFill>
                <a:latin typeface="Courier New"/>
                <a:ea typeface="Courier New"/>
                <a:cs typeface="Courier New"/>
              </a:rPr>
              <a:t>  and offset 13.6 um.</a:t>
            </a:r>
          </a:p>
          <a:p>
            <a:pPr algn="l">
              <a:spcAft>
                <a:spcPts val="300"/>
              </a:spcAft>
              <a:buNone/>
            </a:pPr>
            <a:r>
              <a:rPr lang="en-US" sz="950" b="0" i="0">
                <a:solidFill>
                  <a:srgbClr val="FFFFFF"/>
                </a:solidFill>
                <a:latin typeface="Courier New"/>
                <a:ea typeface="Courier New"/>
                <a:cs typeface="Courier New"/>
              </a:rPr>
              <a:t>make[1]: *** [Makefile:484: do-2_4_floorplan_pdn] Error 1</a:t>
            </a:r>
          </a:p>
        </p:txBody>
      </p:sp>
      <p:sp>
        <p:nvSpPr>
          <p:cNvPr id="25" name="json title"/>
          <p:cNvSpPr txBox="1"/>
          <p:nvPr/>
        </p:nvSpPr>
        <p:spPr>
          <a:xfrm>
            <a:off x="4754880" y="1737360"/>
            <a:ext cx="4023360" cy="365760"/>
          </a:xfrm>
          <a:prstGeom prst="rect">
            <a:avLst/>
          </a:prstGeom>
          <a:noFill/>
          <a:ln>
            <a:noFill/>
          </a:ln>
        </p:spPr>
        <p:txBody>
          <a:bodyPr wrap="square" lIns="73152" tIns="73152" rIns="73152" bIns="73152" anchor="t">
            <a:normAutofit/>
          </a:bodyPr>
          <a:lstStyle/>
          <a:p>
            <a:pPr algn="l">
              <a:spcAft>
                <a:spcPts val="0"/>
              </a:spcAft>
              <a:buNone/>
            </a:pPr>
            <a:r>
              <a:rPr lang="en-US" sz="1300" b="1" i="0">
                <a:solidFill>
                  <a:srgbClr val="0E2745"/>
                </a:solidFill>
                <a:latin typeface="Calibri"/>
                <a:ea typeface="Calibri"/>
                <a:cs typeface="Calibri"/>
              </a:rPr>
              <a:t>Structured report – what a custom tool can give</a:t>
            </a:r>
          </a:p>
        </p:txBody>
      </p:sp>
      <p:sp>
        <p:nvSpPr>
          <p:cNvPr id="26" name="json"/>
          <p:cNvSpPr/>
          <p:nvPr/>
        </p:nvSpPr>
        <p:spPr>
          <a:xfrm>
            <a:off x="4754880" y="2148840"/>
            <a:ext cx="4023360" cy="2514600"/>
          </a:xfrm>
          <a:prstGeom prst="roundRect">
            <a:avLst>
              <a:gd name="adj" fmla="val 5000"/>
            </a:avLst>
          </a:prstGeom>
          <a:solidFill>
            <a:srgbClr val="F3F6FA"/>
          </a:solidFill>
          <a:ln w="12700">
            <a:solidFill>
              <a:srgbClr val="4F81BD"/>
            </a:solidFill>
          </a:ln>
        </p:spPr>
        <p:txBody>
          <a:bodyPr wrap="square" lIns="164592" tIns="164592" rIns="164592" bIns="164592" anchor="ctr">
            <a:normAutofit/>
          </a:bodyPr>
          <a:lstStyle/>
          <a:p>
            <a:pPr algn="l">
              <a:spcAft>
                <a:spcPts val="150"/>
              </a:spcAft>
              <a:buNone/>
            </a:pPr>
            <a:r>
              <a:rPr lang="en-US" sz="1100" b="0" i="0">
                <a:solidFill>
                  <a:srgbClr val="0E2745"/>
                </a:solidFill>
                <a:latin typeface="Courier New"/>
                <a:ea typeface="Courier New"/>
                <a:cs typeface="Courier New"/>
              </a:rPr>
              <a:t>{ "stage": "floorplan_pdn",</a:t>
            </a:r>
          </a:p>
          <a:p>
            <a:pPr algn="l">
              <a:spcAft>
                <a:spcPts val="150"/>
              </a:spcAft>
              <a:buNone/>
            </a:pPr>
            <a:r>
              <a:rPr lang="en-US" sz="1100" b="0" i="0">
                <a:solidFill>
                  <a:srgbClr val="0E2745"/>
                </a:solidFill>
                <a:latin typeface="Courier New"/>
                <a:ea typeface="Courier New"/>
                <a:cs typeface="Courier New"/>
              </a:rPr>
              <a:t>  "status": "fail",</a:t>
            </a:r>
          </a:p>
          <a:p>
            <a:pPr algn="l">
              <a:spcAft>
                <a:spcPts val="150"/>
              </a:spcAft>
              <a:buNone/>
            </a:pPr>
            <a:r>
              <a:rPr lang="en-US" sz="1100" b="0" i="0">
                <a:solidFill>
                  <a:srgbClr val="0E2745"/>
                </a:solidFill>
                <a:latin typeface="Courier New"/>
                <a:ea typeface="Courier New"/>
                <a:cs typeface="Courier New"/>
              </a:rPr>
              <a:t>  "error": "PDN-0185",</a:t>
            </a:r>
          </a:p>
          <a:p>
            <a:pPr algn="l">
              <a:spcAft>
                <a:spcPts val="150"/>
              </a:spcAft>
              <a:buNone/>
            </a:pPr>
            <a:r>
              <a:rPr lang="en-US" sz="1100" b="0" i="0">
                <a:solidFill>
                  <a:srgbClr val="0E2745"/>
                </a:solidFill>
                <a:latin typeface="Courier New"/>
                <a:ea typeface="Courier New"/>
                <a:cs typeface="Courier New"/>
              </a:rPr>
              <a:t>  "core_width_um": 26.22,</a:t>
            </a:r>
          </a:p>
          <a:p>
            <a:pPr algn="l">
              <a:spcAft>
                <a:spcPts val="150"/>
              </a:spcAft>
              <a:buNone/>
            </a:pPr>
            <a:r>
              <a:rPr lang="en-US" sz="1100" b="0" i="0">
                <a:solidFill>
                  <a:srgbClr val="0E2745"/>
                </a:solidFill>
                <a:latin typeface="Courier New"/>
                <a:ea typeface="Courier New"/>
                <a:cs typeface="Courier New"/>
              </a:rPr>
              <a:t>  "strap_width_um": 15.2,</a:t>
            </a:r>
          </a:p>
          <a:p>
            <a:pPr algn="l">
              <a:spcAft>
                <a:spcPts val="150"/>
              </a:spcAft>
              <a:buNone/>
            </a:pPr>
            <a:r>
              <a:rPr lang="en-US" sz="1100" b="0" i="0">
                <a:solidFill>
                  <a:srgbClr val="0E2745"/>
                </a:solidFill>
                <a:latin typeface="Courier New"/>
                <a:ea typeface="Courier New"/>
                <a:cs typeface="Courier New"/>
              </a:rPr>
              <a:t>  "strap_offset_um": 13.6,</a:t>
            </a:r>
          </a:p>
          <a:p>
            <a:pPr algn="l">
              <a:spcAft>
                <a:spcPts val="150"/>
              </a:spcAft>
              <a:buNone/>
            </a:pPr>
            <a:r>
              <a:rPr lang="en-US" sz="1100" b="0" i="0">
                <a:solidFill>
                  <a:srgbClr val="0E2745"/>
                </a:solidFill>
                <a:latin typeface="Courier New"/>
                <a:ea typeface="Courier New"/>
                <a:cs typeface="Courier New"/>
              </a:rPr>
              <a:t>  "fix_hint": "core too narrow:</a:t>
            </a:r>
          </a:p>
          <a:p>
            <a:pPr algn="l">
              <a:spcAft>
                <a:spcPts val="150"/>
              </a:spcAft>
              <a:buNone/>
            </a:pPr>
            <a:r>
              <a:rPr lang="en-US" sz="1100" b="0" i="0">
                <a:solidFill>
                  <a:srgbClr val="0E2745"/>
                </a:solidFill>
                <a:latin typeface="Courier New"/>
                <a:ea typeface="Courier New"/>
                <a:cs typeface="Courier New"/>
              </a:rPr>
              <a:t>     lower CORE_UTILIZATION" }</a:t>
            </a:r>
          </a:p>
        </p:txBody>
      </p:sp>
      <p:sp>
        <p:nvSpPr>
          <p:cNvPr id="27" name="lesson"/>
          <p:cNvSpPr/>
          <p:nvPr/>
        </p:nvSpPr>
        <p:spPr>
          <a:xfrm>
            <a:off x="365760" y="4983480"/>
            <a:ext cx="8412480" cy="1097280"/>
          </a:xfrm>
          <a:prstGeom prst="roundRect">
            <a:avLst>
              <a:gd name="adj" fmla="val 8000"/>
            </a:avLst>
          </a:prstGeom>
          <a:solidFill>
            <a:srgbClr val="FBEAEC"/>
          </a:solidFill>
          <a:ln>
            <a:noFill/>
          </a:ln>
        </p:spPr>
        <p:txBody>
          <a:bodyPr wrap="square" lIns="182880" tIns="182880" rIns="182880" bIns="182880" anchor="ctr">
            <a:normAutofit/>
          </a:bodyPr>
          <a:lstStyle/>
          <a:p>
            <a:pPr algn="l">
              <a:spcAft>
                <a:spcPts val="0"/>
              </a:spcAft>
              <a:buNone/>
            </a:pPr>
            <a:r>
              <a:rPr lang="en-US" sz="1350" b="1" i="0">
                <a:solidFill>
                  <a:srgbClr val="B91F2D"/>
                </a:solidFill>
                <a:latin typeface="Calibri"/>
                <a:ea typeface="Calibri"/>
                <a:cs typeface="Calibri"/>
              </a:rPr>
              <a:t>Real run (p11): </a:t>
            </a:r>
            <a:r>
              <a:rPr lang="en-US" sz="1350" b="0" i="0">
                <a:solidFill>
                  <a:srgbClr val="0E2745"/>
                </a:solidFill>
                <a:latin typeface="Calibri"/>
                <a:ea typeface="Calibri"/>
                <a:cs typeface="Calibri"/>
              </a:rPr>
              <a:t>from the raw log the agent kept raising CORE_MARGIN, up to 50, and never fixed the error. A structured report with the measured widths and a fix hint points straight at CORE_UTILIZATION.</a:t>
            </a:r>
          </a:p>
        </p:txBody>
      </p:sp>
    </p:spTree>
    <p:extLst>
      <p:ext uri="{BB962C8B-B14F-4D97-AF65-F5344CB8AC3E}">
        <p14:creationId xmlns:p14="http://schemas.microsoft.com/office/powerpoint/2010/main" val="42002553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Part 3: two feedback loops on top of the Part 2 flow</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3</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75</a:t>
            </a:fld>
            <a:endParaRPr sz="750" b="0">
              <a:solidFill>
                <a:srgbClr val="5B6573"/>
              </a:solidFill>
              <a:latin typeface="Calibri"/>
              <a:ea typeface="Calibri"/>
              <a:cs typeface="Calibri"/>
            </a:endParaRPr>
          </a:p>
        </p:txBody>
      </p:sp>
      <p:sp>
        <p:nvSpPr>
          <p:cNvPr id="1199" name="text 1199"/>
          <p:cNvSpPr txBox="1"/>
          <p:nvPr/>
        </p:nvSpPr>
        <p:spPr>
          <a:xfrm>
            <a:off x="411480" y="1097280"/>
            <a:ext cx="4206240" cy="914400"/>
          </a:xfrm>
          <a:prstGeom prst="rect">
            <a:avLst/>
          </a:prstGeom>
          <a:noFill/>
          <a:ln>
            <a:noFill/>
          </a:ln>
        </p:spPr>
        <p:txBody>
          <a:bodyPr wrap="square" lIns="18288" tIns="18288" rIns="18288" bIns="18288" anchor="ctr">
            <a:noAutofit/>
          </a:bodyPr>
          <a:lstStyle/>
          <a:p>
            <a:pPr algn="l">
              <a:spcBef>
                <a:spcPts val="0"/>
              </a:spcBef>
              <a:spcAft>
                <a:spcPts val="300"/>
              </a:spcAft>
              <a:buNone/>
            </a:pPr>
            <a:r>
              <a:rPr lang="en-US" sz="1200" b="1" i="0">
                <a:solidFill>
                  <a:srgbClr val="0E2745"/>
                </a:solidFill>
                <a:latin typeface="Calibri"/>
                <a:ea typeface="Calibri"/>
                <a:cs typeface="Calibri"/>
              </a:rPr>
              <a:t>Part 2: one pass, left to right.</a:t>
            </a:r>
          </a:p>
          <a:p>
            <a:pPr algn="l">
              <a:spcBef>
                <a:spcPts val="0"/>
              </a:spcBef>
              <a:spcAft>
                <a:spcPts val="0"/>
              </a:spcAft>
              <a:buNone/>
            </a:pPr>
            <a:r>
              <a:rPr lang="en-US" sz="1200" b="1" i="0">
                <a:solidFill>
                  <a:srgbClr val="B91F2D"/>
                </a:solidFill>
                <a:latin typeface="Calibri"/>
                <a:ea typeface="Calibri"/>
                <a:cs typeface="Calibri"/>
              </a:rPr>
              <a:t>Part 3: the results flow back as feedback messages.</a:t>
            </a:r>
          </a:p>
        </p:txBody>
      </p:sp>
      <p:sp>
        <p:nvSpPr>
          <p:cNvPr id="1200" name="shape 1200"/>
          <p:cNvSpPr/>
          <p:nvPr/>
        </p:nvSpPr>
        <p:spPr>
          <a:xfrm>
            <a:off x="411480" y="2651760"/>
            <a:ext cx="1234440" cy="777240"/>
          </a:xfrm>
          <a:prstGeom prst="roundRect">
            <a:avLst>
              <a:gd name="adj" fmla="val 12000"/>
            </a:avLst>
          </a:prstGeom>
          <a:solidFill>
            <a:srgbClr val="0E2745"/>
          </a:solidFill>
          <a:ln>
            <a:noFill/>
          </a:ln>
        </p:spPr>
        <p:txBody>
          <a:bodyPr wrap="square" lIns="27432" tIns="27432" rIns="27432" bIns="27432" anchor="ctr">
            <a:noAutofit/>
          </a:bodyPr>
          <a:lstStyle/>
          <a:p>
            <a:pPr algn="ctr">
              <a:spcBef>
                <a:spcPts val="0"/>
              </a:spcBef>
              <a:spcAft>
                <a:spcPts val="0"/>
              </a:spcAft>
              <a:buNone/>
            </a:pPr>
            <a:r>
              <a:rPr lang="en-US" sz="1100" b="1" i="0">
                <a:solidFill>
                  <a:srgbClr val="FFFFFF"/>
                </a:solidFill>
                <a:latin typeface="Calibri"/>
                <a:ea typeface="Calibri"/>
                <a:cs typeface="Calibri"/>
              </a:rPr>
              <a:t>TB agent</a:t>
            </a:r>
          </a:p>
          <a:p>
            <a:pPr algn="ctr">
              <a:spcBef>
                <a:spcPts val="0"/>
              </a:spcBef>
              <a:spcAft>
                <a:spcPts val="0"/>
              </a:spcAft>
              <a:buNone/>
            </a:pPr>
            <a:r>
              <a:rPr lang="en-US" sz="850" b="0" i="0">
                <a:solidFill>
                  <a:srgbClr val="CADCFC"/>
                </a:solidFill>
                <a:latin typeface="Calibri"/>
                <a:ea typeface="Calibri"/>
                <a:cs typeface="Calibri"/>
              </a:rPr>
              <a:t>iverilog</a:t>
            </a:r>
          </a:p>
        </p:txBody>
      </p:sp>
      <p:sp>
        <p:nvSpPr>
          <p:cNvPr id="1201" name="arrow 1201"/>
          <p:cNvSpPr/>
          <p:nvPr/>
        </p:nvSpPr>
        <p:spPr>
          <a:xfrm>
            <a:off x="1664208" y="2944368"/>
            <a:ext cx="146304" cy="201168"/>
          </a:xfrm>
          <a:prstGeom prst="rightArrow">
            <a:avLst/>
          </a:prstGeom>
          <a:solidFill>
            <a:srgbClr val="4F81BD"/>
          </a:solidFill>
          <a:ln>
            <a:noFill/>
          </a:ln>
        </p:spPr>
        <p:txBody>
          <a:bodyPr/>
          <a:lstStyle/>
          <a:p>
            <a:endParaRPr lang="en-US"/>
          </a:p>
        </p:txBody>
      </p:sp>
      <p:sp>
        <p:nvSpPr>
          <p:cNvPr id="1202" name="shape 1202"/>
          <p:cNvSpPr/>
          <p:nvPr/>
        </p:nvSpPr>
        <p:spPr>
          <a:xfrm>
            <a:off x="1828800" y="2651760"/>
            <a:ext cx="1234440" cy="777240"/>
          </a:xfrm>
          <a:prstGeom prst="roundRect">
            <a:avLst>
              <a:gd name="adj" fmla="val 12000"/>
            </a:avLst>
          </a:prstGeom>
          <a:solidFill>
            <a:srgbClr val="0E2745"/>
          </a:solidFill>
          <a:ln>
            <a:noFill/>
          </a:ln>
        </p:spPr>
        <p:txBody>
          <a:bodyPr wrap="square" lIns="27432" tIns="27432" rIns="27432" bIns="27432" anchor="ctr">
            <a:noAutofit/>
          </a:bodyPr>
          <a:lstStyle/>
          <a:p>
            <a:pPr algn="ctr">
              <a:spcBef>
                <a:spcPts val="0"/>
              </a:spcBef>
              <a:spcAft>
                <a:spcPts val="0"/>
              </a:spcAft>
              <a:buNone/>
            </a:pPr>
            <a:r>
              <a:rPr lang="en-US" sz="1100" b="1" i="0">
                <a:solidFill>
                  <a:srgbClr val="FFFFFF"/>
                </a:solidFill>
                <a:latin typeface="Calibri"/>
                <a:ea typeface="Calibri"/>
                <a:cs typeface="Calibri"/>
              </a:rPr>
              <a:t>RTL agent</a:t>
            </a:r>
          </a:p>
          <a:p>
            <a:pPr algn="ctr">
              <a:spcBef>
                <a:spcPts val="0"/>
              </a:spcBef>
              <a:spcAft>
                <a:spcPts val="0"/>
              </a:spcAft>
              <a:buNone/>
            </a:pPr>
            <a:r>
              <a:rPr lang="en-US" sz="850" b="0" i="0">
                <a:solidFill>
                  <a:srgbClr val="CADCFC"/>
                </a:solidFill>
                <a:latin typeface="Calibri"/>
                <a:ea typeface="Calibri"/>
                <a:cs typeface="Calibri"/>
              </a:rPr>
              <a:t>sim + Yosys</a:t>
            </a:r>
          </a:p>
        </p:txBody>
      </p:sp>
      <p:sp>
        <p:nvSpPr>
          <p:cNvPr id="1203" name="arrow 1203"/>
          <p:cNvSpPr/>
          <p:nvPr/>
        </p:nvSpPr>
        <p:spPr>
          <a:xfrm>
            <a:off x="3081528" y="2944368"/>
            <a:ext cx="146304" cy="201168"/>
          </a:xfrm>
          <a:prstGeom prst="rightArrow">
            <a:avLst/>
          </a:prstGeom>
          <a:solidFill>
            <a:srgbClr val="4F81BD"/>
          </a:solidFill>
          <a:ln>
            <a:noFill/>
          </a:ln>
        </p:spPr>
        <p:txBody>
          <a:bodyPr/>
          <a:lstStyle/>
          <a:p>
            <a:endParaRPr lang="en-US"/>
          </a:p>
        </p:txBody>
      </p:sp>
      <p:sp>
        <p:nvSpPr>
          <p:cNvPr id="1204" name="shape 1204"/>
          <p:cNvSpPr/>
          <p:nvPr/>
        </p:nvSpPr>
        <p:spPr>
          <a:xfrm>
            <a:off x="3246120" y="2651760"/>
            <a:ext cx="1234440" cy="777240"/>
          </a:xfrm>
          <a:prstGeom prst="roundRect">
            <a:avLst>
              <a:gd name="adj" fmla="val 12000"/>
            </a:avLst>
          </a:prstGeom>
          <a:solidFill>
            <a:srgbClr val="0E2745"/>
          </a:solidFill>
          <a:ln>
            <a:noFill/>
          </a:ln>
        </p:spPr>
        <p:txBody>
          <a:bodyPr wrap="square" lIns="27432" tIns="27432" rIns="27432" bIns="27432" anchor="ctr">
            <a:noAutofit/>
          </a:bodyPr>
          <a:lstStyle/>
          <a:p>
            <a:pPr algn="ctr">
              <a:spcBef>
                <a:spcPts val="0"/>
              </a:spcBef>
              <a:spcAft>
                <a:spcPts val="0"/>
              </a:spcAft>
              <a:buNone/>
            </a:pPr>
            <a:r>
              <a:rPr lang="en-US" sz="1100" b="1" i="0">
                <a:solidFill>
                  <a:srgbClr val="FFFFFF"/>
                </a:solidFill>
                <a:latin typeface="Calibri"/>
                <a:ea typeface="Calibri"/>
                <a:cs typeface="Calibri"/>
              </a:rPr>
              <a:t>SDC agent</a:t>
            </a:r>
          </a:p>
          <a:p>
            <a:pPr algn="ctr">
              <a:spcBef>
                <a:spcPts val="0"/>
              </a:spcBef>
              <a:spcAft>
                <a:spcPts val="0"/>
              </a:spcAft>
              <a:buNone/>
            </a:pPr>
            <a:r>
              <a:rPr lang="en-US" sz="850" b="0" i="0">
                <a:solidFill>
                  <a:srgbClr val="CADCFC"/>
                </a:solidFill>
                <a:latin typeface="Calibri"/>
                <a:ea typeface="Calibri"/>
                <a:cs typeface="Calibri"/>
              </a:rPr>
              <a:t>template</a:t>
            </a:r>
          </a:p>
        </p:txBody>
      </p:sp>
      <p:sp>
        <p:nvSpPr>
          <p:cNvPr id="1205" name="arrow 1205"/>
          <p:cNvSpPr/>
          <p:nvPr/>
        </p:nvSpPr>
        <p:spPr>
          <a:xfrm>
            <a:off x="4498848" y="2944368"/>
            <a:ext cx="146304" cy="201168"/>
          </a:xfrm>
          <a:prstGeom prst="rightArrow">
            <a:avLst/>
          </a:prstGeom>
          <a:solidFill>
            <a:srgbClr val="4F81BD"/>
          </a:solidFill>
          <a:ln>
            <a:noFill/>
          </a:ln>
        </p:spPr>
        <p:txBody>
          <a:bodyPr/>
          <a:lstStyle/>
          <a:p>
            <a:endParaRPr lang="en-US"/>
          </a:p>
        </p:txBody>
      </p:sp>
      <p:sp>
        <p:nvSpPr>
          <p:cNvPr id="1206" name="shape 1206"/>
          <p:cNvSpPr/>
          <p:nvPr/>
        </p:nvSpPr>
        <p:spPr>
          <a:xfrm>
            <a:off x="4663440" y="2651760"/>
            <a:ext cx="1234440" cy="777240"/>
          </a:xfrm>
          <a:prstGeom prst="roundRect">
            <a:avLst>
              <a:gd name="adj" fmla="val 12000"/>
            </a:avLst>
          </a:prstGeom>
          <a:solidFill>
            <a:srgbClr val="0E2745"/>
          </a:solidFill>
          <a:ln>
            <a:noFill/>
          </a:ln>
        </p:spPr>
        <p:txBody>
          <a:bodyPr wrap="square" lIns="27432" tIns="27432" rIns="27432" bIns="27432" anchor="ctr">
            <a:noAutofit/>
          </a:bodyPr>
          <a:lstStyle/>
          <a:p>
            <a:pPr algn="ctr">
              <a:spcBef>
                <a:spcPts val="0"/>
              </a:spcBef>
              <a:spcAft>
                <a:spcPts val="0"/>
              </a:spcAft>
              <a:buNone/>
            </a:pPr>
            <a:r>
              <a:rPr lang="en-US" sz="1100" b="1" i="0">
                <a:solidFill>
                  <a:srgbClr val="FFFFFF"/>
                </a:solidFill>
                <a:latin typeface="Calibri"/>
                <a:ea typeface="Calibri"/>
                <a:cs typeface="Calibri"/>
              </a:rPr>
              <a:t>config.mk agent</a:t>
            </a:r>
          </a:p>
          <a:p>
            <a:pPr algn="ctr">
              <a:spcBef>
                <a:spcPts val="0"/>
              </a:spcBef>
              <a:spcAft>
                <a:spcPts val="0"/>
              </a:spcAft>
              <a:buNone/>
            </a:pPr>
            <a:r>
              <a:rPr lang="en-US" sz="850" b="0" i="0">
                <a:solidFill>
                  <a:srgbClr val="CADCFC"/>
                </a:solidFill>
                <a:latin typeface="Calibri"/>
                <a:ea typeface="Calibri"/>
                <a:cs typeface="Calibri"/>
              </a:rPr>
              <a:t>PnR knobs</a:t>
            </a:r>
          </a:p>
        </p:txBody>
      </p:sp>
      <p:sp>
        <p:nvSpPr>
          <p:cNvPr id="1207" name="arrow 1207"/>
          <p:cNvSpPr/>
          <p:nvPr/>
        </p:nvSpPr>
        <p:spPr>
          <a:xfrm>
            <a:off x="5916168" y="2944368"/>
            <a:ext cx="146304" cy="201168"/>
          </a:xfrm>
          <a:prstGeom prst="rightArrow">
            <a:avLst/>
          </a:prstGeom>
          <a:solidFill>
            <a:srgbClr val="4F81BD"/>
          </a:solidFill>
          <a:ln>
            <a:noFill/>
          </a:ln>
        </p:spPr>
        <p:txBody>
          <a:bodyPr/>
          <a:lstStyle/>
          <a:p>
            <a:endParaRPr lang="en-US"/>
          </a:p>
        </p:txBody>
      </p:sp>
      <p:sp>
        <p:nvSpPr>
          <p:cNvPr id="1208" name="shape 1208"/>
          <p:cNvSpPr/>
          <p:nvPr/>
        </p:nvSpPr>
        <p:spPr>
          <a:xfrm>
            <a:off x="6080760" y="2651760"/>
            <a:ext cx="123444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100" b="1" i="0" err="1">
                <a:solidFill>
                  <a:srgbClr val="0E2745"/>
                </a:solidFill>
                <a:latin typeface="Calibri"/>
                <a:ea typeface="Calibri"/>
                <a:cs typeface="Calibri"/>
              </a:rPr>
              <a:t>OpenROAD</a:t>
            </a:r>
            <a:endParaRPr lang="en-US" sz="1100" b="1" i="0">
              <a:solidFill>
                <a:srgbClr val="0E2745"/>
              </a:solidFill>
              <a:latin typeface="Calibri"/>
              <a:ea typeface="Calibri"/>
              <a:cs typeface="Calibri"/>
            </a:endParaRPr>
          </a:p>
          <a:p>
            <a:pPr algn="ctr">
              <a:spcBef>
                <a:spcPts val="0"/>
              </a:spcBef>
              <a:spcAft>
                <a:spcPts val="0"/>
              </a:spcAft>
              <a:buNone/>
            </a:pPr>
            <a:r>
              <a:rPr lang="en-US" sz="850" b="0" i="0">
                <a:solidFill>
                  <a:srgbClr val="5D6C7B"/>
                </a:solidFill>
                <a:latin typeface="Calibri"/>
                <a:ea typeface="Calibri"/>
                <a:cs typeface="Calibri"/>
              </a:rPr>
              <a:t>place &amp; route</a:t>
            </a:r>
          </a:p>
        </p:txBody>
      </p:sp>
      <p:sp>
        <p:nvSpPr>
          <p:cNvPr id="1209" name="arrow 1209"/>
          <p:cNvSpPr/>
          <p:nvPr/>
        </p:nvSpPr>
        <p:spPr>
          <a:xfrm>
            <a:off x="7333488" y="2944368"/>
            <a:ext cx="146304" cy="201168"/>
          </a:xfrm>
          <a:prstGeom prst="rightArrow">
            <a:avLst/>
          </a:prstGeom>
          <a:solidFill>
            <a:srgbClr val="4F81BD"/>
          </a:solidFill>
          <a:ln>
            <a:noFill/>
          </a:ln>
        </p:spPr>
        <p:txBody>
          <a:bodyPr/>
          <a:lstStyle/>
          <a:p>
            <a:endParaRPr lang="en-US"/>
          </a:p>
        </p:txBody>
      </p:sp>
      <p:sp>
        <p:nvSpPr>
          <p:cNvPr id="1210" name="shape 1210"/>
          <p:cNvSpPr/>
          <p:nvPr/>
        </p:nvSpPr>
        <p:spPr>
          <a:xfrm>
            <a:off x="7498079" y="2651760"/>
            <a:ext cx="1234440" cy="777240"/>
          </a:xfrm>
          <a:prstGeom prst="roundRect">
            <a:avLst>
              <a:gd name="adj" fmla="val 12000"/>
            </a:avLst>
          </a:prstGeom>
          <a:solidFill>
            <a:srgbClr val="E6EEF7"/>
          </a:solidFill>
          <a:ln w="12700">
            <a:solidFill>
              <a:srgbClr val="4F81BD"/>
            </a:solidFill>
          </a:ln>
        </p:spPr>
        <p:txBody>
          <a:bodyPr wrap="square" lIns="27432" tIns="27432" rIns="27432" bIns="27432" anchor="ctr">
            <a:noAutofit/>
          </a:bodyPr>
          <a:lstStyle/>
          <a:p>
            <a:pPr algn="ctr">
              <a:spcBef>
                <a:spcPts val="0"/>
              </a:spcBef>
              <a:spcAft>
                <a:spcPts val="0"/>
              </a:spcAft>
              <a:buNone/>
            </a:pPr>
            <a:r>
              <a:rPr lang="en-US" sz="1100" b="1" i="0">
                <a:solidFill>
                  <a:srgbClr val="0E2745"/>
                </a:solidFill>
                <a:latin typeface="Calibri"/>
                <a:ea typeface="Calibri"/>
                <a:cs typeface="Calibri"/>
              </a:rPr>
              <a:t>PPA eval</a:t>
            </a:r>
          </a:p>
          <a:p>
            <a:pPr algn="ctr">
              <a:spcBef>
                <a:spcPts val="0"/>
              </a:spcBef>
              <a:spcAft>
                <a:spcPts val="0"/>
              </a:spcAft>
              <a:buNone/>
            </a:pPr>
            <a:r>
              <a:rPr lang="en-US" sz="850" b="0" i="0">
                <a:solidFill>
                  <a:srgbClr val="5D6C7B"/>
                </a:solidFill>
                <a:latin typeface="Calibri"/>
                <a:ea typeface="Calibri"/>
                <a:cs typeface="Calibri"/>
              </a:rPr>
              <a:t>score /100</a:t>
            </a:r>
          </a:p>
        </p:txBody>
      </p:sp>
      <p:cxnSp>
        <p:nvCxnSpPr>
          <p:cNvPr id="1211" name="connector 1211"/>
          <p:cNvCxnSpPr/>
          <p:nvPr/>
        </p:nvCxnSpPr>
        <p:spPr>
          <a:xfrm flipV="1">
            <a:off x="8119871" y="2057400"/>
            <a:ext cx="0" cy="594359"/>
          </a:xfrm>
          <a:prstGeom prst="line">
            <a:avLst/>
          </a:prstGeom>
          <a:ln w="28575">
            <a:solidFill>
              <a:srgbClr val="2E7D4F"/>
            </a:solidFill>
          </a:ln>
        </p:spPr>
      </p:cxnSp>
      <p:cxnSp>
        <p:nvCxnSpPr>
          <p:cNvPr id="1212" name="connector 1212"/>
          <p:cNvCxnSpPr/>
          <p:nvPr/>
        </p:nvCxnSpPr>
        <p:spPr>
          <a:xfrm flipH="1">
            <a:off x="5285232" y="2057400"/>
            <a:ext cx="2834639" cy="0"/>
          </a:xfrm>
          <a:prstGeom prst="line">
            <a:avLst/>
          </a:prstGeom>
          <a:ln w="28575">
            <a:solidFill>
              <a:srgbClr val="2E7D4F"/>
            </a:solidFill>
          </a:ln>
        </p:spPr>
      </p:cxnSp>
      <p:cxnSp>
        <p:nvCxnSpPr>
          <p:cNvPr id="1213" name="connector 1213"/>
          <p:cNvCxnSpPr/>
          <p:nvPr/>
        </p:nvCxnSpPr>
        <p:spPr>
          <a:xfrm>
            <a:off x="5285232" y="2057400"/>
            <a:ext cx="0" cy="576071"/>
          </a:xfrm>
          <a:prstGeom prst="line">
            <a:avLst/>
          </a:prstGeom>
          <a:ln w="28575">
            <a:solidFill>
              <a:srgbClr val="2E7D4F"/>
            </a:solidFill>
            <a:tailEnd type="triangle" w="med" len="med"/>
          </a:ln>
        </p:spPr>
      </p:cxnSp>
      <p:sp>
        <p:nvSpPr>
          <p:cNvPr id="1214" name="shape 1214"/>
          <p:cNvSpPr/>
          <p:nvPr/>
        </p:nvSpPr>
        <p:spPr>
          <a:xfrm>
            <a:off x="4480560" y="1051560"/>
            <a:ext cx="4160520" cy="868680"/>
          </a:xfrm>
          <a:prstGeom prst="roundRect">
            <a:avLst>
              <a:gd name="adj" fmla="val 10000"/>
            </a:avLst>
          </a:prstGeom>
          <a:solidFill>
            <a:srgbClr val="EAF4EC"/>
          </a:solidFill>
          <a:ln>
            <a:noFill/>
          </a:ln>
        </p:spPr>
        <p:txBody>
          <a:bodyPr wrap="square" lIns="91440" tIns="91440" rIns="91440" bIns="91440" anchor="ctr">
            <a:noAutofit/>
          </a:bodyPr>
          <a:lstStyle/>
          <a:p>
            <a:pPr algn="l">
              <a:spcBef>
                <a:spcPts val="0"/>
              </a:spcBef>
              <a:spcAft>
                <a:spcPts val="200"/>
              </a:spcAft>
              <a:buNone/>
            </a:pPr>
            <a:r>
              <a:rPr lang="en-US" sz="1200" b="1" i="0">
                <a:solidFill>
                  <a:srgbClr val="2E7D4F"/>
                </a:solidFill>
                <a:latin typeface="Calibri"/>
                <a:ea typeface="Calibri"/>
                <a:cs typeface="Calibri"/>
              </a:rPr>
              <a:t>① Iterative optimization</a:t>
            </a:r>
          </a:p>
          <a:p>
            <a:pPr algn="l">
              <a:spcBef>
                <a:spcPts val="0"/>
              </a:spcBef>
              <a:spcAft>
                <a:spcPts val="0"/>
              </a:spcAft>
              <a:buNone/>
            </a:pPr>
            <a:r>
              <a:rPr lang="en-US" sz="1000" b="0" i="0">
                <a:solidFill>
                  <a:srgbClr val="0E2745"/>
                </a:solidFill>
                <a:latin typeface="Calibri"/>
                <a:ea typeface="Calibri"/>
                <a:cs typeface="Calibri"/>
              </a:rPr>
              <a:t>score &lt; 92 → </a:t>
            </a:r>
            <a:r>
              <a:rPr lang="en-US" sz="1000" b="1" i="0">
                <a:solidFill>
                  <a:srgbClr val="0E2745"/>
                </a:solidFill>
                <a:latin typeface="Courier New"/>
                <a:ea typeface="Courier New"/>
                <a:cs typeface="Courier New"/>
              </a:rPr>
              <a:t>score_report</a:t>
            </a:r>
            <a:r>
              <a:rPr lang="en-US" sz="1000" b="0" i="0">
                <a:solidFill>
                  <a:srgbClr val="0E2745"/>
                </a:solidFill>
                <a:latin typeface="Calibri"/>
                <a:ea typeface="Calibri"/>
                <a:cs typeface="Calibri"/>
              </a:rPr>
              <a:t> + </a:t>
            </a:r>
            <a:r>
              <a:rPr lang="en-US" sz="1000" b="1" i="0">
                <a:solidFill>
                  <a:srgbClr val="0E2745"/>
                </a:solidFill>
                <a:latin typeface="Courier New"/>
                <a:ea typeface="Courier New"/>
                <a:cs typeface="Courier New"/>
              </a:rPr>
              <a:t>optimize_further</a:t>
            </a:r>
            <a:r>
              <a:rPr lang="en-US" sz="1000" b="0" i="0">
                <a:solidFill>
                  <a:srgbClr val="0E2745"/>
                </a:solidFill>
                <a:latin typeface="Calibri"/>
                <a:ea typeface="Calibri"/>
                <a:cs typeface="Calibri"/>
              </a:rPr>
              <a:t>: tune utilization, density, resynthesis flags</a:t>
            </a:r>
          </a:p>
        </p:txBody>
      </p:sp>
      <p:cxnSp>
        <p:nvCxnSpPr>
          <p:cNvPr id="1215" name="connector 1215"/>
          <p:cNvCxnSpPr/>
          <p:nvPr/>
        </p:nvCxnSpPr>
        <p:spPr>
          <a:xfrm>
            <a:off x="6702552" y="3429000"/>
            <a:ext cx="0" cy="640080"/>
          </a:xfrm>
          <a:prstGeom prst="line">
            <a:avLst/>
          </a:prstGeom>
          <a:ln w="28575">
            <a:solidFill>
              <a:srgbClr val="B91F2D"/>
            </a:solidFill>
          </a:ln>
        </p:spPr>
      </p:cxnSp>
      <p:cxnSp>
        <p:nvCxnSpPr>
          <p:cNvPr id="1216" name="connector 1216"/>
          <p:cNvCxnSpPr/>
          <p:nvPr/>
        </p:nvCxnSpPr>
        <p:spPr>
          <a:xfrm flipH="1">
            <a:off x="2450592" y="4069080"/>
            <a:ext cx="4251960" cy="0"/>
          </a:xfrm>
          <a:prstGeom prst="line">
            <a:avLst/>
          </a:prstGeom>
          <a:ln w="28575">
            <a:solidFill>
              <a:srgbClr val="B91F2D"/>
            </a:solidFill>
          </a:ln>
        </p:spPr>
      </p:cxnSp>
      <p:cxnSp>
        <p:nvCxnSpPr>
          <p:cNvPr id="1217" name="connector 1217"/>
          <p:cNvCxnSpPr/>
          <p:nvPr/>
        </p:nvCxnSpPr>
        <p:spPr>
          <a:xfrm flipV="1">
            <a:off x="2450592" y="3447288"/>
            <a:ext cx="0" cy="621792"/>
          </a:xfrm>
          <a:prstGeom prst="line">
            <a:avLst/>
          </a:prstGeom>
          <a:ln w="28575">
            <a:solidFill>
              <a:srgbClr val="B91F2D"/>
            </a:solidFill>
            <a:tailEnd type="triangle" w="med" len="med"/>
          </a:ln>
        </p:spPr>
      </p:cxnSp>
      <p:sp>
        <p:nvSpPr>
          <p:cNvPr id="1218" name="shape 1218"/>
          <p:cNvSpPr/>
          <p:nvPr/>
        </p:nvSpPr>
        <p:spPr>
          <a:xfrm>
            <a:off x="411480" y="4251960"/>
            <a:ext cx="4572000" cy="914400"/>
          </a:xfrm>
          <a:prstGeom prst="roundRect">
            <a:avLst>
              <a:gd name="adj" fmla="val 10000"/>
            </a:avLst>
          </a:prstGeom>
          <a:solidFill>
            <a:srgbClr val="FBE9EB"/>
          </a:solidFill>
          <a:ln>
            <a:noFill/>
          </a:ln>
        </p:spPr>
        <p:txBody>
          <a:bodyPr wrap="square" lIns="91440" tIns="91440" rIns="91440" bIns="91440" anchor="ctr">
            <a:noAutofit/>
          </a:bodyPr>
          <a:lstStyle/>
          <a:p>
            <a:pPr algn="l">
              <a:spcBef>
                <a:spcPts val="0"/>
              </a:spcBef>
              <a:spcAft>
                <a:spcPts val="200"/>
              </a:spcAft>
              <a:buNone/>
            </a:pPr>
            <a:r>
              <a:rPr lang="en-US" sz="1200" b="1" i="0">
                <a:solidFill>
                  <a:srgbClr val="B91F2D"/>
                </a:solidFill>
                <a:latin typeface="Calibri"/>
                <a:ea typeface="Calibri"/>
                <a:cs typeface="Calibri"/>
              </a:rPr>
              <a:t>② Resynthesis</a:t>
            </a:r>
          </a:p>
          <a:p>
            <a:pPr algn="l">
              <a:spcBef>
                <a:spcPts val="0"/>
              </a:spcBef>
              <a:spcAft>
                <a:spcPts val="0"/>
              </a:spcAft>
              <a:buNone/>
            </a:pPr>
            <a:r>
              <a:rPr lang="en-US" sz="1000" b="0" i="0">
                <a:solidFill>
                  <a:srgbClr val="0E2745"/>
                </a:solidFill>
                <a:latin typeface="Calibri"/>
                <a:ea typeface="Calibri"/>
                <a:cs typeface="Calibri"/>
              </a:rPr>
              <a:t>WNS &lt; −0.5 ns → </a:t>
            </a:r>
            <a:r>
              <a:rPr lang="en-US" sz="1000" b="1" i="0">
                <a:solidFill>
                  <a:srgbClr val="0E2745"/>
                </a:solidFill>
                <a:latin typeface="Courier New"/>
                <a:ea typeface="Courier New"/>
                <a:cs typeface="Courier New"/>
              </a:rPr>
              <a:t>timing_resynthesis</a:t>
            </a:r>
            <a:r>
              <a:rPr lang="en-US" sz="1000" b="0" i="0">
                <a:solidFill>
                  <a:srgbClr val="0E2745"/>
                </a:solidFill>
                <a:latin typeface="Calibri"/>
                <a:ea typeface="Calibri"/>
                <a:cs typeface="Calibri"/>
              </a:rPr>
              <a:t>: pipeline the RTL.  </a:t>
            </a:r>
            <a:r>
              <a:rPr lang="en-US" sz="1000" b="1" i="0">
                <a:solidFill>
                  <a:srgbClr val="0E2745"/>
                </a:solidFill>
                <a:latin typeface="Courier New"/>
                <a:ea typeface="Courier New"/>
                <a:cs typeface="Courier New"/>
              </a:rPr>
              <a:t>timing_reminder</a:t>
            </a:r>
            <a:r>
              <a:rPr lang="en-US" sz="1000" b="0" i="0">
                <a:solidFill>
                  <a:srgbClr val="0E2745"/>
                </a:solidFill>
                <a:latin typeface="Calibri"/>
                <a:ea typeface="Calibri"/>
                <a:cs typeface="Calibri"/>
              </a:rPr>
              <a:t> keeps the latency contract, then the TB re-checks it</a:t>
            </a:r>
          </a:p>
        </p:txBody>
      </p:sp>
      <p:sp>
        <p:nvSpPr>
          <p:cNvPr id="1219" name="shape 1219"/>
          <p:cNvSpPr/>
          <p:nvPr/>
        </p:nvSpPr>
        <p:spPr>
          <a:xfrm>
            <a:off x="5166360" y="4251960"/>
            <a:ext cx="3566160" cy="914400"/>
          </a:xfrm>
          <a:prstGeom prst="roundRect">
            <a:avLst>
              <a:gd name="adj" fmla="val 10000"/>
            </a:avLst>
          </a:prstGeom>
          <a:solidFill>
            <a:srgbClr val="F3F6FA"/>
          </a:solidFill>
          <a:ln>
            <a:noFill/>
          </a:ln>
        </p:spPr>
        <p:txBody>
          <a:bodyPr wrap="square" lIns="91440" tIns="91440" rIns="91440" bIns="91440" anchor="ctr">
            <a:noAutofit/>
          </a:bodyPr>
          <a:lstStyle/>
          <a:p>
            <a:pPr algn="l">
              <a:spcBef>
                <a:spcPts val="0"/>
              </a:spcBef>
              <a:spcAft>
                <a:spcPts val="200"/>
              </a:spcAft>
              <a:buNone/>
            </a:pPr>
            <a:r>
              <a:rPr lang="en-US" sz="1050" b="1" i="0">
                <a:solidFill>
                  <a:srgbClr val="0E2745"/>
                </a:solidFill>
                <a:latin typeface="Calibri"/>
                <a:ea typeface="Calibri"/>
                <a:cs typeface="Calibri"/>
              </a:rPr>
              <a:t>Order: ① first, ② if ① cannot fix timing</a:t>
            </a:r>
          </a:p>
          <a:p>
            <a:pPr algn="l">
              <a:spcBef>
                <a:spcPts val="0"/>
              </a:spcBef>
              <a:spcAft>
                <a:spcPts val="0"/>
              </a:spcAft>
              <a:buNone/>
            </a:pPr>
            <a:r>
              <a:rPr lang="en-US" sz="900" b="0" i="0">
                <a:solidFill>
                  <a:srgbClr val="5D6C7B"/>
                </a:solidFill>
                <a:latin typeface="Calibri"/>
                <a:ea typeface="Calibri"/>
                <a:cs typeface="Calibri"/>
              </a:rPr>
              <a:t>Every loop has a maximum number of iterations in the run config, so it always ends. How it is set up: next slide.</a:t>
            </a:r>
          </a:p>
        </p:txBody>
      </p:sp>
      <p:sp>
        <p:nvSpPr>
          <p:cNvPr id="1220" name="shape 1220"/>
          <p:cNvSpPr/>
          <p:nvPr/>
        </p:nvSpPr>
        <p:spPr>
          <a:xfrm>
            <a:off x="411480" y="5394960"/>
            <a:ext cx="8321040" cy="777240"/>
          </a:xfrm>
          <a:prstGeom prst="roundRect">
            <a:avLst>
              <a:gd name="adj" fmla="val 12000"/>
            </a:avLst>
          </a:prstGeom>
          <a:solidFill>
            <a:srgbClr val="0E2745"/>
          </a:solidFill>
          <a:ln>
            <a:noFill/>
          </a:ln>
        </p:spPr>
        <p:txBody>
          <a:bodyPr wrap="square" lIns="137160" tIns="137160" rIns="137160" bIns="137160" anchor="ctr">
            <a:noAutofit/>
          </a:bodyPr>
          <a:lstStyle/>
          <a:p>
            <a:pPr algn="l">
              <a:spcBef>
                <a:spcPts val="0"/>
              </a:spcBef>
              <a:spcAft>
                <a:spcPts val="0"/>
              </a:spcAft>
              <a:buNone/>
            </a:pPr>
            <a:r>
              <a:rPr lang="en-US" sz="1150" b="1" i="0">
                <a:solidFill>
                  <a:srgbClr val="FFC000"/>
                </a:solidFill>
                <a:latin typeface="Calibri"/>
                <a:ea typeface="Calibri"/>
                <a:cs typeface="Calibri"/>
              </a:rPr>
              <a:t>Hands-on: </a:t>
            </a:r>
            <a:r>
              <a:rPr lang="en-US" sz="1100" b="1" i="0">
                <a:solidFill>
                  <a:srgbClr val="FFFFFF"/>
                </a:solidFill>
                <a:latin typeface="Calibri"/>
                <a:ea typeface="Calibri"/>
                <a:cs typeface="Calibri"/>
              </a:rPr>
              <a:t>these feedback messages are ## sections of the Agent.md files – rewrite them and watch the score per iteration and the cost of every extra point</a:t>
            </a:r>
          </a:p>
        </p:txBody>
      </p:sp>
    </p:spTree>
    <p:extLst>
      <p:ext uri="{BB962C8B-B14F-4D97-AF65-F5344CB8AC3E}">
        <p14:creationId xmlns:p14="http://schemas.microsoft.com/office/powerpoint/2010/main" val="4964407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The two loops in the scripts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3</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76</a:t>
            </a:fld>
            <a:endParaRPr sz="750" b="0">
              <a:solidFill>
                <a:srgbClr val="5B6573"/>
              </a:solidFill>
              <a:latin typeface="Calibri"/>
              <a:ea typeface="Calibri"/>
              <a:cs typeface="Calibri"/>
            </a:endParaRPr>
          </a:p>
        </p:txBody>
      </p:sp>
      <p:sp>
        <p:nvSpPr>
          <p:cNvPr id="1136" name="text 1136"/>
          <p:cNvSpPr txBox="1"/>
          <p:nvPr/>
        </p:nvSpPr>
        <p:spPr>
          <a:xfrm>
            <a:off x="457200" y="914400"/>
            <a:ext cx="822960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150" b="1" i="0">
                <a:solidFill>
                  <a:srgbClr val="17365D"/>
                </a:solidFill>
                <a:latin typeface="Calibri"/>
                <a:ea typeface="Calibri"/>
                <a:cs typeface="Calibri"/>
              </a:rPr>
              <a:t>Switched on and limited in the run config: </a:t>
            </a:r>
            <a:r>
              <a:rPr lang="en-US" sz="950" b="0" i="0">
                <a:solidFill>
                  <a:srgbClr val="5D6C7B"/>
                </a:solidFill>
                <a:latin typeface="Courier New"/>
                <a:ea typeface="Courier New"/>
                <a:cs typeface="Courier New"/>
              </a:rPr>
              <a:t>part3/problem/run_configs/3_multi_agent_collaboration.yaml</a:t>
            </a:r>
          </a:p>
        </p:txBody>
      </p:sp>
      <p:sp>
        <p:nvSpPr>
          <p:cNvPr id="1137" name="terminal 1137"/>
          <p:cNvSpPr/>
          <p:nvPr/>
        </p:nvSpPr>
        <p:spPr>
          <a:xfrm>
            <a:off x="457200" y="1325880"/>
            <a:ext cx="4160520" cy="2606040"/>
          </a:xfrm>
          <a:prstGeom prst="roundRect">
            <a:avLst>
              <a:gd name="adj" fmla="val 4000"/>
            </a:avLst>
          </a:prstGeom>
          <a:solidFill>
            <a:srgbClr val="1E1E1E"/>
          </a:solidFill>
          <a:ln>
            <a:noFill/>
          </a:ln>
        </p:spPr>
        <p:txBody>
          <a:bodyPr wrap="square" lIns="128016" tIns="128016" rIns="128016" bIns="128016" anchor="t">
            <a:noAutofit/>
          </a:bodyPr>
          <a:lstStyle/>
          <a:p>
            <a:pPr algn="l">
              <a:lnSpc>
                <a:spcPct val="100000"/>
              </a:lnSpc>
              <a:spcBef>
                <a:spcPts val="0"/>
              </a:spcBef>
              <a:spcAft>
                <a:spcPts val="0"/>
              </a:spcAft>
              <a:buNone/>
            </a:pPr>
            <a:r>
              <a:rPr lang="en-US" sz="900" b="0" i="0">
                <a:solidFill>
                  <a:srgbClr val="FFFFFF"/>
                </a:solidFill>
                <a:latin typeface="Courier New"/>
                <a:ea typeface="Courier New"/>
                <a:cs typeface="Courier New"/>
              </a:rPr>
              <a:t>flow:</a:t>
            </a:r>
          </a:p>
          <a:p>
            <a:pPr algn="l">
              <a:lnSpc>
                <a:spcPct val="100000"/>
              </a:lnSpc>
              <a:spcBef>
                <a:spcPts val="0"/>
              </a:spcBef>
              <a:spcAft>
                <a:spcPts val="0"/>
              </a:spcAft>
              <a:buNone/>
            </a:pPr>
            <a:r>
              <a:rPr lang="en-US" sz="900" b="0" i="0">
                <a:solidFill>
                  <a:srgbClr val="9ADCFF"/>
                </a:solidFill>
                <a:latin typeface="Courier New"/>
                <a:ea typeface="Courier New"/>
                <a:cs typeface="Courier New"/>
              </a:rPr>
              <a:t>  iterative_optimization: true</a:t>
            </a:r>
          </a:p>
          <a:p>
            <a:pPr algn="l">
              <a:lnSpc>
                <a:spcPct val="100000"/>
              </a:lnSpc>
              <a:spcBef>
                <a:spcPts val="0"/>
              </a:spcBef>
              <a:spcAft>
                <a:spcPts val="0"/>
              </a:spcAft>
              <a:buNone/>
            </a:pPr>
            <a:r>
              <a:rPr lang="en-US" sz="900" b="0" i="0">
                <a:solidFill>
                  <a:srgbClr val="FFFFFF"/>
                </a:solidFill>
                <a:latin typeface="Courier New"/>
                <a:ea typeface="Courier New"/>
                <a:cs typeface="Courier New"/>
              </a:rPr>
              <a:t>  # loop 1 on/off  (problem/: false)</a:t>
            </a:r>
          </a:p>
          <a:p>
            <a:pPr algn="l">
              <a:lnSpc>
                <a:spcPct val="100000"/>
              </a:lnSpc>
              <a:spcBef>
                <a:spcPts val="0"/>
              </a:spcBef>
              <a:spcAft>
                <a:spcPts val="0"/>
              </a:spcAft>
              <a:buNone/>
            </a:pPr>
            <a:r>
              <a:rPr lang="en-US" sz="900" b="0" i="0">
                <a:solidFill>
                  <a:srgbClr val="9ADCFF"/>
                </a:solidFill>
                <a:latin typeface="Courier New"/>
                <a:ea typeface="Courier New"/>
                <a:cs typeface="Courier New"/>
              </a:rPr>
              <a:t>  score_threshold: 92.0</a:t>
            </a:r>
          </a:p>
          <a:p>
            <a:pPr algn="l">
              <a:lnSpc>
                <a:spcPct val="100000"/>
              </a:lnSpc>
              <a:spcBef>
                <a:spcPts val="0"/>
              </a:spcBef>
              <a:spcAft>
                <a:spcPts val="0"/>
              </a:spcAft>
              <a:buNone/>
            </a:pPr>
            <a:r>
              <a:rPr lang="en-US" sz="900" b="0" i="0">
                <a:solidFill>
                  <a:srgbClr val="FFFFFF"/>
                </a:solidFill>
                <a:latin typeface="Courier New"/>
                <a:ea typeface="Courier New"/>
                <a:cs typeface="Courier New"/>
              </a:rPr>
              <a:t>  # loop 1 stops at this score</a:t>
            </a:r>
          </a:p>
          <a:p>
            <a:pPr algn="l">
              <a:lnSpc>
                <a:spcPct val="100000"/>
              </a:lnSpc>
              <a:spcBef>
                <a:spcPts val="0"/>
              </a:spcBef>
              <a:spcAft>
                <a:spcPts val="0"/>
              </a:spcAft>
              <a:buNone/>
            </a:pPr>
            <a:r>
              <a:rPr lang="en-US" sz="900" b="0" i="0">
                <a:solidFill>
                  <a:srgbClr val="FFB3B3"/>
                </a:solidFill>
                <a:latin typeface="Courier New"/>
                <a:ea typeface="Courier New"/>
                <a:cs typeface="Courier New"/>
              </a:rPr>
              <a:t>  enable_resynthesis: true</a:t>
            </a:r>
          </a:p>
          <a:p>
            <a:pPr algn="l">
              <a:lnSpc>
                <a:spcPct val="100000"/>
              </a:lnSpc>
              <a:spcBef>
                <a:spcPts val="0"/>
              </a:spcBef>
              <a:spcAft>
                <a:spcPts val="0"/>
              </a:spcAft>
              <a:buNone/>
            </a:pPr>
            <a:r>
              <a:rPr lang="en-US" sz="900" b="0" i="0">
                <a:solidFill>
                  <a:srgbClr val="FFFFFF"/>
                </a:solidFill>
                <a:latin typeface="Courier New"/>
                <a:ea typeface="Courier New"/>
                <a:cs typeface="Courier New"/>
              </a:rPr>
              <a:t>  # loop 2 on/off  (problem/: false)</a:t>
            </a:r>
          </a:p>
          <a:p>
            <a:pPr algn="l">
              <a:lnSpc>
                <a:spcPct val="100000"/>
              </a:lnSpc>
              <a:spcBef>
                <a:spcPts val="0"/>
              </a:spcBef>
              <a:spcAft>
                <a:spcPts val="0"/>
              </a:spcAft>
              <a:buNone/>
            </a:pPr>
            <a:r>
              <a:rPr lang="en-US" sz="900" b="0" i="0">
                <a:solidFill>
                  <a:srgbClr val="FFB3B3"/>
                </a:solidFill>
                <a:latin typeface="Courier New"/>
                <a:ea typeface="Courier New"/>
                <a:cs typeface="Courier New"/>
              </a:rPr>
              <a:t>  max_resynthesis_attempts: 3</a:t>
            </a:r>
          </a:p>
          <a:p>
            <a:pPr algn="l">
              <a:lnSpc>
                <a:spcPct val="100000"/>
              </a:lnSpc>
              <a:spcBef>
                <a:spcPts val="0"/>
              </a:spcBef>
              <a:spcAft>
                <a:spcPts val="0"/>
              </a:spcAft>
              <a:buNone/>
            </a:pPr>
            <a:r>
              <a:rPr lang="en-US" sz="900" b="0" i="0">
                <a:solidFill>
                  <a:srgbClr val="FFFFFF"/>
                </a:solidFill>
                <a:latin typeface="Courier New"/>
                <a:ea typeface="Courier New"/>
                <a:cs typeface="Courier New"/>
              </a:rPr>
              <a:t>iterations:</a:t>
            </a:r>
          </a:p>
          <a:p>
            <a:pPr algn="l">
              <a:lnSpc>
                <a:spcPct val="100000"/>
              </a:lnSpc>
              <a:spcBef>
                <a:spcPts val="0"/>
              </a:spcBef>
              <a:spcAft>
                <a:spcPts val="0"/>
              </a:spcAft>
              <a:buNone/>
            </a:pPr>
            <a:r>
              <a:rPr lang="en-US" sz="900" b="0" i="0">
                <a:solidFill>
                  <a:srgbClr val="9ADCFF"/>
                </a:solidFill>
                <a:latin typeface="Courier New"/>
                <a:ea typeface="Courier New"/>
                <a:cs typeface="Courier New"/>
              </a:rPr>
              <a:t>  max_physical_iters: 10</a:t>
            </a:r>
          </a:p>
          <a:p>
            <a:pPr algn="l">
              <a:lnSpc>
                <a:spcPct val="100000"/>
              </a:lnSpc>
              <a:spcBef>
                <a:spcPts val="0"/>
              </a:spcBef>
              <a:spcAft>
                <a:spcPts val="0"/>
              </a:spcAft>
              <a:buNone/>
            </a:pPr>
            <a:r>
              <a:rPr lang="en-US" sz="900" b="0" i="0">
                <a:solidFill>
                  <a:srgbClr val="FFFFFF"/>
                </a:solidFill>
                <a:latin typeface="Courier New"/>
                <a:ea typeface="Courier New"/>
                <a:cs typeface="Courier New"/>
              </a:rPr>
              <a:t>  # max OpenROAD runs</a:t>
            </a:r>
          </a:p>
        </p:txBody>
      </p:sp>
      <p:sp>
        <p:nvSpPr>
          <p:cNvPr id="1138" name="text 1138"/>
          <p:cNvSpPr txBox="1"/>
          <p:nvPr/>
        </p:nvSpPr>
        <p:spPr>
          <a:xfrm>
            <a:off x="4846320" y="1325880"/>
            <a:ext cx="3840480" cy="32004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050" b="1" i="0">
                <a:solidFill>
                  <a:srgbClr val="0E2745"/>
                </a:solidFill>
                <a:latin typeface="Calibri"/>
                <a:ea typeface="Calibri"/>
                <a:cs typeface="Calibri"/>
              </a:rPr>
              <a:t>After every OpenROAD run, asic_autonomous_flow.py:</a:t>
            </a:r>
          </a:p>
        </p:txBody>
      </p:sp>
      <p:sp>
        <p:nvSpPr>
          <p:cNvPr id="1139" name="shape 1139"/>
          <p:cNvSpPr/>
          <p:nvPr/>
        </p:nvSpPr>
        <p:spPr>
          <a:xfrm>
            <a:off x="4846320" y="1764792"/>
            <a:ext cx="365760" cy="365760"/>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100" b="1" i="0">
                <a:solidFill>
                  <a:srgbClr val="FFFFFF"/>
                </a:solidFill>
                <a:latin typeface="Calibri"/>
                <a:ea typeface="Calibri"/>
                <a:cs typeface="Calibri"/>
              </a:rPr>
              <a:t>1</a:t>
            </a:r>
          </a:p>
        </p:txBody>
      </p:sp>
      <p:sp>
        <p:nvSpPr>
          <p:cNvPr id="1140" name="text 1140"/>
          <p:cNvSpPr txBox="1"/>
          <p:nvPr/>
        </p:nvSpPr>
        <p:spPr>
          <a:xfrm>
            <a:off x="5303520" y="1691640"/>
            <a:ext cx="338328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0E2745"/>
                </a:solidFill>
                <a:latin typeface="Calibri"/>
                <a:ea typeface="Calibri"/>
                <a:cs typeface="Calibri"/>
              </a:rPr>
              <a:t>scores the layout</a:t>
            </a:r>
          </a:p>
          <a:p>
            <a:pPr algn="l">
              <a:spcBef>
                <a:spcPts val="0"/>
              </a:spcBef>
              <a:spcAft>
                <a:spcPts val="0"/>
              </a:spcAft>
              <a:buNone/>
            </a:pPr>
            <a:r>
              <a:rPr lang="en-US" sz="900" b="0" i="0">
                <a:solidFill>
                  <a:srgbClr val="5D6C7B"/>
                </a:solidFill>
                <a:latin typeface="Calibri"/>
                <a:ea typeface="Calibri"/>
                <a:cs typeface="Calibri"/>
              </a:rPr>
              <a:t>evaluate_openroad.py vs the golden run</a:t>
            </a:r>
          </a:p>
        </p:txBody>
      </p:sp>
      <p:sp>
        <p:nvSpPr>
          <p:cNvPr id="1141" name="shape 1141"/>
          <p:cNvSpPr/>
          <p:nvPr/>
        </p:nvSpPr>
        <p:spPr>
          <a:xfrm>
            <a:off x="4846320" y="2331720"/>
            <a:ext cx="365760" cy="365760"/>
          </a:xfrm>
          <a:prstGeom prst="ellipse">
            <a:avLst/>
          </a:prstGeom>
          <a:solidFill>
            <a:srgbClr val="B91F2D"/>
          </a:solidFill>
          <a:ln>
            <a:noFill/>
          </a:ln>
        </p:spPr>
        <p:txBody>
          <a:bodyPr wrap="square" lIns="0" tIns="0" rIns="0" bIns="0" anchor="ctr">
            <a:noAutofit/>
          </a:bodyPr>
          <a:lstStyle/>
          <a:p>
            <a:pPr algn="ctr">
              <a:spcBef>
                <a:spcPts val="0"/>
              </a:spcBef>
              <a:spcAft>
                <a:spcPts val="0"/>
              </a:spcAft>
              <a:buNone/>
            </a:pPr>
            <a:r>
              <a:rPr lang="en-US" sz="1100" b="1" i="0">
                <a:solidFill>
                  <a:srgbClr val="FFFFFF"/>
                </a:solidFill>
                <a:latin typeface="Calibri"/>
                <a:ea typeface="Calibri"/>
                <a:cs typeface="Calibri"/>
              </a:rPr>
              <a:t>2</a:t>
            </a:r>
          </a:p>
        </p:txBody>
      </p:sp>
      <p:sp>
        <p:nvSpPr>
          <p:cNvPr id="1142" name="text 1142"/>
          <p:cNvSpPr txBox="1"/>
          <p:nvPr/>
        </p:nvSpPr>
        <p:spPr>
          <a:xfrm>
            <a:off x="5303520" y="2258568"/>
            <a:ext cx="338328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0E2745"/>
                </a:solidFill>
                <a:latin typeface="Calibri"/>
                <a:ea typeface="Calibri"/>
                <a:cs typeface="Calibri"/>
              </a:rPr>
              <a:t>WNS &lt; −0.5 ns?  →  loop 2</a:t>
            </a:r>
          </a:p>
          <a:p>
            <a:pPr algn="l">
              <a:spcBef>
                <a:spcPts val="0"/>
              </a:spcBef>
              <a:spcAft>
                <a:spcPts val="0"/>
              </a:spcAft>
              <a:buNone/>
            </a:pPr>
            <a:r>
              <a:rPr lang="en-US" sz="900" b="0" i="0">
                <a:solidFill>
                  <a:srgbClr val="5D6C7B"/>
                </a:solidFill>
                <a:latin typeface="Calibri"/>
                <a:ea typeface="Calibri"/>
                <a:cs typeface="Calibri"/>
              </a:rPr>
              <a:t>RTL agent gets  ## timing_resynthesis</a:t>
            </a:r>
          </a:p>
        </p:txBody>
      </p:sp>
      <p:sp>
        <p:nvSpPr>
          <p:cNvPr id="1143" name="shape 1143"/>
          <p:cNvSpPr/>
          <p:nvPr/>
        </p:nvSpPr>
        <p:spPr>
          <a:xfrm>
            <a:off x="4846320" y="2898648"/>
            <a:ext cx="365760" cy="365760"/>
          </a:xfrm>
          <a:prstGeom prst="ellipse">
            <a:avLst/>
          </a:prstGeom>
          <a:solidFill>
            <a:srgbClr val="2E7D4F"/>
          </a:solidFill>
          <a:ln>
            <a:noFill/>
          </a:ln>
        </p:spPr>
        <p:txBody>
          <a:bodyPr wrap="square" lIns="0" tIns="0" rIns="0" bIns="0" anchor="ctr">
            <a:noAutofit/>
          </a:bodyPr>
          <a:lstStyle/>
          <a:p>
            <a:pPr algn="ctr">
              <a:spcBef>
                <a:spcPts val="0"/>
              </a:spcBef>
              <a:spcAft>
                <a:spcPts val="0"/>
              </a:spcAft>
              <a:buNone/>
            </a:pPr>
            <a:r>
              <a:rPr lang="en-US" sz="1100" b="1" i="0">
                <a:solidFill>
                  <a:srgbClr val="FFFFFF"/>
                </a:solidFill>
                <a:latin typeface="Calibri"/>
                <a:ea typeface="Calibri"/>
                <a:cs typeface="Calibri"/>
              </a:rPr>
              <a:t>3</a:t>
            </a:r>
          </a:p>
        </p:txBody>
      </p:sp>
      <p:sp>
        <p:nvSpPr>
          <p:cNvPr id="1144" name="text 1144"/>
          <p:cNvSpPr txBox="1"/>
          <p:nvPr/>
        </p:nvSpPr>
        <p:spPr>
          <a:xfrm>
            <a:off x="5303520" y="2825496"/>
            <a:ext cx="338328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0E2745"/>
                </a:solidFill>
                <a:latin typeface="Calibri"/>
                <a:ea typeface="Calibri"/>
                <a:cs typeface="Calibri"/>
              </a:rPr>
              <a:t>score ≥ score_threshold?  →  done</a:t>
            </a:r>
          </a:p>
          <a:p>
            <a:pPr algn="l">
              <a:spcBef>
                <a:spcPts val="0"/>
              </a:spcBef>
              <a:spcAft>
                <a:spcPts val="0"/>
              </a:spcAft>
              <a:buNone/>
            </a:pPr>
            <a:r>
              <a:rPr lang="en-US" sz="900" b="0" i="0">
                <a:solidFill>
                  <a:srgbClr val="5D6C7B"/>
                </a:solidFill>
                <a:latin typeface="Calibri"/>
                <a:ea typeface="Calibri"/>
                <a:cs typeface="Calibri"/>
              </a:rPr>
              <a:t>the best layout is kept</a:t>
            </a:r>
          </a:p>
        </p:txBody>
      </p:sp>
      <p:sp>
        <p:nvSpPr>
          <p:cNvPr id="1145" name="shape 1145"/>
          <p:cNvSpPr/>
          <p:nvPr/>
        </p:nvSpPr>
        <p:spPr>
          <a:xfrm>
            <a:off x="4846320" y="3465576"/>
            <a:ext cx="365760" cy="365760"/>
          </a:xfrm>
          <a:prstGeom prst="ellipse">
            <a:avLst/>
          </a:prstGeom>
          <a:solidFill>
            <a:srgbClr val="2E75B6"/>
          </a:solidFill>
          <a:ln>
            <a:noFill/>
          </a:ln>
        </p:spPr>
        <p:txBody>
          <a:bodyPr wrap="square" lIns="0" tIns="0" rIns="0" bIns="0" anchor="ctr">
            <a:noAutofit/>
          </a:bodyPr>
          <a:lstStyle/>
          <a:p>
            <a:pPr algn="ctr">
              <a:spcBef>
                <a:spcPts val="0"/>
              </a:spcBef>
              <a:spcAft>
                <a:spcPts val="0"/>
              </a:spcAft>
              <a:buNone/>
            </a:pPr>
            <a:r>
              <a:rPr lang="en-US" sz="1100" b="1" i="0">
                <a:solidFill>
                  <a:srgbClr val="FFFFFF"/>
                </a:solidFill>
                <a:latin typeface="Calibri"/>
                <a:ea typeface="Calibri"/>
                <a:cs typeface="Calibri"/>
              </a:rPr>
              <a:t>4</a:t>
            </a:r>
          </a:p>
        </p:txBody>
      </p:sp>
      <p:sp>
        <p:nvSpPr>
          <p:cNvPr id="1146" name="text 1146"/>
          <p:cNvSpPr txBox="1"/>
          <p:nvPr/>
        </p:nvSpPr>
        <p:spPr>
          <a:xfrm>
            <a:off x="5303520" y="3392424"/>
            <a:ext cx="3383280" cy="530352"/>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050" b="1" i="0">
                <a:solidFill>
                  <a:srgbClr val="0E2745"/>
                </a:solidFill>
                <a:latin typeface="Calibri"/>
                <a:ea typeface="Calibri"/>
                <a:cs typeface="Calibri"/>
              </a:rPr>
              <a:t>otherwise  →  loop 1</a:t>
            </a:r>
          </a:p>
          <a:p>
            <a:pPr algn="l">
              <a:spcBef>
                <a:spcPts val="0"/>
              </a:spcBef>
              <a:spcAft>
                <a:spcPts val="0"/>
              </a:spcAft>
              <a:buNone/>
            </a:pPr>
            <a:r>
              <a:rPr lang="en-US" sz="900" b="0" i="0">
                <a:solidFill>
                  <a:srgbClr val="5D6C7B"/>
                </a:solidFill>
                <a:latin typeface="Calibri"/>
                <a:ea typeface="Calibri"/>
                <a:cs typeface="Calibri"/>
              </a:rPr>
              <a:t>config.mk agent gets  ## score_report  +  ## optimize_further</a:t>
            </a:r>
          </a:p>
        </p:txBody>
      </p:sp>
      <p:sp>
        <p:nvSpPr>
          <p:cNvPr id="1147" name="shape 1147"/>
          <p:cNvSpPr/>
          <p:nvPr/>
        </p:nvSpPr>
        <p:spPr>
          <a:xfrm>
            <a:off x="457200" y="4114800"/>
            <a:ext cx="4023360" cy="1234440"/>
          </a:xfrm>
          <a:prstGeom prst="roundRect">
            <a:avLst>
              <a:gd name="adj" fmla="val 8000"/>
            </a:avLst>
          </a:prstGeom>
          <a:solidFill>
            <a:srgbClr val="F3F6FA"/>
          </a:solidFill>
          <a:ln>
            <a:noFill/>
          </a:ln>
        </p:spPr>
        <p:txBody>
          <a:bodyPr wrap="square" lIns="109728" tIns="109728" rIns="109728" bIns="109728" anchor="t">
            <a:noAutofit/>
          </a:bodyPr>
          <a:lstStyle/>
          <a:p>
            <a:pPr algn="l">
              <a:spcBef>
                <a:spcPts val="0"/>
              </a:spcBef>
              <a:spcAft>
                <a:spcPts val="300"/>
              </a:spcAft>
              <a:buNone/>
            </a:pPr>
            <a:r>
              <a:rPr lang="en-US" sz="1150" b="1" i="0">
                <a:solidFill>
                  <a:srgbClr val="0E2745"/>
                </a:solidFill>
                <a:latin typeface="Calibri"/>
                <a:ea typeface="Calibri"/>
                <a:cs typeface="Calibri"/>
              </a:rPr>
              <a:t>What the agent is told</a:t>
            </a:r>
          </a:p>
          <a:p>
            <a:pPr algn="l">
              <a:spcBef>
                <a:spcPts val="0"/>
              </a:spcBef>
              <a:spcAft>
                <a:spcPts val="0"/>
              </a:spcAft>
              <a:buNone/>
            </a:pPr>
            <a:r>
              <a:rPr lang="en-US" sz="950" b="0" i="0">
                <a:solidFill>
                  <a:srgbClr val="0E2745"/>
                </a:solidFill>
                <a:latin typeface="Calibri"/>
                <a:ea typeface="Calibri"/>
                <a:cs typeface="Calibri"/>
              </a:rPr>
              <a:t>The ## sections in configs/&lt;agent&gt;/Agent.md: config_mk_generator (score_report, optimize_further, severe_timing_warning) and rtl_generator (timing_resynthesis).</a:t>
            </a:r>
          </a:p>
        </p:txBody>
      </p:sp>
      <p:sp>
        <p:nvSpPr>
          <p:cNvPr id="1148" name="shape 1148"/>
          <p:cNvSpPr/>
          <p:nvPr/>
        </p:nvSpPr>
        <p:spPr>
          <a:xfrm>
            <a:off x="4663440" y="4114800"/>
            <a:ext cx="4023360" cy="1234440"/>
          </a:xfrm>
          <a:prstGeom prst="roundRect">
            <a:avLst>
              <a:gd name="adj" fmla="val 8000"/>
            </a:avLst>
          </a:prstGeom>
          <a:solidFill>
            <a:srgbClr val="FDF3E1"/>
          </a:solidFill>
          <a:ln>
            <a:noFill/>
          </a:ln>
        </p:spPr>
        <p:txBody>
          <a:bodyPr wrap="square" lIns="109728" tIns="109728" rIns="109728" bIns="109728" anchor="t">
            <a:noAutofit/>
          </a:bodyPr>
          <a:lstStyle/>
          <a:p>
            <a:pPr algn="l">
              <a:spcBef>
                <a:spcPts val="0"/>
              </a:spcBef>
              <a:spcAft>
                <a:spcPts val="300"/>
              </a:spcAft>
              <a:buNone/>
            </a:pPr>
            <a:r>
              <a:rPr lang="en-US" sz="1150" b="1" i="0">
                <a:solidFill>
                  <a:srgbClr val="0E2745"/>
                </a:solidFill>
                <a:latin typeface="Calibri"/>
                <a:ea typeface="Calibri"/>
                <a:cs typeface="Calibri"/>
              </a:rPr>
              <a:t>Resynthesis off?</a:t>
            </a:r>
          </a:p>
          <a:p>
            <a:pPr algn="l">
              <a:spcBef>
                <a:spcPts val="0"/>
              </a:spcBef>
              <a:spcAft>
                <a:spcPts val="0"/>
              </a:spcAft>
              <a:buNone/>
            </a:pPr>
            <a:r>
              <a:rPr lang="en-US" sz="950" b="0" i="0">
                <a:solidFill>
                  <a:srgbClr val="0E2745"/>
                </a:solidFill>
                <a:latin typeface="Calibri"/>
                <a:ea typeface="Calibri"/>
                <a:cs typeface="Calibri"/>
              </a:rPr>
              <a:t>enable_resynthesis: false keeps the RTL. A WNS &lt; −0.5 ns then only adds severe_timing_warning to the config.mk agent's feedback.</a:t>
            </a:r>
          </a:p>
        </p:txBody>
      </p:sp>
      <p:sp>
        <p:nvSpPr>
          <p:cNvPr id="1149" name="shape 1149"/>
          <p:cNvSpPr/>
          <p:nvPr/>
        </p:nvSpPr>
        <p:spPr>
          <a:xfrm>
            <a:off x="457200" y="5532120"/>
            <a:ext cx="8229600" cy="731520"/>
          </a:xfrm>
          <a:prstGeom prst="roundRect">
            <a:avLst>
              <a:gd name="adj" fmla="val 12000"/>
            </a:avLst>
          </a:prstGeom>
          <a:solidFill>
            <a:srgbClr val="0E2745"/>
          </a:solidFill>
          <a:ln>
            <a:noFill/>
          </a:ln>
        </p:spPr>
        <p:txBody>
          <a:bodyPr wrap="square" lIns="137160" tIns="137160" rIns="137160" bIns="137160" anchor="ctr">
            <a:noAutofit/>
          </a:bodyPr>
          <a:lstStyle/>
          <a:p>
            <a:pPr algn="l">
              <a:spcBef>
                <a:spcPts val="0"/>
              </a:spcBef>
              <a:spcAft>
                <a:spcPts val="0"/>
              </a:spcAft>
              <a:buNone/>
            </a:pPr>
            <a:r>
              <a:rPr lang="en-US" sz="1100" b="1" i="0">
                <a:solidFill>
                  <a:srgbClr val="FFC000"/>
                </a:solidFill>
                <a:latin typeface="Calibri"/>
                <a:ea typeface="Calibri"/>
                <a:cs typeface="Calibri"/>
              </a:rPr>
              <a:t>Two places to change the behaviour: </a:t>
            </a:r>
            <a:r>
              <a:rPr lang="en-US" sz="1100" b="1" i="0">
                <a:solidFill>
                  <a:srgbClr val="FFFFFF"/>
                </a:solidFill>
                <a:latin typeface="Calibri"/>
                <a:ea typeface="Calibri"/>
                <a:cs typeface="Calibri"/>
              </a:rPr>
              <a:t>the run config decides IF and HOW LONG a loop runs; the Agent.md decides WHAT the agent is told.</a:t>
            </a:r>
          </a:p>
        </p:txBody>
      </p:sp>
    </p:spTree>
    <p:extLst>
      <p:ext uri="{BB962C8B-B14F-4D97-AF65-F5344CB8AC3E}">
        <p14:creationId xmlns:p14="http://schemas.microsoft.com/office/powerpoint/2010/main" val="4964407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208A-3A32-ACB6-0B3B-15C087CC7CF3}"/>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52F97A0-B284-7737-2B27-E6982BA58C6D}"/>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92B1636-0114-7C1B-11D5-4F7BB801AB9A}"/>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6732F61A-BD6A-72C4-E539-4030A4D21602}"/>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3 – overview: agents in feedback loops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FD223F7-0882-ED0B-E99C-C6C655FFD936}"/>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3</a:t>
            </a:r>
          </a:p>
        </p:txBody>
      </p:sp>
      <p:sp>
        <p:nvSpPr>
          <p:cNvPr id="76" name="Rectangle 75">
            <a:extLst>
              <a:ext uri="{FF2B5EF4-FFF2-40B4-BE49-F238E27FC236}">
                <a16:creationId xmlns:a16="http://schemas.microsoft.com/office/drawing/2014/main" id="{70E6956C-C847-4669-17A1-B25AEF36C5A9}"/>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77</a:t>
            </a:fld>
            <a:endParaRPr sz="750" b="0">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78CA3E17-488F-8EDC-0CD8-88BE33DCB72A}"/>
              </a:ext>
            </a:extLst>
          </p:cNvPr>
          <p:cNvSpPr>
            <a:spLocks noGrp="1"/>
          </p:cNvSpPr>
          <p:nvPr/>
        </p:nvSpPr>
        <p:spPr>
          <a:xfrm>
            <a:off x="495300" y="990600"/>
            <a:ext cx="8134350" cy="1460292"/>
          </a:xfrm>
          <a:prstGeom prst="rect">
            <a:avLst/>
          </a:prstGeom>
          <a:solidFill>
            <a:srgbClr val="EEF3F9"/>
          </a:solidFill>
          <a:ln w="0">
            <a:noFill/>
          </a:ln>
        </p:spPr>
        <p:txBody>
          <a:bodyPr/>
          <a:lstStyle/>
          <a:p>
            <a:endParaRPr lang="en-GR"/>
          </a:p>
        </p:txBody>
      </p:sp>
      <p:sp>
        <p:nvSpPr>
          <p:cNvPr id="7" name="Rectangle 6">
            <a:extLst>
              <a:ext uri="{FF2B5EF4-FFF2-40B4-BE49-F238E27FC236}">
                <a16:creationId xmlns:a16="http://schemas.microsoft.com/office/drawing/2014/main" id="{03F7F105-DB50-1066-4B6D-BAFD19BF6A79}"/>
              </a:ext>
            </a:extLst>
          </p:cNvPr>
          <p:cNvSpPr>
            <a:spLocks noGrp="1"/>
          </p:cNvSpPr>
          <p:nvPr/>
        </p:nvSpPr>
        <p:spPr>
          <a:xfrm>
            <a:off x="495300" y="990600"/>
            <a:ext cx="74326" cy="1460292"/>
          </a:xfrm>
          <a:prstGeom prst="rect">
            <a:avLst/>
          </a:prstGeom>
          <a:solidFill>
            <a:srgbClr val="B21F2D"/>
          </a:solidFill>
          <a:ln w="0">
            <a:noFill/>
          </a:ln>
        </p:spPr>
        <p:txBody>
          <a:bodyPr/>
          <a:lstStyle/>
          <a:p>
            <a:endParaRPr lang="en-GR"/>
          </a:p>
        </p:txBody>
      </p:sp>
      <p:sp>
        <p:nvSpPr>
          <p:cNvPr id="9" name="Rectangle 8">
            <a:extLst>
              <a:ext uri="{FF2B5EF4-FFF2-40B4-BE49-F238E27FC236}">
                <a16:creationId xmlns:a16="http://schemas.microsoft.com/office/drawing/2014/main" id="{EE2ABC31-8DD5-C556-9CFD-EDCFCBA18F41}"/>
              </a:ext>
            </a:extLst>
          </p:cNvPr>
          <p:cNvSpPr>
            <a:spLocks noGrp="1"/>
          </p:cNvSpPr>
          <p:nvPr/>
        </p:nvSpPr>
        <p:spPr>
          <a:xfrm>
            <a:off x="752475" y="1070924"/>
            <a:ext cx="7620000" cy="1431718"/>
          </a:xfrm>
          <a:prstGeom prst="rect">
            <a:avLst/>
          </a:prstGeom>
          <a:noFill/>
          <a:ln w="0">
            <a:noFill/>
          </a:ln>
        </p:spPr>
        <p:txBody>
          <a:bodyPr anchor="ctr">
            <a:noAutofit/>
          </a:bodyPr>
          <a:lstStyle/>
          <a:p>
            <a:pPr algn="l">
              <a:spcBef>
                <a:spcPts val="0"/>
              </a:spcBef>
              <a:spcAft>
                <a:spcPts val="500"/>
              </a:spcAft>
              <a:buNone/>
            </a:pPr>
            <a:r>
              <a:rPr lang="en-US" sz="1250" b="1" i="0">
                <a:solidFill>
                  <a:srgbClr val="2E75B6"/>
                </a:solidFill>
                <a:latin typeface="Calibri"/>
                <a:ea typeface="Calibri"/>
                <a:cs typeface="Calibri"/>
              </a:rPr>
              <a:t>① First, iterative optimization: </a:t>
            </a:r>
            <a:r>
              <a:rPr lang="en-US" sz="1250" b="0" i="0">
                <a:solidFill>
                  <a:srgbClr val="0E2745"/>
                </a:solidFill>
                <a:latin typeface="Calibri"/>
                <a:ea typeface="Calibri"/>
                <a:cs typeface="Calibri"/>
              </a:rPr>
              <a:t>the config.mk agent reads the PPA report and tunes the PnR knobs until score ≥ 92 (or 10 runs)</a:t>
            </a:r>
          </a:p>
          <a:p>
            <a:pPr algn="l">
              <a:spcBef>
                <a:spcPts val="0"/>
              </a:spcBef>
              <a:spcAft>
                <a:spcPts val="500"/>
              </a:spcAft>
              <a:buNone/>
            </a:pPr>
            <a:r>
              <a:rPr lang="en-US" sz="1250" b="1" i="0">
                <a:solidFill>
                  <a:srgbClr val="B91F2D"/>
                </a:solidFill>
                <a:latin typeface="Calibri"/>
                <a:ea typeface="Calibri"/>
                <a:cs typeface="Calibri"/>
              </a:rPr>
              <a:t>② Then, if the knobs cannot fix timing – resynthesis: </a:t>
            </a:r>
            <a:r>
              <a:rPr lang="en-US" sz="1250" b="0" i="0">
                <a:solidFill>
                  <a:srgbClr val="0E2745"/>
                </a:solidFill>
                <a:latin typeface="Calibri"/>
                <a:ea typeface="Calibri"/>
                <a:cs typeface="Calibri"/>
              </a:rPr>
              <a:t>WNS &lt; −0.5 ns sends the RTL agent back to pipeline the design, and ① starts again</a:t>
            </a:r>
          </a:p>
          <a:p>
            <a:pPr algn="l">
              <a:spcBef>
                <a:spcPts val="0"/>
              </a:spcBef>
              <a:spcAft>
                <a:spcPts val="0"/>
              </a:spcAft>
              <a:buNone/>
            </a:pPr>
            <a:r>
              <a:rPr lang="en-US" sz="1250" b="1" i="0">
                <a:solidFill>
                  <a:srgbClr val="0E2745"/>
                </a:solidFill>
                <a:latin typeface="Calibri"/>
                <a:ea typeface="Calibri"/>
                <a:cs typeface="Calibri"/>
              </a:rPr>
              <a:t>Metered: </a:t>
            </a:r>
            <a:r>
              <a:rPr lang="en-US" sz="1250" b="0" i="0">
                <a:solidFill>
                  <a:srgbClr val="0E2745"/>
                </a:solidFill>
                <a:latin typeface="Calibri"/>
                <a:ea typeface="Calibri"/>
                <a:cs typeface="Calibri"/>
              </a:rPr>
              <a:t>tokens, time and TPM per agent and per step (token_usage.json)</a:t>
            </a:r>
          </a:p>
        </p:txBody>
      </p:sp>
      <p:sp>
        <p:nvSpPr>
          <p:cNvPr id="5" name="Rectangle 4">
            <a:extLst>
              <a:ext uri="{FF2B5EF4-FFF2-40B4-BE49-F238E27FC236}">
                <a16:creationId xmlns:a16="http://schemas.microsoft.com/office/drawing/2014/main" id="{36554983-3490-E0A7-111A-5A24CD3CABDC}"/>
              </a:ext>
            </a:extLst>
          </p:cNvPr>
          <p:cNvSpPr>
            <a:spLocks noGrp="1"/>
          </p:cNvSpPr>
          <p:nvPr/>
        </p:nvSpPr>
        <p:spPr>
          <a:xfrm>
            <a:off x="628650" y="5543550"/>
            <a:ext cx="8134350" cy="685800"/>
          </a:xfrm>
          <a:prstGeom prst="rect">
            <a:avLst/>
          </a:prstGeom>
          <a:solidFill>
            <a:srgbClr val="EEF3F9"/>
          </a:solidFill>
          <a:ln w="0">
            <a:noFill/>
          </a:ln>
        </p:spPr>
        <p:txBody>
          <a:bodyPr/>
          <a:lstStyle/>
          <a:p>
            <a:endParaRPr lang="en-GR"/>
          </a:p>
        </p:txBody>
      </p:sp>
      <p:sp>
        <p:nvSpPr>
          <p:cNvPr id="8" name="Rectangle 7">
            <a:extLst>
              <a:ext uri="{FF2B5EF4-FFF2-40B4-BE49-F238E27FC236}">
                <a16:creationId xmlns:a16="http://schemas.microsoft.com/office/drawing/2014/main" id="{80B34BFF-6939-9149-C7F8-D4E936E5B6CA}"/>
              </a:ext>
            </a:extLst>
          </p:cNvPr>
          <p:cNvSpPr>
            <a:spLocks noGrp="1"/>
          </p:cNvSpPr>
          <p:nvPr/>
        </p:nvSpPr>
        <p:spPr>
          <a:xfrm>
            <a:off x="628650" y="5543550"/>
            <a:ext cx="66675" cy="685800"/>
          </a:xfrm>
          <a:prstGeom prst="rect">
            <a:avLst/>
          </a:prstGeom>
          <a:solidFill>
            <a:srgbClr val="B21F2D"/>
          </a:solidFill>
          <a:ln w="0">
            <a:noFill/>
          </a:ln>
        </p:spPr>
        <p:txBody>
          <a:bodyPr/>
          <a:lstStyle/>
          <a:p>
            <a:endParaRPr lang="en-GR"/>
          </a:p>
        </p:txBody>
      </p:sp>
      <p:sp>
        <p:nvSpPr>
          <p:cNvPr id="10" name="Rectangle 9">
            <a:extLst>
              <a:ext uri="{FF2B5EF4-FFF2-40B4-BE49-F238E27FC236}">
                <a16:creationId xmlns:a16="http://schemas.microsoft.com/office/drawing/2014/main" id="{802B59DE-EB7A-BF13-D598-A4C8580445D1}"/>
              </a:ext>
            </a:extLst>
          </p:cNvPr>
          <p:cNvSpPr>
            <a:spLocks noGrp="1"/>
          </p:cNvSpPr>
          <p:nvPr/>
        </p:nvSpPr>
        <p:spPr>
          <a:xfrm>
            <a:off x="876300" y="5657850"/>
            <a:ext cx="7620000" cy="468000"/>
          </a:xfrm>
          <a:prstGeom prst="rect">
            <a:avLst/>
          </a:prstGeom>
          <a:noFill/>
          <a:ln w="0">
            <a:noFill/>
          </a:ln>
        </p:spPr>
        <p:txBody>
          <a:bodyPr anchor="ctr">
            <a:noAutofit/>
          </a:bodyPr>
          <a:lstStyle/>
          <a:p>
            <a:pPr algn="ctr"/>
            <a:r>
              <a:rPr lang="en-US" sz="1600">
                <a:solidFill>
                  <a:schemeClr val="tx2">
                    <a:lumMod val="75000"/>
                  </a:schemeClr>
                </a:solidFill>
              </a:rPr>
              <a:t>Watch the score climb iteration by iteration – and what each extra point costs in tokens</a:t>
            </a:r>
            <a:endParaRPr lang="en-US" sz="1600" b="1">
              <a:solidFill>
                <a:schemeClr val="tx2">
                  <a:lumMod val="75000"/>
                </a:schemeClr>
              </a:solidFill>
            </a:endParaRPr>
          </a:p>
        </p:txBody>
      </p:sp>
      <p:sp>
        <p:nvSpPr>
          <p:cNvPr id="77" name="part3 commands"/>
          <p:cNvSpPr/>
          <p:nvPr/>
        </p:nvSpPr>
        <p:spPr>
          <a:xfrm>
            <a:off x="630936" y="2926080"/>
            <a:ext cx="8138160" cy="109728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1100" b="0" i="0">
                <a:solidFill>
                  <a:srgbClr val="FFFFFF"/>
                </a:solidFill>
                <a:latin typeface="Courier New"/>
                <a:ea typeface="Courier New"/>
                <a:cs typeface="Courier New"/>
              </a:rPr>
              <a:t>cd /home/scripts/part3/problem</a:t>
            </a:r>
          </a:p>
          <a:p>
            <a:pPr algn="l">
              <a:spcAft>
                <a:spcPts val="300"/>
              </a:spcAft>
              <a:buNone/>
            </a:pPr>
            <a:r>
              <a:rPr lang="en-US" sz="1100" b="0" i="0">
                <a:solidFill>
                  <a:srgbClr val="FFFFFF"/>
                </a:solidFill>
                <a:latin typeface="Courier New"/>
                <a:ea typeface="Courier New"/>
                <a:cs typeface="Courier New"/>
              </a:rPr>
              <a:t>python3 asic_autonomous_flow.py --config </a:t>
            </a:r>
            <a:r>
              <a:rPr lang="en-US" sz="1100" b="0" i="0" err="1">
                <a:solidFill>
                  <a:srgbClr val="FFFFFF"/>
                </a:solidFill>
                <a:latin typeface="Courier New"/>
                <a:ea typeface="Courier New"/>
                <a:cs typeface="Courier New"/>
              </a:rPr>
              <a:t>run_configs</a:t>
            </a:r>
            <a:r>
              <a:rPr lang="en-US" sz="1100" b="0" i="0">
                <a:solidFill>
                  <a:srgbClr val="FFFFFF"/>
                </a:solidFill>
                <a:latin typeface="Courier New"/>
                <a:ea typeface="Courier New"/>
                <a:cs typeface="Courier New"/>
              </a:rPr>
              <a:t>/3_multi_agent_collaboration.yaml</a:t>
            </a:r>
          </a:p>
        </p:txBody>
      </p:sp>
      <p:sp>
        <p:nvSpPr>
          <p:cNvPr id="78" name="part3 tip"/>
          <p:cNvSpPr/>
          <p:nvPr/>
        </p:nvSpPr>
        <p:spPr>
          <a:xfrm>
            <a:off x="630936" y="4206240"/>
            <a:ext cx="8138160" cy="1051560"/>
          </a:xfrm>
          <a:prstGeom prst="roundRect">
            <a:avLst>
              <a:gd name="adj" fmla="val 8000"/>
            </a:avLst>
          </a:prstGeom>
          <a:solidFill>
            <a:srgbClr val="F3F6FA"/>
          </a:solidFill>
          <a:ln>
            <a:noFill/>
          </a:ln>
        </p:spPr>
        <p:txBody>
          <a:bodyPr wrap="square" lIns="182880" tIns="182880" rIns="182880" bIns="182880" anchor="ctr">
            <a:normAutofit/>
          </a:bodyPr>
          <a:lstStyle/>
          <a:p>
            <a:pPr algn="l">
              <a:spcAft>
                <a:spcPts val="0"/>
              </a:spcAft>
              <a:buNone/>
            </a:pPr>
            <a:r>
              <a:rPr lang="en-US" sz="1350" b="1" i="0">
                <a:solidFill>
                  <a:srgbClr val="B91F2D"/>
                </a:solidFill>
                <a:latin typeface="Calibri"/>
                <a:ea typeface="Calibri"/>
                <a:cs typeface="Calibri"/>
              </a:rPr>
              <a:t>Hands-on: </a:t>
            </a:r>
            <a:r>
              <a:rPr lang="en-US" sz="1350" b="0" i="0">
                <a:solidFill>
                  <a:srgbClr val="0E2745"/>
                </a:solidFill>
                <a:latin typeface="Calibri"/>
                <a:ea typeface="Calibri"/>
                <a:cs typeface="Calibri"/>
              </a:rPr>
              <a:t>focus on the messages between agents – config_mk_generator: score_report, optimize_further; rtl_generator: timing_resynthesis, timing_reminder</a:t>
            </a:r>
          </a:p>
        </p:txBody>
      </p:sp>
    </p:spTree>
    <p:extLst>
      <p:ext uri="{BB962C8B-B14F-4D97-AF65-F5344CB8AC3E}">
        <p14:creationId xmlns:p14="http://schemas.microsoft.com/office/powerpoint/2010/main" val="29258483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3 – our golden run: both loops switched on</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3</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78</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the golden folder</a:t>
            </a:r>
          </a:p>
          <a:p>
            <a:pPr algn="l">
              <a:spcBef>
                <a:spcPts val="0"/>
              </a:spcBef>
              <a:spcAft>
                <a:spcPts val="0"/>
              </a:spcAft>
              <a:buNone/>
            </a:pPr>
            <a:r>
              <a:rPr lang="en-US" sz="950" b="0" i="0">
                <a:solidFill>
                  <a:srgbClr val="5D6C7B"/>
                </a:solidFill>
                <a:latin typeface="Calibri"/>
                <a:ea typeface="Calibri"/>
                <a:cs typeface="Calibri"/>
              </a:rPr>
              <a:t>in solution/ the run config has both loops switched on</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/home/scripts/part3/solution</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on the FP16 multiplier</a:t>
            </a:r>
          </a:p>
          <a:p>
            <a:pPr algn="l">
              <a:spcBef>
                <a:spcPts val="0"/>
              </a:spcBef>
              <a:spcAft>
                <a:spcPts val="0"/>
              </a:spcAft>
              <a:buNone/>
            </a:pPr>
            <a:r>
              <a:rPr lang="en-US" sz="950" b="0" i="0">
                <a:solidFill>
                  <a:srgbClr val="5D6C7B"/>
                </a:solidFill>
                <a:latin typeface="Calibri"/>
                <a:ea typeface="Calibri"/>
                <a:cs typeface="Calibri"/>
              </a:rPr>
              <a:t>p8, the default design of the run config</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run_configs/3_multi_agent_collaboration.yaml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p8.yaml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the flow does</a:t>
            </a:r>
          </a:p>
          <a:p>
            <a:pPr algn="l">
              <a:spcBef>
                <a:spcPts val="0"/>
              </a:spcBef>
              <a:spcAft>
                <a:spcPts val="0"/>
              </a:spcAft>
              <a:buNone/>
            </a:pPr>
            <a:r>
              <a:rPr lang="en-US" sz="950" b="0" i="0">
                <a:solidFill>
                  <a:srgbClr val="5D6C7B"/>
                </a:solidFill>
                <a:latin typeface="Calibri"/>
                <a:ea typeface="Calibri"/>
                <a:cs typeface="Calibri"/>
              </a:rPr>
              <a:t>the Part 2 stages first. Then every OpenROAD run is scored, and the score decides what happens next</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to look at</a:t>
            </a:r>
          </a:p>
          <a:p>
            <a:pPr algn="l">
              <a:spcBef>
                <a:spcPts val="0"/>
              </a:spcBef>
              <a:spcAft>
                <a:spcPts val="0"/>
              </a:spcAft>
              <a:buNone/>
            </a:pPr>
            <a:r>
              <a:rPr lang="en-US" sz="950" b="0" i="0">
                <a:solidFill>
                  <a:srgbClr val="5D6C7B"/>
                </a:solidFill>
                <a:latin typeface="Calibri"/>
                <a:ea typeface="Calibri"/>
                <a:cs typeface="Calibri"/>
              </a:rPr>
              <a:t>the score after every OpenROAD run, and the tokens each extra point costs</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Where the files are</a:t>
            </a:r>
          </a:p>
          <a:p>
            <a:pPr algn="l">
              <a:spcBef>
                <a:spcPts val="0"/>
              </a:spcBef>
              <a:spcAft>
                <a:spcPts val="0"/>
              </a:spcAft>
              <a:buNone/>
            </a:pPr>
            <a:r>
              <a:rPr lang="en-US" sz="950" b="0" i="0">
                <a:solidFill>
                  <a:srgbClr val="5D6C7B"/>
                </a:solidFill>
                <a:latin typeface="Calibri"/>
                <a:ea typeface="Calibri"/>
                <a:cs typeface="Calibri"/>
              </a:rPr>
              <a:t>results/p8/ every iteration · token_usage.json</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LOOK AT  the score per iteration – and why the loop stops: score ≥ 92, or the iteration limit</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score &lt; 92       →  config.mk agent tunes again</a:t>
            </a:r>
          </a:p>
          <a:p>
            <a:pPr algn="l">
              <a:lnSpc>
                <a:spcPct val="100000"/>
              </a:lnSpc>
              <a:spcBef>
                <a:spcPts val="0"/>
              </a:spcBef>
              <a:spcAft>
                <a:spcPts val="0"/>
              </a:spcAft>
              <a:buNone/>
            </a:pPr>
            <a:r>
              <a:rPr lang="en-US" sz="880" b="0" i="0">
                <a:solidFill>
                  <a:srgbClr val="FFFFFF"/>
                </a:solidFill>
                <a:latin typeface="Courier New"/>
                <a:ea typeface="Courier New"/>
                <a:cs typeface="Courier New"/>
              </a:rPr>
              <a:t>WNS &lt; -0.5 ns    →  RTL agent re-designs</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Final Score: …/100</a:t>
            </a:r>
          </a:p>
          <a:p>
            <a:pPr algn="l">
              <a:lnSpc>
                <a:spcPct val="100000"/>
              </a:lnSpc>
              <a:spcBef>
                <a:spcPts val="0"/>
              </a:spcBef>
              <a:spcAft>
                <a:spcPts val="0"/>
              </a:spcAft>
              <a:buNone/>
            </a:pPr>
            <a:r>
              <a:rPr lang="en-US" sz="880" b="0" i="0">
                <a:solidFill>
                  <a:srgbClr val="7EC699"/>
                </a:solidFill>
                <a:latin typeface="Courier New"/>
                <a:ea typeface="Courier New"/>
                <a:cs typeface="Courier New"/>
              </a:rPr>
              <a:t># printed after every OpenROAD run</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ls runs/3_multi_agent_collaboration/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3 – your turn: switch the loops on</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3</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79</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Part 3</a:t>
            </a:r>
          </a:p>
          <a:p>
            <a:pPr algn="l">
              <a:spcBef>
                <a:spcPts val="0"/>
              </a:spcBef>
              <a:spcAft>
                <a:spcPts val="0"/>
              </a:spcAft>
              <a:buNone/>
            </a:pPr>
            <a:r>
              <a:rPr lang="en-US" sz="950" b="0" i="0">
                <a:solidFill>
                  <a:srgbClr val="5D6C7B"/>
                </a:solidFill>
                <a:latin typeface="Calibri"/>
                <a:ea typeface="Calibri"/>
                <a:cs typeface="Calibri"/>
              </a:rPr>
              <a:t>same agents as Part 2. In problem/ the two loops start switched OFF</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/home/scripts/part3/problem</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as is: the baseline</a:t>
            </a:r>
          </a:p>
          <a:p>
            <a:pPr algn="l">
              <a:spcBef>
                <a:spcPts val="0"/>
              </a:spcBef>
              <a:spcAft>
                <a:spcPts val="0"/>
              </a:spcAft>
              <a:buNone/>
            </a:pPr>
            <a:r>
              <a:rPr lang="en-US" sz="950" b="0" i="0">
                <a:solidFill>
                  <a:srgbClr val="5D6C7B"/>
                </a:solidFill>
                <a:latin typeface="Calibri"/>
                <a:ea typeface="Calibri"/>
                <a:cs typeface="Calibri"/>
              </a:rPr>
              <a:t>loops off = one pass, like Part 2. Write down the Final Score</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asic_autonomous_flow.py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run_configs/3_multi_agent_collaboration.yaml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p8.yaml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Switch the loops on</a:t>
            </a:r>
          </a:p>
          <a:p>
            <a:pPr algn="l">
              <a:spcBef>
                <a:spcPts val="0"/>
              </a:spcBef>
              <a:spcAft>
                <a:spcPts val="0"/>
              </a:spcAft>
              <a:buNone/>
            </a:pPr>
            <a:r>
              <a:rPr lang="en-US" sz="950" b="0" i="0">
                <a:solidFill>
                  <a:srgbClr val="5D6C7B"/>
                </a:solidFill>
                <a:latin typeface="Calibri"/>
                <a:ea typeface="Calibri"/>
                <a:cs typeface="Calibri"/>
              </a:rPr>
              <a:t>on your laptop open run_configs/3_multi_agent_collaboration.yaml, section flow: set both lines to true, save</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again and watch the loops</a:t>
            </a:r>
          </a:p>
          <a:p>
            <a:pPr algn="l">
              <a:spcBef>
                <a:spcPts val="0"/>
              </a:spcBef>
              <a:spcAft>
                <a:spcPts val="0"/>
              </a:spcAft>
              <a:buNone/>
            </a:pPr>
            <a:r>
              <a:rPr lang="en-US" sz="950" b="0" i="0">
                <a:solidFill>
                  <a:srgbClr val="5D6C7B"/>
                </a:solidFill>
                <a:latin typeface="Calibri"/>
                <a:ea typeface="Calibri"/>
                <a:cs typeface="Calibri"/>
              </a:rPr>
              <a:t>the same command as step 2. After every OpenROAD run: score below 92 → the config.mk agent gets the score report and tries again · WNS &lt; −0.5 ns → the RTL agent re-designs the RTL</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Steer the loops</a:t>
            </a:r>
          </a:p>
          <a:p>
            <a:pPr algn="l">
              <a:spcBef>
                <a:spcPts val="0"/>
              </a:spcBef>
              <a:spcAft>
                <a:spcPts val="0"/>
              </a:spcAft>
              <a:buNone/>
            </a:pPr>
            <a:r>
              <a:rPr lang="en-US" sz="950" b="0" i="0">
                <a:solidFill>
                  <a:srgbClr val="5D6C7B"/>
                </a:solidFill>
                <a:latin typeface="Calibri"/>
                <a:ea typeface="Calibri"/>
                <a:cs typeface="Calibri"/>
              </a:rPr>
              <a:t>run config: score_threshold, max_resynthesis_attempts, iteration limits · configs/config_mk_generator/Agent.md: ## score_report and ## optimize_further. Change ONE thing, run again</a:t>
            </a:r>
          </a:p>
        </p:txBody>
      </p:sp>
      <p:sp>
        <p:nvSpPr>
          <p:cNvPr id="1500" name="checkpoint 1500"/>
          <p:cNvSpPr/>
          <p:nvPr/>
        </p:nvSpPr>
        <p:spPr>
          <a:xfrm>
            <a:off x="457200" y="5760720"/>
            <a:ext cx="605426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the score climbs – or you can explain from the log why it does not</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iterative_optimization: true    # was false</a:t>
            </a:r>
          </a:p>
          <a:p>
            <a:pPr algn="l">
              <a:lnSpc>
                <a:spcPct val="100000"/>
              </a:lnSpc>
              <a:spcBef>
                <a:spcPts val="0"/>
              </a:spcBef>
              <a:spcAft>
                <a:spcPts val="0"/>
              </a:spcAft>
              <a:buNone/>
            </a:pPr>
            <a:r>
              <a:rPr lang="en-US" sz="880" b="0" i="0">
                <a:solidFill>
                  <a:srgbClr val="FFFFFF"/>
                </a:solidFill>
                <a:latin typeface="Courier New"/>
                <a:ea typeface="Courier New"/>
                <a:cs typeface="Courier New"/>
              </a:rPr>
              <a:t>enable_resynthesis: true        # was false</a:t>
            </a:r>
          </a:p>
          <a:p>
            <a:pPr algn="l">
              <a:lnSpc>
                <a:spcPct val="100000"/>
              </a:lnSpc>
              <a:spcBef>
                <a:spcPts val="0"/>
              </a:spcBef>
              <a:spcAft>
                <a:spcPts val="0"/>
              </a:spcAft>
              <a:buNone/>
            </a:pPr>
            <a:r>
              <a:rPr lang="en-US" sz="880" b="0" i="0">
                <a:solidFill>
                  <a:srgbClr val="7EC699"/>
                </a:solidFill>
                <a:latin typeface="Courier New"/>
                <a:ea typeface="Courier New"/>
                <a:cs typeface="Courier New"/>
              </a:rPr>
              <a:t># golden: ../solution/run_configs/ (both true)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700" name="Add-in timer">
                <a:extLst>
                  <a:ext uri="{FF2B5EF4-FFF2-40B4-BE49-F238E27FC236}">
                    <a16:creationId xmlns:a16="http://schemas.microsoft.com/office/drawing/2014/main" id="{03340898-D715-89F3-D65A-91631250D20C}"/>
                  </a:ext>
                </a:extLst>
              </p:cNvPr>
              <p:cNvGraphicFramePr>
                <a:graphicFrameLocks noGrp="1"/>
              </p:cNvGraphicFramePr>
              <p:nvPr>
                <p:extLst>
                  <p:ext uri="{D42A27DB-BD31-4B8C-83A1-F6EECF244321}">
                    <p14:modId xmlns:p14="http://schemas.microsoft.com/office/powerpoint/2010/main" val="2429513194"/>
                  </p:ext>
                </p:extLst>
              </p:nvPr>
            </p:nvGraphicFramePr>
            <p:xfrm>
              <a:off x="7016925" y="5735618"/>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1700" name="Add-in timer">
                <a:extLst>
                  <a:ext uri="{FF2B5EF4-FFF2-40B4-BE49-F238E27FC236}">
                    <a16:creationId xmlns:a16="http://schemas.microsoft.com/office/drawing/2014/main" id="{03340898-D715-89F3-D65A-91631250D20C}"/>
                  </a:ext>
                </a:extLst>
              </p:cNvPr>
              <p:cNvPicPr>
                <a:picLocks noGrp="1" noRot="1" noChangeAspect="1" noMove="1" noResize="1" noEditPoints="1" noAdjustHandles="1" noChangeArrowheads="1" noChangeShapeType="1"/>
              </p:cNvPicPr>
              <p:nvPr/>
            </p:nvPicPr>
            <p:blipFill>
              <a:blip r:embed="rId4"/>
              <a:stretch>
                <a:fillRect/>
              </a:stretch>
            </p:blipFill>
            <p:spPr>
              <a:xfrm>
                <a:off x="7016925" y="5735618"/>
                <a:ext cx="4654855" cy="1936624"/>
              </a:xfrm>
              <a:prstGeom prst="rect">
                <a:avLst/>
              </a:prstGeom>
            </p:spPr>
          </p:pic>
        </mc:Fallback>
      </mc:AlternateContent>
      <p:pic>
        <p:nvPicPr>
          <p:cNvPr id="6" name="Picture 5" descr="Stopwatch on white background">
            <a:extLst>
              <a:ext uri="{FF2B5EF4-FFF2-40B4-BE49-F238E27FC236}">
                <a16:creationId xmlns:a16="http://schemas.microsoft.com/office/drawing/2014/main" id="{9CC1A813-7ADD-A336-F8D5-92C9CD2A49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extLst>
      <p:ext uri="{BB962C8B-B14F-4D97-AF65-F5344CB8AC3E}">
        <p14:creationId xmlns:p14="http://schemas.microsoft.com/office/powerpoint/2010/main" val="4964407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a:extLst>
            <a:ext uri="{FF2B5EF4-FFF2-40B4-BE49-F238E27FC236}">
              <a16:creationId xmlns:a16="http://schemas.microsoft.com/office/drawing/2014/main" id="{671A17D8-A0A3-1B81-5324-AF7D7F1BD38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4DD7AA70-B575-C6F5-DC6C-B6608E468D39}"/>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6D5AD781-C32F-A359-B064-294A3C153789}"/>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83437398-5186-EA8C-B696-96BA854058A5}"/>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Part 4</a:t>
            </a:r>
            <a:endParaRPr sz="2325" b="1">
              <a:solidFill>
                <a:srgbClr val="FFFFFF"/>
              </a:solidFill>
              <a:latin typeface="Calibri"/>
              <a:ea typeface="Calibri"/>
              <a:cs typeface="Calibri"/>
            </a:endParaRPr>
          </a:p>
        </p:txBody>
      </p:sp>
      <p:sp>
        <p:nvSpPr>
          <p:cNvPr id="4" name="Rectangle 3">
            <a:extLst>
              <a:ext uri="{FF2B5EF4-FFF2-40B4-BE49-F238E27FC236}">
                <a16:creationId xmlns:a16="http://schemas.microsoft.com/office/drawing/2014/main" id="{263C6123-09E9-2DBD-67E6-02B1414B5919}"/>
              </a:ext>
            </a:extLst>
          </p:cNvPr>
          <p:cNvSpPr>
            <a:spLocks noGrp="1"/>
          </p:cNvSpPr>
          <p:nvPr/>
        </p:nvSpPr>
        <p:spPr>
          <a:xfrm>
            <a:off x="523875" y="1200150"/>
            <a:ext cx="7203701" cy="1047750"/>
          </a:xfrm>
          <a:prstGeom prst="rect">
            <a:avLst/>
          </a:prstGeom>
          <a:noFill/>
          <a:ln w="0">
            <a:noFill/>
          </a:ln>
        </p:spPr>
        <p:txBody>
          <a:bodyPr anchor="ctr">
            <a:normAutofit/>
          </a:bodyPr>
          <a:lstStyle/>
          <a:p>
            <a:pPr>
              <a:defRPr sz="2550" b="1">
                <a:solidFill>
                  <a:srgbClr val="FFFFFF"/>
                </a:solidFill>
                <a:latin typeface="Calibri"/>
                <a:ea typeface="Calibri"/>
                <a:cs typeface="Calibri"/>
              </a:defRPr>
            </a:pPr>
            <a:r>
              <a:rPr lang="en-GR" sz="2550" b="1">
                <a:solidFill>
                  <a:srgbClr val="FFFFFF"/>
                </a:solidFill>
                <a:latin typeface="Calibri"/>
              </a:rPr>
              <a:t>The Master Hybrid LLM–SLM Architecture </a:t>
            </a:r>
            <a:r>
              <a:rPr lang="en-US" sz="2550" b="1">
                <a:solidFill>
                  <a:srgbClr val="FFFFFF"/>
                </a:solidFill>
                <a:latin typeface="Calibri"/>
              </a:rPr>
              <a:t>and</a:t>
            </a:r>
            <a:r>
              <a:rPr lang="en-GR" sz="2550" b="1">
                <a:solidFill>
                  <a:srgbClr val="FFFFFF"/>
                </a:solidFill>
                <a:latin typeface="Calibri"/>
              </a:rPr>
              <a:t> Autonomous Flow</a:t>
            </a:r>
            <a:endParaRPr sz="2550" b="1">
              <a:solidFill>
                <a:srgbClr val="FFFFFF"/>
              </a:solidFill>
              <a:latin typeface="Calibri"/>
              <a:ea typeface="Calibri"/>
              <a:cs typeface="Calibri"/>
            </a:endParaRPr>
          </a:p>
        </p:txBody>
      </p:sp>
      <p:sp>
        <p:nvSpPr>
          <p:cNvPr id="12" name="Rectangle 11">
            <a:extLst>
              <a:ext uri="{FF2B5EF4-FFF2-40B4-BE49-F238E27FC236}">
                <a16:creationId xmlns:a16="http://schemas.microsoft.com/office/drawing/2014/main" id="{EB91CA6E-137D-7C54-D0AD-2559627040B9}"/>
              </a:ext>
            </a:extLst>
          </p:cNvPr>
          <p:cNvSpPr>
            <a:spLocks noGrp="1"/>
          </p:cNvSpPr>
          <p:nvPr/>
        </p:nvSpPr>
        <p:spPr>
          <a:xfrm>
            <a:off x="559732" y="1724025"/>
            <a:ext cx="6238875" cy="3961000"/>
          </a:xfrm>
          <a:prstGeom prst="rect">
            <a:avLst/>
          </a:prstGeom>
          <a:noFill/>
          <a:ln w="0">
            <a:noFill/>
          </a:ln>
        </p:spPr>
        <p:txBody>
          <a:bodyPr anchor="ctr">
            <a:normAutofit/>
          </a:bodyPr>
          <a:lstStyle/>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System Orchestration</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Guarantees </a:t>
            </a:r>
            <a:r>
              <a:rPr lang="en-US" sz="1650" b="1">
                <a:solidFill>
                  <a:srgbClr val="DCE6F1"/>
                </a:solidFill>
                <a:latin typeface="Calibri"/>
              </a:rPr>
              <a:t>and</a:t>
            </a:r>
            <a:r>
              <a:rPr lang="en-GR" sz="1650" b="1">
                <a:solidFill>
                  <a:srgbClr val="DCE6F1"/>
                </a:solidFill>
                <a:latin typeface="Calibri"/>
              </a:rPr>
              <a:t> Reliability</a:t>
            </a:r>
            <a:endParaRPr lang="en-US" sz="1650" b="1">
              <a:solidFill>
                <a:srgbClr val="DCE6F1"/>
              </a:solidFill>
              <a:latin typeface="Calibri"/>
              <a:ea typeface="Calibri"/>
              <a:cs typeface="Calibri"/>
            </a:endParaRPr>
          </a:p>
          <a:p>
            <a:pPr>
              <a:defRPr sz="1650" b="1">
                <a:solidFill>
                  <a:srgbClr val="DCE6F1"/>
                </a:solidFill>
                <a:latin typeface="Calibri"/>
                <a:ea typeface="Calibri"/>
                <a:cs typeface="Calibri"/>
              </a:defRPr>
            </a:pPr>
            <a:endParaRPr lang="en-GR" sz="1650" b="1">
              <a:solidFill>
                <a:srgbClr val="DCE6F1"/>
              </a:solidFill>
              <a:latin typeface="Calibri"/>
            </a:endParaRPr>
          </a:p>
          <a:p>
            <a:pPr>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p:txBody>
      </p:sp>
      <p:sp>
        <p:nvSpPr>
          <p:cNvPr id="18" name="Rectangle 17">
            <a:extLst>
              <a:ext uri="{FF2B5EF4-FFF2-40B4-BE49-F238E27FC236}">
                <a16:creationId xmlns:a16="http://schemas.microsoft.com/office/drawing/2014/main" id="{CE541C24-AE34-6A63-ED16-31F9B8715B13}"/>
              </a:ext>
            </a:extLst>
          </p:cNvPr>
          <p:cNvSpPr>
            <a:spLocks noGrp="1"/>
          </p:cNvSpPr>
          <p:nvPr/>
        </p:nvSpPr>
        <p:spPr>
          <a:xfrm>
            <a:off x="523873" y="3009900"/>
            <a:ext cx="6238875" cy="685800"/>
          </a:xfrm>
          <a:prstGeom prst="rect">
            <a:avLst/>
          </a:prstGeom>
          <a:noFill/>
          <a:ln w="0">
            <a:noFill/>
          </a:ln>
        </p:spPr>
        <p:txBody>
          <a:bodyPr anchor="ctr">
            <a:normAutofit/>
          </a:bodyPr>
          <a:lstStyle/>
          <a:p>
            <a:pPr algn="l">
              <a:defRPr sz="1650" b="1">
                <a:solidFill>
                  <a:srgbClr val="DCE6F1"/>
                </a:solidFill>
                <a:latin typeface="Calibri"/>
                <a:ea typeface="Calibri"/>
                <a:cs typeface="Calibri"/>
              </a:defRPr>
            </a:pPr>
            <a:endParaRPr sz="1650" b="1">
              <a:solidFill>
                <a:srgbClr val="DCE6F1"/>
              </a:solidFill>
              <a:latin typeface="Calibri"/>
              <a:ea typeface="Calibri"/>
              <a:cs typeface="Calibri"/>
            </a:endParaRPr>
          </a:p>
        </p:txBody>
      </p:sp>
    </p:spTree>
    <p:extLst>
      <p:ext uri="{BB962C8B-B14F-4D97-AF65-F5344CB8AC3E}">
        <p14:creationId xmlns:p14="http://schemas.microsoft.com/office/powerpoint/2010/main" val="15890403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86F4B-7C44-682C-2BEB-2146AD1DDD59}"/>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91A76891-4850-57B5-A8C7-6A3B0A6E72FC}"/>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307FA556-7E61-99AB-90A5-006D05756A59}"/>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D84AD0FE-1AB9-846C-62F2-C862ACF11A48}"/>
              </a:ext>
            </a:extLst>
          </p:cNvPr>
          <p:cNvSpPr>
            <a:spLocks noGrp="1"/>
          </p:cNvSpPr>
          <p:nvPr/>
        </p:nvSpPr>
        <p:spPr>
          <a:xfrm>
            <a:off x="495300" y="257175"/>
            <a:ext cx="7524750" cy="514350"/>
          </a:xfrm>
          <a:prstGeom prst="rect">
            <a:avLst/>
          </a:prstGeom>
          <a:noFill/>
          <a:ln w="0">
            <a:noFill/>
          </a:ln>
        </p:spPr>
        <p:txBody>
          <a:bodyPr anchor="ctr">
            <a:normAutofit/>
          </a:bodyPr>
          <a:lstStyle/>
          <a:p>
            <a:pPr algn="l">
              <a:buNone/>
              <a:defRPr sz="2400" b="1">
                <a:solidFill>
                  <a:srgbClr val="17365D"/>
                </a:solidFill>
                <a:latin typeface="Calibri"/>
                <a:ea typeface="Calibri"/>
                <a:cs typeface="Calibri"/>
              </a:defRPr>
            </a:pPr>
            <a:r>
              <a:rPr sz="2400" b="1">
                <a:solidFill>
                  <a:srgbClr val="17365D"/>
                </a:solidFill>
                <a:latin typeface="Calibri"/>
                <a:ea typeface="Calibri"/>
                <a:cs typeface="Calibri"/>
              </a:rPr>
              <a:t>Hierarchical task planner</a:t>
            </a:r>
          </a:p>
        </p:txBody>
      </p:sp>
      <p:sp>
        <p:nvSpPr>
          <p:cNvPr id="4" name="Rectangle 3">
            <a:extLst>
              <a:ext uri="{FF2B5EF4-FFF2-40B4-BE49-F238E27FC236}">
                <a16:creationId xmlns:a16="http://schemas.microsoft.com/office/drawing/2014/main" id="{8D3F9936-8AAC-020B-DDDA-9418BA3D0933}"/>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385BB3AC-9922-FE72-AFD1-5080B7AA3F0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81</a:t>
            </a:fld>
            <a:endParaRPr sz="750" b="0">
              <a:solidFill>
                <a:srgbClr val="5B6573"/>
              </a:solidFill>
              <a:latin typeface="Calibri"/>
              <a:ea typeface="Calibri"/>
              <a:cs typeface="Calibri"/>
            </a:endParaRPr>
          </a:p>
        </p:txBody>
      </p:sp>
      <p:sp>
        <p:nvSpPr>
          <p:cNvPr id="80" name="decomposition: Design specification">
            <a:extLst>
              <a:ext uri="{FF2B5EF4-FFF2-40B4-BE49-F238E27FC236}">
                <a16:creationId xmlns:a16="http://schemas.microsoft.com/office/drawing/2014/main" id="{5EC0710B-5E80-164A-1E2E-C0F716B5DA70}"/>
              </a:ext>
            </a:extLst>
          </p:cNvPr>
          <p:cNvSpPr>
            <a:spLocks noGrp="1"/>
          </p:cNvSpPr>
          <p:nvPr/>
        </p:nvSpPr>
        <p:spPr>
          <a:xfrm>
            <a:off x="3476625" y="1019175"/>
            <a:ext cx="2190750" cy="561975"/>
          </a:xfrm>
          <a:prstGeom prst="roundRect">
            <a:avLst>
              <a:gd name="adj" fmla="val 16949"/>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Design specification</a:t>
            </a:r>
          </a:p>
        </p:txBody>
      </p:sp>
      <p:sp>
        <p:nvSpPr>
          <p:cNvPr id="81" name="decomposition arrow">
            <a:extLst>
              <a:ext uri="{FF2B5EF4-FFF2-40B4-BE49-F238E27FC236}">
                <a16:creationId xmlns:a16="http://schemas.microsoft.com/office/drawing/2014/main" id="{F117C6F9-F45A-2A3D-FA64-552AA0C34DAD}"/>
              </a:ext>
            </a:extLst>
          </p:cNvPr>
          <p:cNvSpPr>
            <a:spLocks noGrp="1"/>
          </p:cNvSpPr>
          <p:nvPr/>
        </p:nvSpPr>
        <p:spPr>
          <a:xfrm>
            <a:off x="4495800" y="1647825"/>
            <a:ext cx="152400" cy="352425"/>
          </a:xfrm>
          <a:prstGeom prst="downArrow">
            <a:avLst/>
          </a:prstGeom>
          <a:solidFill>
            <a:srgbClr val="4F81BD"/>
          </a:solidFill>
          <a:ln w="0">
            <a:noFill/>
          </a:ln>
        </p:spPr>
        <p:txBody>
          <a:bodyPr/>
          <a:lstStyle/>
          <a:p>
            <a:endParaRPr lang="en-GR"/>
          </a:p>
        </p:txBody>
      </p:sp>
      <p:sp>
        <p:nvSpPr>
          <p:cNvPr id="82" name="decomposition: Planner: dependencies + task contrac">
            <a:extLst>
              <a:ext uri="{FF2B5EF4-FFF2-40B4-BE49-F238E27FC236}">
                <a16:creationId xmlns:a16="http://schemas.microsoft.com/office/drawing/2014/main" id="{77272699-7C74-9A34-03F9-EA2A34F3B111}"/>
              </a:ext>
            </a:extLst>
          </p:cNvPr>
          <p:cNvSpPr>
            <a:spLocks noGrp="1"/>
          </p:cNvSpPr>
          <p:nvPr/>
        </p:nvSpPr>
        <p:spPr>
          <a:xfrm>
            <a:off x="2876550" y="2124075"/>
            <a:ext cx="3390900" cy="685800"/>
          </a:xfrm>
          <a:prstGeom prst="roundRect">
            <a:avLst>
              <a:gd name="adj" fmla="val 13889"/>
            </a:avLst>
          </a:prstGeom>
          <a:solidFill>
            <a:srgbClr val="0E2A49"/>
          </a:solidFill>
          <a:ln w="14288">
            <a:solidFill>
              <a:srgbClr val="0E2A49"/>
            </a:solidFill>
            <a:prstDash val="solid"/>
          </a:ln>
        </p:spPr>
        <p:txBody>
          <a:bodyPr lIns="76200" tIns="38100" rIns="76200" bIns="38100" anchor="ctr">
            <a:normAutofit/>
          </a:body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Planner: dependencies + task contracts</a:t>
            </a:r>
          </a:p>
        </p:txBody>
      </p:sp>
      <p:sp>
        <p:nvSpPr>
          <p:cNvPr id="83" name="decomposition connector">
            <a:extLst>
              <a:ext uri="{FF2B5EF4-FFF2-40B4-BE49-F238E27FC236}">
                <a16:creationId xmlns:a16="http://schemas.microsoft.com/office/drawing/2014/main" id="{A9D21345-8494-73A6-0B8D-245F5D1EFAA3}"/>
              </a:ext>
            </a:extLst>
          </p:cNvPr>
          <p:cNvSpPr>
            <a:spLocks noGrp="1"/>
          </p:cNvSpPr>
          <p:nvPr/>
        </p:nvSpPr>
        <p:spPr>
          <a:xfrm>
            <a:off x="4572000" y="2809875"/>
            <a:ext cx="0" cy="466725"/>
          </a:xfrm>
          <a:prstGeom prst="line">
            <a:avLst/>
          </a:prstGeom>
          <a:noFill/>
          <a:ln w="28575">
            <a:solidFill>
              <a:srgbClr val="4F81BD"/>
            </a:solidFill>
            <a:prstDash val="solid"/>
          </a:ln>
        </p:spPr>
        <p:txBody>
          <a:bodyPr/>
          <a:lstStyle/>
          <a:p>
            <a:endParaRPr lang="en-GR"/>
          </a:p>
        </p:txBody>
      </p:sp>
      <p:sp>
        <p:nvSpPr>
          <p:cNvPr id="84" name="decomposition connector">
            <a:extLst>
              <a:ext uri="{FF2B5EF4-FFF2-40B4-BE49-F238E27FC236}">
                <a16:creationId xmlns:a16="http://schemas.microsoft.com/office/drawing/2014/main" id="{6A588066-8CFD-F0D3-30DD-8EB85BDB72D8}"/>
              </a:ext>
            </a:extLst>
          </p:cNvPr>
          <p:cNvSpPr>
            <a:spLocks noGrp="1"/>
          </p:cNvSpPr>
          <p:nvPr/>
        </p:nvSpPr>
        <p:spPr>
          <a:xfrm>
            <a:off x="1524000" y="3267075"/>
            <a:ext cx="6096000" cy="0"/>
          </a:xfrm>
          <a:prstGeom prst="line">
            <a:avLst/>
          </a:prstGeom>
          <a:noFill/>
          <a:ln w="28575">
            <a:solidFill>
              <a:srgbClr val="4F81BD"/>
            </a:solidFill>
            <a:prstDash val="solid"/>
          </a:ln>
        </p:spPr>
        <p:txBody>
          <a:bodyPr/>
          <a:lstStyle/>
          <a:p>
            <a:endParaRPr lang="en-GR"/>
          </a:p>
        </p:txBody>
      </p:sp>
      <p:sp>
        <p:nvSpPr>
          <p:cNvPr id="85" name="decomposition connector">
            <a:extLst>
              <a:ext uri="{FF2B5EF4-FFF2-40B4-BE49-F238E27FC236}">
                <a16:creationId xmlns:a16="http://schemas.microsoft.com/office/drawing/2014/main" id="{E6D1ECA4-FA33-0320-32E6-5EDEF26B2F45}"/>
              </a:ext>
            </a:extLst>
          </p:cNvPr>
          <p:cNvSpPr>
            <a:spLocks noGrp="1"/>
          </p:cNvSpPr>
          <p:nvPr/>
        </p:nvSpPr>
        <p:spPr>
          <a:xfrm>
            <a:off x="1400175" y="3267075"/>
            <a:ext cx="0" cy="276225"/>
          </a:xfrm>
          <a:prstGeom prst="line">
            <a:avLst/>
          </a:prstGeom>
          <a:noFill/>
          <a:ln w="23813">
            <a:solidFill>
              <a:srgbClr val="4F81BD"/>
            </a:solidFill>
            <a:prstDash val="solid"/>
          </a:ln>
        </p:spPr>
        <p:txBody>
          <a:bodyPr/>
          <a:lstStyle/>
          <a:p>
            <a:endParaRPr lang="en-GR"/>
          </a:p>
        </p:txBody>
      </p:sp>
      <p:sp>
        <p:nvSpPr>
          <p:cNvPr id="86" name="decomposition: 01  RTL agent">
            <a:extLst>
              <a:ext uri="{FF2B5EF4-FFF2-40B4-BE49-F238E27FC236}">
                <a16:creationId xmlns:a16="http://schemas.microsoft.com/office/drawing/2014/main" id="{E7997808-0EA4-D5B4-422D-F35D910A35C4}"/>
              </a:ext>
            </a:extLst>
          </p:cNvPr>
          <p:cNvSpPr>
            <a:spLocks noGrp="1"/>
          </p:cNvSpPr>
          <p:nvPr/>
        </p:nvSpPr>
        <p:spPr>
          <a:xfrm>
            <a:off x="5524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87" name="decomposition: Module behavior&#10;ports + latency">
            <a:extLst>
              <a:ext uri="{FF2B5EF4-FFF2-40B4-BE49-F238E27FC236}">
                <a16:creationId xmlns:a16="http://schemas.microsoft.com/office/drawing/2014/main" id="{E39C87F1-1AD2-CBF5-17C2-2EEAC406E888}"/>
              </a:ext>
            </a:extLst>
          </p:cNvPr>
          <p:cNvSpPr>
            <a:spLocks noGrp="1"/>
          </p:cNvSpPr>
          <p:nvPr/>
        </p:nvSpPr>
        <p:spPr>
          <a:xfrm>
            <a:off x="6191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Module behavior</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ports + latency</a:t>
            </a:r>
          </a:p>
        </p:txBody>
      </p:sp>
      <p:sp>
        <p:nvSpPr>
          <p:cNvPr id="88" name="decomposition connector">
            <a:extLst>
              <a:ext uri="{FF2B5EF4-FFF2-40B4-BE49-F238E27FC236}">
                <a16:creationId xmlns:a16="http://schemas.microsoft.com/office/drawing/2014/main" id="{94ED9E56-6E2F-95A8-A1AD-B4C13CF819AC}"/>
              </a:ext>
            </a:extLst>
          </p:cNvPr>
          <p:cNvSpPr>
            <a:spLocks noGrp="1"/>
          </p:cNvSpPr>
          <p:nvPr/>
        </p:nvSpPr>
        <p:spPr>
          <a:xfrm>
            <a:off x="3514725" y="3267075"/>
            <a:ext cx="0" cy="276225"/>
          </a:xfrm>
          <a:prstGeom prst="line">
            <a:avLst/>
          </a:prstGeom>
          <a:noFill/>
          <a:ln w="23813">
            <a:solidFill>
              <a:srgbClr val="4F81BD"/>
            </a:solidFill>
            <a:prstDash val="solid"/>
          </a:ln>
        </p:spPr>
        <p:txBody>
          <a:bodyPr/>
          <a:lstStyle/>
          <a:p>
            <a:endParaRPr lang="en-GR"/>
          </a:p>
        </p:txBody>
      </p:sp>
      <p:sp>
        <p:nvSpPr>
          <p:cNvPr id="89" name="decomposition: 02  TB agent">
            <a:extLst>
              <a:ext uri="{FF2B5EF4-FFF2-40B4-BE49-F238E27FC236}">
                <a16:creationId xmlns:a16="http://schemas.microsoft.com/office/drawing/2014/main" id="{B70D75C1-5786-AD57-3277-144AB26D5E0C}"/>
              </a:ext>
            </a:extLst>
          </p:cNvPr>
          <p:cNvSpPr>
            <a:spLocks noGrp="1"/>
          </p:cNvSpPr>
          <p:nvPr/>
        </p:nvSpPr>
        <p:spPr>
          <a:xfrm>
            <a:off x="26670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90" name="decomposition: Needs RTL ports&#10;Tests + assertions">
            <a:extLst>
              <a:ext uri="{FF2B5EF4-FFF2-40B4-BE49-F238E27FC236}">
                <a16:creationId xmlns:a16="http://schemas.microsoft.com/office/drawing/2014/main" id="{CCC251C3-34E6-FAE5-F2D5-1C59D947AD2C}"/>
              </a:ext>
            </a:extLst>
          </p:cNvPr>
          <p:cNvSpPr>
            <a:spLocks noGrp="1"/>
          </p:cNvSpPr>
          <p:nvPr/>
        </p:nvSpPr>
        <p:spPr>
          <a:xfrm>
            <a:off x="27336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ports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Tests + assertions</a:t>
            </a:r>
          </a:p>
        </p:txBody>
      </p:sp>
      <p:sp>
        <p:nvSpPr>
          <p:cNvPr id="91" name="decomposition connector">
            <a:extLst>
              <a:ext uri="{FF2B5EF4-FFF2-40B4-BE49-F238E27FC236}">
                <a16:creationId xmlns:a16="http://schemas.microsoft.com/office/drawing/2014/main" id="{928D597A-8221-B862-D6B5-36238FACE31A}"/>
              </a:ext>
            </a:extLst>
          </p:cNvPr>
          <p:cNvSpPr>
            <a:spLocks noGrp="1"/>
          </p:cNvSpPr>
          <p:nvPr/>
        </p:nvSpPr>
        <p:spPr>
          <a:xfrm>
            <a:off x="5629275" y="3267075"/>
            <a:ext cx="0" cy="276225"/>
          </a:xfrm>
          <a:prstGeom prst="line">
            <a:avLst/>
          </a:prstGeom>
          <a:noFill/>
          <a:ln w="23813">
            <a:solidFill>
              <a:srgbClr val="4F81BD"/>
            </a:solidFill>
            <a:prstDash val="solid"/>
          </a:ln>
        </p:spPr>
        <p:txBody>
          <a:bodyPr/>
          <a:lstStyle/>
          <a:p>
            <a:endParaRPr lang="en-GR"/>
          </a:p>
        </p:txBody>
      </p:sp>
      <p:sp>
        <p:nvSpPr>
          <p:cNvPr id="92" name="decomposition: 03  SDC agent">
            <a:extLst>
              <a:ext uri="{FF2B5EF4-FFF2-40B4-BE49-F238E27FC236}">
                <a16:creationId xmlns:a16="http://schemas.microsoft.com/office/drawing/2014/main" id="{FB8D2B4F-3F43-419C-9989-5F4AD36EAB44}"/>
              </a:ext>
            </a:extLst>
          </p:cNvPr>
          <p:cNvSpPr>
            <a:spLocks noGrp="1"/>
          </p:cNvSpPr>
          <p:nvPr/>
        </p:nvSpPr>
        <p:spPr>
          <a:xfrm>
            <a:off x="47815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93" name="decomposition: Clocks&#10;I/O constraints">
            <a:extLst>
              <a:ext uri="{FF2B5EF4-FFF2-40B4-BE49-F238E27FC236}">
                <a16:creationId xmlns:a16="http://schemas.microsoft.com/office/drawing/2014/main" id="{537E6654-9192-DBC5-B40D-CE37BBB1EE40}"/>
              </a:ext>
            </a:extLst>
          </p:cNvPr>
          <p:cNvSpPr>
            <a:spLocks noGrp="1"/>
          </p:cNvSpPr>
          <p:nvPr/>
        </p:nvSpPr>
        <p:spPr>
          <a:xfrm>
            <a:off x="48482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Clocks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I/O constraints</a:t>
            </a:r>
          </a:p>
        </p:txBody>
      </p:sp>
      <p:sp>
        <p:nvSpPr>
          <p:cNvPr id="94" name="decomposition connector">
            <a:extLst>
              <a:ext uri="{FF2B5EF4-FFF2-40B4-BE49-F238E27FC236}">
                <a16:creationId xmlns:a16="http://schemas.microsoft.com/office/drawing/2014/main" id="{5E9C0F35-76ED-CC92-BF8B-4771851A60D8}"/>
              </a:ext>
            </a:extLst>
          </p:cNvPr>
          <p:cNvSpPr>
            <a:spLocks noGrp="1"/>
          </p:cNvSpPr>
          <p:nvPr/>
        </p:nvSpPr>
        <p:spPr>
          <a:xfrm>
            <a:off x="7743825" y="3267075"/>
            <a:ext cx="0" cy="276225"/>
          </a:xfrm>
          <a:prstGeom prst="line">
            <a:avLst/>
          </a:prstGeom>
          <a:noFill/>
          <a:ln w="23813">
            <a:solidFill>
              <a:srgbClr val="4F81BD"/>
            </a:solidFill>
            <a:prstDash val="solid"/>
          </a:ln>
        </p:spPr>
        <p:txBody>
          <a:bodyPr/>
          <a:lstStyle/>
          <a:p>
            <a:endParaRPr lang="en-GR"/>
          </a:p>
        </p:txBody>
      </p:sp>
      <p:sp>
        <p:nvSpPr>
          <p:cNvPr id="95" name="decomposition: 04  PnR agent">
            <a:extLst>
              <a:ext uri="{FF2B5EF4-FFF2-40B4-BE49-F238E27FC236}">
                <a16:creationId xmlns:a16="http://schemas.microsoft.com/office/drawing/2014/main" id="{185A98B3-9F01-A54C-CB1C-B714CD8D297D}"/>
              </a:ext>
            </a:extLst>
          </p:cNvPr>
          <p:cNvSpPr>
            <a:spLocks noGrp="1"/>
          </p:cNvSpPr>
          <p:nvPr/>
        </p:nvSpPr>
        <p:spPr>
          <a:xfrm>
            <a:off x="68961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6" name="decomposition: Needs RTL + SDC&#10;Floorplan settings">
            <a:extLst>
              <a:ext uri="{FF2B5EF4-FFF2-40B4-BE49-F238E27FC236}">
                <a16:creationId xmlns:a16="http://schemas.microsoft.com/office/drawing/2014/main" id="{01AAB2E1-E8C3-DD7A-3EAE-664FF125E264}"/>
              </a:ext>
            </a:extLst>
          </p:cNvPr>
          <p:cNvSpPr>
            <a:spLocks noGrp="1"/>
          </p:cNvSpPr>
          <p:nvPr/>
        </p:nvSpPr>
        <p:spPr>
          <a:xfrm>
            <a:off x="69627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 SDC</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Floorplan settings</a:t>
            </a:r>
          </a:p>
        </p:txBody>
      </p:sp>
      <p:sp>
        <p:nvSpPr>
          <p:cNvPr id="97" name="decomposition connector">
            <a:extLst>
              <a:ext uri="{FF2B5EF4-FFF2-40B4-BE49-F238E27FC236}">
                <a16:creationId xmlns:a16="http://schemas.microsoft.com/office/drawing/2014/main" id="{FDF5DDBA-492C-0CC8-E9D2-99A58BD06AC3}"/>
              </a:ext>
            </a:extLst>
          </p:cNvPr>
          <p:cNvSpPr>
            <a:spLocks noGrp="1"/>
          </p:cNvSpPr>
          <p:nvPr/>
        </p:nvSpPr>
        <p:spPr>
          <a:xfrm>
            <a:off x="1524000" y="4953000"/>
            <a:ext cx="6096000" cy="0"/>
          </a:xfrm>
          <a:prstGeom prst="line">
            <a:avLst/>
          </a:prstGeom>
          <a:noFill/>
          <a:ln w="23813">
            <a:solidFill>
              <a:srgbClr val="C82132"/>
            </a:solidFill>
            <a:prstDash val="solid"/>
          </a:ln>
        </p:spPr>
        <p:txBody>
          <a:bodyPr/>
          <a:lstStyle/>
          <a:p>
            <a:endParaRPr lang="en-GR"/>
          </a:p>
        </p:txBody>
      </p:sp>
      <p:sp>
        <p:nvSpPr>
          <p:cNvPr id="98" name="decomposition connector">
            <a:extLst>
              <a:ext uri="{FF2B5EF4-FFF2-40B4-BE49-F238E27FC236}">
                <a16:creationId xmlns:a16="http://schemas.microsoft.com/office/drawing/2014/main" id="{9FECAB5E-E12F-DE7C-9056-236EA8CC5146}"/>
              </a:ext>
            </a:extLst>
          </p:cNvPr>
          <p:cNvSpPr>
            <a:spLocks noGrp="1"/>
          </p:cNvSpPr>
          <p:nvPr/>
        </p:nvSpPr>
        <p:spPr>
          <a:xfrm>
            <a:off x="1400175" y="4752975"/>
            <a:ext cx="0" cy="200025"/>
          </a:xfrm>
          <a:prstGeom prst="line">
            <a:avLst/>
          </a:prstGeom>
          <a:noFill/>
          <a:ln w="19050">
            <a:solidFill>
              <a:srgbClr val="C82132"/>
            </a:solidFill>
            <a:prstDash val="solid"/>
          </a:ln>
        </p:spPr>
        <p:txBody>
          <a:bodyPr/>
          <a:lstStyle/>
          <a:p>
            <a:endParaRPr lang="en-GR"/>
          </a:p>
        </p:txBody>
      </p:sp>
      <p:sp>
        <p:nvSpPr>
          <p:cNvPr id="99" name="decomposition connector">
            <a:extLst>
              <a:ext uri="{FF2B5EF4-FFF2-40B4-BE49-F238E27FC236}">
                <a16:creationId xmlns:a16="http://schemas.microsoft.com/office/drawing/2014/main" id="{FAB1712D-D54A-DE31-DF58-03C0AC790D8E}"/>
              </a:ext>
            </a:extLst>
          </p:cNvPr>
          <p:cNvSpPr>
            <a:spLocks noGrp="1"/>
          </p:cNvSpPr>
          <p:nvPr/>
        </p:nvSpPr>
        <p:spPr>
          <a:xfrm>
            <a:off x="3514725" y="4752975"/>
            <a:ext cx="0" cy="200025"/>
          </a:xfrm>
          <a:prstGeom prst="line">
            <a:avLst/>
          </a:prstGeom>
          <a:noFill/>
          <a:ln w="19050">
            <a:solidFill>
              <a:srgbClr val="C82132"/>
            </a:solidFill>
            <a:prstDash val="solid"/>
          </a:ln>
        </p:spPr>
        <p:txBody>
          <a:bodyPr/>
          <a:lstStyle/>
          <a:p>
            <a:endParaRPr lang="en-GR"/>
          </a:p>
        </p:txBody>
      </p:sp>
      <p:sp>
        <p:nvSpPr>
          <p:cNvPr id="100" name="decomposition connector">
            <a:extLst>
              <a:ext uri="{FF2B5EF4-FFF2-40B4-BE49-F238E27FC236}">
                <a16:creationId xmlns:a16="http://schemas.microsoft.com/office/drawing/2014/main" id="{A510B832-8D27-3394-69D3-E5673096E6D1}"/>
              </a:ext>
            </a:extLst>
          </p:cNvPr>
          <p:cNvSpPr>
            <a:spLocks noGrp="1"/>
          </p:cNvSpPr>
          <p:nvPr/>
        </p:nvSpPr>
        <p:spPr>
          <a:xfrm>
            <a:off x="5629275" y="4752975"/>
            <a:ext cx="0" cy="200025"/>
          </a:xfrm>
          <a:prstGeom prst="line">
            <a:avLst/>
          </a:prstGeom>
          <a:noFill/>
          <a:ln w="19050">
            <a:solidFill>
              <a:srgbClr val="C82132"/>
            </a:solidFill>
            <a:prstDash val="solid"/>
          </a:ln>
        </p:spPr>
        <p:txBody>
          <a:bodyPr/>
          <a:lstStyle/>
          <a:p>
            <a:endParaRPr lang="en-GR"/>
          </a:p>
        </p:txBody>
      </p:sp>
      <p:sp>
        <p:nvSpPr>
          <p:cNvPr id="101" name="decomposition connector">
            <a:extLst>
              <a:ext uri="{FF2B5EF4-FFF2-40B4-BE49-F238E27FC236}">
                <a16:creationId xmlns:a16="http://schemas.microsoft.com/office/drawing/2014/main" id="{65976A49-8981-5FBF-8DFB-E1F3C8F76D53}"/>
              </a:ext>
            </a:extLst>
          </p:cNvPr>
          <p:cNvSpPr>
            <a:spLocks noGrp="1"/>
          </p:cNvSpPr>
          <p:nvPr/>
        </p:nvSpPr>
        <p:spPr>
          <a:xfrm>
            <a:off x="7743825" y="4752975"/>
            <a:ext cx="0" cy="200025"/>
          </a:xfrm>
          <a:prstGeom prst="line">
            <a:avLst/>
          </a:prstGeom>
          <a:noFill/>
          <a:ln w="19050">
            <a:solidFill>
              <a:srgbClr val="C82132"/>
            </a:solidFill>
            <a:prstDash val="solid"/>
          </a:ln>
        </p:spPr>
        <p:txBody>
          <a:bodyPr/>
          <a:lstStyle/>
          <a:p>
            <a:endParaRPr lang="en-GR"/>
          </a:p>
        </p:txBody>
      </p:sp>
      <p:sp>
        <p:nvSpPr>
          <p:cNvPr id="102" name="decomposition arrow">
            <a:extLst>
              <a:ext uri="{FF2B5EF4-FFF2-40B4-BE49-F238E27FC236}">
                <a16:creationId xmlns:a16="http://schemas.microsoft.com/office/drawing/2014/main" id="{0B1A000B-15BA-A05F-29A8-4517CDE100D0}"/>
              </a:ext>
            </a:extLst>
          </p:cNvPr>
          <p:cNvSpPr>
            <a:spLocks noGrp="1"/>
          </p:cNvSpPr>
          <p:nvPr/>
        </p:nvSpPr>
        <p:spPr>
          <a:xfrm>
            <a:off x="4495800" y="5000625"/>
            <a:ext cx="152400" cy="352425"/>
          </a:xfrm>
          <a:prstGeom prst="downArrow">
            <a:avLst/>
          </a:prstGeom>
          <a:solidFill>
            <a:srgbClr val="C82132"/>
          </a:solidFill>
          <a:ln w="0">
            <a:noFill/>
          </a:ln>
        </p:spPr>
        <p:txBody>
          <a:bodyPr/>
          <a:lstStyle/>
          <a:p>
            <a:endParaRPr lang="en-GR"/>
          </a:p>
        </p:txBody>
      </p:sp>
      <p:sp>
        <p:nvSpPr>
          <p:cNvPr id="103" name="decomposition: Validation gate: artifact + status +">
            <a:extLst>
              <a:ext uri="{FF2B5EF4-FFF2-40B4-BE49-F238E27FC236}">
                <a16:creationId xmlns:a16="http://schemas.microsoft.com/office/drawing/2014/main" id="{AF9F47C2-A93F-1B00-0F9A-D95C82253874}"/>
              </a:ext>
            </a:extLst>
          </p:cNvPr>
          <p:cNvSpPr>
            <a:spLocks noGrp="1"/>
          </p:cNvSpPr>
          <p:nvPr/>
        </p:nvSpPr>
        <p:spPr>
          <a:xfrm>
            <a:off x="2038350" y="5505450"/>
            <a:ext cx="5067300" cy="590550"/>
          </a:xfrm>
          <a:prstGeom prst="roundRect">
            <a:avLst>
              <a:gd name="adj" fmla="val 16129"/>
            </a:avLst>
          </a:prstGeom>
          <a:solidFill>
            <a:srgbClr val="F9EAEC"/>
          </a:solidFill>
          <a:ln w="14288">
            <a:solidFill>
              <a:srgbClr val="C82132"/>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Validation gate: artifact + status + tool evidence</a:t>
            </a:r>
          </a:p>
        </p:txBody>
      </p:sp>
      <p:sp>
        <p:nvSpPr>
          <p:cNvPr id="104" name="decomposition: Promote validated outputs to the nex">
            <a:extLst>
              <a:ext uri="{FF2B5EF4-FFF2-40B4-BE49-F238E27FC236}">
                <a16:creationId xmlns:a16="http://schemas.microsoft.com/office/drawing/2014/main" id="{3E5CDA04-8891-9A4E-7442-A83C865F529F}"/>
              </a:ext>
            </a:extLst>
          </p:cNvPr>
          <p:cNvSpPr>
            <a:spLocks noGrp="1"/>
          </p:cNvSpPr>
          <p:nvPr/>
        </p:nvSpPr>
        <p:spPr>
          <a:xfrm>
            <a:off x="1885950" y="6153150"/>
            <a:ext cx="5372100" cy="333375"/>
          </a:xfrm>
          <a:prstGeom prst="rect">
            <a:avLst/>
          </a:prstGeom>
          <a:noFill/>
          <a:ln w="0">
            <a:noFill/>
          </a:ln>
        </p:spPr>
        <p:txBody>
          <a:bodyPr lIns="28575" tIns="19050" rIns="28575" bIns="19050" anchor="ctr">
            <a:normAutofit/>
          </a:bodyPr>
          <a:lstStyle/>
          <a:p>
            <a:pPr algn="ctr">
              <a:defRPr sz="1275" b="0">
                <a:solidFill>
                  <a:srgbClr val="5D6C7B"/>
                </a:solidFill>
                <a:latin typeface="Calibri"/>
                <a:ea typeface="Calibri"/>
                <a:cs typeface="Calibri"/>
              </a:defRPr>
            </a:pPr>
            <a:r>
              <a:rPr sz="1275" b="0">
                <a:solidFill>
                  <a:srgbClr val="5D6C7B"/>
                </a:solidFill>
                <a:latin typeface="Calibri"/>
                <a:ea typeface="Calibri"/>
                <a:cs typeface="Calibri"/>
              </a:rPr>
              <a:t>Promote validated outputs to the next EDA stage</a:t>
            </a:r>
          </a:p>
        </p:txBody>
      </p:sp>
    </p:spTree>
    <p:extLst>
      <p:ext uri="{BB962C8B-B14F-4D97-AF65-F5344CB8AC3E}">
        <p14:creationId xmlns:p14="http://schemas.microsoft.com/office/powerpoint/2010/main" val="157787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18E06-CD54-62B2-F55A-B58F3A57A2DA}"/>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E343222-8ECC-6CE9-5A35-A17FBCE1A58B}"/>
              </a:ext>
            </a:extLst>
          </p:cNvPr>
          <p:cNvSpPr>
            <a:spLocks noGrp="1"/>
          </p:cNvSpPr>
          <p:nvPr/>
        </p:nvSpPr>
        <p:spPr>
          <a:xfrm>
            <a:off x="0" y="0"/>
            <a:ext cx="9144000" cy="76200"/>
          </a:xfrm>
          <a:prstGeom prst="rect">
            <a:avLst/>
          </a:prstGeom>
          <a:solidFill>
            <a:srgbClr val="0E2745"/>
          </a:solidFill>
          <a:ln w="0">
            <a:noFill/>
          </a:ln>
        </p:spPr>
        <p:txBody>
          <a:bodyPr/>
          <a:lstStyle/>
          <a:p>
            <a:endParaRPr/>
          </a:p>
        </p:txBody>
      </p:sp>
      <p:sp>
        <p:nvSpPr>
          <p:cNvPr id="2" name="Rectangle 1">
            <a:extLst>
              <a:ext uri="{FF2B5EF4-FFF2-40B4-BE49-F238E27FC236}">
                <a16:creationId xmlns:a16="http://schemas.microsoft.com/office/drawing/2014/main" id="{855A2C94-1FFF-5E6B-26D7-CB6ECA3FC3A9}"/>
              </a:ext>
            </a:extLst>
          </p:cNvPr>
          <p:cNvSpPr>
            <a:spLocks noGrp="1"/>
          </p:cNvSpPr>
          <p:nvPr/>
        </p:nvSpPr>
        <p:spPr>
          <a:xfrm>
            <a:off x="0" y="6724650"/>
            <a:ext cx="9144000" cy="133350"/>
          </a:xfrm>
          <a:prstGeom prst="rect">
            <a:avLst/>
          </a:prstGeom>
          <a:solidFill>
            <a:srgbClr val="B91F2D"/>
          </a:solidFill>
          <a:ln w="0">
            <a:noFill/>
          </a:ln>
        </p:spPr>
        <p:txBody>
          <a:bodyPr/>
          <a:lstStyle/>
          <a:p>
            <a:endParaRPr/>
          </a:p>
        </p:txBody>
      </p:sp>
      <p:sp>
        <p:nvSpPr>
          <p:cNvPr id="3" name="Rectangle 2">
            <a:extLst>
              <a:ext uri="{FF2B5EF4-FFF2-40B4-BE49-F238E27FC236}">
                <a16:creationId xmlns:a16="http://schemas.microsoft.com/office/drawing/2014/main" id="{495881D1-9430-B1C3-714D-0F932D6B532F}"/>
              </a:ext>
            </a:extLst>
          </p:cNvPr>
          <p:cNvSpPr>
            <a:spLocks noGrp="1"/>
          </p:cNvSpPr>
          <p:nvPr/>
        </p:nvSpPr>
        <p:spPr>
          <a:xfrm>
            <a:off x="495300" y="257175"/>
            <a:ext cx="7524750" cy="514350"/>
          </a:xfrm>
          <a:prstGeom prst="rect">
            <a:avLst/>
          </a:prstGeom>
          <a:noFill/>
          <a:ln w="0">
            <a:noFill/>
          </a:ln>
        </p:spPr>
        <p:txBody>
          <a:bodyPr anchor="ctr">
            <a:normAutofit/>
          </a:bodyPr>
          <a:lstStyle/>
          <a:p>
            <a:pPr algn="l">
              <a:buNone/>
              <a:defRPr sz="2400" b="1">
                <a:solidFill>
                  <a:srgbClr val="17365D"/>
                </a:solidFill>
                <a:latin typeface="Calibri"/>
                <a:ea typeface="Calibri"/>
                <a:cs typeface="Calibri"/>
              </a:defRPr>
            </a:pPr>
            <a:r>
              <a:rPr sz="2400" b="1">
                <a:solidFill>
                  <a:srgbClr val="17365D"/>
                </a:solidFill>
                <a:latin typeface="Calibri"/>
                <a:ea typeface="Calibri"/>
                <a:cs typeface="Calibri"/>
              </a:rPr>
              <a:t>Hierarchical task planner</a:t>
            </a:r>
          </a:p>
        </p:txBody>
      </p:sp>
      <p:sp>
        <p:nvSpPr>
          <p:cNvPr id="4" name="Rectangle 3">
            <a:extLst>
              <a:ext uri="{FF2B5EF4-FFF2-40B4-BE49-F238E27FC236}">
                <a16:creationId xmlns:a16="http://schemas.microsoft.com/office/drawing/2014/main" id="{E2637CBF-636F-3D58-59B9-7E83C985B4A9}"/>
              </a:ext>
            </a:extLst>
          </p:cNvPr>
          <p:cNvSpPr>
            <a:spLocks noGrp="1"/>
          </p:cNvSpPr>
          <p:nvPr/>
        </p:nvSpPr>
        <p:spPr>
          <a:xfrm>
            <a:off x="7964424" y="295275"/>
            <a:ext cx="777240" cy="323850"/>
          </a:xfrm>
          <a:prstGeom prst="rect">
            <a:avLst/>
          </a:prstGeom>
          <a:noFill/>
          <a:ln w="0">
            <a:noFill/>
          </a:ln>
        </p:spPr>
        <p:txBody>
          <a:bodyPr anchor="ctr">
            <a:normAutofit/>
          </a:bodyPr>
          <a:lstStyle/>
          <a:p>
            <a:pPr algn="ctr">
              <a:buNone/>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6439082D-EE4B-9F27-7E8E-7A8958DE8DB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buNone/>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82</a:t>
            </a:fld>
            <a:endParaRPr sz="750" b="0">
              <a:solidFill>
                <a:srgbClr val="5B6573"/>
              </a:solidFill>
              <a:latin typeface="Calibri"/>
              <a:ea typeface="Calibri"/>
              <a:cs typeface="Calibri"/>
            </a:endParaRPr>
          </a:p>
        </p:txBody>
      </p:sp>
      <p:sp>
        <p:nvSpPr>
          <p:cNvPr id="80" name="decomposition: Design specification">
            <a:extLst>
              <a:ext uri="{FF2B5EF4-FFF2-40B4-BE49-F238E27FC236}">
                <a16:creationId xmlns:a16="http://schemas.microsoft.com/office/drawing/2014/main" id="{A204AF53-02C6-D2B0-501B-FF7024596221}"/>
              </a:ext>
            </a:extLst>
          </p:cNvPr>
          <p:cNvSpPr>
            <a:spLocks noGrp="1"/>
          </p:cNvSpPr>
          <p:nvPr/>
        </p:nvSpPr>
        <p:spPr>
          <a:xfrm>
            <a:off x="3476625" y="1019175"/>
            <a:ext cx="2190750" cy="561975"/>
          </a:xfrm>
          <a:prstGeom prst="roundRect">
            <a:avLst>
              <a:gd name="adj" fmla="val 16949"/>
            </a:avLst>
          </a:prstGeom>
          <a:solidFill>
            <a:srgbClr val="0E2A49"/>
          </a:solidFill>
          <a:ln w="14288">
            <a:solidFill>
              <a:srgbClr val="0E2A49"/>
            </a:solidFill>
            <a:prstDash val="solid"/>
          </a:ln>
        </p:spPr>
        <p:txBody>
          <a:bodyPr lIns="76200" tIns="38100" rIns="76200" bIns="38100" anchor="ctr">
            <a:norm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Design specification</a:t>
            </a:r>
          </a:p>
        </p:txBody>
      </p:sp>
      <p:sp>
        <p:nvSpPr>
          <p:cNvPr id="81" name="decomposition arrow">
            <a:extLst>
              <a:ext uri="{FF2B5EF4-FFF2-40B4-BE49-F238E27FC236}">
                <a16:creationId xmlns:a16="http://schemas.microsoft.com/office/drawing/2014/main" id="{0CA27D5C-7480-52EB-0862-1B8D16F65274}"/>
              </a:ext>
            </a:extLst>
          </p:cNvPr>
          <p:cNvSpPr>
            <a:spLocks noGrp="1"/>
          </p:cNvSpPr>
          <p:nvPr/>
        </p:nvSpPr>
        <p:spPr>
          <a:xfrm>
            <a:off x="4495800" y="1647825"/>
            <a:ext cx="152400" cy="352425"/>
          </a:xfrm>
          <a:prstGeom prst="downArrow">
            <a:avLst/>
          </a:prstGeom>
          <a:solidFill>
            <a:srgbClr val="4F81BD"/>
          </a:solidFill>
          <a:ln w="0">
            <a:noFill/>
          </a:ln>
        </p:spPr>
        <p:txBody>
          <a:bodyPr/>
          <a:lstStyle/>
          <a:p>
            <a:endParaRPr lang="en-GR"/>
          </a:p>
        </p:txBody>
      </p:sp>
      <p:sp>
        <p:nvSpPr>
          <p:cNvPr id="82" name="decomposition: Planner: dependencies + task contrac">
            <a:extLst>
              <a:ext uri="{FF2B5EF4-FFF2-40B4-BE49-F238E27FC236}">
                <a16:creationId xmlns:a16="http://schemas.microsoft.com/office/drawing/2014/main" id="{0192C22B-2A57-932F-8F79-5D93DC02316A}"/>
              </a:ext>
            </a:extLst>
          </p:cNvPr>
          <p:cNvSpPr>
            <a:spLocks noGrp="1"/>
          </p:cNvSpPr>
          <p:nvPr/>
        </p:nvSpPr>
        <p:spPr>
          <a:xfrm>
            <a:off x="2876550" y="2124075"/>
            <a:ext cx="3390900" cy="685800"/>
          </a:xfrm>
          <a:prstGeom prst="roundRect">
            <a:avLst>
              <a:gd name="adj" fmla="val 13889"/>
            </a:avLst>
          </a:prstGeom>
          <a:solidFill>
            <a:srgbClr val="0E2A49"/>
          </a:solidFill>
          <a:ln w="14288">
            <a:solidFill>
              <a:srgbClr val="0E2A49"/>
            </a:solidFill>
            <a:prstDash val="solid"/>
          </a:ln>
        </p:spPr>
        <p:txBody>
          <a:bodyPr lIns="76200" tIns="38100" rIns="76200" bIns="38100" anchor="ctr">
            <a:normAutofit/>
          </a:bodyPr>
          <a:lstStyle/>
          <a:p>
            <a:pPr algn="ctr">
              <a:defRPr sz="1425" b="1">
                <a:solidFill>
                  <a:srgbClr val="FFFFFF"/>
                </a:solidFill>
                <a:latin typeface="Calibri"/>
                <a:ea typeface="Calibri"/>
                <a:cs typeface="Calibri"/>
              </a:defRPr>
            </a:pPr>
            <a:r>
              <a:rPr sz="1425" b="1">
                <a:solidFill>
                  <a:srgbClr val="FFFFFF"/>
                </a:solidFill>
                <a:latin typeface="Calibri"/>
                <a:ea typeface="Calibri"/>
                <a:cs typeface="Calibri"/>
              </a:rPr>
              <a:t>Planner: dependencies + task contracts</a:t>
            </a:r>
          </a:p>
        </p:txBody>
      </p:sp>
      <p:sp>
        <p:nvSpPr>
          <p:cNvPr id="83" name="decomposition connector">
            <a:extLst>
              <a:ext uri="{FF2B5EF4-FFF2-40B4-BE49-F238E27FC236}">
                <a16:creationId xmlns:a16="http://schemas.microsoft.com/office/drawing/2014/main" id="{CBBF1AD9-2998-F4E6-8652-507ABDF58E4A}"/>
              </a:ext>
            </a:extLst>
          </p:cNvPr>
          <p:cNvSpPr>
            <a:spLocks noGrp="1"/>
          </p:cNvSpPr>
          <p:nvPr/>
        </p:nvSpPr>
        <p:spPr>
          <a:xfrm>
            <a:off x="4572000" y="2809875"/>
            <a:ext cx="0" cy="466725"/>
          </a:xfrm>
          <a:prstGeom prst="line">
            <a:avLst/>
          </a:prstGeom>
          <a:noFill/>
          <a:ln w="28575">
            <a:solidFill>
              <a:srgbClr val="4F81BD"/>
            </a:solidFill>
            <a:prstDash val="solid"/>
          </a:ln>
        </p:spPr>
        <p:txBody>
          <a:bodyPr/>
          <a:lstStyle/>
          <a:p>
            <a:endParaRPr lang="en-GR"/>
          </a:p>
        </p:txBody>
      </p:sp>
      <p:sp>
        <p:nvSpPr>
          <p:cNvPr id="84" name="decomposition connector">
            <a:extLst>
              <a:ext uri="{FF2B5EF4-FFF2-40B4-BE49-F238E27FC236}">
                <a16:creationId xmlns:a16="http://schemas.microsoft.com/office/drawing/2014/main" id="{DE3A9C14-EEFA-FD36-227B-0141AC85842E}"/>
              </a:ext>
            </a:extLst>
          </p:cNvPr>
          <p:cNvSpPr>
            <a:spLocks noGrp="1"/>
          </p:cNvSpPr>
          <p:nvPr/>
        </p:nvSpPr>
        <p:spPr>
          <a:xfrm>
            <a:off x="1524000" y="3267075"/>
            <a:ext cx="6096000" cy="0"/>
          </a:xfrm>
          <a:prstGeom prst="line">
            <a:avLst/>
          </a:prstGeom>
          <a:noFill/>
          <a:ln w="28575">
            <a:solidFill>
              <a:srgbClr val="4F81BD"/>
            </a:solidFill>
            <a:prstDash val="solid"/>
          </a:ln>
        </p:spPr>
        <p:txBody>
          <a:bodyPr/>
          <a:lstStyle/>
          <a:p>
            <a:endParaRPr lang="en-GR"/>
          </a:p>
        </p:txBody>
      </p:sp>
      <p:sp>
        <p:nvSpPr>
          <p:cNvPr id="85" name="decomposition connector">
            <a:extLst>
              <a:ext uri="{FF2B5EF4-FFF2-40B4-BE49-F238E27FC236}">
                <a16:creationId xmlns:a16="http://schemas.microsoft.com/office/drawing/2014/main" id="{E99EFBDE-9C84-1772-C948-E735A1CF42F1}"/>
              </a:ext>
            </a:extLst>
          </p:cNvPr>
          <p:cNvSpPr>
            <a:spLocks noGrp="1"/>
          </p:cNvSpPr>
          <p:nvPr/>
        </p:nvSpPr>
        <p:spPr>
          <a:xfrm>
            <a:off x="1400175" y="3267075"/>
            <a:ext cx="0" cy="276225"/>
          </a:xfrm>
          <a:prstGeom prst="line">
            <a:avLst/>
          </a:prstGeom>
          <a:noFill/>
          <a:ln w="23813">
            <a:solidFill>
              <a:srgbClr val="4F81BD"/>
            </a:solidFill>
            <a:prstDash val="solid"/>
          </a:ln>
        </p:spPr>
        <p:txBody>
          <a:bodyPr/>
          <a:lstStyle/>
          <a:p>
            <a:endParaRPr lang="en-GR"/>
          </a:p>
        </p:txBody>
      </p:sp>
      <p:sp>
        <p:nvSpPr>
          <p:cNvPr id="86" name="decomposition: 01  RTL agent">
            <a:extLst>
              <a:ext uri="{FF2B5EF4-FFF2-40B4-BE49-F238E27FC236}">
                <a16:creationId xmlns:a16="http://schemas.microsoft.com/office/drawing/2014/main" id="{8B7907DC-C6BD-CFBF-080B-9AB234D9A659}"/>
              </a:ext>
            </a:extLst>
          </p:cNvPr>
          <p:cNvSpPr>
            <a:spLocks noGrp="1"/>
          </p:cNvSpPr>
          <p:nvPr/>
        </p:nvSpPr>
        <p:spPr>
          <a:xfrm>
            <a:off x="5524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87" name="decomposition: Module behavior&#10;ports + latency">
            <a:extLst>
              <a:ext uri="{FF2B5EF4-FFF2-40B4-BE49-F238E27FC236}">
                <a16:creationId xmlns:a16="http://schemas.microsoft.com/office/drawing/2014/main" id="{6BFD6CC4-9D59-057E-0DD6-C8D6A96E7069}"/>
              </a:ext>
            </a:extLst>
          </p:cNvPr>
          <p:cNvSpPr>
            <a:spLocks noGrp="1"/>
          </p:cNvSpPr>
          <p:nvPr/>
        </p:nvSpPr>
        <p:spPr>
          <a:xfrm>
            <a:off x="6191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Module behavior</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ports + latency</a:t>
            </a:r>
          </a:p>
        </p:txBody>
      </p:sp>
      <p:sp>
        <p:nvSpPr>
          <p:cNvPr id="88" name="decomposition connector">
            <a:extLst>
              <a:ext uri="{FF2B5EF4-FFF2-40B4-BE49-F238E27FC236}">
                <a16:creationId xmlns:a16="http://schemas.microsoft.com/office/drawing/2014/main" id="{98B894DD-DBB9-76BD-0930-B606112DA51C}"/>
              </a:ext>
            </a:extLst>
          </p:cNvPr>
          <p:cNvSpPr>
            <a:spLocks noGrp="1"/>
          </p:cNvSpPr>
          <p:nvPr/>
        </p:nvSpPr>
        <p:spPr>
          <a:xfrm>
            <a:off x="3514725" y="3267075"/>
            <a:ext cx="0" cy="276225"/>
          </a:xfrm>
          <a:prstGeom prst="line">
            <a:avLst/>
          </a:prstGeom>
          <a:noFill/>
          <a:ln w="23813">
            <a:solidFill>
              <a:srgbClr val="4F81BD"/>
            </a:solidFill>
            <a:prstDash val="solid"/>
          </a:ln>
        </p:spPr>
        <p:txBody>
          <a:bodyPr/>
          <a:lstStyle/>
          <a:p>
            <a:endParaRPr lang="en-GR"/>
          </a:p>
        </p:txBody>
      </p:sp>
      <p:sp>
        <p:nvSpPr>
          <p:cNvPr id="89" name="decomposition: 02  TB agent">
            <a:extLst>
              <a:ext uri="{FF2B5EF4-FFF2-40B4-BE49-F238E27FC236}">
                <a16:creationId xmlns:a16="http://schemas.microsoft.com/office/drawing/2014/main" id="{E22A449F-3E4C-32B9-5BDF-7F6ACDFE2CC3}"/>
              </a:ext>
            </a:extLst>
          </p:cNvPr>
          <p:cNvSpPr>
            <a:spLocks noGrp="1"/>
          </p:cNvSpPr>
          <p:nvPr/>
        </p:nvSpPr>
        <p:spPr>
          <a:xfrm>
            <a:off x="26670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90" name="decomposition: Needs RTL ports&#10;Tests + assertions">
            <a:extLst>
              <a:ext uri="{FF2B5EF4-FFF2-40B4-BE49-F238E27FC236}">
                <a16:creationId xmlns:a16="http://schemas.microsoft.com/office/drawing/2014/main" id="{4067E7A2-7015-F011-D1EA-0AC944B103E8}"/>
              </a:ext>
            </a:extLst>
          </p:cNvPr>
          <p:cNvSpPr>
            <a:spLocks noGrp="1"/>
          </p:cNvSpPr>
          <p:nvPr/>
        </p:nvSpPr>
        <p:spPr>
          <a:xfrm>
            <a:off x="27336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ports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Tests + assertions</a:t>
            </a:r>
          </a:p>
        </p:txBody>
      </p:sp>
      <p:sp>
        <p:nvSpPr>
          <p:cNvPr id="91" name="decomposition connector">
            <a:extLst>
              <a:ext uri="{FF2B5EF4-FFF2-40B4-BE49-F238E27FC236}">
                <a16:creationId xmlns:a16="http://schemas.microsoft.com/office/drawing/2014/main" id="{64FB4C24-9536-C00E-0515-1A30415ED1AE}"/>
              </a:ext>
            </a:extLst>
          </p:cNvPr>
          <p:cNvSpPr>
            <a:spLocks noGrp="1"/>
          </p:cNvSpPr>
          <p:nvPr/>
        </p:nvSpPr>
        <p:spPr>
          <a:xfrm>
            <a:off x="5629275" y="3267075"/>
            <a:ext cx="0" cy="276225"/>
          </a:xfrm>
          <a:prstGeom prst="line">
            <a:avLst/>
          </a:prstGeom>
          <a:noFill/>
          <a:ln w="23813">
            <a:solidFill>
              <a:srgbClr val="4F81BD"/>
            </a:solidFill>
            <a:prstDash val="solid"/>
          </a:ln>
        </p:spPr>
        <p:txBody>
          <a:bodyPr/>
          <a:lstStyle/>
          <a:p>
            <a:endParaRPr lang="en-GR"/>
          </a:p>
        </p:txBody>
      </p:sp>
      <p:sp>
        <p:nvSpPr>
          <p:cNvPr id="92" name="decomposition: 03  SDC agent">
            <a:extLst>
              <a:ext uri="{FF2B5EF4-FFF2-40B4-BE49-F238E27FC236}">
                <a16:creationId xmlns:a16="http://schemas.microsoft.com/office/drawing/2014/main" id="{DF090533-033F-46CD-3A15-7E8933CF9FD4}"/>
              </a:ext>
            </a:extLst>
          </p:cNvPr>
          <p:cNvSpPr>
            <a:spLocks noGrp="1"/>
          </p:cNvSpPr>
          <p:nvPr/>
        </p:nvSpPr>
        <p:spPr>
          <a:xfrm>
            <a:off x="478155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93" name="decomposition: Clocks&#10;I/O constraints">
            <a:extLst>
              <a:ext uri="{FF2B5EF4-FFF2-40B4-BE49-F238E27FC236}">
                <a16:creationId xmlns:a16="http://schemas.microsoft.com/office/drawing/2014/main" id="{B4E30FD0-F44C-10C3-ACCC-CEB66D4C067D}"/>
              </a:ext>
            </a:extLst>
          </p:cNvPr>
          <p:cNvSpPr>
            <a:spLocks noGrp="1"/>
          </p:cNvSpPr>
          <p:nvPr/>
        </p:nvSpPr>
        <p:spPr>
          <a:xfrm>
            <a:off x="484822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Clocks</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I/O constraints</a:t>
            </a:r>
          </a:p>
        </p:txBody>
      </p:sp>
      <p:sp>
        <p:nvSpPr>
          <p:cNvPr id="94" name="decomposition connector">
            <a:extLst>
              <a:ext uri="{FF2B5EF4-FFF2-40B4-BE49-F238E27FC236}">
                <a16:creationId xmlns:a16="http://schemas.microsoft.com/office/drawing/2014/main" id="{35FACF0D-7D1D-101D-E249-FFC4512FDF2A}"/>
              </a:ext>
            </a:extLst>
          </p:cNvPr>
          <p:cNvSpPr>
            <a:spLocks noGrp="1"/>
          </p:cNvSpPr>
          <p:nvPr/>
        </p:nvSpPr>
        <p:spPr>
          <a:xfrm>
            <a:off x="7743825" y="3267075"/>
            <a:ext cx="0" cy="276225"/>
          </a:xfrm>
          <a:prstGeom prst="line">
            <a:avLst/>
          </a:prstGeom>
          <a:noFill/>
          <a:ln w="23813">
            <a:solidFill>
              <a:srgbClr val="4F81BD"/>
            </a:solidFill>
            <a:prstDash val="solid"/>
          </a:ln>
        </p:spPr>
        <p:txBody>
          <a:bodyPr/>
          <a:lstStyle/>
          <a:p>
            <a:endParaRPr lang="en-GR"/>
          </a:p>
        </p:txBody>
      </p:sp>
      <p:sp>
        <p:nvSpPr>
          <p:cNvPr id="95" name="decomposition: 04  PnR agent">
            <a:extLst>
              <a:ext uri="{FF2B5EF4-FFF2-40B4-BE49-F238E27FC236}">
                <a16:creationId xmlns:a16="http://schemas.microsoft.com/office/drawing/2014/main" id="{D468E37C-0A2A-F1A8-6338-CB1F541D93AF}"/>
              </a:ext>
            </a:extLst>
          </p:cNvPr>
          <p:cNvSpPr>
            <a:spLocks noGrp="1"/>
          </p:cNvSpPr>
          <p:nvPr/>
        </p:nvSpPr>
        <p:spPr>
          <a:xfrm>
            <a:off x="6896100" y="362902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6" name="decomposition: Needs RTL + SDC&#10;Floorplan settings">
            <a:extLst>
              <a:ext uri="{FF2B5EF4-FFF2-40B4-BE49-F238E27FC236}">
                <a16:creationId xmlns:a16="http://schemas.microsoft.com/office/drawing/2014/main" id="{45C40496-D303-2495-C700-40391E98E249}"/>
              </a:ext>
            </a:extLst>
          </p:cNvPr>
          <p:cNvSpPr>
            <a:spLocks noGrp="1"/>
          </p:cNvSpPr>
          <p:nvPr/>
        </p:nvSpPr>
        <p:spPr>
          <a:xfrm>
            <a:off x="6962775" y="4171950"/>
            <a:ext cx="1562100" cy="571500"/>
          </a:xfrm>
          <a:prstGeom prst="rect">
            <a:avLst/>
          </a:prstGeom>
          <a:noFill/>
          <a:ln w="0">
            <a:noFill/>
          </a:ln>
        </p:spPr>
        <p:txBody>
          <a:bodyPr lIns="28575" tIns="19050" rIns="28575" bIns="19050" anchor="ctr">
            <a:normAutofit/>
          </a:bodyPr>
          <a:lstStyle/>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Needs RTL + SDC</a:t>
            </a:r>
          </a:p>
          <a:p>
            <a:pPr algn="ctr">
              <a:defRPr sz="1200" b="0">
                <a:solidFill>
                  <a:srgbClr val="5D6C7B"/>
                </a:solidFill>
                <a:latin typeface="Calibri"/>
                <a:ea typeface="Calibri"/>
                <a:cs typeface="Calibri"/>
              </a:defRPr>
            </a:pPr>
            <a:r>
              <a:rPr sz="1200" b="0">
                <a:solidFill>
                  <a:srgbClr val="5D6C7B"/>
                </a:solidFill>
                <a:latin typeface="Calibri"/>
                <a:ea typeface="Calibri"/>
                <a:cs typeface="Calibri"/>
              </a:rPr>
              <a:t>Floorplan settings</a:t>
            </a:r>
          </a:p>
        </p:txBody>
      </p:sp>
      <p:sp>
        <p:nvSpPr>
          <p:cNvPr id="97" name="decomposition connector">
            <a:extLst>
              <a:ext uri="{FF2B5EF4-FFF2-40B4-BE49-F238E27FC236}">
                <a16:creationId xmlns:a16="http://schemas.microsoft.com/office/drawing/2014/main" id="{E4B58008-4418-61C2-DCEA-28BE5AE088E8}"/>
              </a:ext>
            </a:extLst>
          </p:cNvPr>
          <p:cNvSpPr>
            <a:spLocks noGrp="1"/>
          </p:cNvSpPr>
          <p:nvPr/>
        </p:nvSpPr>
        <p:spPr>
          <a:xfrm>
            <a:off x="1524000" y="4953000"/>
            <a:ext cx="6096000" cy="0"/>
          </a:xfrm>
          <a:prstGeom prst="line">
            <a:avLst/>
          </a:prstGeom>
          <a:noFill/>
          <a:ln w="23813">
            <a:solidFill>
              <a:srgbClr val="C82132"/>
            </a:solidFill>
            <a:prstDash val="solid"/>
          </a:ln>
        </p:spPr>
        <p:txBody>
          <a:bodyPr/>
          <a:lstStyle/>
          <a:p>
            <a:endParaRPr lang="en-GR"/>
          </a:p>
        </p:txBody>
      </p:sp>
      <p:sp>
        <p:nvSpPr>
          <p:cNvPr id="98" name="decomposition connector">
            <a:extLst>
              <a:ext uri="{FF2B5EF4-FFF2-40B4-BE49-F238E27FC236}">
                <a16:creationId xmlns:a16="http://schemas.microsoft.com/office/drawing/2014/main" id="{60E53226-724B-01D6-1083-55A1A3334C02}"/>
              </a:ext>
            </a:extLst>
          </p:cNvPr>
          <p:cNvSpPr>
            <a:spLocks noGrp="1"/>
          </p:cNvSpPr>
          <p:nvPr/>
        </p:nvSpPr>
        <p:spPr>
          <a:xfrm>
            <a:off x="1400175" y="4752975"/>
            <a:ext cx="0" cy="200025"/>
          </a:xfrm>
          <a:prstGeom prst="line">
            <a:avLst/>
          </a:prstGeom>
          <a:noFill/>
          <a:ln w="19050">
            <a:solidFill>
              <a:srgbClr val="C82132"/>
            </a:solidFill>
            <a:prstDash val="solid"/>
          </a:ln>
        </p:spPr>
        <p:txBody>
          <a:bodyPr/>
          <a:lstStyle/>
          <a:p>
            <a:endParaRPr lang="en-GR"/>
          </a:p>
        </p:txBody>
      </p:sp>
      <p:sp>
        <p:nvSpPr>
          <p:cNvPr id="99" name="decomposition connector">
            <a:extLst>
              <a:ext uri="{FF2B5EF4-FFF2-40B4-BE49-F238E27FC236}">
                <a16:creationId xmlns:a16="http://schemas.microsoft.com/office/drawing/2014/main" id="{123873CA-2E05-B639-DB8D-554E06EED384}"/>
              </a:ext>
            </a:extLst>
          </p:cNvPr>
          <p:cNvSpPr>
            <a:spLocks noGrp="1"/>
          </p:cNvSpPr>
          <p:nvPr/>
        </p:nvSpPr>
        <p:spPr>
          <a:xfrm>
            <a:off x="3514725" y="4752975"/>
            <a:ext cx="0" cy="200025"/>
          </a:xfrm>
          <a:prstGeom prst="line">
            <a:avLst/>
          </a:prstGeom>
          <a:noFill/>
          <a:ln w="19050">
            <a:solidFill>
              <a:srgbClr val="C82132"/>
            </a:solidFill>
            <a:prstDash val="solid"/>
          </a:ln>
        </p:spPr>
        <p:txBody>
          <a:bodyPr/>
          <a:lstStyle/>
          <a:p>
            <a:endParaRPr lang="en-GR"/>
          </a:p>
        </p:txBody>
      </p:sp>
      <p:sp>
        <p:nvSpPr>
          <p:cNvPr id="100" name="decomposition connector">
            <a:extLst>
              <a:ext uri="{FF2B5EF4-FFF2-40B4-BE49-F238E27FC236}">
                <a16:creationId xmlns:a16="http://schemas.microsoft.com/office/drawing/2014/main" id="{E2CE9FB9-5615-DD2D-51F6-99F826B12C38}"/>
              </a:ext>
            </a:extLst>
          </p:cNvPr>
          <p:cNvSpPr>
            <a:spLocks noGrp="1"/>
          </p:cNvSpPr>
          <p:nvPr/>
        </p:nvSpPr>
        <p:spPr>
          <a:xfrm>
            <a:off x="5629275" y="4752975"/>
            <a:ext cx="0" cy="200025"/>
          </a:xfrm>
          <a:prstGeom prst="line">
            <a:avLst/>
          </a:prstGeom>
          <a:noFill/>
          <a:ln w="19050">
            <a:solidFill>
              <a:srgbClr val="C82132"/>
            </a:solidFill>
            <a:prstDash val="solid"/>
          </a:ln>
        </p:spPr>
        <p:txBody>
          <a:bodyPr/>
          <a:lstStyle/>
          <a:p>
            <a:endParaRPr lang="en-GR"/>
          </a:p>
        </p:txBody>
      </p:sp>
      <p:sp>
        <p:nvSpPr>
          <p:cNvPr id="101" name="decomposition connector">
            <a:extLst>
              <a:ext uri="{FF2B5EF4-FFF2-40B4-BE49-F238E27FC236}">
                <a16:creationId xmlns:a16="http://schemas.microsoft.com/office/drawing/2014/main" id="{0850F80E-8D09-DBA4-66E4-DDC59621D839}"/>
              </a:ext>
            </a:extLst>
          </p:cNvPr>
          <p:cNvSpPr>
            <a:spLocks noGrp="1"/>
          </p:cNvSpPr>
          <p:nvPr/>
        </p:nvSpPr>
        <p:spPr>
          <a:xfrm>
            <a:off x="7743825" y="4752975"/>
            <a:ext cx="0" cy="200025"/>
          </a:xfrm>
          <a:prstGeom prst="line">
            <a:avLst/>
          </a:prstGeom>
          <a:noFill/>
          <a:ln w="19050">
            <a:solidFill>
              <a:srgbClr val="C82132"/>
            </a:solidFill>
            <a:prstDash val="solid"/>
          </a:ln>
        </p:spPr>
        <p:txBody>
          <a:bodyPr/>
          <a:lstStyle/>
          <a:p>
            <a:endParaRPr lang="en-GR"/>
          </a:p>
        </p:txBody>
      </p:sp>
      <p:sp>
        <p:nvSpPr>
          <p:cNvPr id="102" name="decomposition arrow">
            <a:extLst>
              <a:ext uri="{FF2B5EF4-FFF2-40B4-BE49-F238E27FC236}">
                <a16:creationId xmlns:a16="http://schemas.microsoft.com/office/drawing/2014/main" id="{6676E6D9-EC83-4423-BA9B-442D67944F22}"/>
              </a:ext>
            </a:extLst>
          </p:cNvPr>
          <p:cNvSpPr>
            <a:spLocks noGrp="1"/>
          </p:cNvSpPr>
          <p:nvPr/>
        </p:nvSpPr>
        <p:spPr>
          <a:xfrm>
            <a:off x="4495800" y="5000625"/>
            <a:ext cx="152400" cy="352425"/>
          </a:xfrm>
          <a:prstGeom prst="downArrow">
            <a:avLst/>
          </a:prstGeom>
          <a:solidFill>
            <a:srgbClr val="C82132"/>
          </a:solidFill>
          <a:ln w="0">
            <a:noFill/>
          </a:ln>
        </p:spPr>
        <p:txBody>
          <a:bodyPr/>
          <a:lstStyle/>
          <a:p>
            <a:endParaRPr lang="en-GR"/>
          </a:p>
        </p:txBody>
      </p:sp>
      <p:sp>
        <p:nvSpPr>
          <p:cNvPr id="103" name="decomposition: Validation gate: artifact + status +">
            <a:extLst>
              <a:ext uri="{FF2B5EF4-FFF2-40B4-BE49-F238E27FC236}">
                <a16:creationId xmlns:a16="http://schemas.microsoft.com/office/drawing/2014/main" id="{262D8338-F216-6B1B-7C4A-9E3949BC865D}"/>
              </a:ext>
            </a:extLst>
          </p:cNvPr>
          <p:cNvSpPr>
            <a:spLocks noGrp="1"/>
          </p:cNvSpPr>
          <p:nvPr/>
        </p:nvSpPr>
        <p:spPr>
          <a:xfrm>
            <a:off x="2038350" y="5505450"/>
            <a:ext cx="5067300" cy="590550"/>
          </a:xfrm>
          <a:prstGeom prst="roundRect">
            <a:avLst>
              <a:gd name="adj" fmla="val 16129"/>
            </a:avLst>
          </a:prstGeom>
          <a:solidFill>
            <a:srgbClr val="F9EAEC"/>
          </a:solidFill>
          <a:ln w="14288">
            <a:solidFill>
              <a:srgbClr val="C82132"/>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Validation gate: artifact + status + tool evidence</a:t>
            </a:r>
          </a:p>
        </p:txBody>
      </p:sp>
      <p:sp>
        <p:nvSpPr>
          <p:cNvPr id="104" name="decomposition: Promote validated outputs to the nex">
            <a:extLst>
              <a:ext uri="{FF2B5EF4-FFF2-40B4-BE49-F238E27FC236}">
                <a16:creationId xmlns:a16="http://schemas.microsoft.com/office/drawing/2014/main" id="{57ADE5C5-9EB8-93C6-AED9-3110887B3CF0}"/>
              </a:ext>
            </a:extLst>
          </p:cNvPr>
          <p:cNvSpPr>
            <a:spLocks noGrp="1"/>
          </p:cNvSpPr>
          <p:nvPr/>
        </p:nvSpPr>
        <p:spPr>
          <a:xfrm>
            <a:off x="1885950" y="6153150"/>
            <a:ext cx="5372100" cy="333375"/>
          </a:xfrm>
          <a:prstGeom prst="rect">
            <a:avLst/>
          </a:prstGeom>
          <a:noFill/>
          <a:ln w="0">
            <a:noFill/>
          </a:ln>
        </p:spPr>
        <p:txBody>
          <a:bodyPr lIns="28575" tIns="19050" rIns="28575" bIns="19050" anchor="ctr">
            <a:normAutofit/>
          </a:bodyPr>
          <a:lstStyle/>
          <a:p>
            <a:pPr algn="ctr">
              <a:defRPr sz="1275" b="0">
                <a:solidFill>
                  <a:srgbClr val="5D6C7B"/>
                </a:solidFill>
                <a:latin typeface="Calibri"/>
                <a:ea typeface="Calibri"/>
                <a:cs typeface="Calibri"/>
              </a:defRPr>
            </a:pPr>
            <a:r>
              <a:rPr sz="1275" b="0">
                <a:solidFill>
                  <a:srgbClr val="5D6C7B"/>
                </a:solidFill>
                <a:latin typeface="Calibri"/>
                <a:ea typeface="Calibri"/>
                <a:cs typeface="Calibri"/>
              </a:rPr>
              <a:t>Promote validated outputs to the next EDA stage</a:t>
            </a:r>
          </a:p>
        </p:txBody>
      </p:sp>
      <p:cxnSp>
        <p:nvCxnSpPr>
          <p:cNvPr id="6" name="Curved Connector 5">
            <a:extLst>
              <a:ext uri="{FF2B5EF4-FFF2-40B4-BE49-F238E27FC236}">
                <a16:creationId xmlns:a16="http://schemas.microsoft.com/office/drawing/2014/main" id="{62E35B42-DB4C-6216-0D4D-286D2C99E9D4}"/>
              </a:ext>
            </a:extLst>
          </p:cNvPr>
          <p:cNvCxnSpPr>
            <a:cxnSpLocks/>
            <a:stCxn id="8" idx="0"/>
            <a:endCxn id="82" idx="1"/>
          </p:cNvCxnSpPr>
          <p:nvPr/>
        </p:nvCxnSpPr>
        <p:spPr>
          <a:xfrm>
            <a:off x="1823116" y="1574677"/>
            <a:ext cx="1053434" cy="892298"/>
          </a:xfrm>
          <a:prstGeom prst="curvedConnector3">
            <a:avLst>
              <a:gd name="adj1" fmla="val 50000"/>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8" name="Cloud 7">
            <a:extLst>
              <a:ext uri="{FF2B5EF4-FFF2-40B4-BE49-F238E27FC236}">
                <a16:creationId xmlns:a16="http://schemas.microsoft.com/office/drawing/2014/main" id="{FB027D3F-39C7-62C3-AAA2-33875176E069}"/>
              </a:ext>
            </a:extLst>
          </p:cNvPr>
          <p:cNvSpPr/>
          <p:nvPr/>
        </p:nvSpPr>
        <p:spPr>
          <a:xfrm>
            <a:off x="70735" y="911833"/>
            <a:ext cx="1753843" cy="1325687"/>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a:t>Who does the planning?</a:t>
            </a:r>
          </a:p>
        </p:txBody>
      </p:sp>
    </p:spTree>
    <p:extLst>
      <p:ext uri="{BB962C8B-B14F-4D97-AF65-F5344CB8AC3E}">
        <p14:creationId xmlns:p14="http://schemas.microsoft.com/office/powerpoint/2010/main" val="13884453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208A-3A32-ACB6-0B3B-15C087CC7CF3}"/>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52F97A0-B284-7737-2B27-E6982BA58C6D}"/>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92B1636-0114-7C1B-11D5-4F7BB801AB9A}"/>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6732F61A-BD6A-72C4-E539-4030A4D21602}"/>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Orchestrator – Agentic AI Planner</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FD223F7-0882-ED0B-E99C-C6C655FFD936}"/>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70E6956C-C847-4669-17A1-B25AEF36C5A9}"/>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83</a:t>
            </a:fld>
            <a:endParaRPr sz="750" b="0">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78CA3E17-488F-8EDC-0CD8-88BE33DCB72A}"/>
              </a:ext>
            </a:extLst>
          </p:cNvPr>
          <p:cNvSpPr>
            <a:spLocks noGrp="1"/>
          </p:cNvSpPr>
          <p:nvPr/>
        </p:nvSpPr>
        <p:spPr>
          <a:xfrm>
            <a:off x="495300" y="990600"/>
            <a:ext cx="8134350" cy="1460292"/>
          </a:xfrm>
          <a:prstGeom prst="rect">
            <a:avLst/>
          </a:prstGeom>
          <a:solidFill>
            <a:srgbClr val="EEF3F9"/>
          </a:solidFill>
          <a:ln w="0">
            <a:noFill/>
          </a:ln>
        </p:spPr>
        <p:txBody>
          <a:bodyPr/>
          <a:lstStyle/>
          <a:p>
            <a:endParaRPr lang="en-GR"/>
          </a:p>
        </p:txBody>
      </p:sp>
      <p:sp>
        <p:nvSpPr>
          <p:cNvPr id="7" name="Rectangle 6">
            <a:extLst>
              <a:ext uri="{FF2B5EF4-FFF2-40B4-BE49-F238E27FC236}">
                <a16:creationId xmlns:a16="http://schemas.microsoft.com/office/drawing/2014/main" id="{03F7F105-DB50-1066-4B6D-BAFD19BF6A79}"/>
              </a:ext>
            </a:extLst>
          </p:cNvPr>
          <p:cNvSpPr>
            <a:spLocks noGrp="1"/>
          </p:cNvSpPr>
          <p:nvPr/>
        </p:nvSpPr>
        <p:spPr>
          <a:xfrm>
            <a:off x="495300" y="990600"/>
            <a:ext cx="74326" cy="1460292"/>
          </a:xfrm>
          <a:prstGeom prst="rect">
            <a:avLst/>
          </a:prstGeom>
          <a:solidFill>
            <a:srgbClr val="B21F2D"/>
          </a:solidFill>
          <a:ln w="0">
            <a:noFill/>
          </a:ln>
        </p:spPr>
        <p:txBody>
          <a:bodyPr/>
          <a:lstStyle/>
          <a:p>
            <a:endParaRPr lang="en-GR"/>
          </a:p>
        </p:txBody>
      </p:sp>
      <p:sp>
        <p:nvSpPr>
          <p:cNvPr id="9" name="Rectangle 8">
            <a:extLst>
              <a:ext uri="{FF2B5EF4-FFF2-40B4-BE49-F238E27FC236}">
                <a16:creationId xmlns:a16="http://schemas.microsoft.com/office/drawing/2014/main" id="{EE2ABC31-8DD5-C556-9CFD-EDCFCBA18F41}"/>
              </a:ext>
            </a:extLst>
          </p:cNvPr>
          <p:cNvSpPr>
            <a:spLocks noGrp="1"/>
          </p:cNvSpPr>
          <p:nvPr/>
        </p:nvSpPr>
        <p:spPr>
          <a:xfrm>
            <a:off x="752475" y="1070924"/>
            <a:ext cx="7620000" cy="1431718"/>
          </a:xfrm>
          <a:prstGeom prst="rect">
            <a:avLst/>
          </a:prstGeom>
          <a:noFill/>
          <a:ln w="0">
            <a:noFill/>
          </a:ln>
        </p:spPr>
        <p:txBody>
          <a:bodyPr anchor="ctr">
            <a:noAutofit/>
          </a:bodyPr>
          <a:lstStyle/>
          <a:p>
            <a:pPr algn="ctr"/>
            <a:r>
              <a:rPr lang="en-US" sz="1600">
                <a:solidFill>
                  <a:schemeClr val="tx2">
                    <a:lumMod val="75000"/>
                  </a:schemeClr>
                </a:solidFill>
              </a:rPr>
              <a:t>We can use an LLM to do the </a:t>
            </a:r>
            <a:r>
              <a:rPr lang="en-US" sz="1600" b="1">
                <a:solidFill>
                  <a:schemeClr val="tx2">
                    <a:lumMod val="75000"/>
                  </a:schemeClr>
                </a:solidFill>
              </a:rPr>
              <a:t>task decomposition</a:t>
            </a:r>
          </a:p>
          <a:p>
            <a:pPr algn="ctr"/>
            <a:endParaRPr lang="en-US" sz="1600">
              <a:solidFill>
                <a:schemeClr val="tx2">
                  <a:lumMod val="75000"/>
                </a:schemeClr>
              </a:solidFill>
            </a:endParaRPr>
          </a:p>
          <a:p>
            <a:pPr algn="ctr"/>
            <a:r>
              <a:rPr lang="en-US" sz="1600" b="1">
                <a:solidFill>
                  <a:schemeClr val="tx2">
                    <a:lumMod val="75000"/>
                  </a:schemeClr>
                </a:solidFill>
              </a:rPr>
              <a:t>Reasoning-based task </a:t>
            </a:r>
            <a:r>
              <a:rPr lang="en-US" sz="1600">
                <a:solidFill>
                  <a:schemeClr val="tx2">
                    <a:lumMod val="75000"/>
                  </a:schemeClr>
                </a:solidFill>
              </a:rPr>
              <a:t>that improves the efficiency of the flow</a:t>
            </a:r>
          </a:p>
          <a:p>
            <a:pPr algn="ctr"/>
            <a:endParaRPr lang="en-US" sz="1600">
              <a:solidFill>
                <a:schemeClr val="tx2">
                  <a:lumMod val="75000"/>
                </a:schemeClr>
              </a:solidFill>
            </a:endParaRPr>
          </a:p>
          <a:p>
            <a:pPr algn="ctr"/>
            <a:r>
              <a:rPr lang="en-US" sz="1600">
                <a:solidFill>
                  <a:schemeClr val="tx2">
                    <a:lumMod val="75000"/>
                  </a:schemeClr>
                </a:solidFill>
              </a:rPr>
              <a:t>The LLM-planner is called an </a:t>
            </a:r>
            <a:r>
              <a:rPr lang="en-US" sz="1600" b="1">
                <a:solidFill>
                  <a:schemeClr val="tx2">
                    <a:lumMod val="75000"/>
                  </a:schemeClr>
                </a:solidFill>
              </a:rPr>
              <a:t>orchestrator</a:t>
            </a:r>
          </a:p>
          <a:p>
            <a:pPr algn="ctr"/>
            <a:endParaRPr lang="en-US" sz="1600" b="1">
              <a:solidFill>
                <a:schemeClr val="tx2">
                  <a:lumMod val="75000"/>
                </a:schemeClr>
              </a:solidFill>
            </a:endParaRPr>
          </a:p>
        </p:txBody>
      </p:sp>
      <p:sp>
        <p:nvSpPr>
          <p:cNvPr id="5" name="Rectangle 4">
            <a:extLst>
              <a:ext uri="{FF2B5EF4-FFF2-40B4-BE49-F238E27FC236}">
                <a16:creationId xmlns:a16="http://schemas.microsoft.com/office/drawing/2014/main" id="{36554983-3490-E0A7-111A-5A24CD3CABDC}"/>
              </a:ext>
            </a:extLst>
          </p:cNvPr>
          <p:cNvSpPr>
            <a:spLocks noGrp="1"/>
          </p:cNvSpPr>
          <p:nvPr/>
        </p:nvSpPr>
        <p:spPr>
          <a:xfrm>
            <a:off x="628650" y="5543550"/>
            <a:ext cx="8134350" cy="685800"/>
          </a:xfrm>
          <a:prstGeom prst="rect">
            <a:avLst/>
          </a:prstGeom>
          <a:solidFill>
            <a:srgbClr val="EEF3F9"/>
          </a:solidFill>
          <a:ln w="0">
            <a:noFill/>
          </a:ln>
        </p:spPr>
        <p:txBody>
          <a:bodyPr/>
          <a:lstStyle/>
          <a:p>
            <a:endParaRPr lang="en-GR"/>
          </a:p>
        </p:txBody>
      </p:sp>
      <p:sp>
        <p:nvSpPr>
          <p:cNvPr id="8" name="Rectangle 7">
            <a:extLst>
              <a:ext uri="{FF2B5EF4-FFF2-40B4-BE49-F238E27FC236}">
                <a16:creationId xmlns:a16="http://schemas.microsoft.com/office/drawing/2014/main" id="{80B34BFF-6939-9149-C7F8-D4E936E5B6CA}"/>
              </a:ext>
            </a:extLst>
          </p:cNvPr>
          <p:cNvSpPr>
            <a:spLocks noGrp="1"/>
          </p:cNvSpPr>
          <p:nvPr/>
        </p:nvSpPr>
        <p:spPr>
          <a:xfrm>
            <a:off x="628650" y="5543550"/>
            <a:ext cx="66675" cy="685800"/>
          </a:xfrm>
          <a:prstGeom prst="rect">
            <a:avLst/>
          </a:prstGeom>
          <a:solidFill>
            <a:srgbClr val="B21F2D"/>
          </a:solidFill>
          <a:ln w="0">
            <a:noFill/>
          </a:ln>
        </p:spPr>
        <p:txBody>
          <a:bodyPr/>
          <a:lstStyle/>
          <a:p>
            <a:endParaRPr lang="en-GR"/>
          </a:p>
        </p:txBody>
      </p:sp>
      <p:sp>
        <p:nvSpPr>
          <p:cNvPr id="10" name="Rectangle 9">
            <a:extLst>
              <a:ext uri="{FF2B5EF4-FFF2-40B4-BE49-F238E27FC236}">
                <a16:creationId xmlns:a16="http://schemas.microsoft.com/office/drawing/2014/main" id="{802B59DE-EB7A-BF13-D598-A4C8580445D1}"/>
              </a:ext>
            </a:extLst>
          </p:cNvPr>
          <p:cNvSpPr>
            <a:spLocks noGrp="1"/>
          </p:cNvSpPr>
          <p:nvPr/>
        </p:nvSpPr>
        <p:spPr>
          <a:xfrm>
            <a:off x="876300" y="5657850"/>
            <a:ext cx="7620000" cy="468000"/>
          </a:xfrm>
          <a:prstGeom prst="rect">
            <a:avLst/>
          </a:prstGeom>
          <a:noFill/>
          <a:ln w="0">
            <a:noFill/>
          </a:ln>
        </p:spPr>
        <p:txBody>
          <a:bodyPr anchor="ctr">
            <a:noAutofit/>
          </a:bodyPr>
          <a:lstStyle/>
          <a:p>
            <a:pPr algn="ctr"/>
            <a:r>
              <a:rPr lang="en-US" sz="1600">
                <a:solidFill>
                  <a:schemeClr val="tx2">
                    <a:lumMod val="75000"/>
                  </a:schemeClr>
                </a:solidFill>
              </a:rPr>
              <a:t>Let’s run the ASU Spec2Tapeout problem with the optimal flow </a:t>
            </a:r>
            <a:endParaRPr lang="en-US" sz="1600" b="1">
              <a:solidFill>
                <a:schemeClr val="tx2">
                  <a:lumMod val="75000"/>
                </a:schemeClr>
              </a:solidFill>
            </a:endParaRPr>
          </a:p>
        </p:txBody>
      </p:sp>
      <p:sp>
        <p:nvSpPr>
          <p:cNvPr id="77" name="step 1"/>
          <p:cNvSpPr/>
          <p:nvPr/>
        </p:nvSpPr>
        <p:spPr>
          <a:xfrm>
            <a:off x="493776" y="2697480"/>
            <a:ext cx="2606040" cy="1325880"/>
          </a:xfrm>
          <a:prstGeom prst="roundRect">
            <a:avLst>
              <a:gd name="adj" fmla="val 8000"/>
            </a:avLst>
          </a:prstGeom>
          <a:solidFill>
            <a:srgbClr val="F3F6FA"/>
          </a:solidFill>
          <a:ln w="12700">
            <a:solidFill>
              <a:srgbClr val="4F81BD"/>
            </a:solidFill>
          </a:ln>
        </p:spPr>
        <p:txBody>
          <a:bodyPr wrap="square" lIns="137160" tIns="137160" rIns="137160" bIns="137160" anchor="t">
            <a:normAutofit/>
          </a:bodyPr>
          <a:lstStyle/>
          <a:p>
            <a:pPr algn="l">
              <a:spcBef>
                <a:spcPts val="0"/>
              </a:spcBef>
              <a:spcAft>
                <a:spcPts val="400"/>
              </a:spcAft>
              <a:buNone/>
            </a:pPr>
            <a:r>
              <a:rPr lang="en-US" sz="1400" b="1" i="0">
                <a:solidFill>
                  <a:srgbClr val="B91F2D"/>
                </a:solidFill>
                <a:latin typeface="Calibri"/>
                <a:ea typeface="Calibri"/>
                <a:cs typeface="Calibri"/>
              </a:rPr>
              <a:t>1  PLAN</a:t>
            </a:r>
          </a:p>
          <a:p>
            <a:pPr algn="l">
              <a:spcBef>
                <a:spcPts val="0"/>
              </a:spcBef>
              <a:spcAft>
                <a:spcPts val="0"/>
              </a:spcAft>
              <a:buNone/>
            </a:pPr>
            <a:r>
              <a:rPr lang="en-US" sz="1100" b="0" i="0">
                <a:solidFill>
                  <a:srgbClr val="0E2745"/>
                </a:solidFill>
                <a:latin typeface="Calibri"/>
                <a:ea typeface="Calibri"/>
                <a:cs typeface="Calibri"/>
              </a:rPr>
              <a:t>orchestrator splits the flow into subtasks (plan.json: how many small agents per stage) and writes an Agent.md for each</a:t>
            </a:r>
          </a:p>
        </p:txBody>
      </p:sp>
      <p:sp>
        <p:nvSpPr>
          <p:cNvPr id="78" name="step 2"/>
          <p:cNvSpPr/>
          <p:nvPr/>
        </p:nvSpPr>
        <p:spPr>
          <a:xfrm>
            <a:off x="3236976" y="2697480"/>
            <a:ext cx="2606040" cy="1325880"/>
          </a:xfrm>
          <a:prstGeom prst="roundRect">
            <a:avLst>
              <a:gd name="adj" fmla="val 8000"/>
            </a:avLst>
          </a:prstGeom>
          <a:solidFill>
            <a:srgbClr val="F3F6FA"/>
          </a:solidFill>
          <a:ln w="12700">
            <a:solidFill>
              <a:srgbClr val="4F81BD"/>
            </a:solidFill>
          </a:ln>
        </p:spPr>
        <p:txBody>
          <a:bodyPr wrap="square" lIns="137160" tIns="137160" rIns="137160" bIns="137160" anchor="t">
            <a:normAutofit/>
          </a:bodyPr>
          <a:lstStyle/>
          <a:p>
            <a:pPr algn="l">
              <a:spcAft>
                <a:spcPts val="400"/>
              </a:spcAft>
              <a:buNone/>
            </a:pPr>
            <a:r>
              <a:rPr lang="en-US" sz="1400" b="1" i="0">
                <a:solidFill>
                  <a:srgbClr val="B91F2D"/>
                </a:solidFill>
                <a:latin typeface="Calibri"/>
                <a:ea typeface="Calibri"/>
                <a:cs typeface="Calibri"/>
              </a:rPr>
              <a:t>2  EXECUTE</a:t>
            </a:r>
          </a:p>
          <a:p>
            <a:pPr algn="l">
              <a:spcAft>
                <a:spcPts val="0"/>
              </a:spcAft>
              <a:buNone/>
            </a:pPr>
            <a:r>
              <a:rPr lang="en-US" sz="1150" b="0" i="0">
                <a:solidFill>
                  <a:srgbClr val="0E2745"/>
                </a:solidFill>
                <a:latin typeface="Calibri"/>
                <a:ea typeface="Calibri"/>
                <a:cs typeface="Calibri"/>
              </a:rPr>
              <a:t>small worker models run the subtasks; EDA tools check every file</a:t>
            </a:r>
          </a:p>
        </p:txBody>
      </p:sp>
      <p:sp>
        <p:nvSpPr>
          <p:cNvPr id="79" name="step 3"/>
          <p:cNvSpPr/>
          <p:nvPr/>
        </p:nvSpPr>
        <p:spPr>
          <a:xfrm>
            <a:off x="5980176" y="2697480"/>
            <a:ext cx="2606040" cy="1325880"/>
          </a:xfrm>
          <a:prstGeom prst="roundRect">
            <a:avLst>
              <a:gd name="adj" fmla="val 8000"/>
            </a:avLst>
          </a:prstGeom>
          <a:solidFill>
            <a:srgbClr val="F3F6FA"/>
          </a:solidFill>
          <a:ln w="12700">
            <a:solidFill>
              <a:srgbClr val="4F81BD"/>
            </a:solidFill>
          </a:ln>
        </p:spPr>
        <p:txBody>
          <a:bodyPr wrap="square" lIns="137160" tIns="137160" rIns="137160" bIns="137160" anchor="t">
            <a:normAutofit/>
          </a:bodyPr>
          <a:lstStyle/>
          <a:p>
            <a:pPr algn="l">
              <a:spcAft>
                <a:spcPts val="400"/>
              </a:spcAft>
              <a:buNone/>
            </a:pPr>
            <a:r>
              <a:rPr lang="en-US" sz="1400" b="1" i="0">
                <a:solidFill>
                  <a:srgbClr val="B91F2D"/>
                </a:solidFill>
                <a:latin typeface="Calibri"/>
                <a:ea typeface="Calibri"/>
                <a:cs typeface="Calibri"/>
              </a:rPr>
              <a:t>3  STEP IN</a:t>
            </a:r>
          </a:p>
          <a:p>
            <a:pPr algn="l">
              <a:spcAft>
                <a:spcPts val="0"/>
              </a:spcAft>
              <a:buNone/>
            </a:pPr>
            <a:r>
              <a:rPr lang="en-US" sz="1150" b="0" i="0">
                <a:solidFill>
                  <a:srgbClr val="0E2745"/>
                </a:solidFill>
                <a:latin typeface="Calibri"/>
                <a:ea typeface="Calibri"/>
                <a:cs typeface="Calibri"/>
              </a:rPr>
              <a:t>on repeated failures: rewrite a prompt, give guidance or go back a step</a:t>
            </a:r>
          </a:p>
        </p:txBody>
      </p:sp>
      <p:sp>
        <p:nvSpPr>
          <p:cNvPr id="80" name="part4 command"/>
          <p:cNvSpPr/>
          <p:nvPr/>
        </p:nvSpPr>
        <p:spPr>
          <a:xfrm>
            <a:off x="493776" y="4206240"/>
            <a:ext cx="8138160" cy="109728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1250" b="0" i="0">
                <a:solidFill>
                  <a:srgbClr val="FFFFFF"/>
                </a:solidFill>
                <a:latin typeface="Courier New"/>
                <a:ea typeface="Courier New"/>
                <a:cs typeface="Courier New"/>
              </a:rPr>
              <a:t>cd /home/scripts/part4/problem</a:t>
            </a:r>
          </a:p>
          <a:p>
            <a:pPr algn="l">
              <a:spcAft>
                <a:spcPts val="300"/>
              </a:spcAft>
              <a:buNone/>
            </a:pPr>
            <a:r>
              <a:rPr lang="en-US" sz="1250" b="0" i="0">
                <a:solidFill>
                  <a:srgbClr val="FFFFFF"/>
                </a:solidFill>
                <a:latin typeface="Courier New"/>
                <a:ea typeface="Courier New"/>
                <a:cs typeface="Courier New"/>
              </a:rPr>
              <a:t>python3 asic_orchestrated_flow.py --config run_configs/4a_orchestrator_claude.yaml</a:t>
            </a:r>
          </a:p>
        </p:txBody>
      </p:sp>
    </p:spTree>
    <p:extLst>
      <p:ext uri="{BB962C8B-B14F-4D97-AF65-F5344CB8AC3E}">
        <p14:creationId xmlns:p14="http://schemas.microsoft.com/office/powerpoint/2010/main" val="29258483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208A-3A32-ACB6-0B3B-15C087CC7CF3}"/>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52F97A0-B284-7737-2B27-E6982BA58C6D}"/>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92B1636-0114-7C1B-11D5-4F7BB801AB9A}"/>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6732F61A-BD6A-72C4-E539-4030A4D21602}"/>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4 – overview: what the orchestrator produces</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FD223F7-0882-ED0B-E99C-C6C655FFD936}"/>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70E6956C-C847-4669-17A1-B25AEF36C5A9}"/>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84</a:t>
            </a:fld>
            <a:endParaRPr sz="750" b="0">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78CA3E17-488F-8EDC-0CD8-88BE33DCB72A}"/>
              </a:ext>
            </a:extLst>
          </p:cNvPr>
          <p:cNvSpPr>
            <a:spLocks noGrp="1"/>
          </p:cNvSpPr>
          <p:nvPr/>
        </p:nvSpPr>
        <p:spPr>
          <a:xfrm>
            <a:off x="495300" y="990600"/>
            <a:ext cx="8134350" cy="1460292"/>
          </a:xfrm>
          <a:prstGeom prst="rect">
            <a:avLst/>
          </a:prstGeom>
          <a:solidFill>
            <a:srgbClr val="EEF3F9"/>
          </a:solidFill>
          <a:ln w="0">
            <a:noFill/>
          </a:ln>
        </p:spPr>
        <p:txBody>
          <a:bodyPr/>
          <a:lstStyle/>
          <a:p>
            <a:endParaRPr lang="en-GR"/>
          </a:p>
        </p:txBody>
      </p:sp>
      <p:sp>
        <p:nvSpPr>
          <p:cNvPr id="7" name="Rectangle 6">
            <a:extLst>
              <a:ext uri="{FF2B5EF4-FFF2-40B4-BE49-F238E27FC236}">
                <a16:creationId xmlns:a16="http://schemas.microsoft.com/office/drawing/2014/main" id="{03F7F105-DB50-1066-4B6D-BAFD19BF6A79}"/>
              </a:ext>
            </a:extLst>
          </p:cNvPr>
          <p:cNvSpPr>
            <a:spLocks noGrp="1"/>
          </p:cNvSpPr>
          <p:nvPr/>
        </p:nvSpPr>
        <p:spPr>
          <a:xfrm>
            <a:off x="495300" y="990600"/>
            <a:ext cx="74326" cy="1460292"/>
          </a:xfrm>
          <a:prstGeom prst="rect">
            <a:avLst/>
          </a:prstGeom>
          <a:solidFill>
            <a:srgbClr val="B21F2D"/>
          </a:solidFill>
          <a:ln w="0">
            <a:noFill/>
          </a:ln>
        </p:spPr>
        <p:txBody>
          <a:bodyPr/>
          <a:lstStyle/>
          <a:p>
            <a:endParaRPr lang="en-GR"/>
          </a:p>
        </p:txBody>
      </p:sp>
      <p:sp>
        <p:nvSpPr>
          <p:cNvPr id="9" name="Rectangle 8">
            <a:extLst>
              <a:ext uri="{FF2B5EF4-FFF2-40B4-BE49-F238E27FC236}">
                <a16:creationId xmlns:a16="http://schemas.microsoft.com/office/drawing/2014/main" id="{EE2ABC31-8DD5-C556-9CFD-EDCFCBA18F41}"/>
              </a:ext>
            </a:extLst>
          </p:cNvPr>
          <p:cNvSpPr>
            <a:spLocks noGrp="1"/>
          </p:cNvSpPr>
          <p:nvPr/>
        </p:nvSpPr>
        <p:spPr>
          <a:xfrm>
            <a:off x="752475" y="1070924"/>
            <a:ext cx="7620000" cy="1431718"/>
          </a:xfrm>
          <a:prstGeom prst="rect">
            <a:avLst/>
          </a:prstGeom>
          <a:noFill/>
          <a:ln w="0">
            <a:noFill/>
          </a:ln>
        </p:spPr>
        <p:txBody>
          <a:bodyPr anchor="ctr">
            <a:noAutofit/>
          </a:bodyPr>
          <a:lstStyle/>
          <a:p>
            <a:pPr algn="l">
              <a:spcAft>
                <a:spcPts val="500"/>
              </a:spcAft>
              <a:buNone/>
            </a:pPr>
            <a:r>
              <a:rPr lang="en-US" sz="1350" b="1" i="0">
                <a:solidFill>
                  <a:srgbClr val="0E2745"/>
                </a:solidFill>
                <a:latin typeface="Courier New"/>
                <a:ea typeface="Courier New"/>
                <a:cs typeface="Courier New"/>
              </a:rPr>
              <a:t>plan.json  </a:t>
            </a:r>
            <a:r>
              <a:rPr lang="en-US" sz="1350" b="0" i="0">
                <a:solidFill>
                  <a:srgbClr val="0E2745"/>
                </a:solidFill>
                <a:latin typeface="Calibri"/>
                <a:ea typeface="Calibri"/>
                <a:cs typeface="Calibri"/>
              </a:rPr>
              <a:t>the subtasks it chose: analysis notes and deliverables per stage</a:t>
            </a:r>
          </a:p>
          <a:p>
            <a:pPr algn="l">
              <a:spcAft>
                <a:spcPts val="500"/>
              </a:spcAft>
              <a:buNone/>
            </a:pPr>
            <a:r>
              <a:rPr lang="en-US" sz="1350" b="1" i="0">
                <a:solidFill>
                  <a:srgbClr val="0E2745"/>
                </a:solidFill>
                <a:latin typeface="Courier New"/>
                <a:ea typeface="Courier New"/>
                <a:cs typeface="Courier New"/>
              </a:rPr>
              <a:t>agents/&lt;subtask&gt;/Agent_v1.md, v2 …  </a:t>
            </a:r>
            <a:r>
              <a:rPr lang="en-US" sz="1350" b="0" i="0">
                <a:solidFill>
                  <a:srgbClr val="0E2745"/>
                </a:solidFill>
                <a:latin typeface="Calibri"/>
                <a:ea typeface="Calibri"/>
                <a:cs typeface="Calibri"/>
              </a:rPr>
              <a:t>every prompt it wrote for a small model</a:t>
            </a:r>
          </a:p>
          <a:p>
            <a:pPr algn="l">
              <a:spcAft>
                <a:spcPts val="0"/>
              </a:spcAft>
              <a:buNone/>
            </a:pPr>
            <a:r>
              <a:rPr lang="en-US" sz="1350" b="1" i="0">
                <a:solidFill>
                  <a:srgbClr val="0E2745"/>
                </a:solidFill>
                <a:latin typeface="Courier New"/>
                <a:ea typeface="Courier New"/>
                <a:cs typeface="Courier New"/>
              </a:rPr>
              <a:t>token_usage.json  </a:t>
            </a:r>
            <a:r>
              <a:rPr lang="en-US" sz="1350" b="0" i="0">
                <a:solidFill>
                  <a:srgbClr val="0E2745"/>
                </a:solidFill>
                <a:latin typeface="Calibri"/>
                <a:ea typeface="Calibri"/>
                <a:cs typeface="Calibri"/>
              </a:rPr>
              <a:t>big-model vs small-model tokens</a:t>
            </a:r>
          </a:p>
        </p:txBody>
      </p:sp>
      <p:sp>
        <p:nvSpPr>
          <p:cNvPr id="5" name="Rectangle 4">
            <a:extLst>
              <a:ext uri="{FF2B5EF4-FFF2-40B4-BE49-F238E27FC236}">
                <a16:creationId xmlns:a16="http://schemas.microsoft.com/office/drawing/2014/main" id="{36554983-3490-E0A7-111A-5A24CD3CABDC}"/>
              </a:ext>
            </a:extLst>
          </p:cNvPr>
          <p:cNvSpPr>
            <a:spLocks noGrp="1"/>
          </p:cNvSpPr>
          <p:nvPr/>
        </p:nvSpPr>
        <p:spPr>
          <a:xfrm>
            <a:off x="625300" y="5501640"/>
            <a:ext cx="5748853" cy="685800"/>
          </a:xfrm>
          <a:prstGeom prst="rect">
            <a:avLst/>
          </a:prstGeom>
          <a:solidFill>
            <a:srgbClr val="EEF3F9"/>
          </a:solidFill>
          <a:ln w="0">
            <a:noFill/>
          </a:ln>
        </p:spPr>
        <p:txBody>
          <a:bodyPr/>
          <a:lstStyle/>
          <a:p>
            <a:endParaRPr lang="en-GR"/>
          </a:p>
        </p:txBody>
      </p:sp>
      <p:sp>
        <p:nvSpPr>
          <p:cNvPr id="8" name="Rectangle 7">
            <a:extLst>
              <a:ext uri="{FF2B5EF4-FFF2-40B4-BE49-F238E27FC236}">
                <a16:creationId xmlns:a16="http://schemas.microsoft.com/office/drawing/2014/main" id="{80B34BFF-6939-9149-C7F8-D4E936E5B6CA}"/>
              </a:ext>
            </a:extLst>
          </p:cNvPr>
          <p:cNvSpPr>
            <a:spLocks noGrp="1"/>
          </p:cNvSpPr>
          <p:nvPr/>
        </p:nvSpPr>
        <p:spPr>
          <a:xfrm>
            <a:off x="625300" y="5501640"/>
            <a:ext cx="66675" cy="685800"/>
          </a:xfrm>
          <a:prstGeom prst="rect">
            <a:avLst/>
          </a:prstGeom>
          <a:solidFill>
            <a:srgbClr val="B21F2D"/>
          </a:solidFill>
          <a:ln w="0">
            <a:noFill/>
          </a:ln>
        </p:spPr>
        <p:txBody>
          <a:bodyPr/>
          <a:lstStyle/>
          <a:p>
            <a:endParaRPr lang="en-GR"/>
          </a:p>
        </p:txBody>
      </p:sp>
      <p:sp>
        <p:nvSpPr>
          <p:cNvPr id="10" name="Rectangle 9">
            <a:extLst>
              <a:ext uri="{FF2B5EF4-FFF2-40B4-BE49-F238E27FC236}">
                <a16:creationId xmlns:a16="http://schemas.microsoft.com/office/drawing/2014/main" id="{802B59DE-EB7A-BF13-D598-A4C8580445D1}"/>
              </a:ext>
            </a:extLst>
          </p:cNvPr>
          <p:cNvSpPr>
            <a:spLocks noGrp="1"/>
          </p:cNvSpPr>
          <p:nvPr/>
        </p:nvSpPr>
        <p:spPr>
          <a:xfrm>
            <a:off x="-310274" y="5595901"/>
            <a:ext cx="7620000" cy="468000"/>
          </a:xfrm>
          <a:prstGeom prst="rect">
            <a:avLst/>
          </a:prstGeom>
          <a:noFill/>
          <a:ln w="0">
            <a:noFill/>
          </a:ln>
        </p:spPr>
        <p:txBody>
          <a:bodyPr anchor="ctr">
            <a:noAutofit/>
          </a:bodyPr>
          <a:lstStyle/>
          <a:p>
            <a:pPr algn="ctr"/>
            <a:r>
              <a:rPr lang="en-US" sz="1600">
                <a:solidFill>
                  <a:schemeClr val="tx2">
                    <a:lumMod val="75000"/>
                  </a:schemeClr>
                </a:solidFill>
              </a:rPr>
              <a:t>Read the generated prompts: would you pass the task with them?</a:t>
            </a:r>
            <a:endParaRPr lang="en-US" sz="1600" b="1">
              <a:solidFill>
                <a:schemeClr val="tx2">
                  <a:lumMod val="75000"/>
                </a:schemeClr>
              </a:solidFill>
            </a:endParaRPr>
          </a:p>
        </p:txBody>
      </p:sp>
      <p:sp>
        <p:nvSpPr>
          <p:cNvPr id="77" name="flow 0"/>
          <p:cNvSpPr/>
          <p:nvPr/>
        </p:nvSpPr>
        <p:spPr>
          <a:xfrm>
            <a:off x="630936" y="2880360"/>
            <a:ext cx="1691640" cy="914400"/>
          </a:xfrm>
          <a:prstGeom prst="roundRect">
            <a:avLst>
              <a:gd name="adj" fmla="val 12000"/>
            </a:avLst>
          </a:prstGeom>
          <a:solidFill>
            <a:srgbClr val="E6EEF7"/>
          </a:solidFill>
          <a:ln w="12700">
            <a:solidFill>
              <a:srgbClr val="4F81BD"/>
            </a:solidFill>
          </a:ln>
        </p:spPr>
        <p:txBody>
          <a:bodyPr wrap="square" lIns="45720" tIns="45720" rIns="45720" bIns="45720" anchor="ctr">
            <a:normAutofit/>
          </a:bodyPr>
          <a:lstStyle/>
          <a:p>
            <a:pPr algn="ctr">
              <a:spcAft>
                <a:spcPts val="200"/>
              </a:spcAft>
              <a:buNone/>
            </a:pPr>
            <a:r>
              <a:rPr lang="en-US" sz="1300" b="1" i="0">
                <a:solidFill>
                  <a:srgbClr val="0E2745"/>
                </a:solidFill>
                <a:latin typeface="Calibri"/>
                <a:ea typeface="Calibri"/>
                <a:cs typeface="Calibri"/>
              </a:rPr>
              <a:t>Claude Sonnet</a:t>
            </a:r>
          </a:p>
          <a:p>
            <a:pPr algn="ctr">
              <a:spcAft>
                <a:spcPts val="0"/>
              </a:spcAft>
              <a:buNone/>
            </a:pPr>
            <a:r>
              <a:rPr lang="en-US" sz="1000" b="0" i="0">
                <a:solidFill>
                  <a:srgbClr val="5D6C7B"/>
                </a:solidFill>
                <a:latin typeface="Calibri"/>
                <a:ea typeface="Calibri"/>
                <a:cs typeface="Calibri"/>
              </a:rPr>
              <a:t>orchestrator: strong reasoning, big context</a:t>
            </a:r>
          </a:p>
        </p:txBody>
      </p:sp>
      <p:sp>
        <p:nvSpPr>
          <p:cNvPr id="78" name="flow arrow 0"/>
          <p:cNvSpPr/>
          <p:nvPr/>
        </p:nvSpPr>
        <p:spPr>
          <a:xfrm>
            <a:off x="2368296" y="3200400"/>
            <a:ext cx="320040" cy="274320"/>
          </a:xfrm>
          <a:prstGeom prst="rightArrow">
            <a:avLst/>
          </a:prstGeom>
          <a:solidFill>
            <a:srgbClr val="4F81BD"/>
          </a:solidFill>
          <a:ln>
            <a:noFill/>
          </a:ln>
        </p:spPr>
        <p:txBody>
          <a:bodyPr/>
          <a:lstStyle/>
          <a:p>
            <a:endParaRPr lang="en-US"/>
          </a:p>
        </p:txBody>
      </p:sp>
      <p:sp>
        <p:nvSpPr>
          <p:cNvPr id="79" name="flow 1"/>
          <p:cNvSpPr/>
          <p:nvPr/>
        </p:nvSpPr>
        <p:spPr>
          <a:xfrm>
            <a:off x="2734056" y="2880360"/>
            <a:ext cx="1691640" cy="914400"/>
          </a:xfrm>
          <a:prstGeom prst="roundRect">
            <a:avLst>
              <a:gd name="adj" fmla="val 12000"/>
            </a:avLst>
          </a:prstGeom>
          <a:solidFill>
            <a:srgbClr val="E6EEF7"/>
          </a:solidFill>
          <a:ln w="12700">
            <a:solidFill>
              <a:srgbClr val="4F81BD"/>
            </a:solidFill>
          </a:ln>
        </p:spPr>
        <p:txBody>
          <a:bodyPr wrap="square" lIns="45720" tIns="45720" rIns="45720" bIns="45720" anchor="ctr">
            <a:normAutofit/>
          </a:bodyPr>
          <a:lstStyle/>
          <a:p>
            <a:pPr algn="ctr">
              <a:spcAft>
                <a:spcPts val="200"/>
              </a:spcAft>
              <a:buNone/>
            </a:pPr>
            <a:r>
              <a:rPr lang="en-US" sz="1300" b="1" i="0">
                <a:solidFill>
                  <a:srgbClr val="0E2745"/>
                </a:solidFill>
                <a:latin typeface="Calibri"/>
                <a:ea typeface="Calibri"/>
                <a:cs typeface="Calibri"/>
              </a:rPr>
              <a:t>Agent.md × N</a:t>
            </a:r>
          </a:p>
          <a:p>
            <a:pPr algn="ctr">
              <a:spcAft>
                <a:spcPts val="0"/>
              </a:spcAft>
              <a:buNone/>
            </a:pPr>
            <a:r>
              <a:rPr lang="en-US" sz="1000" b="0" i="0">
                <a:solidFill>
                  <a:srgbClr val="5D6C7B"/>
                </a:solidFill>
                <a:latin typeface="Calibri"/>
                <a:ea typeface="Calibri"/>
                <a:cs typeface="Calibri"/>
              </a:rPr>
              <a:t>generated prompts</a:t>
            </a:r>
          </a:p>
        </p:txBody>
      </p:sp>
      <p:sp>
        <p:nvSpPr>
          <p:cNvPr id="80" name="flow arrow 1"/>
          <p:cNvSpPr/>
          <p:nvPr/>
        </p:nvSpPr>
        <p:spPr>
          <a:xfrm>
            <a:off x="4471416" y="3200400"/>
            <a:ext cx="320040" cy="274320"/>
          </a:xfrm>
          <a:prstGeom prst="rightArrow">
            <a:avLst/>
          </a:prstGeom>
          <a:solidFill>
            <a:srgbClr val="4F81BD"/>
          </a:solidFill>
          <a:ln>
            <a:noFill/>
          </a:ln>
        </p:spPr>
        <p:txBody>
          <a:bodyPr/>
          <a:lstStyle/>
          <a:p>
            <a:endParaRPr lang="en-US"/>
          </a:p>
        </p:txBody>
      </p:sp>
      <p:sp>
        <p:nvSpPr>
          <p:cNvPr id="81" name="flow 2"/>
          <p:cNvSpPr/>
          <p:nvPr/>
        </p:nvSpPr>
        <p:spPr>
          <a:xfrm>
            <a:off x="4837175" y="2880360"/>
            <a:ext cx="1691640" cy="914400"/>
          </a:xfrm>
          <a:prstGeom prst="roundRect">
            <a:avLst>
              <a:gd name="adj" fmla="val 12000"/>
            </a:avLst>
          </a:prstGeom>
          <a:solidFill>
            <a:srgbClr val="E6EEF7"/>
          </a:solidFill>
          <a:ln w="12700">
            <a:solidFill>
              <a:srgbClr val="4F81BD"/>
            </a:solidFill>
          </a:ln>
        </p:spPr>
        <p:txBody>
          <a:bodyPr wrap="square" lIns="45720" tIns="45720" rIns="45720" bIns="45720" anchor="ctr">
            <a:normAutofit/>
          </a:bodyPr>
          <a:lstStyle/>
          <a:p>
            <a:pPr algn="ctr">
              <a:spcAft>
                <a:spcPts val="200"/>
              </a:spcAft>
              <a:buNone/>
            </a:pPr>
            <a:r>
              <a:rPr lang="en-US" sz="1300" b="1" i="0">
                <a:solidFill>
                  <a:srgbClr val="0E2745"/>
                </a:solidFill>
                <a:latin typeface="Calibri"/>
                <a:ea typeface="Calibri"/>
                <a:cs typeface="Calibri"/>
              </a:rPr>
              <a:t>Claude Haiku</a:t>
            </a:r>
          </a:p>
          <a:p>
            <a:pPr algn="ctr">
              <a:spcAft>
                <a:spcPts val="0"/>
              </a:spcAft>
              <a:buNone/>
            </a:pPr>
            <a:r>
              <a:rPr lang="en-US" sz="1000" b="0" i="0">
                <a:solidFill>
                  <a:srgbClr val="5D6C7B"/>
                </a:solidFill>
                <a:latin typeface="Calibri"/>
                <a:ea typeface="Calibri"/>
                <a:cs typeface="Calibri"/>
              </a:rPr>
              <a:t>workers (small)</a:t>
            </a:r>
          </a:p>
        </p:txBody>
      </p:sp>
      <p:sp>
        <p:nvSpPr>
          <p:cNvPr id="82" name="flow arrow 2"/>
          <p:cNvSpPr/>
          <p:nvPr/>
        </p:nvSpPr>
        <p:spPr>
          <a:xfrm>
            <a:off x="6574536" y="3200400"/>
            <a:ext cx="320040" cy="274320"/>
          </a:xfrm>
          <a:prstGeom prst="rightArrow">
            <a:avLst/>
          </a:prstGeom>
          <a:solidFill>
            <a:srgbClr val="4F81BD"/>
          </a:solidFill>
          <a:ln>
            <a:noFill/>
          </a:ln>
        </p:spPr>
        <p:txBody>
          <a:bodyPr/>
          <a:lstStyle/>
          <a:p>
            <a:endParaRPr lang="en-US"/>
          </a:p>
        </p:txBody>
      </p:sp>
      <p:sp>
        <p:nvSpPr>
          <p:cNvPr id="83" name="flow 3"/>
          <p:cNvSpPr/>
          <p:nvPr/>
        </p:nvSpPr>
        <p:spPr>
          <a:xfrm>
            <a:off x="6940296" y="2880360"/>
            <a:ext cx="1691640" cy="914400"/>
          </a:xfrm>
          <a:prstGeom prst="roundRect">
            <a:avLst>
              <a:gd name="adj" fmla="val 12000"/>
            </a:avLst>
          </a:prstGeom>
          <a:solidFill>
            <a:srgbClr val="E6EEF7"/>
          </a:solidFill>
          <a:ln w="12700">
            <a:solidFill>
              <a:srgbClr val="4F81BD"/>
            </a:solidFill>
          </a:ln>
        </p:spPr>
        <p:txBody>
          <a:bodyPr wrap="square" lIns="45720" tIns="45720" rIns="45720" bIns="45720" anchor="ctr">
            <a:normAutofit/>
          </a:bodyPr>
          <a:lstStyle/>
          <a:p>
            <a:pPr algn="ctr">
              <a:spcAft>
                <a:spcPts val="200"/>
              </a:spcAft>
              <a:buNone/>
            </a:pPr>
            <a:r>
              <a:rPr lang="en-US" sz="1300" b="1" i="0">
                <a:solidFill>
                  <a:srgbClr val="0E2745"/>
                </a:solidFill>
                <a:latin typeface="Calibri"/>
                <a:ea typeface="Calibri"/>
                <a:cs typeface="Calibri"/>
              </a:rPr>
              <a:t>EDA checks</a:t>
            </a:r>
          </a:p>
          <a:p>
            <a:pPr algn="ctr">
              <a:spcAft>
                <a:spcPts val="0"/>
              </a:spcAft>
              <a:buNone/>
            </a:pPr>
            <a:r>
              <a:rPr lang="en-US" sz="1000" b="0" i="0">
                <a:solidFill>
                  <a:srgbClr val="5D6C7B"/>
                </a:solidFill>
                <a:latin typeface="Calibri"/>
                <a:ea typeface="Calibri"/>
                <a:cs typeface="Calibri"/>
              </a:rPr>
              <a:t>iverilog · Yosys · OpenROAD</a:t>
            </a:r>
          </a:p>
        </p:txBody>
      </p:sp>
      <p:sp>
        <p:nvSpPr>
          <p:cNvPr id="84" name="escalation"/>
          <p:cNvSpPr txBox="1"/>
          <p:nvPr/>
        </p:nvSpPr>
        <p:spPr>
          <a:xfrm>
            <a:off x="630936" y="3977639"/>
            <a:ext cx="8138160" cy="457200"/>
          </a:xfrm>
          <a:prstGeom prst="rect">
            <a:avLst/>
          </a:prstGeom>
          <a:noFill/>
          <a:ln>
            <a:noFill/>
          </a:ln>
        </p:spPr>
        <p:txBody>
          <a:bodyPr wrap="square" lIns="73152" tIns="73152" rIns="73152" bIns="73152" anchor="ctr">
            <a:normAutofit/>
          </a:bodyPr>
          <a:lstStyle/>
          <a:p>
            <a:pPr algn="ctr">
              <a:spcAft>
                <a:spcPts val="0"/>
              </a:spcAft>
              <a:buNone/>
            </a:pPr>
            <a:r>
              <a:rPr lang="en-US" sz="1200" b="1" i="0">
                <a:solidFill>
                  <a:srgbClr val="B91F2D"/>
                </a:solidFill>
                <a:latin typeface="Calibri"/>
                <a:ea typeface="Calibri"/>
                <a:cs typeface="Calibri"/>
              </a:rPr>
              <a:t>↺  worker keeps failing → the orchestrator reads the logs and rewrites the prompt (</a:t>
            </a:r>
            <a:r>
              <a:rPr lang="en-US" sz="1100" b="1" i="0">
                <a:solidFill>
                  <a:srgbClr val="B91F2D"/>
                </a:solidFill>
                <a:latin typeface="Courier New" panose="02070309020205020404" pitchFamily="49" charset="0"/>
                <a:ea typeface="Calibri"/>
                <a:cs typeface="Courier New" panose="02070309020205020404" pitchFamily="49" charset="0"/>
              </a:rPr>
              <a:t>Agent_v2.md</a:t>
            </a:r>
            <a:r>
              <a:rPr lang="en-US" sz="1200" b="1" i="0">
                <a:solidFill>
                  <a:srgbClr val="B91F2D"/>
                </a:solidFill>
                <a:latin typeface="Calibri"/>
                <a:ea typeface="Calibri"/>
                <a:cs typeface="Calibri"/>
              </a:rPr>
              <a:t>) or goes back a step</a:t>
            </a:r>
          </a:p>
        </p:txBody>
      </p:sp>
      <p:sp>
        <p:nvSpPr>
          <p:cNvPr id="85" name="part4 tip"/>
          <p:cNvSpPr/>
          <p:nvPr/>
        </p:nvSpPr>
        <p:spPr>
          <a:xfrm>
            <a:off x="630936" y="4572000"/>
            <a:ext cx="8138160" cy="777240"/>
          </a:xfrm>
          <a:prstGeom prst="roundRect">
            <a:avLst>
              <a:gd name="adj" fmla="val 8000"/>
            </a:avLst>
          </a:prstGeom>
          <a:solidFill>
            <a:srgbClr val="F3F6FA"/>
          </a:solidFill>
          <a:ln>
            <a:noFill/>
          </a:ln>
        </p:spPr>
        <p:txBody>
          <a:bodyPr wrap="square" lIns="182880" tIns="182880" rIns="182880" bIns="182880" anchor="ctr">
            <a:normAutofit lnSpcReduction="10000"/>
          </a:bodyPr>
          <a:lstStyle/>
          <a:p>
            <a:pPr algn="l">
              <a:spcAft>
                <a:spcPts val="0"/>
              </a:spcAft>
              <a:buNone/>
            </a:pPr>
            <a:r>
              <a:rPr lang="en-US" sz="1350" b="1" i="0">
                <a:solidFill>
                  <a:srgbClr val="B91F2D"/>
                </a:solidFill>
                <a:latin typeface="Calibri"/>
                <a:ea typeface="Calibri"/>
                <a:cs typeface="Calibri"/>
              </a:rPr>
              <a:t>Hands-on: </a:t>
            </a:r>
            <a:r>
              <a:rPr lang="en-US" sz="1350" b="0" i="0">
                <a:solidFill>
                  <a:srgbClr val="0E2745"/>
                </a:solidFill>
                <a:latin typeface="Calibri"/>
                <a:ea typeface="Calibri"/>
                <a:cs typeface="Calibri"/>
              </a:rPr>
              <a:t>you change only configs/orchestrator/Agent.md – how it plans, how it prompts small models, when it steps in</a:t>
            </a:r>
          </a:p>
        </p:txBody>
      </p:sp>
      <p:sp>
        <p:nvSpPr>
          <p:cNvPr id="1150" name="text 1150"/>
          <p:cNvSpPr txBox="1"/>
          <p:nvPr/>
        </p:nvSpPr>
        <p:spPr>
          <a:xfrm>
            <a:off x="630936" y="2487168"/>
            <a:ext cx="8138160" cy="365760"/>
          </a:xfrm>
          <a:prstGeom prst="rect">
            <a:avLst/>
          </a:prstGeom>
          <a:noFill/>
          <a:ln>
            <a:noFill/>
          </a:ln>
        </p:spPr>
        <p:txBody>
          <a:bodyPr wrap="square" lIns="18288" tIns="18288" rIns="18288" bIns="18288" anchor="ctr">
            <a:noAutofit/>
          </a:bodyPr>
          <a:lstStyle/>
          <a:p>
            <a:pPr algn="ctr">
              <a:spcBef>
                <a:spcPts val="0"/>
              </a:spcBef>
              <a:spcAft>
                <a:spcPts val="0"/>
              </a:spcAft>
              <a:buNone/>
            </a:pPr>
            <a:r>
              <a:rPr lang="en-US" sz="1150" b="1" i="0">
                <a:solidFill>
                  <a:srgbClr val="B91F2D"/>
                </a:solidFill>
                <a:latin typeface="Calibri"/>
                <a:ea typeface="Calibri"/>
                <a:cs typeface="Calibri"/>
              </a:rPr>
              <a:t>Rule: </a:t>
            </a:r>
            <a:r>
              <a:rPr lang="en-US" sz="1100" b="0" i="0">
                <a:solidFill>
                  <a:srgbClr val="0E2745"/>
                </a:solidFill>
                <a:latin typeface="Calibri"/>
                <a:ea typeface="Calibri"/>
                <a:cs typeface="Calibri"/>
              </a:rPr>
              <a:t>the orchestrator is always a strong reasoning model with a big context window; workers can be small.</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2" name="Add-in 11">
                <a:extLst>
                  <a:ext uri="{FF2B5EF4-FFF2-40B4-BE49-F238E27FC236}">
                    <a16:creationId xmlns:a16="http://schemas.microsoft.com/office/drawing/2014/main" id="{6987E201-805C-6497-88F9-D89D6813864F}"/>
                  </a:ext>
                </a:extLst>
              </p:cNvPr>
              <p:cNvGraphicFramePr>
                <a:graphicFrameLocks noGrp="1"/>
              </p:cNvGraphicFramePr>
              <p:nvPr>
                <p:extLst>
                  <p:ext uri="{D42A27DB-BD31-4B8C-83A1-F6EECF244321}">
                    <p14:modId xmlns:p14="http://schemas.microsoft.com/office/powerpoint/2010/main" val="2468434787"/>
                  </p:ext>
                </p:extLst>
              </p:nvPr>
            </p:nvGraphicFramePr>
            <p:xfrm>
              <a:off x="6895712" y="5740680"/>
              <a:ext cx="4654855" cy="193662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12" name="Add-in 11">
                <a:extLst>
                  <a:ext uri="{FF2B5EF4-FFF2-40B4-BE49-F238E27FC236}">
                    <a16:creationId xmlns:a16="http://schemas.microsoft.com/office/drawing/2014/main" id="{6987E201-805C-6497-88F9-D89D6813864F}"/>
                  </a:ext>
                </a:extLst>
              </p:cNvPr>
              <p:cNvPicPr>
                <a:picLocks noGrp="1" noRot="1" noChangeAspect="1" noMove="1" noResize="1" noEditPoints="1" noAdjustHandles="1" noChangeArrowheads="1" noChangeShapeType="1"/>
              </p:cNvPicPr>
              <p:nvPr/>
            </p:nvPicPr>
            <p:blipFill>
              <a:blip r:embed="rId4"/>
              <a:stretch>
                <a:fillRect/>
              </a:stretch>
            </p:blipFill>
            <p:spPr>
              <a:xfrm>
                <a:off x="6895712" y="5740680"/>
                <a:ext cx="4654855" cy="1936624"/>
              </a:xfrm>
              <a:prstGeom prst="rect">
                <a:avLst/>
              </a:prstGeom>
            </p:spPr>
          </p:pic>
        </mc:Fallback>
      </mc:AlternateContent>
      <p:pic>
        <p:nvPicPr>
          <p:cNvPr id="13" name="Picture 12" descr="Stopwatch on white background">
            <a:extLst>
              <a:ext uri="{FF2B5EF4-FFF2-40B4-BE49-F238E27FC236}">
                <a16:creationId xmlns:a16="http://schemas.microsoft.com/office/drawing/2014/main" id="{211C261C-6ED3-C08B-9BD8-47D75D1266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5271" y="5266158"/>
            <a:ext cx="1121572" cy="1362502"/>
          </a:xfrm>
          <a:prstGeom prst="rect">
            <a:avLst/>
          </a:prstGeom>
        </p:spPr>
      </p:pic>
    </p:spTree>
    <p:extLst>
      <p:ext uri="{BB962C8B-B14F-4D97-AF65-F5344CB8AC3E}">
        <p14:creationId xmlns:p14="http://schemas.microsoft.com/office/powerpoint/2010/main" val="29258483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4 – our golden run: a Claude orchestrator</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85</a:t>
            </a:fld>
            <a:endParaRPr sz="750" b="0">
              <a:solidFill>
                <a:srgbClr val="5B6573"/>
              </a:solidFill>
              <a:latin typeface="Calibri"/>
              <a:ea typeface="Calibri"/>
              <a:cs typeface="Calibri"/>
            </a:endParaRPr>
          </a:p>
        </p:txBody>
      </p:sp>
      <p:sp>
        <p:nvSpPr>
          <p:cNvPr id="1483" name="step row 1483"/>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4" name="shape 1484"/>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485" name="step text 1485"/>
          <p:cNvSpPr txBox="1"/>
          <p:nvPr/>
        </p:nvSpPr>
        <p:spPr>
          <a:xfrm>
            <a:off x="1078992" y="106070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You do not need to run this one</a:t>
            </a:r>
          </a:p>
          <a:p>
            <a:pPr algn="l">
              <a:spcBef>
                <a:spcPts val="0"/>
              </a:spcBef>
              <a:spcAft>
                <a:spcPts val="0"/>
              </a:spcAft>
              <a:buNone/>
            </a:pPr>
            <a:r>
              <a:rPr lang="en-US" sz="950" b="0" i="0">
                <a:solidFill>
                  <a:srgbClr val="5D6C7B"/>
                </a:solidFill>
                <a:latin typeface="Calibri"/>
                <a:ea typeface="Calibri"/>
                <a:cs typeface="Calibri"/>
              </a:rPr>
              <a:t>run config 4a needs a paid ANTHROPIC_API_KEY: we show our recorded runs</a:t>
            </a:r>
          </a:p>
        </p:txBody>
      </p:sp>
      <p:sp>
        <p:nvSpPr>
          <p:cNvPr id="1486" name="terminal 1486"/>
          <p:cNvSpPr/>
          <p:nvPr/>
        </p:nvSpPr>
        <p:spPr>
          <a:xfrm>
            <a:off x="3840480" y="108813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/home/scripts/part4/solution</a:t>
            </a:r>
          </a:p>
        </p:txBody>
      </p:sp>
      <p:sp>
        <p:nvSpPr>
          <p:cNvPr id="1487" name="step row 1487"/>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88" name="shape 1488"/>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489" name="step text 1489"/>
          <p:cNvSpPr txBox="1"/>
          <p:nvPr/>
        </p:nvSpPr>
        <p:spPr>
          <a:xfrm>
            <a:off x="1078992" y="188366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we ran</a:t>
            </a:r>
          </a:p>
          <a:p>
            <a:pPr algn="l">
              <a:spcBef>
                <a:spcPts val="0"/>
              </a:spcBef>
              <a:spcAft>
                <a:spcPts val="0"/>
              </a:spcAft>
              <a:buNone/>
            </a:pPr>
            <a:r>
              <a:rPr lang="en-US" sz="950" b="0" i="0">
                <a:solidFill>
                  <a:srgbClr val="5D6C7B"/>
                </a:solidFill>
                <a:latin typeface="Calibri"/>
                <a:ea typeface="Calibri"/>
                <a:cs typeface="Calibri"/>
              </a:rPr>
              <a:t>Claude Sonnet plans and writes the prompts, Claude Haiku workers do the work. Design: p8</a:t>
            </a:r>
          </a:p>
        </p:txBody>
      </p:sp>
      <p:sp>
        <p:nvSpPr>
          <p:cNvPr id="1490" name="terminal 1490"/>
          <p:cNvSpPr/>
          <p:nvPr/>
        </p:nvSpPr>
        <p:spPr>
          <a:xfrm>
            <a:off x="3840480" y="1911095"/>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python3 asic_orchestrated_flow.py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--config run_configs/4a_orchestrator_claude.yaml \</a:t>
            </a:r>
          </a:p>
          <a:p>
            <a:pPr algn="l">
              <a:lnSpc>
                <a:spcPct val="100000"/>
              </a:lnSpc>
              <a:spcBef>
                <a:spcPts val="0"/>
              </a:spcBef>
              <a:spcAft>
                <a:spcPts val="0"/>
              </a:spcAft>
              <a:buNone/>
            </a:pPr>
            <a:r>
              <a:rPr lang="en-US" sz="880" b="0" i="0">
                <a:solidFill>
                  <a:srgbClr val="FFFFFF"/>
                </a:solidFill>
                <a:latin typeface="Courier New"/>
                <a:ea typeface="Courier New"/>
                <a:cs typeface="Courier New"/>
              </a:rPr>
              <a:t>  --design p8.yaml</a:t>
            </a:r>
          </a:p>
        </p:txBody>
      </p:sp>
      <p:sp>
        <p:nvSpPr>
          <p:cNvPr id="1491" name="step row 1491"/>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2" name="shape 1492"/>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493" name="step text 1493"/>
          <p:cNvSpPr txBox="1"/>
          <p:nvPr/>
        </p:nvSpPr>
        <p:spPr>
          <a:xfrm>
            <a:off x="1078992" y="270662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What the flow did</a:t>
            </a:r>
          </a:p>
          <a:p>
            <a:pPr algn="l">
              <a:spcBef>
                <a:spcPts val="0"/>
              </a:spcBef>
              <a:spcAft>
                <a:spcPts val="0"/>
              </a:spcAft>
              <a:buNone/>
            </a:pPr>
            <a:r>
              <a:rPr lang="en-US" sz="950" b="0" i="0">
                <a:solidFill>
                  <a:srgbClr val="5D6C7B"/>
                </a:solidFill>
                <a:latin typeface="Calibri"/>
                <a:ea typeface="Calibri"/>
                <a:cs typeface="Calibri"/>
              </a:rPr>
              <a:t>plan → one prompt per subtask → EDA checks. The orchestrator never had to step in</a:t>
            </a:r>
          </a:p>
        </p:txBody>
      </p:sp>
      <p:sp>
        <p:nvSpPr>
          <p:cNvPr id="1494" name="step row 1494"/>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5" name="shape 1495"/>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496" name="step text 1496"/>
          <p:cNvSpPr txBox="1"/>
          <p:nvPr/>
        </p:nvSpPr>
        <p:spPr>
          <a:xfrm>
            <a:off x="1078992" y="352958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The result</a:t>
            </a:r>
          </a:p>
          <a:p>
            <a:pPr algn="l">
              <a:spcBef>
                <a:spcPts val="0"/>
              </a:spcBef>
              <a:spcAft>
                <a:spcPts val="0"/>
              </a:spcAft>
              <a:buNone/>
            </a:pPr>
            <a:r>
              <a:rPr lang="en-US" sz="950" b="0" i="0">
                <a:solidFill>
                  <a:srgbClr val="5D6C7B"/>
                </a:solidFill>
                <a:latin typeface="Calibri"/>
                <a:ea typeface="Calibri"/>
                <a:cs typeface="Calibri"/>
              </a:rPr>
              <a:t>illustrative output – your numbers will differ</a:t>
            </a:r>
          </a:p>
        </p:txBody>
      </p:sp>
      <p:sp>
        <p:nvSpPr>
          <p:cNvPr id="1497" name="step row 1497"/>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498" name="shape 1498"/>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499" name="step text 1499"/>
          <p:cNvSpPr txBox="1"/>
          <p:nvPr/>
        </p:nvSpPr>
        <p:spPr>
          <a:xfrm>
            <a:off x="1078992" y="4352544"/>
            <a:ext cx="26974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Where the files are</a:t>
            </a:r>
          </a:p>
          <a:p>
            <a:pPr algn="l">
              <a:spcBef>
                <a:spcPts val="0"/>
              </a:spcBef>
              <a:spcAft>
                <a:spcPts val="0"/>
              </a:spcAft>
              <a:buNone/>
            </a:pPr>
            <a:r>
              <a:rPr lang="en-US" sz="950" b="0" i="0">
                <a:solidFill>
                  <a:srgbClr val="5D6C7B"/>
                </a:solidFill>
                <a:latin typeface="Calibri"/>
                <a:ea typeface="Calibri"/>
                <a:cs typeface="Calibri"/>
              </a:rPr>
              <a:t>plan.json · agents/&lt;subtask&gt;/Agent_v1.md · token_usage.json</a:t>
            </a:r>
          </a:p>
        </p:txBody>
      </p:sp>
      <p:sp>
        <p:nvSpPr>
          <p:cNvPr id="1500" name="checkpoint 1500"/>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RESULT (Claude)  score 91.3/100 (our golden layout = 80) · 3.2 min · 41k tokens · 0 interventions</a:t>
            </a:r>
          </a:p>
        </p:txBody>
      </p:sp>
      <p:sp>
        <p:nvSpPr>
          <p:cNvPr id="1601" name="terminal 1601"/>
          <p:cNvSpPr/>
          <p:nvPr/>
        </p:nvSpPr>
        <p:spPr>
          <a:xfrm>
            <a:off x="3840480" y="273405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 Success! The team reached a scored layout.</a:t>
            </a:r>
          </a:p>
          <a:p>
            <a:pPr algn="l">
              <a:lnSpc>
                <a:spcPct val="100000"/>
              </a:lnSpc>
              <a:spcBef>
                <a:spcPts val="0"/>
              </a:spcBef>
              <a:spcAft>
                <a:spcPts val="0"/>
              </a:spcAft>
              <a:buNone/>
            </a:pPr>
            <a:r>
              <a:rPr lang="en-US" sz="880" b="0" i="0">
                <a:solidFill>
                  <a:srgbClr val="FFFFFF"/>
                </a:solidFill>
                <a:latin typeface="Courier New"/>
                <a:ea typeface="Courier New"/>
                <a:cs typeface="Courier New"/>
              </a:rPr>
              <a:t>Orchestrator interventions: 0 | replans: 0/2</a:t>
            </a:r>
          </a:p>
        </p:txBody>
      </p:sp>
      <p:sp>
        <p:nvSpPr>
          <p:cNvPr id="1602" name="terminal 1602"/>
          <p:cNvSpPr/>
          <p:nvPr/>
        </p:nvSpPr>
        <p:spPr>
          <a:xfrm>
            <a:off x="3840480" y="355701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WNS 34.77/40   TNS 20.00/20</a:t>
            </a:r>
          </a:p>
          <a:p>
            <a:pPr algn="l">
              <a:lnSpc>
                <a:spcPct val="100000"/>
              </a:lnSpc>
              <a:spcBef>
                <a:spcPts val="0"/>
              </a:spcBef>
              <a:spcAft>
                <a:spcPts val="0"/>
              </a:spcAft>
              <a:buNone/>
            </a:pPr>
            <a:r>
              <a:rPr lang="en-US" sz="880" b="0" i="0">
                <a:solidFill>
                  <a:srgbClr val="FFFFFF"/>
                </a:solidFill>
                <a:latin typeface="Courier New"/>
                <a:ea typeface="Courier New"/>
                <a:cs typeface="Courier New"/>
              </a:rPr>
              <a:t>Power 20.00/20   Area 16.55/20</a:t>
            </a:r>
          </a:p>
          <a:p>
            <a:pPr algn="l">
              <a:lnSpc>
                <a:spcPct val="100000"/>
              </a:lnSpc>
              <a:spcBef>
                <a:spcPts val="0"/>
              </a:spcBef>
              <a:spcAft>
                <a:spcPts val="0"/>
              </a:spcAft>
              <a:buNone/>
            </a:pPr>
            <a:r>
              <a:rPr lang="en-US" sz="880" b="0" i="0">
                <a:solidFill>
                  <a:srgbClr val="FFFFFF"/>
                </a:solidFill>
                <a:latin typeface="Courier New"/>
                <a:ea typeface="Courier New"/>
                <a:cs typeface="Courier New"/>
              </a:rPr>
              <a:t>Final Score: 91.3/100</a:t>
            </a:r>
          </a:p>
        </p:txBody>
      </p:sp>
      <p:sp>
        <p:nvSpPr>
          <p:cNvPr id="1603" name="terminal 1603"/>
          <p:cNvSpPr/>
          <p:nvPr/>
        </p:nvSpPr>
        <p:spPr>
          <a:xfrm>
            <a:off x="3840480" y="4379976"/>
            <a:ext cx="475488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880" b="0" i="0">
                <a:solidFill>
                  <a:srgbClr val="FFFFFF"/>
                </a:solidFill>
                <a:latin typeface="Courier New"/>
                <a:ea typeface="Courier New"/>
                <a:cs typeface="Courier New"/>
              </a:rPr>
              <a:t>ls runs/4a_orchestrator_claude/p8/</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96AE-BAAD-4B01-3DCC-3C9F4D93F3E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C2A5D48F-C321-D1F6-38CB-DFCDF41FE61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506EAAA1-B248-2CF0-F868-EE150E7FD529}"/>
              </a:ext>
            </a:extLst>
          </p:cNvPr>
          <p:cNvSpPr>
            <a:spLocks noGrp="1"/>
          </p:cNvSpPr>
          <p:nvPr/>
        </p:nvSpPr>
        <p:spPr>
          <a:xfrm>
            <a:off x="0" y="6724650"/>
            <a:ext cx="9144000" cy="133350"/>
          </a:xfrm>
          <a:prstGeom prst="rect">
            <a:avLst/>
          </a:prstGeom>
          <a:solidFill>
            <a:srgbClr val="B91F2D"/>
          </a:solidFill>
          <a:ln w="0">
            <a:noFill/>
          </a:ln>
        </p:spPr>
        <p:txBody>
          <a:bodyPr/>
          <a:lstStyle/>
          <a:p>
            <a:endParaRPr lang="en-GR"/>
          </a:p>
        </p:txBody>
      </p:sp>
      <p:sp>
        <p:nvSpPr>
          <p:cNvPr id="3" name="Rectangle 2">
            <a:extLst>
              <a:ext uri="{FF2B5EF4-FFF2-40B4-BE49-F238E27FC236}">
                <a16:creationId xmlns:a16="http://schemas.microsoft.com/office/drawing/2014/main" id="{209673D7-0183-6C25-29E6-59729BA0C765}"/>
              </a:ext>
            </a:extLst>
          </p:cNvPr>
          <p:cNvSpPr>
            <a:spLocks noGrp="1"/>
          </p:cNvSpPr>
          <p:nvPr/>
        </p:nvSpPr>
        <p:spPr>
          <a:xfrm>
            <a:off x="495300" y="257175"/>
            <a:ext cx="7524750" cy="514350"/>
          </a:xfrm>
          <a:prstGeom prst="rect">
            <a:avLst/>
          </a:prstGeom>
          <a:noFill/>
          <a:ln w="0">
            <a:noFill/>
          </a:ln>
        </p:spPr>
        <p:txBody>
          <a:bodyPr anchor="ctr">
            <a:normAutofit/>
          </a:bodyPr>
          <a:lstStyle/>
          <a:p>
            <a:pPr>
              <a:defRPr sz="2400" b="1">
                <a:solidFill>
                  <a:srgbClr val="17365D"/>
                </a:solidFill>
                <a:latin typeface="Calibri"/>
                <a:ea typeface="Calibri"/>
                <a:cs typeface="Calibri"/>
              </a:defRPr>
            </a:pPr>
            <a:r>
              <a:rPr lang="en-US"/>
              <a:t>Task 4 – your turn: steer the orchestrator</a:t>
            </a:r>
            <a:endParaRPr sz="240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9DE62212-D2D5-EA25-B893-7FBB7072D918}"/>
              </a:ext>
            </a:extLst>
          </p:cNvPr>
          <p:cNvSpPr>
            <a:spLocks noGrp="1"/>
          </p:cNvSpPr>
          <p:nvPr/>
        </p:nvSpPr>
        <p:spPr>
          <a:xfrm>
            <a:off x="7964424" y="295275"/>
            <a:ext cx="777240" cy="323850"/>
          </a:xfrm>
          <a:prstGeom prst="rect">
            <a:avLst/>
          </a:prstGeom>
          <a:noFill/>
          <a:ln w="0">
            <a:noFill/>
          </a:ln>
        </p:spPr>
        <p:txBody>
          <a:bodyPr anchor="ctr">
            <a:normAutofit/>
          </a:bodyPr>
          <a:lstStyle/>
          <a:p>
            <a:pPr algn="ctr">
              <a:defRPr sz="750" b="1">
                <a:solidFill>
                  <a:srgbClr val="B91F2D"/>
                </a:solidFill>
                <a:latin typeface="Calibri"/>
                <a:ea typeface="Calibri"/>
                <a:cs typeface="Calibri"/>
              </a:defRPr>
            </a:pPr>
            <a:r>
              <a:rPr sz="750" b="1">
                <a:solidFill>
                  <a:srgbClr val="B91F2D"/>
                </a:solidFill>
                <a:latin typeface="Calibri"/>
                <a:ea typeface="Calibri"/>
                <a:cs typeface="Calibri"/>
              </a:rPr>
              <a:t>PART 4</a:t>
            </a:r>
          </a:p>
        </p:txBody>
      </p:sp>
      <p:sp>
        <p:nvSpPr>
          <p:cNvPr id="76" name="Rectangle 75">
            <a:extLst>
              <a:ext uri="{FF2B5EF4-FFF2-40B4-BE49-F238E27FC236}">
                <a16:creationId xmlns:a16="http://schemas.microsoft.com/office/drawing/2014/main" id="{6BF1BB8A-D182-BEFF-5874-3CA958EF68D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86</a:t>
            </a:fld>
            <a:endParaRPr sz="750" b="0">
              <a:solidFill>
                <a:srgbClr val="5B6573"/>
              </a:solidFill>
              <a:latin typeface="Calibri"/>
              <a:ea typeface="Calibri"/>
              <a:cs typeface="Calibri"/>
            </a:endParaRPr>
          </a:p>
        </p:txBody>
      </p:sp>
      <p:sp>
        <p:nvSpPr>
          <p:cNvPr id="1501" name="step row 1501"/>
          <p:cNvSpPr/>
          <p:nvPr/>
        </p:nvSpPr>
        <p:spPr>
          <a:xfrm>
            <a:off x="457200" y="102412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502" name="shape 1502"/>
          <p:cNvSpPr/>
          <p:nvPr/>
        </p:nvSpPr>
        <p:spPr>
          <a:xfrm>
            <a:off x="566928" y="118872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1</a:t>
            </a:r>
          </a:p>
        </p:txBody>
      </p:sp>
      <p:sp>
        <p:nvSpPr>
          <p:cNvPr id="1503" name="step text 1503"/>
          <p:cNvSpPr txBox="1"/>
          <p:nvPr/>
        </p:nvSpPr>
        <p:spPr>
          <a:xfrm>
            <a:off x="1078992" y="1060704"/>
            <a:ext cx="301752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Go to Part 4</a:t>
            </a:r>
          </a:p>
          <a:p>
            <a:pPr algn="l">
              <a:spcBef>
                <a:spcPts val="0"/>
              </a:spcBef>
              <a:spcAft>
                <a:spcPts val="0"/>
              </a:spcAft>
              <a:buNone/>
            </a:pPr>
            <a:r>
              <a:rPr lang="en-US" sz="950" b="0" i="0">
                <a:solidFill>
                  <a:srgbClr val="5D6C7B"/>
                </a:solidFill>
                <a:latin typeface="Calibri"/>
                <a:ea typeface="Calibri"/>
                <a:cs typeface="Calibri"/>
              </a:rPr>
              <a:t>inside the container. 4b: Gemini preview plans, Gemini Lite works: your free key is enough</a:t>
            </a:r>
          </a:p>
        </p:txBody>
      </p:sp>
      <p:sp>
        <p:nvSpPr>
          <p:cNvPr id="1504" name="terminal 1504"/>
          <p:cNvSpPr/>
          <p:nvPr/>
        </p:nvSpPr>
        <p:spPr>
          <a:xfrm>
            <a:off x="4160520" y="1088136"/>
            <a:ext cx="443484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cd /home/scripts/part4/problem</a:t>
            </a:r>
          </a:p>
        </p:txBody>
      </p:sp>
      <p:sp>
        <p:nvSpPr>
          <p:cNvPr id="1505" name="step row 1505"/>
          <p:cNvSpPr/>
          <p:nvPr/>
        </p:nvSpPr>
        <p:spPr>
          <a:xfrm>
            <a:off x="457200" y="184708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506" name="shape 1506"/>
          <p:cNvSpPr/>
          <p:nvPr/>
        </p:nvSpPr>
        <p:spPr>
          <a:xfrm>
            <a:off x="566928" y="201167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2</a:t>
            </a:r>
          </a:p>
        </p:txBody>
      </p:sp>
      <p:sp>
        <p:nvSpPr>
          <p:cNvPr id="1507" name="step text 1507"/>
          <p:cNvSpPr txBox="1"/>
          <p:nvPr/>
        </p:nvSpPr>
        <p:spPr>
          <a:xfrm>
            <a:off x="1078992" y="1883664"/>
            <a:ext cx="301752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the orchestrator</a:t>
            </a:r>
          </a:p>
          <a:p>
            <a:pPr algn="l">
              <a:spcBef>
                <a:spcPts val="0"/>
              </a:spcBef>
              <a:spcAft>
                <a:spcPts val="0"/>
              </a:spcAft>
              <a:buNone/>
            </a:pPr>
            <a:r>
              <a:rPr lang="en-US" sz="950" b="0" i="0">
                <a:solidFill>
                  <a:srgbClr val="5D6C7B"/>
                </a:solidFill>
                <a:latin typeface="Calibri"/>
                <a:ea typeface="Calibri"/>
                <a:cs typeface="Calibri"/>
              </a:rPr>
              <a:t>its prompt is ready. The Claude team (4a) is optional: you just saw our results</a:t>
            </a:r>
          </a:p>
        </p:txBody>
      </p:sp>
      <p:sp>
        <p:nvSpPr>
          <p:cNvPr id="1508" name="terminal 1508"/>
          <p:cNvSpPr/>
          <p:nvPr/>
        </p:nvSpPr>
        <p:spPr>
          <a:xfrm>
            <a:off x="4160520" y="1911095"/>
            <a:ext cx="443484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python3 asic_orchestrated_flow.py \</a:t>
            </a:r>
          </a:p>
          <a:p>
            <a:pPr algn="l">
              <a:lnSpc>
                <a:spcPct val="100000"/>
              </a:lnSpc>
              <a:spcBef>
                <a:spcPts val="0"/>
              </a:spcBef>
              <a:spcAft>
                <a:spcPts val="0"/>
              </a:spcAft>
              <a:buNone/>
            </a:pPr>
            <a:r>
              <a:rPr lang="en-US" sz="950" b="0" i="0">
                <a:solidFill>
                  <a:srgbClr val="FFFFFF"/>
                </a:solidFill>
                <a:latin typeface="Courier New"/>
                <a:ea typeface="Courier New"/>
                <a:cs typeface="Courier New"/>
              </a:rPr>
              <a:t>  --config run_configs/4b_orchestrator_gemini.yaml</a:t>
            </a:r>
          </a:p>
        </p:txBody>
      </p:sp>
      <p:sp>
        <p:nvSpPr>
          <p:cNvPr id="1509" name="step row 1509"/>
          <p:cNvSpPr/>
          <p:nvPr/>
        </p:nvSpPr>
        <p:spPr>
          <a:xfrm>
            <a:off x="457200" y="267004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510" name="shape 1510"/>
          <p:cNvSpPr/>
          <p:nvPr/>
        </p:nvSpPr>
        <p:spPr>
          <a:xfrm>
            <a:off x="566928" y="283463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3</a:t>
            </a:r>
          </a:p>
        </p:txBody>
      </p:sp>
      <p:sp>
        <p:nvSpPr>
          <p:cNvPr id="1511" name="step text 1511"/>
          <p:cNvSpPr txBox="1"/>
          <p:nvPr/>
        </p:nvSpPr>
        <p:spPr>
          <a:xfrm>
            <a:off x="1078992" y="2706624"/>
            <a:ext cx="301752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Read what it decided</a:t>
            </a:r>
          </a:p>
          <a:p>
            <a:pPr algn="l">
              <a:spcBef>
                <a:spcPts val="0"/>
              </a:spcBef>
              <a:spcAft>
                <a:spcPts val="0"/>
              </a:spcAft>
              <a:buNone/>
            </a:pPr>
            <a:r>
              <a:rPr lang="en-US" sz="950" b="0" i="0">
                <a:solidFill>
                  <a:srgbClr val="5D6C7B"/>
                </a:solidFill>
                <a:latin typeface="Calibri"/>
                <a:ea typeface="Calibri"/>
                <a:cs typeface="Calibri"/>
              </a:rPr>
              <a:t>plan.json = the subtasks · agents/&lt;subtask&gt;/Agent_v1.md = the prompts it wrote</a:t>
            </a:r>
          </a:p>
        </p:txBody>
      </p:sp>
      <p:sp>
        <p:nvSpPr>
          <p:cNvPr id="1512" name="terminal 1512"/>
          <p:cNvSpPr/>
          <p:nvPr/>
        </p:nvSpPr>
        <p:spPr>
          <a:xfrm>
            <a:off x="4160520" y="2734056"/>
            <a:ext cx="4434840" cy="603504"/>
          </a:xfrm>
          <a:prstGeom prst="roundRect">
            <a:avLst>
              <a:gd name="adj" fmla="val 4000"/>
            </a:avLst>
          </a:prstGeom>
          <a:solidFill>
            <a:srgbClr val="1E1E1E"/>
          </a:solidFill>
          <a:ln>
            <a:noFill/>
          </a:ln>
        </p:spPr>
        <p:txBody>
          <a:bodyPr wrap="square" lIns="128016" tIns="128016" rIns="128016" bIns="128016" anchor="ctr">
            <a:noAutofit/>
          </a:bodyPr>
          <a:lstStyle/>
          <a:p>
            <a:pPr algn="l">
              <a:lnSpc>
                <a:spcPct val="100000"/>
              </a:lnSpc>
              <a:spcBef>
                <a:spcPts val="0"/>
              </a:spcBef>
              <a:spcAft>
                <a:spcPts val="0"/>
              </a:spcAft>
              <a:buNone/>
            </a:pPr>
            <a:r>
              <a:rPr lang="en-US" sz="950" b="0" i="0">
                <a:solidFill>
                  <a:srgbClr val="FFFFFF"/>
                </a:solidFill>
                <a:latin typeface="Courier New"/>
                <a:ea typeface="Courier New"/>
                <a:cs typeface="Courier New"/>
              </a:rPr>
              <a:t>ls runs/4b_orchestrator_gemini/p8/</a:t>
            </a:r>
          </a:p>
        </p:txBody>
      </p:sp>
      <p:sp>
        <p:nvSpPr>
          <p:cNvPr id="1513" name="step row 1513"/>
          <p:cNvSpPr/>
          <p:nvPr/>
        </p:nvSpPr>
        <p:spPr>
          <a:xfrm>
            <a:off x="457200" y="349300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514" name="shape 1514"/>
          <p:cNvSpPr/>
          <p:nvPr/>
        </p:nvSpPr>
        <p:spPr>
          <a:xfrm>
            <a:off x="566928" y="3657599"/>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4</a:t>
            </a:r>
          </a:p>
        </p:txBody>
      </p:sp>
      <p:sp>
        <p:nvSpPr>
          <p:cNvPr id="1515" name="step text 1515"/>
          <p:cNvSpPr txBox="1"/>
          <p:nvPr/>
        </p:nvSpPr>
        <p:spPr>
          <a:xfrm>
            <a:off x="1078992" y="352958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Change the orchestrator's prompt</a:t>
            </a:r>
          </a:p>
          <a:p>
            <a:pPr algn="l">
              <a:spcBef>
                <a:spcPts val="0"/>
              </a:spcBef>
              <a:spcAft>
                <a:spcPts val="0"/>
              </a:spcAft>
              <a:buNone/>
            </a:pPr>
            <a:r>
              <a:rPr lang="en-US" sz="950" b="0" i="0">
                <a:solidFill>
                  <a:srgbClr val="5D6C7B"/>
                </a:solidFill>
                <a:latin typeface="Calibri"/>
                <a:ea typeface="Calibri"/>
                <a:cs typeface="Calibri"/>
              </a:rPr>
              <a:t>on your laptop open scripts/part4/problem/configs/orchestrator/Agent.md. Add or sharpen ONE rule under # Mandatory Rules: how to plan, how to write a prompt for a small model, or when to step in. Save</a:t>
            </a:r>
          </a:p>
        </p:txBody>
      </p:sp>
      <p:sp>
        <p:nvSpPr>
          <p:cNvPr id="1516" name="step row 1516"/>
          <p:cNvSpPr/>
          <p:nvPr/>
        </p:nvSpPr>
        <p:spPr>
          <a:xfrm>
            <a:off x="457200" y="4315968"/>
            <a:ext cx="8229600" cy="731520"/>
          </a:xfrm>
          <a:prstGeom prst="roundRect">
            <a:avLst>
              <a:gd name="adj" fmla="val 9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517" name="shape 1517"/>
          <p:cNvSpPr/>
          <p:nvPr/>
        </p:nvSpPr>
        <p:spPr>
          <a:xfrm>
            <a:off x="566928" y="4480560"/>
            <a:ext cx="402336" cy="402336"/>
          </a:xfrm>
          <a:prstGeom prst="ellipse">
            <a:avLst/>
          </a:prstGeom>
          <a:solidFill>
            <a:srgbClr val="0E2745"/>
          </a:solidFill>
          <a:ln>
            <a:noFill/>
          </a:ln>
        </p:spPr>
        <p:txBody>
          <a:bodyPr wrap="square" lIns="0" tIns="0" rIns="0" bIns="0" anchor="ctr">
            <a:noAutofit/>
          </a:bodyPr>
          <a:lstStyle/>
          <a:p>
            <a:pPr algn="ctr">
              <a:spcBef>
                <a:spcPts val="0"/>
              </a:spcBef>
              <a:spcAft>
                <a:spcPts val="0"/>
              </a:spcAft>
              <a:buNone/>
            </a:pPr>
            <a:r>
              <a:rPr lang="en-US" sz="1300" b="1" i="0">
                <a:solidFill>
                  <a:srgbClr val="FFFFFF"/>
                </a:solidFill>
                <a:latin typeface="Calibri"/>
                <a:ea typeface="Calibri"/>
                <a:cs typeface="Calibri"/>
              </a:rPr>
              <a:t>5</a:t>
            </a:r>
          </a:p>
        </p:txBody>
      </p:sp>
      <p:sp>
        <p:nvSpPr>
          <p:cNvPr id="1518" name="step text 1518"/>
          <p:cNvSpPr txBox="1"/>
          <p:nvPr/>
        </p:nvSpPr>
        <p:spPr>
          <a:xfrm>
            <a:off x="1078992" y="4352544"/>
            <a:ext cx="7498080" cy="658368"/>
          </a:xfrm>
          <a:prstGeom prst="rect">
            <a:avLst/>
          </a:prstGeom>
          <a:noFill/>
          <a:ln>
            <a:noFill/>
          </a:ln>
        </p:spPr>
        <p:txBody>
          <a:bodyPr wrap="square" lIns="18288" tIns="18288" rIns="18288" bIns="18288" anchor="ctr">
            <a:noAutofit/>
          </a:bodyPr>
          <a:lstStyle/>
          <a:p>
            <a:pPr algn="l">
              <a:spcBef>
                <a:spcPts val="0"/>
              </a:spcBef>
              <a:spcAft>
                <a:spcPts val="100"/>
              </a:spcAft>
              <a:buNone/>
            </a:pPr>
            <a:r>
              <a:rPr lang="en-US" sz="1150" b="1" i="0">
                <a:solidFill>
                  <a:srgbClr val="0E2745"/>
                </a:solidFill>
                <a:latin typeface="Calibri"/>
                <a:ea typeface="Calibri"/>
                <a:cs typeface="Calibri"/>
              </a:rPr>
              <a:t>Run again and compare</a:t>
            </a:r>
          </a:p>
          <a:p>
            <a:pPr algn="l">
              <a:spcBef>
                <a:spcPts val="0"/>
              </a:spcBef>
              <a:spcAft>
                <a:spcPts val="0"/>
              </a:spcAft>
              <a:buNone/>
            </a:pPr>
            <a:r>
              <a:rPr lang="en-US" sz="950" b="0" i="0">
                <a:solidFill>
                  <a:srgbClr val="5D6C7B"/>
                </a:solidFill>
                <a:latin typeface="Calibri"/>
                <a:ea typeface="Calibri"/>
                <a:cs typeface="Calibri"/>
              </a:rPr>
              <a:t>the same command. Compare worker attempts, interventions, and big-model vs small-model tokens (token_usage.json)</a:t>
            </a:r>
          </a:p>
        </p:txBody>
      </p:sp>
      <p:sp>
        <p:nvSpPr>
          <p:cNvPr id="1519" name="checkpoint 1519"/>
          <p:cNvSpPr/>
          <p:nvPr/>
        </p:nvSpPr>
        <p:spPr>
          <a:xfrm>
            <a:off x="457200" y="5760720"/>
            <a:ext cx="8229600" cy="548640"/>
          </a:xfrm>
          <a:prstGeom prst="roundRect">
            <a:avLst>
              <a:gd name="adj" fmla="val 14000"/>
            </a:avLst>
          </a:prstGeom>
          <a:solidFill>
            <a:srgbClr val="2E7D4F"/>
          </a:solidFill>
          <a:ln>
            <a:noFill/>
          </a:ln>
        </p:spPr>
        <p:txBody>
          <a:bodyPr wrap="square" lIns="137160" tIns="137160" rIns="137160" bIns="137160" anchor="ctr">
            <a:noAutofit/>
          </a:bodyPr>
          <a:lstStyle/>
          <a:p>
            <a:pPr algn="l">
              <a:spcBef>
                <a:spcPts val="0"/>
              </a:spcBef>
              <a:spcAft>
                <a:spcPts val="0"/>
              </a:spcAft>
              <a:buNone/>
            </a:pPr>
            <a:r>
              <a:rPr lang="en-US" sz="1050" b="1" i="0">
                <a:solidFill>
                  <a:srgbClr val="FFFFFF"/>
                </a:solidFill>
                <a:latin typeface="Calibri"/>
                <a:ea typeface="Calibri"/>
                <a:cs typeface="Calibri"/>
              </a:rPr>
              <a:t>✓  CHECKPOINT  the log ends with  The team reached a scored layout</a:t>
            </a:r>
          </a:p>
        </p:txBody>
      </p:sp>
    </p:spTree>
    <p:extLst>
      <p:ext uri="{BB962C8B-B14F-4D97-AF65-F5344CB8AC3E}">
        <p14:creationId xmlns:p14="http://schemas.microsoft.com/office/powerpoint/2010/main" val="4964407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540B8-A86D-5C3E-8B45-12022EB0460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3638D0A-3C3E-716E-8AFF-03B2C2DA17FA}"/>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22949A5E-B41E-2A92-CC4D-B4FF23F09662}"/>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EB541044-AB58-F25B-7858-C9E4394EE0C9}"/>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Guarantees and Production Reliability</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897BD4E-38BB-4C5C-2266-BB7A8BBC26EA}"/>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4</a:t>
            </a:r>
          </a:p>
        </p:txBody>
      </p:sp>
      <p:sp>
        <p:nvSpPr>
          <p:cNvPr id="21" name="Rectangle 20">
            <a:extLst>
              <a:ext uri="{FF2B5EF4-FFF2-40B4-BE49-F238E27FC236}">
                <a16:creationId xmlns:a16="http://schemas.microsoft.com/office/drawing/2014/main" id="{EFE6377E-D7E4-2460-C036-74C97CCB6872}"/>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87</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AFBA2408-9254-5ACE-3DF9-D24DBFAB0AF5}"/>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3787EAC4-2932-1BF4-923D-538EAC8504FD}"/>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0D0C0696-737A-B6F2-C94B-C72CCFF5BD10}"/>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3108AD72-FA29-EDCA-D6BA-A0CF98D36778}"/>
              </a:ext>
            </a:extLst>
          </p:cNvPr>
          <p:cNvSpPr>
            <a:spLocks noGrp="1"/>
          </p:cNvSpPr>
          <p:nvPr/>
        </p:nvSpPr>
        <p:spPr>
          <a:xfrm>
            <a:off x="1264482" y="423051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C7DF0DBC-EA4A-F12F-62BE-FB7E1BB7058B}"/>
              </a:ext>
            </a:extLst>
          </p:cNvPr>
          <p:cNvSpPr>
            <a:spLocks noGrp="1"/>
          </p:cNvSpPr>
          <p:nvPr/>
        </p:nvSpPr>
        <p:spPr>
          <a:xfrm>
            <a:off x="1891396" y="1947861"/>
            <a:ext cx="152400" cy="352425"/>
          </a:xfrm>
          <a:prstGeom prst="downArrow">
            <a:avLst/>
          </a:prstGeom>
          <a:solidFill>
            <a:srgbClr val="4F81BD"/>
          </a:solidFill>
          <a:ln w="0">
            <a:noFill/>
          </a:ln>
        </p:spPr>
        <p:txBody>
          <a:bodyPr/>
          <a:lstStyle/>
          <a:p>
            <a:endParaRPr lang="en-GR"/>
          </a:p>
        </p:txBody>
      </p:sp>
      <p:sp>
        <p:nvSpPr>
          <p:cNvPr id="15" name="decomposition arrow">
            <a:extLst>
              <a:ext uri="{FF2B5EF4-FFF2-40B4-BE49-F238E27FC236}">
                <a16:creationId xmlns:a16="http://schemas.microsoft.com/office/drawing/2014/main" id="{7F8362DF-467F-3DD4-603F-4B0B1B8F64A9}"/>
              </a:ext>
            </a:extLst>
          </p:cNvPr>
          <p:cNvSpPr>
            <a:spLocks noGrp="1"/>
          </p:cNvSpPr>
          <p:nvPr/>
        </p:nvSpPr>
        <p:spPr>
          <a:xfrm rot="10800000">
            <a:off x="2139265" y="1940014"/>
            <a:ext cx="152400" cy="352425"/>
          </a:xfrm>
          <a:prstGeom prst="downArrow">
            <a:avLst/>
          </a:prstGeom>
          <a:solidFill>
            <a:schemeClr val="accent2"/>
          </a:solidFill>
          <a:ln w="0">
            <a:noFill/>
          </a:ln>
        </p:spPr>
        <p:txBody>
          <a:bodyPr/>
          <a:lstStyle/>
          <a:p>
            <a:endParaRPr lang="en-GR"/>
          </a:p>
        </p:txBody>
      </p:sp>
      <p:sp>
        <p:nvSpPr>
          <p:cNvPr id="19" name="decomposition arrow">
            <a:extLst>
              <a:ext uri="{FF2B5EF4-FFF2-40B4-BE49-F238E27FC236}">
                <a16:creationId xmlns:a16="http://schemas.microsoft.com/office/drawing/2014/main" id="{EEED155C-2FA5-FBEC-E4A1-48EAA7A8311B}"/>
              </a:ext>
            </a:extLst>
          </p:cNvPr>
          <p:cNvSpPr>
            <a:spLocks noGrp="1"/>
          </p:cNvSpPr>
          <p:nvPr/>
        </p:nvSpPr>
        <p:spPr>
          <a:xfrm>
            <a:off x="1891396" y="2877386"/>
            <a:ext cx="152400" cy="352425"/>
          </a:xfrm>
          <a:prstGeom prst="downArrow">
            <a:avLst/>
          </a:prstGeom>
          <a:solidFill>
            <a:srgbClr val="4F81BD"/>
          </a:solidFill>
          <a:ln w="0">
            <a:noFill/>
          </a:ln>
        </p:spPr>
        <p:txBody>
          <a:bodyPr/>
          <a:lstStyle/>
          <a:p>
            <a:endParaRPr lang="en-GR"/>
          </a:p>
        </p:txBody>
      </p:sp>
      <p:sp>
        <p:nvSpPr>
          <p:cNvPr id="23" name="decomposition arrow">
            <a:extLst>
              <a:ext uri="{FF2B5EF4-FFF2-40B4-BE49-F238E27FC236}">
                <a16:creationId xmlns:a16="http://schemas.microsoft.com/office/drawing/2014/main" id="{192D6830-38B9-31DD-46CA-2F373B12281D}"/>
              </a:ext>
            </a:extLst>
          </p:cNvPr>
          <p:cNvSpPr>
            <a:spLocks noGrp="1"/>
          </p:cNvSpPr>
          <p:nvPr/>
        </p:nvSpPr>
        <p:spPr>
          <a:xfrm rot="10800000">
            <a:off x="2139265" y="2869539"/>
            <a:ext cx="152400" cy="352425"/>
          </a:xfrm>
          <a:prstGeom prst="downArrow">
            <a:avLst/>
          </a:prstGeom>
          <a:solidFill>
            <a:schemeClr val="accent2"/>
          </a:solidFill>
          <a:ln w="0">
            <a:noFill/>
          </a:ln>
        </p:spPr>
        <p:txBody>
          <a:bodyPr/>
          <a:lstStyle/>
          <a:p>
            <a:endParaRPr lang="en-GR"/>
          </a:p>
        </p:txBody>
      </p:sp>
      <p:sp>
        <p:nvSpPr>
          <p:cNvPr id="24" name="decomposition arrow">
            <a:extLst>
              <a:ext uri="{FF2B5EF4-FFF2-40B4-BE49-F238E27FC236}">
                <a16:creationId xmlns:a16="http://schemas.microsoft.com/office/drawing/2014/main" id="{6561CF66-E0EC-1513-19C6-DF59E4AB4D76}"/>
              </a:ext>
            </a:extLst>
          </p:cNvPr>
          <p:cNvSpPr>
            <a:spLocks noGrp="1"/>
          </p:cNvSpPr>
          <p:nvPr/>
        </p:nvSpPr>
        <p:spPr>
          <a:xfrm>
            <a:off x="1891396" y="3817849"/>
            <a:ext cx="152400" cy="352425"/>
          </a:xfrm>
          <a:prstGeom prst="downArrow">
            <a:avLst/>
          </a:prstGeom>
          <a:solidFill>
            <a:srgbClr val="4F81BD"/>
          </a:solidFill>
          <a:ln w="0">
            <a:noFill/>
          </a:ln>
        </p:spPr>
        <p:txBody>
          <a:bodyPr/>
          <a:lstStyle/>
          <a:p>
            <a:endParaRPr lang="en-GR"/>
          </a:p>
        </p:txBody>
      </p:sp>
      <p:sp>
        <p:nvSpPr>
          <p:cNvPr id="25" name="decomposition arrow">
            <a:extLst>
              <a:ext uri="{FF2B5EF4-FFF2-40B4-BE49-F238E27FC236}">
                <a16:creationId xmlns:a16="http://schemas.microsoft.com/office/drawing/2014/main" id="{5C7900A7-8CED-2DC7-B8FB-400A939D4800}"/>
              </a:ext>
            </a:extLst>
          </p:cNvPr>
          <p:cNvSpPr>
            <a:spLocks noGrp="1"/>
          </p:cNvSpPr>
          <p:nvPr/>
        </p:nvSpPr>
        <p:spPr>
          <a:xfrm rot="10800000">
            <a:off x="2139265" y="3810002"/>
            <a:ext cx="152400" cy="352425"/>
          </a:xfrm>
          <a:prstGeom prst="downArrow">
            <a:avLst/>
          </a:prstGeom>
          <a:solidFill>
            <a:schemeClr val="accent2"/>
          </a:solidFill>
          <a:ln w="0">
            <a:noFill/>
          </a:ln>
        </p:spPr>
        <p:txBody>
          <a:bodyPr/>
          <a:lstStyle/>
          <a:p>
            <a:endParaRPr lang="en-GR"/>
          </a:p>
        </p:txBody>
      </p:sp>
      <p:sp>
        <p:nvSpPr>
          <p:cNvPr id="10" name="Rounded Rectangle 9">
            <a:extLst>
              <a:ext uri="{FF2B5EF4-FFF2-40B4-BE49-F238E27FC236}">
                <a16:creationId xmlns:a16="http://schemas.microsoft.com/office/drawing/2014/main" id="{B6831449-8AA2-4E5E-0AD3-303008D55486}"/>
              </a:ext>
            </a:extLst>
          </p:cNvPr>
          <p:cNvSpPr>
            <a:spLocks noGrp="1"/>
          </p:cNvSpPr>
          <p:nvPr/>
        </p:nvSpPr>
        <p:spPr>
          <a:xfrm>
            <a:off x="4153836" y="1017219"/>
            <a:ext cx="3933356" cy="4280636"/>
          </a:xfrm>
          <a:prstGeom prst="roundRect">
            <a:avLst>
              <a:gd name="adj" fmla="val 4902"/>
            </a:avLst>
          </a:prstGeom>
          <a:solidFill>
            <a:srgbClr val="F3F6FA"/>
          </a:solidFill>
          <a:ln w="0">
            <a:noFill/>
          </a:ln>
        </p:spPr>
        <p:txBody>
          <a:bodyPr/>
          <a:lstStyle/>
          <a:p>
            <a:endParaRPr lang="en-GR"/>
          </a:p>
        </p:txBody>
      </p:sp>
      <p:sp>
        <p:nvSpPr>
          <p:cNvPr id="11" name="Rectangle 10">
            <a:extLst>
              <a:ext uri="{FF2B5EF4-FFF2-40B4-BE49-F238E27FC236}">
                <a16:creationId xmlns:a16="http://schemas.microsoft.com/office/drawing/2014/main" id="{8C9F94B7-7BB7-D1EA-2C30-D8FB0D940029}"/>
              </a:ext>
            </a:extLst>
          </p:cNvPr>
          <p:cNvSpPr>
            <a:spLocks noGrp="1"/>
          </p:cNvSpPr>
          <p:nvPr/>
        </p:nvSpPr>
        <p:spPr>
          <a:xfrm>
            <a:off x="4344336" y="1255343"/>
            <a:ext cx="134968" cy="312993"/>
          </a:xfrm>
          <a:prstGeom prst="rect">
            <a:avLst/>
          </a:prstGeom>
          <a:solidFill>
            <a:srgbClr val="B21F2D"/>
          </a:solidFill>
          <a:ln w="0">
            <a:noFill/>
          </a:ln>
        </p:spPr>
        <p:txBody>
          <a:bodyPr/>
          <a:lstStyle/>
          <a:p>
            <a:endParaRPr lang="en-GR"/>
          </a:p>
        </p:txBody>
      </p:sp>
      <p:sp>
        <p:nvSpPr>
          <p:cNvPr id="17" name="Rectangle 16">
            <a:extLst>
              <a:ext uri="{FF2B5EF4-FFF2-40B4-BE49-F238E27FC236}">
                <a16:creationId xmlns:a16="http://schemas.microsoft.com/office/drawing/2014/main" id="{9E4A0D98-4952-FD1A-D7D2-C207888C11BF}"/>
              </a:ext>
            </a:extLst>
          </p:cNvPr>
          <p:cNvSpPr>
            <a:spLocks noGrp="1"/>
          </p:cNvSpPr>
          <p:nvPr/>
        </p:nvSpPr>
        <p:spPr>
          <a:xfrm>
            <a:off x="4487211" y="1236293"/>
            <a:ext cx="2969298" cy="349815"/>
          </a:xfrm>
          <a:prstGeom prst="rect">
            <a:avLst/>
          </a:prstGeom>
          <a:noFill/>
          <a:ln w="0">
            <a:noFill/>
          </a:ln>
        </p:spPr>
        <p:txBody>
          <a:bodyPr anchor="ctr">
            <a:normAutofit fontScale="93047"/>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What problems we might encounter?</a:t>
            </a:r>
            <a:endParaRPr sz="1350" b="1">
              <a:solidFill>
                <a:srgbClr val="17365D"/>
              </a:solidFill>
              <a:latin typeface="Calibri"/>
              <a:ea typeface="Calibri"/>
              <a:cs typeface="Calibri"/>
            </a:endParaRPr>
          </a:p>
        </p:txBody>
      </p:sp>
    </p:spTree>
    <p:extLst>
      <p:ext uri="{BB962C8B-B14F-4D97-AF65-F5344CB8AC3E}">
        <p14:creationId xmlns:p14="http://schemas.microsoft.com/office/powerpoint/2010/main" val="21093211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CE0C-7EB1-F515-7611-0F82ED196103}"/>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7FFC65CB-5742-4585-AA1A-A567D6E3B106}"/>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C16DF32D-FB7C-B016-28D7-9FA38657B77B}"/>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C768B052-FC0D-0A9C-C193-908DFDAA8648}"/>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Guarantees &amp; Production Reliability</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7F1DB19C-3D72-2F10-0DDA-452FA80566C9}"/>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4</a:t>
            </a:r>
          </a:p>
        </p:txBody>
      </p:sp>
      <p:sp>
        <p:nvSpPr>
          <p:cNvPr id="21" name="Rectangle 20">
            <a:extLst>
              <a:ext uri="{FF2B5EF4-FFF2-40B4-BE49-F238E27FC236}">
                <a16:creationId xmlns:a16="http://schemas.microsoft.com/office/drawing/2014/main" id="{CFEA3DD1-5668-5314-A1F7-F9DE7E02D415}"/>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88</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A92075E1-7126-4E22-F8B4-9824453E541C}"/>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E337D667-F5CB-3952-69CD-6CE9F8A5B7FE}"/>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754FB38F-1880-C94B-2CB3-DBE06B5661AE}"/>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357B8C39-2155-3763-4661-D0C1E1F82959}"/>
              </a:ext>
            </a:extLst>
          </p:cNvPr>
          <p:cNvSpPr>
            <a:spLocks noGrp="1"/>
          </p:cNvSpPr>
          <p:nvPr/>
        </p:nvSpPr>
        <p:spPr>
          <a:xfrm>
            <a:off x="1264482" y="423051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CC1BA209-77E3-2828-0094-72FA8BD42D97}"/>
              </a:ext>
            </a:extLst>
          </p:cNvPr>
          <p:cNvSpPr>
            <a:spLocks noGrp="1"/>
          </p:cNvSpPr>
          <p:nvPr/>
        </p:nvSpPr>
        <p:spPr>
          <a:xfrm>
            <a:off x="1891396" y="1947861"/>
            <a:ext cx="152400" cy="352425"/>
          </a:xfrm>
          <a:prstGeom prst="downArrow">
            <a:avLst/>
          </a:prstGeom>
          <a:solidFill>
            <a:srgbClr val="4F81BD"/>
          </a:solidFill>
          <a:ln w="0">
            <a:noFill/>
          </a:ln>
        </p:spPr>
        <p:txBody>
          <a:bodyPr/>
          <a:lstStyle/>
          <a:p>
            <a:endParaRPr lang="en-GR"/>
          </a:p>
        </p:txBody>
      </p:sp>
      <p:sp>
        <p:nvSpPr>
          <p:cNvPr id="15" name="decomposition arrow">
            <a:extLst>
              <a:ext uri="{FF2B5EF4-FFF2-40B4-BE49-F238E27FC236}">
                <a16:creationId xmlns:a16="http://schemas.microsoft.com/office/drawing/2014/main" id="{D254E6F5-1BA1-DA84-8F4E-9B8B887084F4}"/>
              </a:ext>
            </a:extLst>
          </p:cNvPr>
          <p:cNvSpPr>
            <a:spLocks noGrp="1"/>
          </p:cNvSpPr>
          <p:nvPr/>
        </p:nvSpPr>
        <p:spPr>
          <a:xfrm rot="10800000">
            <a:off x="2139265" y="1940014"/>
            <a:ext cx="152400" cy="352425"/>
          </a:xfrm>
          <a:prstGeom prst="downArrow">
            <a:avLst/>
          </a:prstGeom>
          <a:solidFill>
            <a:schemeClr val="accent2"/>
          </a:solidFill>
          <a:ln w="0">
            <a:noFill/>
          </a:ln>
        </p:spPr>
        <p:txBody>
          <a:bodyPr/>
          <a:lstStyle/>
          <a:p>
            <a:endParaRPr lang="en-GR"/>
          </a:p>
        </p:txBody>
      </p:sp>
      <p:sp>
        <p:nvSpPr>
          <p:cNvPr id="19" name="decomposition arrow">
            <a:extLst>
              <a:ext uri="{FF2B5EF4-FFF2-40B4-BE49-F238E27FC236}">
                <a16:creationId xmlns:a16="http://schemas.microsoft.com/office/drawing/2014/main" id="{F96E485F-D7FB-2587-E503-246B78AA4D0B}"/>
              </a:ext>
            </a:extLst>
          </p:cNvPr>
          <p:cNvSpPr>
            <a:spLocks noGrp="1"/>
          </p:cNvSpPr>
          <p:nvPr/>
        </p:nvSpPr>
        <p:spPr>
          <a:xfrm>
            <a:off x="1891396" y="2877386"/>
            <a:ext cx="152400" cy="352425"/>
          </a:xfrm>
          <a:prstGeom prst="downArrow">
            <a:avLst/>
          </a:prstGeom>
          <a:solidFill>
            <a:srgbClr val="4F81BD"/>
          </a:solidFill>
          <a:ln w="0">
            <a:noFill/>
          </a:ln>
        </p:spPr>
        <p:txBody>
          <a:bodyPr/>
          <a:lstStyle/>
          <a:p>
            <a:endParaRPr lang="en-GR"/>
          </a:p>
        </p:txBody>
      </p:sp>
      <p:sp>
        <p:nvSpPr>
          <p:cNvPr id="23" name="decomposition arrow">
            <a:extLst>
              <a:ext uri="{FF2B5EF4-FFF2-40B4-BE49-F238E27FC236}">
                <a16:creationId xmlns:a16="http://schemas.microsoft.com/office/drawing/2014/main" id="{B00AE9F8-03AA-AB3D-D271-4C5820D26561}"/>
              </a:ext>
            </a:extLst>
          </p:cNvPr>
          <p:cNvSpPr>
            <a:spLocks noGrp="1"/>
          </p:cNvSpPr>
          <p:nvPr/>
        </p:nvSpPr>
        <p:spPr>
          <a:xfrm rot="10800000">
            <a:off x="2139265" y="2869539"/>
            <a:ext cx="152400" cy="352425"/>
          </a:xfrm>
          <a:prstGeom prst="downArrow">
            <a:avLst/>
          </a:prstGeom>
          <a:solidFill>
            <a:schemeClr val="accent2"/>
          </a:solidFill>
          <a:ln w="0">
            <a:noFill/>
          </a:ln>
        </p:spPr>
        <p:txBody>
          <a:bodyPr/>
          <a:lstStyle/>
          <a:p>
            <a:endParaRPr lang="en-GR"/>
          </a:p>
        </p:txBody>
      </p:sp>
      <p:sp>
        <p:nvSpPr>
          <p:cNvPr id="24" name="decomposition arrow">
            <a:extLst>
              <a:ext uri="{FF2B5EF4-FFF2-40B4-BE49-F238E27FC236}">
                <a16:creationId xmlns:a16="http://schemas.microsoft.com/office/drawing/2014/main" id="{635116B4-8CCF-3C62-7143-AE4346B25C7E}"/>
              </a:ext>
            </a:extLst>
          </p:cNvPr>
          <p:cNvSpPr>
            <a:spLocks noGrp="1"/>
          </p:cNvSpPr>
          <p:nvPr/>
        </p:nvSpPr>
        <p:spPr>
          <a:xfrm>
            <a:off x="1891396" y="3817849"/>
            <a:ext cx="152400" cy="352425"/>
          </a:xfrm>
          <a:prstGeom prst="downArrow">
            <a:avLst/>
          </a:prstGeom>
          <a:solidFill>
            <a:srgbClr val="4F81BD"/>
          </a:solidFill>
          <a:ln w="0">
            <a:noFill/>
          </a:ln>
        </p:spPr>
        <p:txBody>
          <a:bodyPr/>
          <a:lstStyle/>
          <a:p>
            <a:endParaRPr lang="en-GR"/>
          </a:p>
        </p:txBody>
      </p:sp>
      <p:sp>
        <p:nvSpPr>
          <p:cNvPr id="25" name="decomposition arrow">
            <a:extLst>
              <a:ext uri="{FF2B5EF4-FFF2-40B4-BE49-F238E27FC236}">
                <a16:creationId xmlns:a16="http://schemas.microsoft.com/office/drawing/2014/main" id="{B314373C-6AA4-4E15-1729-1547631D7CFD}"/>
              </a:ext>
            </a:extLst>
          </p:cNvPr>
          <p:cNvSpPr>
            <a:spLocks noGrp="1"/>
          </p:cNvSpPr>
          <p:nvPr/>
        </p:nvSpPr>
        <p:spPr>
          <a:xfrm rot="10800000">
            <a:off x="2139265" y="3810002"/>
            <a:ext cx="152400" cy="352425"/>
          </a:xfrm>
          <a:prstGeom prst="downArrow">
            <a:avLst/>
          </a:prstGeom>
          <a:solidFill>
            <a:schemeClr val="accent2"/>
          </a:solidFill>
          <a:ln w="0">
            <a:noFill/>
          </a:ln>
        </p:spPr>
        <p:txBody>
          <a:bodyPr/>
          <a:lstStyle/>
          <a:p>
            <a:endParaRPr lang="en-GR"/>
          </a:p>
        </p:txBody>
      </p:sp>
      <p:sp>
        <p:nvSpPr>
          <p:cNvPr id="10" name="Rounded Rectangle 9">
            <a:extLst>
              <a:ext uri="{FF2B5EF4-FFF2-40B4-BE49-F238E27FC236}">
                <a16:creationId xmlns:a16="http://schemas.microsoft.com/office/drawing/2014/main" id="{D9057AEC-6C21-1FE6-3AB7-63339767708B}"/>
              </a:ext>
            </a:extLst>
          </p:cNvPr>
          <p:cNvSpPr>
            <a:spLocks noGrp="1"/>
          </p:cNvSpPr>
          <p:nvPr/>
        </p:nvSpPr>
        <p:spPr>
          <a:xfrm>
            <a:off x="4153836" y="1017219"/>
            <a:ext cx="3933356" cy="4280636"/>
          </a:xfrm>
          <a:prstGeom prst="roundRect">
            <a:avLst>
              <a:gd name="adj" fmla="val 4902"/>
            </a:avLst>
          </a:prstGeom>
          <a:solidFill>
            <a:srgbClr val="F3F6FA"/>
          </a:solidFill>
          <a:ln w="0">
            <a:noFill/>
          </a:ln>
        </p:spPr>
        <p:txBody>
          <a:bodyPr/>
          <a:lstStyle/>
          <a:p>
            <a:endParaRPr lang="en-GR"/>
          </a:p>
        </p:txBody>
      </p:sp>
      <p:sp>
        <p:nvSpPr>
          <p:cNvPr id="11" name="Rectangle 10">
            <a:extLst>
              <a:ext uri="{FF2B5EF4-FFF2-40B4-BE49-F238E27FC236}">
                <a16:creationId xmlns:a16="http://schemas.microsoft.com/office/drawing/2014/main" id="{62462F2C-4248-6502-5BF9-B10F742A0302}"/>
              </a:ext>
            </a:extLst>
          </p:cNvPr>
          <p:cNvSpPr>
            <a:spLocks noGrp="1"/>
          </p:cNvSpPr>
          <p:nvPr/>
        </p:nvSpPr>
        <p:spPr>
          <a:xfrm>
            <a:off x="4344336" y="1255343"/>
            <a:ext cx="134968" cy="312993"/>
          </a:xfrm>
          <a:prstGeom prst="rect">
            <a:avLst/>
          </a:prstGeom>
          <a:solidFill>
            <a:srgbClr val="B21F2D"/>
          </a:solidFill>
          <a:ln w="0">
            <a:noFill/>
          </a:ln>
        </p:spPr>
        <p:txBody>
          <a:bodyPr/>
          <a:lstStyle/>
          <a:p>
            <a:endParaRPr lang="en-GR"/>
          </a:p>
        </p:txBody>
      </p:sp>
      <p:sp>
        <p:nvSpPr>
          <p:cNvPr id="17" name="Rectangle 16">
            <a:extLst>
              <a:ext uri="{FF2B5EF4-FFF2-40B4-BE49-F238E27FC236}">
                <a16:creationId xmlns:a16="http://schemas.microsoft.com/office/drawing/2014/main" id="{8B59FCF5-6140-7C56-D351-92899E5070B6}"/>
              </a:ext>
            </a:extLst>
          </p:cNvPr>
          <p:cNvSpPr>
            <a:spLocks noGrp="1"/>
          </p:cNvSpPr>
          <p:nvPr/>
        </p:nvSpPr>
        <p:spPr>
          <a:xfrm>
            <a:off x="4487211" y="1236293"/>
            <a:ext cx="2969298" cy="349815"/>
          </a:xfrm>
          <a:prstGeom prst="rect">
            <a:avLst/>
          </a:prstGeom>
          <a:noFill/>
          <a:ln w="0">
            <a:noFill/>
          </a:ln>
        </p:spPr>
        <p:txBody>
          <a:bodyPr anchor="ctr">
            <a:normAutofit fontScale="93047"/>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What problems we might encounter?</a:t>
            </a:r>
            <a:endParaRPr sz="1350" b="1">
              <a:solidFill>
                <a:srgbClr val="17365D"/>
              </a:solidFill>
              <a:latin typeface="Calibri"/>
              <a:ea typeface="Calibri"/>
              <a:cs typeface="Calibri"/>
            </a:endParaRPr>
          </a:p>
        </p:txBody>
      </p:sp>
      <p:sp>
        <p:nvSpPr>
          <p:cNvPr id="18" name="Rectangle 17">
            <a:extLst>
              <a:ext uri="{FF2B5EF4-FFF2-40B4-BE49-F238E27FC236}">
                <a16:creationId xmlns:a16="http://schemas.microsoft.com/office/drawing/2014/main" id="{52002873-A552-F7ED-3609-A61B566219B8}"/>
              </a:ext>
            </a:extLst>
          </p:cNvPr>
          <p:cNvSpPr>
            <a:spLocks noGrp="1"/>
          </p:cNvSpPr>
          <p:nvPr/>
        </p:nvSpPr>
        <p:spPr>
          <a:xfrm>
            <a:off x="4325286" y="1836368"/>
            <a:ext cx="3239234" cy="478695"/>
          </a:xfrm>
          <a:prstGeom prst="rect">
            <a:avLst/>
          </a:prstGeom>
          <a:noFill/>
          <a:ln w="0">
            <a:noFill/>
          </a:ln>
        </p:spPr>
        <p:txBody>
          <a:bodyPr anchor="ctr">
            <a:normAutofit/>
          </a:bodyPr>
          <a:lstStyle/>
          <a:p>
            <a:pPr algn="ctr">
              <a:defRPr sz="2100" b="1">
                <a:solidFill>
                  <a:srgbClr val="17365D"/>
                </a:solidFill>
                <a:latin typeface="Calibri"/>
                <a:ea typeface="Calibri"/>
                <a:cs typeface="Calibri"/>
              </a:defRPr>
            </a:pPr>
            <a:r>
              <a:rPr lang="en-US" sz="2100" b="1">
                <a:solidFill>
                  <a:srgbClr val="17365D"/>
                </a:solidFill>
                <a:latin typeface="Calibri"/>
                <a:ea typeface="Calibri"/>
                <a:cs typeface="Calibri"/>
              </a:rPr>
              <a:t>Infinite Execution</a:t>
            </a:r>
            <a:endParaRPr sz="2100" b="1">
              <a:solidFill>
                <a:srgbClr val="17365D"/>
              </a:solidFill>
              <a:latin typeface="Calibri"/>
              <a:ea typeface="Calibri"/>
              <a:cs typeface="Calibri"/>
            </a:endParaRPr>
          </a:p>
        </p:txBody>
      </p:sp>
      <p:sp>
        <p:nvSpPr>
          <p:cNvPr id="27" name="Rectangle 26">
            <a:extLst>
              <a:ext uri="{FF2B5EF4-FFF2-40B4-BE49-F238E27FC236}">
                <a16:creationId xmlns:a16="http://schemas.microsoft.com/office/drawing/2014/main" id="{E0D80CC6-92E4-18A3-210F-18DE3D753FE1}"/>
              </a:ext>
            </a:extLst>
          </p:cNvPr>
          <p:cNvSpPr>
            <a:spLocks noGrp="1"/>
          </p:cNvSpPr>
          <p:nvPr/>
        </p:nvSpPr>
        <p:spPr>
          <a:xfrm>
            <a:off x="4325286" y="2903168"/>
            <a:ext cx="3239234" cy="478695"/>
          </a:xfrm>
          <a:prstGeom prst="rect">
            <a:avLst/>
          </a:prstGeom>
          <a:noFill/>
          <a:ln w="0">
            <a:noFill/>
          </a:ln>
        </p:spPr>
        <p:txBody>
          <a:bodyPr anchor="ctr">
            <a:normAutofit/>
          </a:bodyPr>
          <a:lstStyle/>
          <a:p>
            <a:pPr algn="ctr">
              <a:defRPr sz="2100" b="1">
                <a:solidFill>
                  <a:srgbClr val="17365D"/>
                </a:solidFill>
                <a:latin typeface="Calibri"/>
                <a:ea typeface="Calibri"/>
                <a:cs typeface="Calibri"/>
              </a:defRPr>
            </a:pPr>
            <a:r>
              <a:rPr lang="en-US" sz="2100" b="1">
                <a:solidFill>
                  <a:srgbClr val="17365D"/>
                </a:solidFill>
                <a:latin typeface="Calibri"/>
                <a:ea typeface="Calibri"/>
                <a:cs typeface="Calibri"/>
              </a:rPr>
              <a:t>Hallucination</a:t>
            </a:r>
            <a:endParaRPr sz="2100" b="1">
              <a:solidFill>
                <a:srgbClr val="17365D"/>
              </a:solidFill>
              <a:latin typeface="Calibri"/>
              <a:ea typeface="Calibri"/>
              <a:cs typeface="Calibri"/>
            </a:endParaRPr>
          </a:p>
        </p:txBody>
      </p:sp>
      <p:sp>
        <p:nvSpPr>
          <p:cNvPr id="29" name="Rectangle 28">
            <a:extLst>
              <a:ext uri="{FF2B5EF4-FFF2-40B4-BE49-F238E27FC236}">
                <a16:creationId xmlns:a16="http://schemas.microsoft.com/office/drawing/2014/main" id="{14E40194-25C4-8CD2-49FE-9D7B77F9BFDD}"/>
              </a:ext>
            </a:extLst>
          </p:cNvPr>
          <p:cNvSpPr>
            <a:spLocks noGrp="1"/>
          </p:cNvSpPr>
          <p:nvPr/>
        </p:nvSpPr>
        <p:spPr>
          <a:xfrm>
            <a:off x="4325286" y="3969968"/>
            <a:ext cx="3239234" cy="478695"/>
          </a:xfrm>
          <a:prstGeom prst="rect">
            <a:avLst/>
          </a:prstGeom>
          <a:noFill/>
          <a:ln w="0">
            <a:noFill/>
          </a:ln>
        </p:spPr>
        <p:txBody>
          <a:bodyPr anchor="ctr">
            <a:normAutofit fontScale="77500" lnSpcReduction="20000"/>
          </a:bodyPr>
          <a:lstStyle/>
          <a:p>
            <a:pPr algn="ctr">
              <a:defRPr sz="2250" b="1">
                <a:solidFill>
                  <a:srgbClr val="17365D"/>
                </a:solidFill>
                <a:latin typeface="Calibri"/>
                <a:ea typeface="Calibri"/>
                <a:cs typeface="Calibri"/>
              </a:defRPr>
            </a:pPr>
            <a:r>
              <a:rPr lang="en-GR" sz="2250" b="1">
                <a:solidFill>
                  <a:srgbClr val="17365D"/>
                </a:solidFill>
                <a:latin typeface="Calibri"/>
              </a:rPr>
              <a:t>High runtime and resource cost</a:t>
            </a:r>
            <a:endParaRPr sz="2250" b="1">
              <a:solidFill>
                <a:srgbClr val="17365D"/>
              </a:solidFill>
              <a:latin typeface="Calibri"/>
              <a:ea typeface="Calibri"/>
              <a:cs typeface="Calibri"/>
            </a:endParaRPr>
          </a:p>
        </p:txBody>
      </p:sp>
    </p:spTree>
    <p:extLst>
      <p:ext uri="{BB962C8B-B14F-4D97-AF65-F5344CB8AC3E}">
        <p14:creationId xmlns:p14="http://schemas.microsoft.com/office/powerpoint/2010/main" val="6346602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52145-F2E0-4121-8A0B-6CE1131DC42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C17BBCAF-FE0D-BCD4-2BA2-FB0C34B9F116}"/>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4BC41C94-ACBC-5423-8980-308C6B259188}"/>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8559D7E7-2A07-94DC-F01A-7A4ADF2334A9}"/>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Guarantees and Production Reliability</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C5FEE62-7170-FFFB-AFFB-020C96256C44}"/>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4</a:t>
            </a:r>
          </a:p>
        </p:txBody>
      </p:sp>
      <p:sp>
        <p:nvSpPr>
          <p:cNvPr id="21" name="Rectangle 20">
            <a:extLst>
              <a:ext uri="{FF2B5EF4-FFF2-40B4-BE49-F238E27FC236}">
                <a16:creationId xmlns:a16="http://schemas.microsoft.com/office/drawing/2014/main" id="{B8C86CFE-A328-FFA7-57AE-BFF93D1487FC}"/>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89</a:t>
            </a:fld>
            <a:endParaRPr sz="750" b="0">
              <a:solidFill>
                <a:srgbClr val="5B6573"/>
              </a:solidFill>
              <a:latin typeface="Calibri"/>
              <a:ea typeface="Calibri"/>
              <a:cs typeface="Calibri"/>
            </a:endParaRPr>
          </a:p>
        </p:txBody>
      </p:sp>
      <p:sp>
        <p:nvSpPr>
          <p:cNvPr id="5" name="decomposition: 01  RTL agent">
            <a:extLst>
              <a:ext uri="{FF2B5EF4-FFF2-40B4-BE49-F238E27FC236}">
                <a16:creationId xmlns:a16="http://schemas.microsoft.com/office/drawing/2014/main" id="{990D2A06-4C0F-C11B-1AD3-8B5E7ED2C88D}"/>
              </a:ext>
            </a:extLst>
          </p:cNvPr>
          <p:cNvSpPr>
            <a:spLocks noGrp="1"/>
          </p:cNvSpPr>
          <p:nvPr/>
        </p:nvSpPr>
        <p:spPr>
          <a:xfrm>
            <a:off x="1264482" y="1423987"/>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01  RTL agent</a:t>
            </a:r>
          </a:p>
        </p:txBody>
      </p:sp>
      <p:sp>
        <p:nvSpPr>
          <p:cNvPr id="6" name="decomposition: 02  TB agent">
            <a:extLst>
              <a:ext uri="{FF2B5EF4-FFF2-40B4-BE49-F238E27FC236}">
                <a16:creationId xmlns:a16="http://schemas.microsoft.com/office/drawing/2014/main" id="{1408C92E-50C8-DC7A-C9FF-1069E1C74EA0}"/>
              </a:ext>
            </a:extLst>
          </p:cNvPr>
          <p:cNvSpPr>
            <a:spLocks noGrp="1"/>
          </p:cNvSpPr>
          <p:nvPr/>
        </p:nvSpPr>
        <p:spPr>
          <a:xfrm>
            <a:off x="1264482" y="2357436"/>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02  TB agent</a:t>
            </a:r>
          </a:p>
        </p:txBody>
      </p:sp>
      <p:sp>
        <p:nvSpPr>
          <p:cNvPr id="7" name="decomposition: 03  SDC agent">
            <a:extLst>
              <a:ext uri="{FF2B5EF4-FFF2-40B4-BE49-F238E27FC236}">
                <a16:creationId xmlns:a16="http://schemas.microsoft.com/office/drawing/2014/main" id="{1606CAE8-D491-E8F7-A43D-DE73F887C0B4}"/>
              </a:ext>
            </a:extLst>
          </p:cNvPr>
          <p:cNvSpPr>
            <a:spLocks noGrp="1"/>
          </p:cNvSpPr>
          <p:nvPr/>
        </p:nvSpPr>
        <p:spPr>
          <a:xfrm>
            <a:off x="1264482" y="3290885"/>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03  SDC agent</a:t>
            </a:r>
          </a:p>
        </p:txBody>
      </p:sp>
      <p:sp>
        <p:nvSpPr>
          <p:cNvPr id="8" name="decomposition: 04  PnR agent">
            <a:extLst>
              <a:ext uri="{FF2B5EF4-FFF2-40B4-BE49-F238E27FC236}">
                <a16:creationId xmlns:a16="http://schemas.microsoft.com/office/drawing/2014/main" id="{82D4536B-BE70-73D6-99DF-E2F715957EDF}"/>
              </a:ext>
            </a:extLst>
          </p:cNvPr>
          <p:cNvSpPr>
            <a:spLocks noGrp="1"/>
          </p:cNvSpPr>
          <p:nvPr/>
        </p:nvSpPr>
        <p:spPr>
          <a:xfrm>
            <a:off x="1264482" y="4230513"/>
            <a:ext cx="1695450" cy="466725"/>
          </a:xfrm>
          <a:prstGeom prst="roundRect">
            <a:avLst>
              <a:gd name="adj" fmla="val 20408"/>
            </a:avLst>
          </a:prstGeom>
          <a:solidFill>
            <a:srgbClr val="E6EEF7"/>
          </a:solidFill>
          <a:ln w="14288">
            <a:solidFill>
              <a:srgbClr val="4F81BD"/>
            </a:solidFill>
            <a:prstDash val="solid"/>
          </a:ln>
        </p:spPr>
        <p:txBody>
          <a:bodyPr lIns="76200" tIns="38100" rIns="76200" bIns="38100" anchor="ctr">
            <a:norm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04  PnR agent</a:t>
            </a:r>
          </a:p>
        </p:txBody>
      </p:sp>
      <p:sp>
        <p:nvSpPr>
          <p:cNvPr id="9" name="decomposition arrow">
            <a:extLst>
              <a:ext uri="{FF2B5EF4-FFF2-40B4-BE49-F238E27FC236}">
                <a16:creationId xmlns:a16="http://schemas.microsoft.com/office/drawing/2014/main" id="{2C5B411C-234F-3751-0821-2BC2ACF9B393}"/>
              </a:ext>
            </a:extLst>
          </p:cNvPr>
          <p:cNvSpPr>
            <a:spLocks noGrp="1"/>
          </p:cNvSpPr>
          <p:nvPr/>
        </p:nvSpPr>
        <p:spPr>
          <a:xfrm>
            <a:off x="1891396" y="1947861"/>
            <a:ext cx="152400" cy="352425"/>
          </a:xfrm>
          <a:prstGeom prst="downArrow">
            <a:avLst/>
          </a:prstGeom>
          <a:solidFill>
            <a:srgbClr val="4F81BD"/>
          </a:solidFill>
          <a:ln w="0">
            <a:noFill/>
          </a:ln>
        </p:spPr>
        <p:txBody>
          <a:bodyPr/>
          <a:lstStyle/>
          <a:p>
            <a:endParaRPr lang="en-GR"/>
          </a:p>
        </p:txBody>
      </p:sp>
      <p:sp>
        <p:nvSpPr>
          <p:cNvPr id="15" name="decomposition arrow">
            <a:extLst>
              <a:ext uri="{FF2B5EF4-FFF2-40B4-BE49-F238E27FC236}">
                <a16:creationId xmlns:a16="http://schemas.microsoft.com/office/drawing/2014/main" id="{32181E98-2A8B-43AC-E246-B94853963BAF}"/>
              </a:ext>
            </a:extLst>
          </p:cNvPr>
          <p:cNvSpPr>
            <a:spLocks noGrp="1"/>
          </p:cNvSpPr>
          <p:nvPr/>
        </p:nvSpPr>
        <p:spPr>
          <a:xfrm rot="10800000">
            <a:off x="2139265" y="1940014"/>
            <a:ext cx="152400" cy="352425"/>
          </a:xfrm>
          <a:prstGeom prst="downArrow">
            <a:avLst/>
          </a:prstGeom>
          <a:solidFill>
            <a:schemeClr val="accent2"/>
          </a:solidFill>
          <a:ln w="0">
            <a:noFill/>
          </a:ln>
        </p:spPr>
        <p:txBody>
          <a:bodyPr/>
          <a:lstStyle/>
          <a:p>
            <a:endParaRPr lang="en-GR"/>
          </a:p>
        </p:txBody>
      </p:sp>
      <p:sp>
        <p:nvSpPr>
          <p:cNvPr id="19" name="decomposition arrow">
            <a:extLst>
              <a:ext uri="{FF2B5EF4-FFF2-40B4-BE49-F238E27FC236}">
                <a16:creationId xmlns:a16="http://schemas.microsoft.com/office/drawing/2014/main" id="{0EBE5C88-962B-3D01-C8D8-936DC4C76181}"/>
              </a:ext>
            </a:extLst>
          </p:cNvPr>
          <p:cNvSpPr>
            <a:spLocks noGrp="1"/>
          </p:cNvSpPr>
          <p:nvPr/>
        </p:nvSpPr>
        <p:spPr>
          <a:xfrm>
            <a:off x="1891396" y="2877386"/>
            <a:ext cx="152400" cy="352425"/>
          </a:xfrm>
          <a:prstGeom prst="downArrow">
            <a:avLst/>
          </a:prstGeom>
          <a:solidFill>
            <a:srgbClr val="4F81BD"/>
          </a:solidFill>
          <a:ln w="0">
            <a:noFill/>
          </a:ln>
        </p:spPr>
        <p:txBody>
          <a:bodyPr/>
          <a:lstStyle/>
          <a:p>
            <a:endParaRPr lang="en-GR"/>
          </a:p>
        </p:txBody>
      </p:sp>
      <p:sp>
        <p:nvSpPr>
          <p:cNvPr id="23" name="decomposition arrow">
            <a:extLst>
              <a:ext uri="{FF2B5EF4-FFF2-40B4-BE49-F238E27FC236}">
                <a16:creationId xmlns:a16="http://schemas.microsoft.com/office/drawing/2014/main" id="{3043E49D-7A1A-6452-5F83-083B8C56798E}"/>
              </a:ext>
            </a:extLst>
          </p:cNvPr>
          <p:cNvSpPr>
            <a:spLocks noGrp="1"/>
          </p:cNvSpPr>
          <p:nvPr/>
        </p:nvSpPr>
        <p:spPr>
          <a:xfrm rot="10800000">
            <a:off x="2139265" y="2869539"/>
            <a:ext cx="152400" cy="352425"/>
          </a:xfrm>
          <a:prstGeom prst="downArrow">
            <a:avLst/>
          </a:prstGeom>
          <a:solidFill>
            <a:schemeClr val="accent2"/>
          </a:solidFill>
          <a:ln w="0">
            <a:noFill/>
          </a:ln>
        </p:spPr>
        <p:txBody>
          <a:bodyPr/>
          <a:lstStyle/>
          <a:p>
            <a:endParaRPr lang="en-GR"/>
          </a:p>
        </p:txBody>
      </p:sp>
      <p:sp>
        <p:nvSpPr>
          <p:cNvPr id="24" name="decomposition arrow">
            <a:extLst>
              <a:ext uri="{FF2B5EF4-FFF2-40B4-BE49-F238E27FC236}">
                <a16:creationId xmlns:a16="http://schemas.microsoft.com/office/drawing/2014/main" id="{E21515AE-5DA4-2665-F274-1127F17D5BDB}"/>
              </a:ext>
            </a:extLst>
          </p:cNvPr>
          <p:cNvSpPr>
            <a:spLocks noGrp="1"/>
          </p:cNvSpPr>
          <p:nvPr/>
        </p:nvSpPr>
        <p:spPr>
          <a:xfrm>
            <a:off x="1891396" y="3817849"/>
            <a:ext cx="152400" cy="352425"/>
          </a:xfrm>
          <a:prstGeom prst="downArrow">
            <a:avLst/>
          </a:prstGeom>
          <a:solidFill>
            <a:srgbClr val="4F81BD"/>
          </a:solidFill>
          <a:ln w="0">
            <a:noFill/>
          </a:ln>
        </p:spPr>
        <p:txBody>
          <a:bodyPr/>
          <a:lstStyle/>
          <a:p>
            <a:endParaRPr lang="en-GR"/>
          </a:p>
        </p:txBody>
      </p:sp>
      <p:sp>
        <p:nvSpPr>
          <p:cNvPr id="25" name="decomposition arrow">
            <a:extLst>
              <a:ext uri="{FF2B5EF4-FFF2-40B4-BE49-F238E27FC236}">
                <a16:creationId xmlns:a16="http://schemas.microsoft.com/office/drawing/2014/main" id="{86D6F950-35E8-888F-1E5B-667565294505}"/>
              </a:ext>
            </a:extLst>
          </p:cNvPr>
          <p:cNvSpPr>
            <a:spLocks noGrp="1"/>
          </p:cNvSpPr>
          <p:nvPr/>
        </p:nvSpPr>
        <p:spPr>
          <a:xfrm rot="10800000">
            <a:off x="2139265" y="3810002"/>
            <a:ext cx="152400" cy="352425"/>
          </a:xfrm>
          <a:prstGeom prst="downArrow">
            <a:avLst/>
          </a:prstGeom>
          <a:solidFill>
            <a:schemeClr val="accent2"/>
          </a:solidFill>
          <a:ln w="0">
            <a:noFill/>
          </a:ln>
        </p:spPr>
        <p:txBody>
          <a:bodyPr/>
          <a:lstStyle/>
          <a:p>
            <a:endParaRPr lang="en-GR"/>
          </a:p>
        </p:txBody>
      </p:sp>
      <p:sp>
        <p:nvSpPr>
          <p:cNvPr id="10" name="Rounded Rectangle 9">
            <a:extLst>
              <a:ext uri="{FF2B5EF4-FFF2-40B4-BE49-F238E27FC236}">
                <a16:creationId xmlns:a16="http://schemas.microsoft.com/office/drawing/2014/main" id="{18162E74-D75E-A327-8DEB-D376B1A28EC5}"/>
              </a:ext>
            </a:extLst>
          </p:cNvPr>
          <p:cNvSpPr>
            <a:spLocks noGrp="1"/>
          </p:cNvSpPr>
          <p:nvPr/>
        </p:nvSpPr>
        <p:spPr>
          <a:xfrm>
            <a:off x="4153836" y="1017219"/>
            <a:ext cx="3933356" cy="4280636"/>
          </a:xfrm>
          <a:prstGeom prst="roundRect">
            <a:avLst>
              <a:gd name="adj" fmla="val 4902"/>
            </a:avLst>
          </a:prstGeom>
          <a:solidFill>
            <a:srgbClr val="F3F6FA"/>
          </a:solidFill>
          <a:ln w="0">
            <a:noFill/>
          </a:ln>
        </p:spPr>
        <p:txBody>
          <a:bodyPr/>
          <a:lstStyle/>
          <a:p>
            <a:endParaRPr lang="en-GR"/>
          </a:p>
        </p:txBody>
      </p:sp>
      <p:sp>
        <p:nvSpPr>
          <p:cNvPr id="11" name="Rectangle 10">
            <a:extLst>
              <a:ext uri="{FF2B5EF4-FFF2-40B4-BE49-F238E27FC236}">
                <a16:creationId xmlns:a16="http://schemas.microsoft.com/office/drawing/2014/main" id="{0954586A-2342-1160-5CA5-0729FB032A25}"/>
              </a:ext>
            </a:extLst>
          </p:cNvPr>
          <p:cNvSpPr>
            <a:spLocks noGrp="1"/>
          </p:cNvSpPr>
          <p:nvPr/>
        </p:nvSpPr>
        <p:spPr>
          <a:xfrm>
            <a:off x="4344336" y="1255343"/>
            <a:ext cx="134968" cy="312993"/>
          </a:xfrm>
          <a:prstGeom prst="rect">
            <a:avLst/>
          </a:prstGeom>
          <a:solidFill>
            <a:srgbClr val="B21F2D"/>
          </a:solidFill>
          <a:ln w="0">
            <a:noFill/>
          </a:ln>
        </p:spPr>
        <p:txBody>
          <a:bodyPr/>
          <a:lstStyle/>
          <a:p>
            <a:endParaRPr lang="en-GR"/>
          </a:p>
        </p:txBody>
      </p:sp>
      <p:sp>
        <p:nvSpPr>
          <p:cNvPr id="17" name="Rectangle 16">
            <a:extLst>
              <a:ext uri="{FF2B5EF4-FFF2-40B4-BE49-F238E27FC236}">
                <a16:creationId xmlns:a16="http://schemas.microsoft.com/office/drawing/2014/main" id="{FD53875F-7B01-6F35-E2C2-A7FBF736867B}"/>
              </a:ext>
            </a:extLst>
          </p:cNvPr>
          <p:cNvSpPr>
            <a:spLocks noGrp="1"/>
          </p:cNvSpPr>
          <p:nvPr/>
        </p:nvSpPr>
        <p:spPr>
          <a:xfrm>
            <a:off x="4487211" y="1236293"/>
            <a:ext cx="2969298" cy="349815"/>
          </a:xfrm>
          <a:prstGeom prst="rect">
            <a:avLst/>
          </a:prstGeom>
          <a:noFill/>
          <a:ln w="0">
            <a:noFill/>
          </a:ln>
        </p:spPr>
        <p:txBody>
          <a:bodyPr anchor="ctr">
            <a:normAutofit fontScale="93047"/>
          </a:bodyPr>
          <a:lstStyle/>
          <a:p>
            <a:pPr algn="l">
              <a:defRPr sz="1350" b="1">
                <a:solidFill>
                  <a:srgbClr val="17365D"/>
                </a:solidFill>
                <a:latin typeface="Calibri"/>
                <a:ea typeface="Calibri"/>
                <a:cs typeface="Calibri"/>
              </a:defRPr>
            </a:pPr>
            <a:r>
              <a:rPr lang="en-US" sz="1350" b="1">
                <a:solidFill>
                  <a:srgbClr val="17365D"/>
                </a:solidFill>
                <a:latin typeface="Calibri"/>
                <a:ea typeface="Calibri"/>
                <a:cs typeface="Calibri"/>
              </a:rPr>
              <a:t>What problems we might encounter?</a:t>
            </a:r>
            <a:endParaRPr sz="1350" b="1">
              <a:solidFill>
                <a:srgbClr val="17365D"/>
              </a:solidFill>
              <a:latin typeface="Calibri"/>
              <a:ea typeface="Calibri"/>
              <a:cs typeface="Calibri"/>
            </a:endParaRPr>
          </a:p>
        </p:txBody>
      </p:sp>
      <p:sp>
        <p:nvSpPr>
          <p:cNvPr id="18" name="Rectangle 17">
            <a:extLst>
              <a:ext uri="{FF2B5EF4-FFF2-40B4-BE49-F238E27FC236}">
                <a16:creationId xmlns:a16="http://schemas.microsoft.com/office/drawing/2014/main" id="{A9D48111-25D8-B839-279F-FF9774644BC5}"/>
              </a:ext>
            </a:extLst>
          </p:cNvPr>
          <p:cNvSpPr>
            <a:spLocks noGrp="1"/>
          </p:cNvSpPr>
          <p:nvPr/>
        </p:nvSpPr>
        <p:spPr>
          <a:xfrm>
            <a:off x="4325286" y="1836368"/>
            <a:ext cx="3239234" cy="478695"/>
          </a:xfrm>
          <a:prstGeom prst="rect">
            <a:avLst/>
          </a:prstGeom>
          <a:noFill/>
          <a:ln w="0">
            <a:noFill/>
          </a:ln>
        </p:spPr>
        <p:txBody>
          <a:bodyPr anchor="ctr">
            <a:normAutofit/>
          </a:bodyPr>
          <a:lstStyle/>
          <a:p>
            <a:pPr algn="ctr">
              <a:defRPr sz="2100" b="1">
                <a:solidFill>
                  <a:srgbClr val="17365D"/>
                </a:solidFill>
                <a:latin typeface="Calibri"/>
                <a:ea typeface="Calibri"/>
                <a:cs typeface="Calibri"/>
              </a:defRPr>
            </a:pPr>
            <a:r>
              <a:rPr lang="en-US" sz="2100" b="1">
                <a:solidFill>
                  <a:srgbClr val="17365D"/>
                </a:solidFill>
                <a:latin typeface="Calibri"/>
                <a:ea typeface="Calibri"/>
                <a:cs typeface="Calibri"/>
              </a:rPr>
              <a:t>Infinite Execution</a:t>
            </a:r>
            <a:endParaRPr sz="2100" b="1">
              <a:solidFill>
                <a:srgbClr val="17365D"/>
              </a:solidFill>
              <a:latin typeface="Calibri"/>
              <a:ea typeface="Calibri"/>
              <a:cs typeface="Calibri"/>
            </a:endParaRPr>
          </a:p>
        </p:txBody>
      </p:sp>
      <p:sp>
        <p:nvSpPr>
          <p:cNvPr id="26" name="Rectangle 25">
            <a:extLst>
              <a:ext uri="{FF2B5EF4-FFF2-40B4-BE49-F238E27FC236}">
                <a16:creationId xmlns:a16="http://schemas.microsoft.com/office/drawing/2014/main" id="{6F5660CB-2347-8BDD-D559-D8EC909C0B2F}"/>
              </a:ext>
            </a:extLst>
          </p:cNvPr>
          <p:cNvSpPr>
            <a:spLocks noGrp="1"/>
          </p:cNvSpPr>
          <p:nvPr/>
        </p:nvSpPr>
        <p:spPr>
          <a:xfrm>
            <a:off x="4325286" y="2331668"/>
            <a:ext cx="3239234" cy="414255"/>
          </a:xfrm>
          <a:prstGeom prst="rect">
            <a:avLst/>
          </a:prstGeom>
          <a:noFill/>
          <a:ln w="0">
            <a:noFill/>
          </a:ln>
        </p:spPr>
        <p:txBody>
          <a:bodyPr anchor="ctr">
            <a:normAutofit/>
          </a:bodyPr>
          <a:lstStyle/>
          <a:p>
            <a:pPr algn="ctr">
              <a:defRPr sz="1125" b="1">
                <a:solidFill>
                  <a:srgbClr val="5B6573"/>
                </a:solidFill>
                <a:latin typeface="Calibri"/>
                <a:ea typeface="Calibri"/>
                <a:cs typeface="Calibri"/>
              </a:defRPr>
            </a:pPr>
            <a:r>
              <a:rPr lang="en-US" sz="1125" b="1">
                <a:solidFill>
                  <a:srgbClr val="5B6573"/>
                </a:solidFill>
                <a:latin typeface="Calibri"/>
                <a:ea typeface="Calibri"/>
                <a:cs typeface="Calibri"/>
              </a:rPr>
              <a:t>Add iteration limit</a:t>
            </a:r>
            <a:endParaRPr sz="1125" b="1">
              <a:solidFill>
                <a:srgbClr val="5B6573"/>
              </a:solidFill>
              <a:latin typeface="Calibri"/>
              <a:ea typeface="Calibri"/>
              <a:cs typeface="Calibri"/>
            </a:endParaRPr>
          </a:p>
        </p:txBody>
      </p:sp>
      <p:sp>
        <p:nvSpPr>
          <p:cNvPr id="27" name="Rectangle 26">
            <a:extLst>
              <a:ext uri="{FF2B5EF4-FFF2-40B4-BE49-F238E27FC236}">
                <a16:creationId xmlns:a16="http://schemas.microsoft.com/office/drawing/2014/main" id="{22A159BF-5D74-1365-CBB2-333CD1B64739}"/>
              </a:ext>
            </a:extLst>
          </p:cNvPr>
          <p:cNvSpPr>
            <a:spLocks noGrp="1"/>
          </p:cNvSpPr>
          <p:nvPr/>
        </p:nvSpPr>
        <p:spPr>
          <a:xfrm>
            <a:off x="4325286" y="2903168"/>
            <a:ext cx="3239234" cy="478695"/>
          </a:xfrm>
          <a:prstGeom prst="rect">
            <a:avLst/>
          </a:prstGeom>
          <a:noFill/>
          <a:ln w="0">
            <a:noFill/>
          </a:ln>
        </p:spPr>
        <p:txBody>
          <a:bodyPr anchor="ctr">
            <a:normAutofit/>
          </a:bodyPr>
          <a:lstStyle/>
          <a:p>
            <a:pPr algn="ctr">
              <a:defRPr sz="2100" b="1">
                <a:solidFill>
                  <a:srgbClr val="17365D"/>
                </a:solidFill>
                <a:latin typeface="Calibri"/>
                <a:ea typeface="Calibri"/>
                <a:cs typeface="Calibri"/>
              </a:defRPr>
            </a:pPr>
            <a:r>
              <a:rPr lang="en-US" sz="2100" b="1">
                <a:solidFill>
                  <a:srgbClr val="17365D"/>
                </a:solidFill>
                <a:latin typeface="Calibri"/>
                <a:ea typeface="Calibri"/>
                <a:cs typeface="Calibri"/>
              </a:rPr>
              <a:t>Hallucination</a:t>
            </a:r>
            <a:endParaRPr sz="2100" b="1">
              <a:solidFill>
                <a:srgbClr val="17365D"/>
              </a:solidFill>
              <a:latin typeface="Calibri"/>
              <a:ea typeface="Calibri"/>
              <a:cs typeface="Calibri"/>
            </a:endParaRPr>
          </a:p>
        </p:txBody>
      </p:sp>
      <p:sp>
        <p:nvSpPr>
          <p:cNvPr id="28" name="Rectangle 27">
            <a:extLst>
              <a:ext uri="{FF2B5EF4-FFF2-40B4-BE49-F238E27FC236}">
                <a16:creationId xmlns:a16="http://schemas.microsoft.com/office/drawing/2014/main" id="{D68ABD38-996E-E4A0-2731-23D8AA9A8E8A}"/>
              </a:ext>
            </a:extLst>
          </p:cNvPr>
          <p:cNvSpPr>
            <a:spLocks noGrp="1"/>
          </p:cNvSpPr>
          <p:nvPr/>
        </p:nvSpPr>
        <p:spPr>
          <a:xfrm>
            <a:off x="4325286" y="3398468"/>
            <a:ext cx="3239234" cy="414255"/>
          </a:xfrm>
          <a:prstGeom prst="rect">
            <a:avLst/>
          </a:prstGeom>
          <a:noFill/>
          <a:ln w="0">
            <a:noFill/>
          </a:ln>
        </p:spPr>
        <p:txBody>
          <a:bodyPr anchor="ctr">
            <a:normAutofit/>
          </a:bodyPr>
          <a:lstStyle/>
          <a:p>
            <a:pPr algn="ctr">
              <a:defRPr sz="1125" b="1">
                <a:solidFill>
                  <a:srgbClr val="5B6573"/>
                </a:solidFill>
                <a:latin typeface="Calibri"/>
                <a:ea typeface="Calibri"/>
                <a:cs typeface="Calibri"/>
              </a:defRPr>
            </a:pPr>
            <a:r>
              <a:rPr lang="en-US" sz="1125" b="1">
                <a:solidFill>
                  <a:srgbClr val="5B6573"/>
                </a:solidFill>
                <a:latin typeface="Calibri"/>
                <a:ea typeface="Calibri"/>
                <a:cs typeface="Calibri"/>
              </a:rPr>
              <a:t>Validator LLMs</a:t>
            </a:r>
            <a:endParaRPr sz="1125" b="1">
              <a:solidFill>
                <a:srgbClr val="5B6573"/>
              </a:solidFill>
              <a:latin typeface="Calibri"/>
              <a:ea typeface="Calibri"/>
              <a:cs typeface="Calibri"/>
            </a:endParaRPr>
          </a:p>
        </p:txBody>
      </p:sp>
      <p:sp>
        <p:nvSpPr>
          <p:cNvPr id="29" name="Rectangle 28">
            <a:extLst>
              <a:ext uri="{FF2B5EF4-FFF2-40B4-BE49-F238E27FC236}">
                <a16:creationId xmlns:a16="http://schemas.microsoft.com/office/drawing/2014/main" id="{55B6D2FB-CD2B-334F-A5DD-412A729923ED}"/>
              </a:ext>
            </a:extLst>
          </p:cNvPr>
          <p:cNvSpPr>
            <a:spLocks noGrp="1"/>
          </p:cNvSpPr>
          <p:nvPr/>
        </p:nvSpPr>
        <p:spPr>
          <a:xfrm>
            <a:off x="4325286" y="3969968"/>
            <a:ext cx="3239234" cy="478695"/>
          </a:xfrm>
          <a:prstGeom prst="rect">
            <a:avLst/>
          </a:prstGeom>
          <a:noFill/>
          <a:ln w="0">
            <a:noFill/>
          </a:ln>
        </p:spPr>
        <p:txBody>
          <a:bodyPr anchor="ctr">
            <a:normAutofit fontScale="77500" lnSpcReduction="20000"/>
          </a:bodyPr>
          <a:lstStyle/>
          <a:p>
            <a:pPr algn="ctr">
              <a:defRPr sz="2250" b="1">
                <a:solidFill>
                  <a:srgbClr val="17365D"/>
                </a:solidFill>
                <a:latin typeface="Calibri"/>
                <a:ea typeface="Calibri"/>
                <a:cs typeface="Calibri"/>
              </a:defRPr>
            </a:pPr>
            <a:r>
              <a:rPr lang="en-GR" sz="2250" b="1">
                <a:solidFill>
                  <a:srgbClr val="17365D"/>
                </a:solidFill>
                <a:latin typeface="Calibri"/>
              </a:rPr>
              <a:t>High runtime and resource cost</a:t>
            </a:r>
            <a:endParaRPr sz="2250" b="1">
              <a:solidFill>
                <a:srgbClr val="17365D"/>
              </a:solidFill>
              <a:latin typeface="Calibri"/>
              <a:ea typeface="Calibri"/>
              <a:cs typeface="Calibri"/>
            </a:endParaRPr>
          </a:p>
        </p:txBody>
      </p:sp>
      <p:sp>
        <p:nvSpPr>
          <p:cNvPr id="30" name="Rectangle 29">
            <a:extLst>
              <a:ext uri="{FF2B5EF4-FFF2-40B4-BE49-F238E27FC236}">
                <a16:creationId xmlns:a16="http://schemas.microsoft.com/office/drawing/2014/main" id="{7D65ED67-930F-5D9D-FD9B-FA762598903A}"/>
              </a:ext>
            </a:extLst>
          </p:cNvPr>
          <p:cNvSpPr>
            <a:spLocks noGrp="1"/>
          </p:cNvSpPr>
          <p:nvPr/>
        </p:nvSpPr>
        <p:spPr>
          <a:xfrm>
            <a:off x="4325286" y="4465268"/>
            <a:ext cx="3239234" cy="414255"/>
          </a:xfrm>
          <a:prstGeom prst="rect">
            <a:avLst/>
          </a:prstGeom>
          <a:noFill/>
          <a:ln w="0">
            <a:noFill/>
          </a:ln>
        </p:spPr>
        <p:txBody>
          <a:bodyPr anchor="ctr">
            <a:normAutofit/>
          </a:bodyPr>
          <a:lstStyle/>
          <a:p>
            <a:pPr algn="ctr">
              <a:defRPr sz="1125" b="1">
                <a:solidFill>
                  <a:srgbClr val="5B6573"/>
                </a:solidFill>
                <a:latin typeface="Calibri"/>
                <a:ea typeface="Calibri"/>
                <a:cs typeface="Calibri"/>
              </a:defRPr>
            </a:pPr>
            <a:r>
              <a:rPr lang="en-US" sz="1125" b="1">
                <a:solidFill>
                  <a:srgbClr val="5B6573"/>
                </a:solidFill>
                <a:latin typeface="Calibri"/>
                <a:ea typeface="Calibri"/>
                <a:cs typeface="Calibri"/>
              </a:rPr>
              <a:t>LLM-SLM Hybrid Approach</a:t>
            </a:r>
            <a:endParaRPr sz="1125" b="1">
              <a:solidFill>
                <a:srgbClr val="5B6573"/>
              </a:solidFill>
              <a:latin typeface="Calibri"/>
              <a:ea typeface="Calibri"/>
              <a:cs typeface="Calibri"/>
            </a:endParaRPr>
          </a:p>
        </p:txBody>
      </p:sp>
    </p:spTree>
    <p:extLst>
      <p:ext uri="{BB962C8B-B14F-4D97-AF65-F5344CB8AC3E}">
        <p14:creationId xmlns:p14="http://schemas.microsoft.com/office/powerpoint/2010/main" val="36789846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EFA9-2FEC-6C06-0E0C-9A50D70BFAA6}"/>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939E8931-37B0-6C26-7201-5B7220A13813}"/>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C66413EC-5FDA-FB7D-E879-CFB821EEED35}"/>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65714052-9C8C-287F-21FC-9C8DD33331EB}"/>
              </a:ext>
            </a:extLst>
          </p:cNvPr>
          <p:cNvSpPr>
            <a:spLocks noGrp="1"/>
          </p:cNvSpPr>
          <p:nvPr/>
        </p:nvSpPr>
        <p:spPr>
          <a:xfrm>
            <a:off x="400050" y="209550"/>
            <a:ext cx="7762875" cy="514350"/>
          </a:xfrm>
          <a:prstGeom prst="rect">
            <a:avLst/>
          </a:prstGeom>
          <a:noFill/>
          <a:ln w="0">
            <a:noFill/>
          </a:ln>
        </p:spPr>
        <p:txBody>
          <a:bodyPr anchor="ctr">
            <a:normAutofit fontScale="96732"/>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What went wrong in our own runs</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C4DE8464-DBB6-8A1E-D3C9-C84DC3C682B2}"/>
              </a:ext>
            </a:extLst>
          </p:cNvPr>
          <p:cNvSpPr>
            <a:spLocks noGrp="1"/>
          </p:cNvSpPr>
          <p:nvPr/>
        </p:nvSpPr>
        <p:spPr>
          <a:xfrm>
            <a:off x="7964424" y="295275"/>
            <a:ext cx="777240" cy="266700"/>
          </a:xfrm>
          <a:prstGeom prst="rect">
            <a:avLst/>
          </a:prstGeom>
          <a:noFill/>
          <a:ln w="0">
            <a:noFill/>
          </a:ln>
        </p:spPr>
        <p:txBody>
          <a:bodyPr anchor="ctr">
            <a:normAutofit/>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4</a:t>
            </a:r>
          </a:p>
        </p:txBody>
      </p:sp>
      <p:sp>
        <p:nvSpPr>
          <p:cNvPr id="5" name="Rectangle 4">
            <a:extLst>
              <a:ext uri="{FF2B5EF4-FFF2-40B4-BE49-F238E27FC236}">
                <a16:creationId xmlns:a16="http://schemas.microsoft.com/office/drawing/2014/main" id="{8AB6EF38-C748-1E03-F825-B11B3B3DA32E}"/>
              </a:ext>
            </a:extLst>
          </p:cNvPr>
          <p:cNvSpPr>
            <a:spLocks noGrp="1"/>
          </p:cNvSpPr>
          <p:nvPr/>
        </p:nvSpPr>
        <p:spPr>
          <a:xfrm>
            <a:off x="571500" y="1285875"/>
            <a:ext cx="95250" cy="914400"/>
          </a:xfrm>
          <a:prstGeom prst="rect">
            <a:avLst/>
          </a:prstGeom>
          <a:solidFill>
            <a:srgbClr val="17365D"/>
          </a:solidFill>
          <a:ln w="0">
            <a:noFill/>
          </a:ln>
        </p:spPr>
        <p:txBody>
          <a:bodyPr/>
          <a:lstStyle/>
          <a:p>
            <a:endParaRPr lang="en-GR"/>
          </a:p>
        </p:txBody>
      </p:sp>
      <p:sp>
        <p:nvSpPr>
          <p:cNvPr id="7" name="Rectangle 6">
            <a:extLst>
              <a:ext uri="{FF2B5EF4-FFF2-40B4-BE49-F238E27FC236}">
                <a16:creationId xmlns:a16="http://schemas.microsoft.com/office/drawing/2014/main" id="{EA5ADD46-F7F1-6AE9-C155-67672B2AE1B2}"/>
              </a:ext>
            </a:extLst>
          </p:cNvPr>
          <p:cNvSpPr>
            <a:spLocks noGrp="1"/>
          </p:cNvSpPr>
          <p:nvPr/>
        </p:nvSpPr>
        <p:spPr>
          <a:xfrm>
            <a:off x="857249" y="1289304"/>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Off-by-one testbench</a:t>
            </a:r>
          </a:p>
          <a:p>
            <a:pPr algn="l">
              <a:spcAft>
                <a:spcPts val="0"/>
              </a:spcAft>
              <a:buNone/>
            </a:pPr>
            <a:r>
              <a:rPr lang="en-US" sz="1050" b="0" i="0">
                <a:solidFill>
                  <a:srgbClr val="5D6C7B"/>
                </a:solidFill>
                <a:latin typeface="Calibri"/>
                <a:ea typeface="Calibri"/>
                <a:cs typeface="Calibri"/>
              </a:rPr>
              <a:t>p1: a correct FSM failed 10 RTL iterations – the TB sampled #0.1 after the clock edge</a:t>
            </a:r>
          </a:p>
        </p:txBody>
      </p:sp>
      <p:sp>
        <p:nvSpPr>
          <p:cNvPr id="8" name="Rectangle 7">
            <a:extLst>
              <a:ext uri="{FF2B5EF4-FFF2-40B4-BE49-F238E27FC236}">
                <a16:creationId xmlns:a16="http://schemas.microsoft.com/office/drawing/2014/main" id="{80EC66BA-D84F-B870-30FA-EB9A5BE18D6E}"/>
              </a:ext>
            </a:extLst>
          </p:cNvPr>
          <p:cNvSpPr>
            <a:spLocks noGrp="1"/>
          </p:cNvSpPr>
          <p:nvPr/>
        </p:nvSpPr>
        <p:spPr>
          <a:xfrm>
            <a:off x="4810125" y="1285875"/>
            <a:ext cx="95250" cy="914400"/>
          </a:xfrm>
          <a:prstGeom prst="rect">
            <a:avLst/>
          </a:prstGeom>
          <a:solidFill>
            <a:srgbClr val="2F75B5"/>
          </a:solidFill>
          <a:ln w="0">
            <a:noFill/>
          </a:ln>
        </p:spPr>
        <p:txBody>
          <a:bodyPr/>
          <a:lstStyle/>
          <a:p>
            <a:endParaRPr lang="en-GR"/>
          </a:p>
        </p:txBody>
      </p:sp>
      <p:sp>
        <p:nvSpPr>
          <p:cNvPr id="9" name="Rectangle 8">
            <a:extLst>
              <a:ext uri="{FF2B5EF4-FFF2-40B4-BE49-F238E27FC236}">
                <a16:creationId xmlns:a16="http://schemas.microsoft.com/office/drawing/2014/main" id="{2E02400E-8FBC-0436-3148-D8ECF2F887BE}"/>
              </a:ext>
            </a:extLst>
          </p:cNvPr>
          <p:cNvSpPr>
            <a:spLocks noGrp="1"/>
          </p:cNvSpPr>
          <p:nvPr/>
        </p:nvSpPr>
        <p:spPr>
          <a:xfrm>
            <a:off x="5095875" y="1190625"/>
            <a:ext cx="1762125" cy="304800"/>
          </a:xfrm>
          <a:prstGeom prst="rect">
            <a:avLst/>
          </a:prstGeom>
          <a:noFill/>
          <a:ln w="0">
            <a:noFill/>
          </a:ln>
        </p:spPr>
        <p:txBody>
          <a:bodyPr anchor="ctr">
            <a:normAutofit/>
          </a:bodyPr>
          <a:lstStyle/>
          <a:p>
            <a:pPr algn="l">
              <a:defRPr sz="1050" b="1">
                <a:solidFill>
                  <a:srgbClr val="5B6573"/>
                </a:solidFill>
                <a:latin typeface="Calibri"/>
                <a:ea typeface="Calibri"/>
                <a:cs typeface="Calibri"/>
              </a:defRPr>
            </a:pPr>
            <a:endParaRPr sz="1050" b="1">
              <a:solidFill>
                <a:srgbClr val="5B6573"/>
              </a:solidFill>
              <a:latin typeface="Calibri"/>
              <a:ea typeface="Calibri"/>
              <a:cs typeface="Calibri"/>
            </a:endParaRPr>
          </a:p>
        </p:txBody>
      </p:sp>
      <p:sp>
        <p:nvSpPr>
          <p:cNvPr id="10" name="Rectangle 9">
            <a:extLst>
              <a:ext uri="{FF2B5EF4-FFF2-40B4-BE49-F238E27FC236}">
                <a16:creationId xmlns:a16="http://schemas.microsoft.com/office/drawing/2014/main" id="{94175F7E-7CEE-B524-6287-D784187FF167}"/>
              </a:ext>
            </a:extLst>
          </p:cNvPr>
          <p:cNvSpPr>
            <a:spLocks noGrp="1"/>
          </p:cNvSpPr>
          <p:nvPr/>
        </p:nvSpPr>
        <p:spPr>
          <a:xfrm>
            <a:off x="5095875" y="1289304"/>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A wrong rule, followed faithfully</a:t>
            </a:r>
          </a:p>
          <a:p>
            <a:pPr algn="l">
              <a:spcAft>
                <a:spcPts val="0"/>
              </a:spcAft>
              <a:buNone/>
            </a:pPr>
            <a:r>
              <a:rPr lang="en-US" sz="1050" b="0" i="0">
                <a:solidFill>
                  <a:srgbClr val="5D6C7B"/>
                </a:solidFill>
                <a:latin typeface="Calibri"/>
                <a:ea typeface="Calibri"/>
                <a:cs typeface="Calibri"/>
              </a:rPr>
              <a:t>p11: the rule said 'raise CORE_MARGIN' – the agent went to 50, the error stayed</a:t>
            </a:r>
          </a:p>
        </p:txBody>
      </p:sp>
      <p:sp>
        <p:nvSpPr>
          <p:cNvPr id="11" name="Rectangle 10">
            <a:extLst>
              <a:ext uri="{FF2B5EF4-FFF2-40B4-BE49-F238E27FC236}">
                <a16:creationId xmlns:a16="http://schemas.microsoft.com/office/drawing/2014/main" id="{FD6558DA-B889-6405-207F-8AB4C4309ABC}"/>
              </a:ext>
            </a:extLst>
          </p:cNvPr>
          <p:cNvSpPr>
            <a:spLocks noGrp="1"/>
          </p:cNvSpPr>
          <p:nvPr/>
        </p:nvSpPr>
        <p:spPr>
          <a:xfrm>
            <a:off x="571500" y="2667000"/>
            <a:ext cx="95250" cy="914400"/>
          </a:xfrm>
          <a:prstGeom prst="rect">
            <a:avLst/>
          </a:prstGeom>
          <a:solidFill>
            <a:srgbClr val="B21F2D"/>
          </a:solidFill>
          <a:ln w="0">
            <a:noFill/>
          </a:ln>
        </p:spPr>
        <p:txBody>
          <a:bodyPr/>
          <a:lstStyle/>
          <a:p>
            <a:endParaRPr lang="en-GR"/>
          </a:p>
        </p:txBody>
      </p:sp>
      <p:sp>
        <p:nvSpPr>
          <p:cNvPr id="13" name="Rectangle 12">
            <a:extLst>
              <a:ext uri="{FF2B5EF4-FFF2-40B4-BE49-F238E27FC236}">
                <a16:creationId xmlns:a16="http://schemas.microsoft.com/office/drawing/2014/main" id="{798A51FC-5DB2-B148-21A5-3A0914D620A0}"/>
              </a:ext>
            </a:extLst>
          </p:cNvPr>
          <p:cNvSpPr>
            <a:spLocks noGrp="1"/>
          </p:cNvSpPr>
          <p:nvPr/>
        </p:nvSpPr>
        <p:spPr>
          <a:xfrm>
            <a:off x="857249" y="2670048"/>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Silent spec corruption</a:t>
            </a:r>
          </a:p>
          <a:p>
            <a:pPr algn="l">
              <a:spcAft>
                <a:spcPts val="0"/>
              </a:spcAft>
              <a:buNone/>
            </a:pPr>
            <a:r>
              <a:rPr lang="en-US" sz="1050" b="0" i="0">
                <a:solidFill>
                  <a:srgbClr val="5D6C7B"/>
                </a:solidFill>
                <a:latin typeface="Calibri"/>
                <a:ea typeface="Calibri"/>
                <a:cs typeface="Calibri"/>
              </a:rPr>
              <a:t>p8: YAML read [15:0] as the number 900 – every prompt said type: [900]</a:t>
            </a:r>
          </a:p>
        </p:txBody>
      </p:sp>
      <p:sp>
        <p:nvSpPr>
          <p:cNvPr id="14" name="Rectangle 13">
            <a:extLst>
              <a:ext uri="{FF2B5EF4-FFF2-40B4-BE49-F238E27FC236}">
                <a16:creationId xmlns:a16="http://schemas.microsoft.com/office/drawing/2014/main" id="{C2A1D082-598E-37D3-6D16-5E946361734C}"/>
              </a:ext>
            </a:extLst>
          </p:cNvPr>
          <p:cNvSpPr>
            <a:spLocks noGrp="1"/>
          </p:cNvSpPr>
          <p:nvPr/>
        </p:nvSpPr>
        <p:spPr>
          <a:xfrm>
            <a:off x="4810125" y="2667000"/>
            <a:ext cx="95250" cy="914400"/>
          </a:xfrm>
          <a:prstGeom prst="rect">
            <a:avLst/>
          </a:prstGeom>
          <a:solidFill>
            <a:srgbClr val="D99A2B"/>
          </a:solidFill>
          <a:ln w="0">
            <a:noFill/>
          </a:ln>
        </p:spPr>
        <p:txBody>
          <a:bodyPr/>
          <a:lstStyle/>
          <a:p>
            <a:endParaRPr lang="en-GR"/>
          </a:p>
        </p:txBody>
      </p:sp>
      <p:sp>
        <p:nvSpPr>
          <p:cNvPr id="16" name="Rectangle 15">
            <a:extLst>
              <a:ext uri="{FF2B5EF4-FFF2-40B4-BE49-F238E27FC236}">
                <a16:creationId xmlns:a16="http://schemas.microsoft.com/office/drawing/2014/main" id="{5CF7404F-0666-7DEE-5DDB-34785A72BCCF}"/>
              </a:ext>
            </a:extLst>
          </p:cNvPr>
          <p:cNvSpPr>
            <a:spLocks noGrp="1"/>
          </p:cNvSpPr>
          <p:nvPr/>
        </p:nvSpPr>
        <p:spPr>
          <a:xfrm>
            <a:off x="5095875" y="2670048"/>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Provider outage</a:t>
            </a:r>
          </a:p>
          <a:p>
            <a:pPr algn="l">
              <a:spcAft>
                <a:spcPts val="0"/>
              </a:spcAft>
              <a:buNone/>
            </a:pPr>
            <a:r>
              <a:rPr lang="en-US" sz="1050" b="0" i="0">
                <a:solidFill>
                  <a:srgbClr val="5D6C7B"/>
                </a:solidFill>
                <a:latin typeface="Calibri"/>
                <a:ea typeface="Calibri"/>
                <a:cs typeface="Calibri"/>
              </a:rPr>
              <a:t>Gemini preview returned 503 on the first call – now retried with backoff</a:t>
            </a:r>
          </a:p>
        </p:txBody>
      </p:sp>
      <p:sp>
        <p:nvSpPr>
          <p:cNvPr id="17" name="Rectangle 16">
            <a:extLst>
              <a:ext uri="{FF2B5EF4-FFF2-40B4-BE49-F238E27FC236}">
                <a16:creationId xmlns:a16="http://schemas.microsoft.com/office/drawing/2014/main" id="{B18B4C78-1AD6-A4C6-861A-293586C56336}"/>
              </a:ext>
            </a:extLst>
          </p:cNvPr>
          <p:cNvSpPr>
            <a:spLocks noGrp="1"/>
          </p:cNvSpPr>
          <p:nvPr/>
        </p:nvSpPr>
        <p:spPr>
          <a:xfrm>
            <a:off x="571500" y="4048125"/>
            <a:ext cx="95250" cy="914400"/>
          </a:xfrm>
          <a:prstGeom prst="rect">
            <a:avLst/>
          </a:prstGeom>
          <a:solidFill>
            <a:srgbClr val="2E8B57"/>
          </a:solidFill>
          <a:ln w="0">
            <a:noFill/>
          </a:ln>
        </p:spPr>
        <p:txBody>
          <a:bodyPr/>
          <a:lstStyle/>
          <a:p>
            <a:endParaRPr lang="en-GR"/>
          </a:p>
        </p:txBody>
      </p:sp>
      <p:sp>
        <p:nvSpPr>
          <p:cNvPr id="19" name="Rectangle 18">
            <a:extLst>
              <a:ext uri="{FF2B5EF4-FFF2-40B4-BE49-F238E27FC236}">
                <a16:creationId xmlns:a16="http://schemas.microsoft.com/office/drawing/2014/main" id="{C1CC1D85-742D-B265-16A2-B1A3781A7550}"/>
              </a:ext>
            </a:extLst>
          </p:cNvPr>
          <p:cNvSpPr>
            <a:spLocks noGrp="1"/>
          </p:cNvSpPr>
          <p:nvPr/>
        </p:nvSpPr>
        <p:spPr>
          <a:xfrm>
            <a:off x="857248" y="4050791"/>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Contradicting rules</a:t>
            </a:r>
          </a:p>
          <a:p>
            <a:pPr algn="l">
              <a:spcAft>
                <a:spcPts val="0"/>
              </a:spcAft>
              <a:buNone/>
            </a:pPr>
            <a:r>
              <a:rPr lang="en-US" sz="1050" b="0" i="0">
                <a:solidFill>
                  <a:srgbClr val="5D6C7B"/>
                </a:solidFill>
                <a:latin typeface="Calibri"/>
                <a:ea typeface="Calibri"/>
                <a:cs typeface="Calibri"/>
              </a:rPr>
              <a:t>'a state must not loop to itself' – but a 0011 detector needs that loop</a:t>
            </a:r>
          </a:p>
        </p:txBody>
      </p:sp>
      <p:sp>
        <p:nvSpPr>
          <p:cNvPr id="20" name="Rectangle 19">
            <a:extLst>
              <a:ext uri="{FF2B5EF4-FFF2-40B4-BE49-F238E27FC236}">
                <a16:creationId xmlns:a16="http://schemas.microsoft.com/office/drawing/2014/main" id="{7C4092BC-69B9-7564-80B6-BEF7E6587F03}"/>
              </a:ext>
            </a:extLst>
          </p:cNvPr>
          <p:cNvSpPr>
            <a:spLocks noGrp="1"/>
          </p:cNvSpPr>
          <p:nvPr/>
        </p:nvSpPr>
        <p:spPr>
          <a:xfrm>
            <a:off x="4810125" y="4048125"/>
            <a:ext cx="95250" cy="914400"/>
          </a:xfrm>
          <a:prstGeom prst="rect">
            <a:avLst/>
          </a:prstGeom>
          <a:solidFill>
            <a:srgbClr val="E15B64"/>
          </a:solidFill>
          <a:ln w="0">
            <a:noFill/>
          </a:ln>
        </p:spPr>
        <p:txBody>
          <a:bodyPr/>
          <a:lstStyle/>
          <a:p>
            <a:endParaRPr lang="en-GR"/>
          </a:p>
        </p:txBody>
      </p:sp>
      <p:sp>
        <p:nvSpPr>
          <p:cNvPr id="22" name="Rectangle 21">
            <a:extLst>
              <a:ext uri="{FF2B5EF4-FFF2-40B4-BE49-F238E27FC236}">
                <a16:creationId xmlns:a16="http://schemas.microsoft.com/office/drawing/2014/main" id="{33D44A24-5C16-F830-A069-FA2679A7C18A}"/>
              </a:ext>
            </a:extLst>
          </p:cNvPr>
          <p:cNvSpPr>
            <a:spLocks noGrp="1"/>
          </p:cNvSpPr>
          <p:nvPr/>
        </p:nvSpPr>
        <p:spPr>
          <a:xfrm>
            <a:off x="5095874" y="4050791"/>
            <a:ext cx="3381375" cy="914400"/>
          </a:xfrm>
          <a:prstGeom prst="rect">
            <a:avLst/>
          </a:prstGeom>
          <a:noFill/>
          <a:ln w="0">
            <a:noFill/>
          </a:ln>
        </p:spPr>
        <p:txBody>
          <a:bodyPr anchor="ctr">
            <a:normAutofit/>
          </a:bodyPr>
          <a:lstStyle/>
          <a:p>
            <a:pPr algn="l">
              <a:spcAft>
                <a:spcPts val="200"/>
              </a:spcAft>
              <a:buNone/>
            </a:pPr>
            <a:r>
              <a:rPr lang="en-US" sz="1500" b="1" i="0">
                <a:solidFill>
                  <a:srgbClr val="0E2745"/>
                </a:solidFill>
                <a:latin typeface="Calibri"/>
                <a:ea typeface="Calibri"/>
                <a:cs typeface="Calibri"/>
              </a:rPr>
              <a:t>Missing contract</a:t>
            </a:r>
          </a:p>
          <a:p>
            <a:pPr algn="l">
              <a:spcAft>
                <a:spcPts val="0"/>
              </a:spcAft>
              <a:buNone/>
            </a:pPr>
            <a:r>
              <a:rPr lang="en-US" sz="1050" b="0" i="0">
                <a:solidFill>
                  <a:srgbClr val="5D6C7B"/>
                </a:solidFill>
                <a:latin typeface="Calibri"/>
                <a:ea typeface="Calibri"/>
                <a:cs typeface="Calibri"/>
              </a:rPr>
              <a:t>TB and RTL agents never agreed on latency – fixed with a timing section in every spec</a:t>
            </a:r>
          </a:p>
        </p:txBody>
      </p:sp>
      <p:sp>
        <p:nvSpPr>
          <p:cNvPr id="23" name="Rounded Rectangle 22">
            <a:extLst>
              <a:ext uri="{FF2B5EF4-FFF2-40B4-BE49-F238E27FC236}">
                <a16:creationId xmlns:a16="http://schemas.microsoft.com/office/drawing/2014/main" id="{B947CBB1-700D-33D5-D6AD-03D1DE7D490D}"/>
              </a:ext>
            </a:extLst>
          </p:cNvPr>
          <p:cNvSpPr>
            <a:spLocks noGrp="1"/>
          </p:cNvSpPr>
          <p:nvPr/>
        </p:nvSpPr>
        <p:spPr>
          <a:xfrm>
            <a:off x="822960" y="5591175"/>
            <a:ext cx="7498079" cy="514350"/>
          </a:xfrm>
          <a:prstGeom prst="roundRect">
            <a:avLst>
              <a:gd name="adj" fmla="val 22222"/>
            </a:avLst>
          </a:prstGeom>
          <a:solidFill>
            <a:srgbClr val="0E2745"/>
          </a:solidFill>
          <a:ln w="0">
            <a:noFill/>
          </a:ln>
        </p:spPr>
        <p:txBody>
          <a:bodyPr/>
          <a:lstStyle/>
          <a:p>
            <a:endParaRPr lang="en-GR"/>
          </a:p>
        </p:txBody>
      </p:sp>
      <p:sp>
        <p:nvSpPr>
          <p:cNvPr id="24" name="Rectangle 23">
            <a:extLst>
              <a:ext uri="{FF2B5EF4-FFF2-40B4-BE49-F238E27FC236}">
                <a16:creationId xmlns:a16="http://schemas.microsoft.com/office/drawing/2014/main" id="{D3BCD715-81DE-CC44-6C55-8EC69D18806B}"/>
              </a:ext>
            </a:extLst>
          </p:cNvPr>
          <p:cNvSpPr>
            <a:spLocks noGrp="1"/>
          </p:cNvSpPr>
          <p:nvPr/>
        </p:nvSpPr>
        <p:spPr>
          <a:xfrm>
            <a:off x="914400" y="5667375"/>
            <a:ext cx="7315200" cy="361950"/>
          </a:xfrm>
          <a:prstGeom prst="rect">
            <a:avLst/>
          </a:prstGeom>
          <a:noFill/>
          <a:ln w="0">
            <a:noFill/>
          </a:ln>
        </p:spPr>
        <p:txBody>
          <a:bodyPr anchor="ctr">
            <a:normAutofit/>
          </a:bodyPr>
          <a:lstStyle/>
          <a:p>
            <a:pPr algn="ctr">
              <a:defRPr sz="1350" b="1">
                <a:solidFill>
                  <a:srgbClr val="FFFFFF"/>
                </a:solidFill>
                <a:latin typeface="Calibri"/>
                <a:ea typeface="Calibri"/>
                <a:cs typeface="Calibri"/>
              </a:defRPr>
            </a:pPr>
            <a:r>
              <a:rPr lang="en-US" sz="1350" b="1">
                <a:solidFill>
                  <a:srgbClr val="FFFFFF"/>
                </a:solidFill>
                <a:latin typeface="Calibri"/>
                <a:ea typeface="Calibri"/>
                <a:cs typeface="Calibri"/>
              </a:rPr>
              <a:t>Agents amplify the quality of the spec, the rules and the logs you give them</a:t>
            </a:r>
            <a:endParaRPr sz="1350" b="1">
              <a:solidFill>
                <a:srgbClr val="FFFFFF"/>
              </a:solidFill>
              <a:latin typeface="Calibri"/>
              <a:ea typeface="Calibri"/>
              <a:cs typeface="Calibri"/>
            </a:endParaRPr>
          </a:p>
        </p:txBody>
      </p:sp>
      <p:sp>
        <p:nvSpPr>
          <p:cNvPr id="25" name="Rectangle 24">
            <a:extLst>
              <a:ext uri="{FF2B5EF4-FFF2-40B4-BE49-F238E27FC236}">
                <a16:creationId xmlns:a16="http://schemas.microsoft.com/office/drawing/2014/main" id="{C70802E8-E49E-696C-604C-6BCE5C917DA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90</a:t>
            </a:fld>
            <a:endParaRPr sz="750" b="0">
              <a:solidFill>
                <a:srgbClr val="5B6573"/>
              </a:solidFill>
              <a:latin typeface="Calibri"/>
              <a:ea typeface="Calibri"/>
              <a:cs typeface="Calibri"/>
            </a:endParaRPr>
          </a:p>
        </p:txBody>
      </p:sp>
    </p:spTree>
    <p:extLst>
      <p:ext uri="{BB962C8B-B14F-4D97-AF65-F5344CB8AC3E}">
        <p14:creationId xmlns:p14="http://schemas.microsoft.com/office/powerpoint/2010/main" val="36517121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EFA9-2FEC-6C06-0E0C-9A50D70BFAA6}"/>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939E8931-37B0-6C26-7201-5B7220A13813}"/>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C66413EC-5FDA-FB7D-E879-CFB821EEED35}"/>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65714052-9C8C-287F-21FC-9C8DD33331EB}"/>
              </a:ext>
            </a:extLst>
          </p:cNvPr>
          <p:cNvSpPr>
            <a:spLocks noGrp="1"/>
          </p:cNvSpPr>
          <p:nvPr/>
        </p:nvSpPr>
        <p:spPr>
          <a:xfrm>
            <a:off x="400050" y="209550"/>
            <a:ext cx="7762875" cy="514350"/>
          </a:xfrm>
          <a:prstGeom prst="rect">
            <a:avLst/>
          </a:prstGeom>
          <a:noFill/>
          <a:ln w="0">
            <a:noFill/>
          </a:ln>
        </p:spPr>
        <p:txBody>
          <a:bodyPr anchor="ctr">
            <a:normAutofit fontScale="96732"/>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What we learned</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C4DE8464-DBB6-8A1E-D3C9-C84DC3C682B2}"/>
              </a:ext>
            </a:extLst>
          </p:cNvPr>
          <p:cNvSpPr>
            <a:spLocks noGrp="1"/>
          </p:cNvSpPr>
          <p:nvPr/>
        </p:nvSpPr>
        <p:spPr>
          <a:xfrm>
            <a:off x="7964424" y="295275"/>
            <a:ext cx="777240" cy="266700"/>
          </a:xfrm>
          <a:prstGeom prst="rect">
            <a:avLst/>
          </a:prstGeom>
          <a:noFill/>
          <a:ln w="0">
            <a:noFill/>
          </a:ln>
        </p:spPr>
        <p:txBody>
          <a:bodyPr anchor="ctr">
            <a:normAutofit/>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4</a:t>
            </a:r>
          </a:p>
        </p:txBody>
      </p:sp>
      <p:sp>
        <p:nvSpPr>
          <p:cNvPr id="25" name="Rectangle 24">
            <a:extLst>
              <a:ext uri="{FF2B5EF4-FFF2-40B4-BE49-F238E27FC236}">
                <a16:creationId xmlns:a16="http://schemas.microsoft.com/office/drawing/2014/main" id="{C70802E8-E49E-696C-604C-6BCE5C917DA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91</a:t>
            </a:fld>
            <a:endParaRPr sz="750" b="0">
              <a:solidFill>
                <a:srgbClr val="5B6573"/>
              </a:solidFill>
              <a:latin typeface="Calibri"/>
              <a:ea typeface="Calibri"/>
              <a:cs typeface="Calibri"/>
            </a:endParaRPr>
          </a:p>
        </p:txBody>
      </p:sp>
      <p:sp>
        <p:nvSpPr>
          <p:cNvPr id="1151" name="shape 1151"/>
          <p:cNvSpPr/>
          <p:nvPr/>
        </p:nvSpPr>
        <p:spPr>
          <a:xfrm>
            <a:off x="457200" y="1097280"/>
            <a:ext cx="2606040" cy="3566160"/>
          </a:xfrm>
          <a:prstGeom prst="roundRect">
            <a:avLst>
              <a:gd name="adj" fmla="val 6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52" name="shape 1152"/>
          <p:cNvSpPr/>
          <p:nvPr/>
        </p:nvSpPr>
        <p:spPr>
          <a:xfrm>
            <a:off x="457200" y="1097280"/>
            <a:ext cx="2606040" cy="91440"/>
          </a:xfrm>
          <a:prstGeom prst="rect">
            <a:avLst/>
          </a:prstGeom>
          <a:solidFill>
            <a:srgbClr val="2E75B6"/>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53" name="shape 1153"/>
          <p:cNvSpPr/>
          <p:nvPr/>
        </p:nvSpPr>
        <p:spPr>
          <a:xfrm>
            <a:off x="640080" y="1371600"/>
            <a:ext cx="502920" cy="502920"/>
          </a:xfrm>
          <a:prstGeom prst="ellipse">
            <a:avLst/>
          </a:prstGeom>
          <a:solidFill>
            <a:srgbClr val="2E75B6"/>
          </a:solidFill>
          <a:ln>
            <a:noFill/>
          </a:ln>
        </p:spPr>
        <p:txBody>
          <a:bodyPr wrap="square" lIns="0" tIns="0" rIns="0" bIns="0" anchor="ctr">
            <a:noAutofit/>
          </a:bodyPr>
          <a:lstStyle/>
          <a:p>
            <a:pPr algn="ctr">
              <a:spcBef>
                <a:spcPts val="0"/>
              </a:spcBef>
              <a:spcAft>
                <a:spcPts val="0"/>
              </a:spcAft>
              <a:buNone/>
            </a:pPr>
            <a:r>
              <a:rPr lang="en-US" sz="1500" b="1" i="0">
                <a:solidFill>
                  <a:srgbClr val="FFFFFF"/>
                </a:solidFill>
                <a:latin typeface="Calibri"/>
                <a:ea typeface="Calibri"/>
                <a:cs typeface="Calibri"/>
              </a:rPr>
              <a:t>1</a:t>
            </a:r>
          </a:p>
        </p:txBody>
      </p:sp>
      <p:sp>
        <p:nvSpPr>
          <p:cNvPr id="1154" name="text 1154"/>
          <p:cNvSpPr txBox="1"/>
          <p:nvPr/>
        </p:nvSpPr>
        <p:spPr>
          <a:xfrm>
            <a:off x="640080" y="2011680"/>
            <a:ext cx="2240280" cy="7315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400" b="1" i="0">
                <a:solidFill>
                  <a:srgbClr val="0E2745"/>
                </a:solidFill>
                <a:latin typeface="Calibri"/>
                <a:ea typeface="Calibri"/>
                <a:cs typeface="Calibri"/>
              </a:rPr>
              <a:t>Prompt refinement beats raw reasoning</a:t>
            </a:r>
          </a:p>
        </p:txBody>
      </p:sp>
      <p:sp>
        <p:nvSpPr>
          <p:cNvPr id="1155" name="text 1155"/>
          <p:cNvSpPr txBox="1"/>
          <p:nvPr/>
        </p:nvSpPr>
        <p:spPr>
          <a:xfrm>
            <a:off x="640080" y="2788920"/>
            <a:ext cx="2240280" cy="1783080"/>
          </a:xfrm>
          <a:prstGeom prst="rect">
            <a:avLst/>
          </a:prstGeom>
          <a:noFill/>
          <a:ln>
            <a:noFill/>
          </a:ln>
        </p:spPr>
        <p:txBody>
          <a:bodyPr wrap="square" lIns="18288" tIns="18288" rIns="18288" bIns="18288" anchor="t">
            <a:noAutofit/>
          </a:bodyPr>
          <a:lstStyle/>
          <a:p>
            <a:pPr algn="l">
              <a:lnSpc>
                <a:spcPct val="110000"/>
              </a:lnSpc>
              <a:spcBef>
                <a:spcPts val="0"/>
              </a:spcBef>
              <a:spcAft>
                <a:spcPts val="0"/>
              </a:spcAft>
              <a:buNone/>
            </a:pPr>
            <a:r>
              <a:rPr lang="en-US" sz="1250" b="0" i="0">
                <a:solidFill>
                  <a:srgbClr val="0E2745"/>
                </a:solidFill>
                <a:latin typeface="Calibri"/>
                <a:ea typeface="Calibri"/>
                <a:cs typeface="Calibri"/>
              </a:rPr>
              <a:t>For small, well-defined tasks, a better Agent.md improves the result more than a bigger, smarter model.</a:t>
            </a:r>
          </a:p>
        </p:txBody>
      </p:sp>
      <p:sp>
        <p:nvSpPr>
          <p:cNvPr id="1156" name="shape 1156"/>
          <p:cNvSpPr/>
          <p:nvPr/>
        </p:nvSpPr>
        <p:spPr>
          <a:xfrm>
            <a:off x="3246120" y="1097280"/>
            <a:ext cx="2606040" cy="3566160"/>
          </a:xfrm>
          <a:prstGeom prst="roundRect">
            <a:avLst>
              <a:gd name="adj" fmla="val 6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57" name="shape 1157"/>
          <p:cNvSpPr/>
          <p:nvPr/>
        </p:nvSpPr>
        <p:spPr>
          <a:xfrm>
            <a:off x="3246120" y="1097280"/>
            <a:ext cx="2606040" cy="91440"/>
          </a:xfrm>
          <a:prstGeom prst="rect">
            <a:avLst/>
          </a:prstGeom>
          <a:solidFill>
            <a:srgbClr val="2E7D4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58" name="shape 1158"/>
          <p:cNvSpPr/>
          <p:nvPr/>
        </p:nvSpPr>
        <p:spPr>
          <a:xfrm>
            <a:off x="3429000" y="1371600"/>
            <a:ext cx="502920" cy="502920"/>
          </a:xfrm>
          <a:prstGeom prst="ellipse">
            <a:avLst/>
          </a:prstGeom>
          <a:solidFill>
            <a:srgbClr val="2E7D4F"/>
          </a:solidFill>
          <a:ln>
            <a:noFill/>
          </a:ln>
        </p:spPr>
        <p:txBody>
          <a:bodyPr wrap="square" lIns="0" tIns="0" rIns="0" bIns="0" anchor="ctr">
            <a:noAutofit/>
          </a:bodyPr>
          <a:lstStyle/>
          <a:p>
            <a:pPr algn="ctr">
              <a:spcBef>
                <a:spcPts val="0"/>
              </a:spcBef>
              <a:spcAft>
                <a:spcPts val="0"/>
              </a:spcAft>
              <a:buNone/>
            </a:pPr>
            <a:r>
              <a:rPr lang="en-US" sz="1500" b="1" i="0">
                <a:solidFill>
                  <a:srgbClr val="FFFFFF"/>
                </a:solidFill>
                <a:latin typeface="Calibri"/>
                <a:ea typeface="Calibri"/>
                <a:cs typeface="Calibri"/>
              </a:rPr>
              <a:t>2</a:t>
            </a:r>
          </a:p>
        </p:txBody>
      </p:sp>
      <p:sp>
        <p:nvSpPr>
          <p:cNvPr id="1159" name="text 1159"/>
          <p:cNvSpPr txBox="1"/>
          <p:nvPr/>
        </p:nvSpPr>
        <p:spPr>
          <a:xfrm>
            <a:off x="3429000" y="2011680"/>
            <a:ext cx="2240280" cy="7315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400" b="1" i="0">
                <a:solidFill>
                  <a:srgbClr val="0E2745"/>
                </a:solidFill>
                <a:latin typeface="Calibri"/>
                <a:ea typeface="Calibri"/>
                <a:cs typeface="Calibri"/>
              </a:rPr>
              <a:t>Decompose big tasks</a:t>
            </a:r>
          </a:p>
        </p:txBody>
      </p:sp>
      <p:sp>
        <p:nvSpPr>
          <p:cNvPr id="1160" name="text 1160"/>
          <p:cNvSpPr txBox="1"/>
          <p:nvPr/>
        </p:nvSpPr>
        <p:spPr>
          <a:xfrm>
            <a:off x="3429000" y="2788920"/>
            <a:ext cx="2240280" cy="1783080"/>
          </a:xfrm>
          <a:prstGeom prst="rect">
            <a:avLst/>
          </a:prstGeom>
          <a:noFill/>
          <a:ln>
            <a:noFill/>
          </a:ln>
        </p:spPr>
        <p:txBody>
          <a:bodyPr wrap="square" lIns="18288" tIns="18288" rIns="18288" bIns="18288" anchor="t">
            <a:noAutofit/>
          </a:bodyPr>
          <a:lstStyle/>
          <a:p>
            <a:pPr algn="l">
              <a:lnSpc>
                <a:spcPct val="110000"/>
              </a:lnSpc>
              <a:spcBef>
                <a:spcPts val="0"/>
              </a:spcBef>
              <a:spcAft>
                <a:spcPts val="0"/>
              </a:spcAft>
              <a:buNone/>
            </a:pPr>
            <a:r>
              <a:rPr lang="en-US" sz="1250" b="0" i="0">
                <a:solidFill>
                  <a:srgbClr val="0E2745"/>
                </a:solidFill>
                <a:latin typeface="Calibri"/>
                <a:ea typeface="Calibri"/>
                <a:cs typeface="Calibri"/>
              </a:rPr>
              <a:t>A big task needs to be split: less context per agent, a check after every step, fewer tokens.</a:t>
            </a:r>
          </a:p>
        </p:txBody>
      </p:sp>
      <p:sp>
        <p:nvSpPr>
          <p:cNvPr id="1161" name="shape 1161"/>
          <p:cNvSpPr/>
          <p:nvPr/>
        </p:nvSpPr>
        <p:spPr>
          <a:xfrm>
            <a:off x="6035040" y="1097280"/>
            <a:ext cx="2606040" cy="3566160"/>
          </a:xfrm>
          <a:prstGeom prst="roundRect">
            <a:avLst>
              <a:gd name="adj" fmla="val 6000"/>
            </a:avLst>
          </a:prstGeom>
          <a:solidFill>
            <a:srgbClr val="F3F6FA"/>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62" name="shape 1162"/>
          <p:cNvSpPr/>
          <p:nvPr/>
        </p:nvSpPr>
        <p:spPr>
          <a:xfrm>
            <a:off x="6035040" y="1097280"/>
            <a:ext cx="2606040" cy="91440"/>
          </a:xfrm>
          <a:prstGeom prst="rect">
            <a:avLst/>
          </a:prstGeom>
          <a:solidFill>
            <a:srgbClr val="B91F2D"/>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63" name="shape 1163"/>
          <p:cNvSpPr/>
          <p:nvPr/>
        </p:nvSpPr>
        <p:spPr>
          <a:xfrm>
            <a:off x="6217920" y="1371600"/>
            <a:ext cx="502920" cy="502920"/>
          </a:xfrm>
          <a:prstGeom prst="ellipse">
            <a:avLst/>
          </a:prstGeom>
          <a:solidFill>
            <a:srgbClr val="B91F2D"/>
          </a:solidFill>
          <a:ln>
            <a:noFill/>
          </a:ln>
        </p:spPr>
        <p:txBody>
          <a:bodyPr wrap="square" lIns="0" tIns="0" rIns="0" bIns="0" anchor="ctr">
            <a:noAutofit/>
          </a:bodyPr>
          <a:lstStyle/>
          <a:p>
            <a:pPr algn="ctr">
              <a:spcBef>
                <a:spcPts val="0"/>
              </a:spcBef>
              <a:spcAft>
                <a:spcPts val="0"/>
              </a:spcAft>
              <a:buNone/>
            </a:pPr>
            <a:r>
              <a:rPr lang="en-US" sz="1500" b="1" i="0">
                <a:solidFill>
                  <a:srgbClr val="FFFFFF"/>
                </a:solidFill>
                <a:latin typeface="Calibri"/>
                <a:ea typeface="Calibri"/>
                <a:cs typeface="Calibri"/>
              </a:rPr>
              <a:t>3</a:t>
            </a:r>
          </a:p>
        </p:txBody>
      </p:sp>
      <p:sp>
        <p:nvSpPr>
          <p:cNvPr id="1164" name="text 1164"/>
          <p:cNvSpPr txBox="1"/>
          <p:nvPr/>
        </p:nvSpPr>
        <p:spPr>
          <a:xfrm>
            <a:off x="6217920" y="2011680"/>
            <a:ext cx="2240280" cy="731520"/>
          </a:xfrm>
          <a:prstGeom prst="rect">
            <a:avLst/>
          </a:prstGeom>
          <a:noFill/>
          <a:ln>
            <a:noFill/>
          </a:ln>
        </p:spPr>
        <p:txBody>
          <a:bodyPr wrap="square" lIns="18288" tIns="18288" rIns="18288" bIns="18288" anchor="t">
            <a:noAutofit/>
          </a:bodyPr>
          <a:lstStyle/>
          <a:p>
            <a:pPr algn="l">
              <a:spcBef>
                <a:spcPts val="0"/>
              </a:spcBef>
              <a:spcAft>
                <a:spcPts val="0"/>
              </a:spcAft>
              <a:buNone/>
            </a:pPr>
            <a:r>
              <a:rPr lang="en-US" sz="1400" b="1" i="0">
                <a:solidFill>
                  <a:srgbClr val="0E2745"/>
                </a:solidFill>
                <a:latin typeface="Calibri"/>
                <a:ea typeface="Calibri"/>
                <a:cs typeface="Calibri"/>
              </a:rPr>
              <a:t>An expert writes the Agent.md</a:t>
            </a:r>
          </a:p>
        </p:txBody>
      </p:sp>
      <p:sp>
        <p:nvSpPr>
          <p:cNvPr id="1165" name="text 1165"/>
          <p:cNvSpPr txBox="1"/>
          <p:nvPr/>
        </p:nvSpPr>
        <p:spPr>
          <a:xfrm>
            <a:off x="6217920" y="2788920"/>
            <a:ext cx="2240280" cy="1783080"/>
          </a:xfrm>
          <a:prstGeom prst="rect">
            <a:avLst/>
          </a:prstGeom>
          <a:noFill/>
          <a:ln>
            <a:noFill/>
          </a:ln>
        </p:spPr>
        <p:txBody>
          <a:bodyPr wrap="square" lIns="18288" tIns="18288" rIns="18288" bIns="18288" anchor="t">
            <a:noAutofit/>
          </a:bodyPr>
          <a:lstStyle/>
          <a:p>
            <a:pPr algn="l">
              <a:lnSpc>
                <a:spcPct val="110000"/>
              </a:lnSpc>
              <a:spcBef>
                <a:spcPts val="0"/>
              </a:spcBef>
              <a:spcAft>
                <a:spcPts val="0"/>
              </a:spcAft>
              <a:buNone/>
            </a:pPr>
            <a:r>
              <a:rPr lang="en-US" sz="1250" b="0" i="0">
                <a:solidFill>
                  <a:srgbClr val="0E2745"/>
                </a:solidFill>
                <a:latin typeface="Calibri"/>
                <a:ea typeface="Calibri"/>
                <a:cs typeface="Calibri"/>
              </a:rPr>
              <a:t>Good rules come from experience: which OpenROAD error means what, which knob fixes it. The agent amplifies the expert, it does not replace them.</a:t>
            </a:r>
          </a:p>
        </p:txBody>
      </p:sp>
      <p:sp>
        <p:nvSpPr>
          <p:cNvPr id="1166" name="shape 1166"/>
          <p:cNvSpPr/>
          <p:nvPr/>
        </p:nvSpPr>
        <p:spPr>
          <a:xfrm>
            <a:off x="457200" y="4937760"/>
            <a:ext cx="8229600" cy="548640"/>
          </a:xfrm>
          <a:prstGeom prst="roundRect">
            <a:avLst>
              <a:gd name="adj" fmla="val 12000"/>
            </a:avLst>
          </a:prstGeom>
          <a:solidFill>
            <a:srgbClr val="FBE9EB"/>
          </a:solidFill>
          <a:ln>
            <a:noFill/>
          </a:ln>
        </p:spPr>
        <p:txBody>
          <a:bodyPr wrap="square" lIns="73152" tIns="73152" rIns="73152" bIns="73152" anchor="ctr">
            <a:noAutofit/>
          </a:bodyPr>
          <a:lstStyle/>
          <a:p>
            <a:pPr algn="ctr">
              <a:spcBef>
                <a:spcPts val="0"/>
              </a:spcBef>
              <a:spcAft>
                <a:spcPts val="0"/>
              </a:spcAft>
              <a:buNone/>
            </a:pPr>
            <a:r>
              <a:rPr lang="en-US" sz="1200" b="1" i="0">
                <a:solidFill>
                  <a:srgbClr val="0E2745"/>
                </a:solidFill>
                <a:latin typeface="Calibri"/>
                <a:ea typeface="Calibri"/>
                <a:cs typeface="Calibri"/>
              </a:rPr>
              <a:t>Agents amplify the quality of the spec, the rules and the logs you give them</a:t>
            </a:r>
          </a:p>
        </p:txBody>
      </p:sp>
      <p:sp>
        <p:nvSpPr>
          <p:cNvPr id="1167" name="shape 1167"/>
          <p:cNvSpPr/>
          <p:nvPr/>
        </p:nvSpPr>
        <p:spPr>
          <a:xfrm>
            <a:off x="457200" y="5623560"/>
            <a:ext cx="8229600" cy="640080"/>
          </a:xfrm>
          <a:prstGeom prst="roundRect">
            <a:avLst>
              <a:gd name="adj" fmla="val 12000"/>
            </a:avLst>
          </a:prstGeom>
          <a:solidFill>
            <a:srgbClr val="0E2745"/>
          </a:solidFill>
          <a:ln>
            <a:noFill/>
          </a:ln>
        </p:spPr>
        <p:txBody>
          <a:bodyPr wrap="square" lIns="137160" tIns="137160" rIns="137160" bIns="137160" anchor="ctr">
            <a:noAutofit/>
          </a:bodyPr>
          <a:lstStyle/>
          <a:p>
            <a:pPr algn="ctr">
              <a:spcBef>
                <a:spcPts val="0"/>
              </a:spcBef>
              <a:spcAft>
                <a:spcPts val="0"/>
              </a:spcAft>
              <a:buNone/>
            </a:pPr>
            <a:r>
              <a:rPr lang="en-US" sz="1100" b="1" i="0">
                <a:solidFill>
                  <a:srgbClr val="FFC000"/>
                </a:solidFill>
                <a:latin typeface="Calibri"/>
                <a:ea typeface="Calibri"/>
                <a:cs typeface="Calibri"/>
              </a:rPr>
              <a:t>Today's hands-on in one line: </a:t>
            </a:r>
            <a:r>
              <a:rPr lang="en-US" sz="1100" b="1" i="0">
                <a:solidFill>
                  <a:srgbClr val="FFFFFF"/>
                </a:solidFill>
                <a:latin typeface="Calibri"/>
                <a:ea typeface="Calibri"/>
                <a:cs typeface="Calibri"/>
              </a:rPr>
              <a:t>read the log → write the rule → rerun → compare with the golden run</a:t>
            </a:r>
          </a:p>
        </p:txBody>
      </p:sp>
    </p:spTree>
    <p:extLst>
      <p:ext uri="{BB962C8B-B14F-4D97-AF65-F5344CB8AC3E}">
        <p14:creationId xmlns:p14="http://schemas.microsoft.com/office/powerpoint/2010/main" val="36517121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a:extLst>
            <a:ext uri="{FF2B5EF4-FFF2-40B4-BE49-F238E27FC236}">
              <a16:creationId xmlns:a16="http://schemas.microsoft.com/office/drawing/2014/main" id="{F0CD268F-28F7-5A12-D6DA-FF654102B531}"/>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7FFC966-F3C9-814F-08F4-E7389EE0DF69}"/>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5B22851A-346C-36BC-ABD3-9BD7AD912BDC}"/>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E0107C7B-AD95-B8E5-2694-635CFDFFF3CC}"/>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Part 5</a:t>
            </a:r>
            <a:endParaRPr sz="2325" b="1">
              <a:solidFill>
                <a:srgbClr val="FFFFFF"/>
              </a:solidFill>
              <a:latin typeface="Calibri"/>
              <a:ea typeface="Calibri"/>
              <a:cs typeface="Calibri"/>
            </a:endParaRPr>
          </a:p>
        </p:txBody>
      </p:sp>
      <p:sp>
        <p:nvSpPr>
          <p:cNvPr id="4" name="Rectangle 3">
            <a:extLst>
              <a:ext uri="{FF2B5EF4-FFF2-40B4-BE49-F238E27FC236}">
                <a16:creationId xmlns:a16="http://schemas.microsoft.com/office/drawing/2014/main" id="{6AA53E9A-108B-7A42-C2F1-58E29E304487}"/>
              </a:ext>
            </a:extLst>
          </p:cNvPr>
          <p:cNvSpPr>
            <a:spLocks noGrp="1"/>
          </p:cNvSpPr>
          <p:nvPr/>
        </p:nvSpPr>
        <p:spPr>
          <a:xfrm>
            <a:off x="523875" y="1200150"/>
            <a:ext cx="7203701" cy="1047750"/>
          </a:xfrm>
          <a:prstGeom prst="rect">
            <a:avLst/>
          </a:prstGeom>
          <a:noFill/>
          <a:ln w="0">
            <a:noFill/>
          </a:ln>
        </p:spPr>
        <p:txBody>
          <a:bodyPr anchor="ctr">
            <a:normAutofit/>
          </a:bodyPr>
          <a:lstStyle/>
          <a:p>
            <a:pPr>
              <a:defRPr sz="2550" b="1">
                <a:solidFill>
                  <a:srgbClr val="FFFFFF"/>
                </a:solidFill>
                <a:latin typeface="Calibri"/>
                <a:ea typeface="Calibri"/>
                <a:cs typeface="Calibri"/>
              </a:defRPr>
            </a:pPr>
            <a:r>
              <a:rPr lang="en-GR" sz="2550" b="1">
                <a:solidFill>
                  <a:srgbClr val="FFFFFF"/>
                </a:solidFill>
                <a:latin typeface="Calibri"/>
              </a:rPr>
              <a:t>Future Perspectives </a:t>
            </a:r>
            <a:r>
              <a:rPr lang="en-US" sz="2550" b="1">
                <a:solidFill>
                  <a:srgbClr val="FFFFFF"/>
                </a:solidFill>
                <a:latin typeface="Calibri"/>
              </a:rPr>
              <a:t>and</a:t>
            </a:r>
            <a:r>
              <a:rPr lang="en-GR" sz="2550" b="1">
                <a:solidFill>
                  <a:srgbClr val="FFFFFF"/>
                </a:solidFill>
                <a:latin typeface="Calibri"/>
              </a:rPr>
              <a:t> Open Q&amp;A</a:t>
            </a:r>
            <a:endParaRPr sz="2550" b="1">
              <a:solidFill>
                <a:srgbClr val="FFFFFF"/>
              </a:solidFill>
              <a:latin typeface="Calibri"/>
              <a:ea typeface="Calibri"/>
              <a:cs typeface="Calibri"/>
            </a:endParaRPr>
          </a:p>
        </p:txBody>
      </p:sp>
      <p:sp>
        <p:nvSpPr>
          <p:cNvPr id="12" name="Rectangle 11">
            <a:extLst>
              <a:ext uri="{FF2B5EF4-FFF2-40B4-BE49-F238E27FC236}">
                <a16:creationId xmlns:a16="http://schemas.microsoft.com/office/drawing/2014/main" id="{4B60D367-93C2-9063-EBFE-3E77425CE944}"/>
              </a:ext>
            </a:extLst>
          </p:cNvPr>
          <p:cNvSpPr>
            <a:spLocks noGrp="1"/>
          </p:cNvSpPr>
          <p:nvPr/>
        </p:nvSpPr>
        <p:spPr>
          <a:xfrm>
            <a:off x="559732" y="1724025"/>
            <a:ext cx="6238875" cy="3961000"/>
          </a:xfrm>
          <a:prstGeom prst="rect">
            <a:avLst/>
          </a:prstGeom>
          <a:noFill/>
          <a:ln w="0">
            <a:noFill/>
          </a:ln>
        </p:spPr>
        <p:txBody>
          <a:bodyPr anchor="ctr">
            <a:normAutofit/>
          </a:bodyPr>
          <a:lstStyle/>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Open challenges</a:t>
            </a:r>
          </a:p>
          <a:p>
            <a:pPr marL="285750" indent="-285750">
              <a:buFont typeface="Wingdings" pitchFamily="2" charset="2"/>
              <a:buChar char="Ø"/>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a:p>
            <a:pPr marL="285750" indent="-285750">
              <a:buFont typeface="Wingdings" pitchFamily="2" charset="2"/>
              <a:buChar char="Ø"/>
              <a:defRPr sz="1650" b="1">
                <a:solidFill>
                  <a:srgbClr val="DCE6F1"/>
                </a:solidFill>
                <a:latin typeface="Calibri"/>
                <a:ea typeface="Calibri"/>
                <a:cs typeface="Calibri"/>
              </a:defRPr>
            </a:pPr>
            <a:r>
              <a:rPr lang="en-GR" sz="1650" b="1">
                <a:solidFill>
                  <a:srgbClr val="DCE6F1"/>
                </a:solidFill>
                <a:latin typeface="Calibri"/>
              </a:rPr>
              <a:t>Interactive audience Q&amp;A</a:t>
            </a:r>
          </a:p>
          <a:p>
            <a:pPr>
              <a:defRPr sz="1650" b="1">
                <a:solidFill>
                  <a:srgbClr val="DCE6F1"/>
                </a:solidFill>
                <a:latin typeface="Calibri"/>
                <a:ea typeface="Calibri"/>
                <a:cs typeface="Calibri"/>
              </a:defRPr>
            </a:pPr>
            <a:endParaRPr lang="en-US" sz="1650" b="1">
              <a:solidFill>
                <a:srgbClr val="DCE6F1"/>
              </a:solidFill>
              <a:latin typeface="Calibri"/>
              <a:ea typeface="Calibri"/>
              <a:cs typeface="Calibri"/>
            </a:endParaRPr>
          </a:p>
        </p:txBody>
      </p:sp>
      <p:sp>
        <p:nvSpPr>
          <p:cNvPr id="18" name="Rectangle 17">
            <a:extLst>
              <a:ext uri="{FF2B5EF4-FFF2-40B4-BE49-F238E27FC236}">
                <a16:creationId xmlns:a16="http://schemas.microsoft.com/office/drawing/2014/main" id="{6DDF6CDF-80ED-0D27-2660-3AF08CF2C37A}"/>
              </a:ext>
            </a:extLst>
          </p:cNvPr>
          <p:cNvSpPr>
            <a:spLocks noGrp="1"/>
          </p:cNvSpPr>
          <p:nvPr/>
        </p:nvSpPr>
        <p:spPr>
          <a:xfrm>
            <a:off x="523873" y="3009900"/>
            <a:ext cx="6238875" cy="685800"/>
          </a:xfrm>
          <a:prstGeom prst="rect">
            <a:avLst/>
          </a:prstGeom>
          <a:noFill/>
          <a:ln w="0">
            <a:noFill/>
          </a:ln>
        </p:spPr>
        <p:txBody>
          <a:bodyPr anchor="ctr">
            <a:normAutofit/>
          </a:bodyPr>
          <a:lstStyle/>
          <a:p>
            <a:pPr algn="l">
              <a:defRPr sz="1650" b="1">
                <a:solidFill>
                  <a:srgbClr val="DCE6F1"/>
                </a:solidFill>
                <a:latin typeface="Calibri"/>
                <a:ea typeface="Calibri"/>
                <a:cs typeface="Calibri"/>
              </a:defRPr>
            </a:pPr>
            <a:endParaRPr sz="1650" b="1">
              <a:solidFill>
                <a:srgbClr val="DCE6F1"/>
              </a:solidFill>
              <a:latin typeface="Calibri"/>
              <a:ea typeface="Calibri"/>
              <a:cs typeface="Calibri"/>
            </a:endParaRPr>
          </a:p>
        </p:txBody>
      </p:sp>
    </p:spTree>
    <p:extLst>
      <p:ext uri="{BB962C8B-B14F-4D97-AF65-F5344CB8AC3E}">
        <p14:creationId xmlns:p14="http://schemas.microsoft.com/office/powerpoint/2010/main" val="8214324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711A468-7670-0DA0-7D29-C43C6B47163E}"/>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BDA0AE3C-FEE8-8C75-2783-7F1FC8725309}"/>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CCD461D8-663D-ACD8-B93F-DF1F56CB4F01}"/>
              </a:ext>
            </a:extLst>
          </p:cNvPr>
          <p:cNvSpPr>
            <a:spLocks noGrp="1"/>
          </p:cNvSpPr>
          <p:nvPr/>
        </p:nvSpPr>
        <p:spPr>
          <a:xfrm>
            <a:off x="400050" y="209550"/>
            <a:ext cx="7762875" cy="514350"/>
          </a:xfrm>
          <a:prstGeom prst="rect">
            <a:avLst/>
          </a:prstGeom>
          <a:noFill/>
          <a:ln w="0">
            <a:noFill/>
          </a:ln>
        </p:spPr>
        <p:txBody>
          <a:bodyPr anchor="ctr">
            <a:normAutofit/>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Why Custom EDA tools improve agent performance</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363B00E2-E478-04F3-4D67-174A84E93B33}"/>
              </a:ext>
            </a:extLst>
          </p:cNvPr>
          <p:cNvSpPr>
            <a:spLocks noGrp="1"/>
          </p:cNvSpPr>
          <p:nvPr/>
        </p:nvSpPr>
        <p:spPr>
          <a:xfrm>
            <a:off x="7964424" y="295275"/>
            <a:ext cx="777240" cy="266700"/>
          </a:xfrm>
          <a:prstGeom prst="rect">
            <a:avLst/>
          </a:prstGeom>
          <a:noFill/>
          <a:ln w="0">
            <a:noFill/>
          </a:ln>
        </p:spPr>
        <p:txBody>
          <a:bodyPr anchor="ctr">
            <a:normAutofit fontScale="99697"/>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5</a:t>
            </a:r>
          </a:p>
        </p:txBody>
      </p:sp>
      <p:sp>
        <p:nvSpPr>
          <p:cNvPr id="5" name="Rectangle 4">
            <a:extLst>
              <a:ext uri="{FF2B5EF4-FFF2-40B4-BE49-F238E27FC236}">
                <a16:creationId xmlns:a16="http://schemas.microsoft.com/office/drawing/2014/main" id="{1E544C1A-AE1A-1531-6CAA-D4E64E55CC86}"/>
              </a:ext>
            </a:extLst>
          </p:cNvPr>
          <p:cNvSpPr>
            <a:spLocks noGrp="1"/>
          </p:cNvSpPr>
          <p:nvPr/>
        </p:nvSpPr>
        <p:spPr>
          <a:xfrm>
            <a:off x="361950" y="1046069"/>
            <a:ext cx="3333750" cy="457200"/>
          </a:xfrm>
          <a:prstGeom prst="rect">
            <a:avLst/>
          </a:prstGeom>
          <a:noFill/>
          <a:ln w="0">
            <a:noFill/>
          </a:ln>
        </p:spPr>
        <p:txBody>
          <a:bodyPr anchor="ctr">
            <a:normAutofit fontScale="95937"/>
          </a:bodyPr>
          <a:lstStyle/>
          <a:p>
            <a:pPr algn="l">
              <a:defRPr sz="1725" b="1">
                <a:solidFill>
                  <a:srgbClr val="5B6573"/>
                </a:solidFill>
                <a:latin typeface="Calibri"/>
                <a:ea typeface="Calibri"/>
                <a:cs typeface="Calibri"/>
              </a:defRPr>
            </a:pPr>
            <a:r>
              <a:rPr lang="en-US" sz="1725" b="1">
                <a:solidFill>
                  <a:srgbClr val="5B6573"/>
                </a:solidFill>
                <a:latin typeface="Calibri"/>
                <a:ea typeface="Calibri"/>
                <a:cs typeface="Calibri"/>
              </a:rPr>
              <a:t>Agents Communicate through logs</a:t>
            </a:r>
            <a:endParaRPr sz="1725" b="1">
              <a:solidFill>
                <a:srgbClr val="5B6573"/>
              </a:solidFill>
              <a:latin typeface="Calibri"/>
              <a:ea typeface="Calibri"/>
              <a:cs typeface="Calibri"/>
            </a:endParaRPr>
          </a:p>
        </p:txBody>
      </p:sp>
      <p:sp>
        <p:nvSpPr>
          <p:cNvPr id="6" name="Rectangle 5">
            <a:extLst>
              <a:ext uri="{FF2B5EF4-FFF2-40B4-BE49-F238E27FC236}">
                <a16:creationId xmlns:a16="http://schemas.microsoft.com/office/drawing/2014/main" id="{E2C49BA7-2B33-AC9D-038C-9F04C059E413}"/>
              </a:ext>
            </a:extLst>
          </p:cNvPr>
          <p:cNvSpPr>
            <a:spLocks noGrp="1"/>
          </p:cNvSpPr>
          <p:nvPr/>
        </p:nvSpPr>
        <p:spPr>
          <a:xfrm>
            <a:off x="5029200" y="1025619"/>
            <a:ext cx="3714750" cy="457200"/>
          </a:xfrm>
          <a:prstGeom prst="rect">
            <a:avLst/>
          </a:prstGeom>
          <a:noFill/>
          <a:ln w="0">
            <a:noFill/>
          </a:ln>
        </p:spPr>
        <p:txBody>
          <a:bodyPr anchor="ctr">
            <a:normAutofit fontScale="98506"/>
          </a:bodyPr>
          <a:lstStyle/>
          <a:p>
            <a:pPr algn="r">
              <a:defRPr sz="1725" b="1">
                <a:solidFill>
                  <a:srgbClr val="17365D"/>
                </a:solidFill>
                <a:latin typeface="Calibri"/>
                <a:ea typeface="Calibri"/>
                <a:cs typeface="Calibri"/>
              </a:defRPr>
            </a:pPr>
            <a:r>
              <a:rPr sz="1725" b="1">
                <a:solidFill>
                  <a:srgbClr val="17365D"/>
                </a:solidFill>
                <a:latin typeface="Calibri"/>
                <a:ea typeface="Calibri"/>
                <a:cs typeface="Calibri"/>
              </a:rPr>
              <a:t>…</a:t>
            </a:r>
            <a:r>
              <a:rPr lang="en-US" sz="1725" b="1">
                <a:solidFill>
                  <a:srgbClr val="17365D"/>
                </a:solidFill>
                <a:latin typeface="Calibri"/>
                <a:ea typeface="Calibri"/>
                <a:cs typeface="Calibri"/>
              </a:rPr>
              <a:t>custom EDA tools optimize the agents</a:t>
            </a:r>
            <a:endParaRPr sz="1725" b="1">
              <a:solidFill>
                <a:srgbClr val="17365D"/>
              </a:solidFill>
              <a:latin typeface="Calibri"/>
              <a:ea typeface="Calibri"/>
              <a:cs typeface="Calibri"/>
            </a:endParaRPr>
          </a:p>
        </p:txBody>
      </p:sp>
      <p:sp>
        <p:nvSpPr>
          <p:cNvPr id="7" name="Right Arrow 6">
            <a:extLst>
              <a:ext uri="{FF2B5EF4-FFF2-40B4-BE49-F238E27FC236}">
                <a16:creationId xmlns:a16="http://schemas.microsoft.com/office/drawing/2014/main" id="{C97D01B6-CB9F-EEB4-8509-2B0C59F828C5}"/>
              </a:ext>
            </a:extLst>
          </p:cNvPr>
          <p:cNvSpPr>
            <a:spLocks noGrp="1"/>
          </p:cNvSpPr>
          <p:nvPr/>
        </p:nvSpPr>
        <p:spPr>
          <a:xfrm>
            <a:off x="3695700" y="1104900"/>
            <a:ext cx="1333500" cy="333375"/>
          </a:xfrm>
          <a:prstGeom prst="rightArrow">
            <a:avLst/>
          </a:prstGeom>
          <a:solidFill>
            <a:srgbClr val="B21F2D"/>
          </a:solidFill>
          <a:ln w="0">
            <a:noFill/>
          </a:ln>
        </p:spPr>
        <p:txBody>
          <a:bodyPr/>
          <a:lstStyle/>
          <a:p>
            <a:endParaRPr lang="en-GR"/>
          </a:p>
        </p:txBody>
      </p:sp>
      <p:sp>
        <p:nvSpPr>
          <p:cNvPr id="21" name="Rectangle 20">
            <a:extLst>
              <a:ext uri="{FF2B5EF4-FFF2-40B4-BE49-F238E27FC236}">
                <a16:creationId xmlns:a16="http://schemas.microsoft.com/office/drawing/2014/main" id="{13E3310A-043C-5E3E-FD9C-F7C4BF3FEF16}"/>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a:solidFill>
                  <a:srgbClr val="5B6573"/>
                </a:solidFill>
                <a:latin typeface="Calibri"/>
                <a:ea typeface="Calibri"/>
                <a:cs typeface="Calibri"/>
              </a:rPr>
              <a:t>93</a:t>
            </a:fld>
            <a:endParaRPr sz="750" b="0">
              <a:solidFill>
                <a:srgbClr val="5B6573"/>
              </a:solidFill>
              <a:latin typeface="Calibri"/>
              <a:ea typeface="Calibri"/>
              <a:cs typeface="Calibri"/>
            </a:endParaRPr>
          </a:p>
        </p:txBody>
      </p:sp>
      <p:sp>
        <p:nvSpPr>
          <p:cNvPr id="23" name="raw title"/>
          <p:cNvSpPr txBox="1"/>
          <p:nvPr/>
        </p:nvSpPr>
        <p:spPr>
          <a:xfrm>
            <a:off x="365760" y="1737360"/>
            <a:ext cx="4023360" cy="365760"/>
          </a:xfrm>
          <a:prstGeom prst="rect">
            <a:avLst/>
          </a:prstGeom>
          <a:noFill/>
          <a:ln>
            <a:noFill/>
          </a:ln>
        </p:spPr>
        <p:txBody>
          <a:bodyPr wrap="square" lIns="73152" tIns="73152" rIns="73152" bIns="73152" anchor="t">
            <a:normAutofit/>
          </a:bodyPr>
          <a:lstStyle/>
          <a:p>
            <a:pPr algn="l">
              <a:spcAft>
                <a:spcPts val="0"/>
              </a:spcAft>
              <a:buNone/>
            </a:pPr>
            <a:r>
              <a:rPr lang="en-US" sz="1300" b="1" i="0">
                <a:solidFill>
                  <a:srgbClr val="0E2745"/>
                </a:solidFill>
                <a:latin typeface="Calibri"/>
                <a:ea typeface="Calibri"/>
                <a:cs typeface="Calibri"/>
              </a:rPr>
              <a:t>Raw tool log – what the agent reads today</a:t>
            </a:r>
          </a:p>
        </p:txBody>
      </p:sp>
      <p:sp>
        <p:nvSpPr>
          <p:cNvPr id="24" name="raw log"/>
          <p:cNvSpPr/>
          <p:nvPr/>
        </p:nvSpPr>
        <p:spPr>
          <a:xfrm>
            <a:off x="365760" y="2148840"/>
            <a:ext cx="4023360" cy="2514600"/>
          </a:xfrm>
          <a:prstGeom prst="roundRect">
            <a:avLst>
              <a:gd name="adj" fmla="val 6000"/>
            </a:avLst>
          </a:prstGeom>
          <a:solidFill>
            <a:srgbClr val="1E1E1E"/>
          </a:solidFill>
          <a:ln>
            <a:noFill/>
          </a:ln>
        </p:spPr>
        <p:txBody>
          <a:bodyPr wrap="square" lIns="137160" tIns="137160" rIns="137160" bIns="137160" anchor="ctr">
            <a:normAutofit/>
          </a:bodyPr>
          <a:lstStyle/>
          <a:p>
            <a:pPr algn="l">
              <a:spcAft>
                <a:spcPts val="300"/>
              </a:spcAft>
              <a:buNone/>
            </a:pPr>
            <a:r>
              <a:rPr lang="en-US" sz="950" b="0" i="0">
                <a:solidFill>
                  <a:srgbClr val="FFFFFF"/>
                </a:solidFill>
                <a:latin typeface="Courier New"/>
                <a:ea typeface="Courier New"/>
                <a:cs typeface="Courier New"/>
              </a:rPr>
              <a:t>[INFO IFP-0107] Defining die area using utilization: 50.00% ...</a:t>
            </a:r>
          </a:p>
          <a:p>
            <a:pPr algn="l">
              <a:spcAft>
                <a:spcPts val="300"/>
              </a:spcAft>
              <a:buNone/>
            </a:pPr>
            <a:r>
              <a:rPr lang="en-US" sz="950" b="0" i="0">
                <a:solidFill>
                  <a:srgbClr val="FFFFFF"/>
                </a:solidFill>
                <a:latin typeface="Courier New"/>
                <a:ea typeface="Courier New"/>
                <a:cs typeface="Courier New"/>
              </a:rPr>
              <a:t>[ERROR PDN-0185] Insufficient width (26.22 um) to add straps</a:t>
            </a:r>
          </a:p>
          <a:p>
            <a:pPr algn="l">
              <a:spcAft>
                <a:spcPts val="300"/>
              </a:spcAft>
              <a:buNone/>
            </a:pPr>
            <a:r>
              <a:rPr lang="en-US" sz="950" b="0" i="0">
                <a:solidFill>
                  <a:srgbClr val="FFFFFF"/>
                </a:solidFill>
                <a:latin typeface="Courier New"/>
                <a:ea typeface="Courier New"/>
                <a:cs typeface="Courier New"/>
              </a:rPr>
              <a:t>  on layer met4 in grid "grid" with total strap width 15.2 um</a:t>
            </a:r>
          </a:p>
          <a:p>
            <a:pPr algn="l">
              <a:spcAft>
                <a:spcPts val="300"/>
              </a:spcAft>
              <a:buNone/>
            </a:pPr>
            <a:r>
              <a:rPr lang="en-US" sz="950" b="0" i="0">
                <a:solidFill>
                  <a:srgbClr val="FFFFFF"/>
                </a:solidFill>
                <a:latin typeface="Courier New"/>
                <a:ea typeface="Courier New"/>
                <a:cs typeface="Courier New"/>
              </a:rPr>
              <a:t>  and offset 13.6 um.</a:t>
            </a:r>
          </a:p>
          <a:p>
            <a:pPr algn="l">
              <a:spcAft>
                <a:spcPts val="300"/>
              </a:spcAft>
              <a:buNone/>
            </a:pPr>
            <a:r>
              <a:rPr lang="en-US" sz="950" b="0" i="0">
                <a:solidFill>
                  <a:srgbClr val="FFFFFF"/>
                </a:solidFill>
                <a:latin typeface="Courier New"/>
                <a:ea typeface="Courier New"/>
                <a:cs typeface="Courier New"/>
              </a:rPr>
              <a:t>make[1]: *** [Makefile:484: do-2_4_floorplan_pdn] Error 1</a:t>
            </a:r>
          </a:p>
        </p:txBody>
      </p:sp>
      <p:sp>
        <p:nvSpPr>
          <p:cNvPr id="25" name="json title"/>
          <p:cNvSpPr txBox="1"/>
          <p:nvPr/>
        </p:nvSpPr>
        <p:spPr>
          <a:xfrm>
            <a:off x="4754880" y="1737360"/>
            <a:ext cx="4023360" cy="365760"/>
          </a:xfrm>
          <a:prstGeom prst="rect">
            <a:avLst/>
          </a:prstGeom>
          <a:noFill/>
          <a:ln>
            <a:noFill/>
          </a:ln>
        </p:spPr>
        <p:txBody>
          <a:bodyPr wrap="square" lIns="73152" tIns="73152" rIns="73152" bIns="73152" anchor="t">
            <a:normAutofit/>
          </a:bodyPr>
          <a:lstStyle/>
          <a:p>
            <a:pPr algn="l">
              <a:spcAft>
                <a:spcPts val="0"/>
              </a:spcAft>
              <a:buNone/>
            </a:pPr>
            <a:r>
              <a:rPr lang="en-US" sz="1300" b="1" i="0">
                <a:solidFill>
                  <a:srgbClr val="0E2745"/>
                </a:solidFill>
                <a:latin typeface="Calibri"/>
                <a:ea typeface="Calibri"/>
                <a:cs typeface="Calibri"/>
              </a:rPr>
              <a:t>Structured report – what a custom tool can give</a:t>
            </a:r>
          </a:p>
        </p:txBody>
      </p:sp>
      <p:sp>
        <p:nvSpPr>
          <p:cNvPr id="26" name="json"/>
          <p:cNvSpPr/>
          <p:nvPr/>
        </p:nvSpPr>
        <p:spPr>
          <a:xfrm>
            <a:off x="4754880" y="2148840"/>
            <a:ext cx="4023360" cy="2514600"/>
          </a:xfrm>
          <a:prstGeom prst="roundRect">
            <a:avLst>
              <a:gd name="adj" fmla="val 5000"/>
            </a:avLst>
          </a:prstGeom>
          <a:solidFill>
            <a:srgbClr val="F3F6FA"/>
          </a:solidFill>
          <a:ln w="12700">
            <a:solidFill>
              <a:srgbClr val="4F81BD"/>
            </a:solidFill>
          </a:ln>
        </p:spPr>
        <p:txBody>
          <a:bodyPr wrap="square" lIns="164592" tIns="164592" rIns="164592" bIns="164592" anchor="ctr">
            <a:normAutofit/>
          </a:bodyPr>
          <a:lstStyle/>
          <a:p>
            <a:pPr algn="l">
              <a:spcAft>
                <a:spcPts val="150"/>
              </a:spcAft>
              <a:buNone/>
            </a:pPr>
            <a:r>
              <a:rPr lang="en-US" sz="1100" b="0" i="0">
                <a:solidFill>
                  <a:srgbClr val="0E2745"/>
                </a:solidFill>
                <a:latin typeface="Courier New"/>
                <a:ea typeface="Courier New"/>
                <a:cs typeface="Courier New"/>
              </a:rPr>
              <a:t>{ "stage": "floorplan_pdn",</a:t>
            </a:r>
          </a:p>
          <a:p>
            <a:pPr algn="l">
              <a:spcAft>
                <a:spcPts val="150"/>
              </a:spcAft>
              <a:buNone/>
            </a:pPr>
            <a:r>
              <a:rPr lang="en-US" sz="1100" b="0" i="0">
                <a:solidFill>
                  <a:srgbClr val="0E2745"/>
                </a:solidFill>
                <a:latin typeface="Courier New"/>
                <a:ea typeface="Courier New"/>
                <a:cs typeface="Courier New"/>
              </a:rPr>
              <a:t>  "status": "fail",</a:t>
            </a:r>
          </a:p>
          <a:p>
            <a:pPr algn="l">
              <a:spcAft>
                <a:spcPts val="150"/>
              </a:spcAft>
              <a:buNone/>
            </a:pPr>
            <a:r>
              <a:rPr lang="en-US" sz="1100" b="0" i="0">
                <a:solidFill>
                  <a:srgbClr val="0E2745"/>
                </a:solidFill>
                <a:latin typeface="Courier New"/>
                <a:ea typeface="Courier New"/>
                <a:cs typeface="Courier New"/>
              </a:rPr>
              <a:t>  "error": "PDN-0185",</a:t>
            </a:r>
          </a:p>
          <a:p>
            <a:pPr algn="l">
              <a:spcAft>
                <a:spcPts val="150"/>
              </a:spcAft>
              <a:buNone/>
            </a:pPr>
            <a:r>
              <a:rPr lang="en-US" sz="1100" b="0" i="0">
                <a:solidFill>
                  <a:srgbClr val="0E2745"/>
                </a:solidFill>
                <a:latin typeface="Courier New"/>
                <a:ea typeface="Courier New"/>
                <a:cs typeface="Courier New"/>
              </a:rPr>
              <a:t>  "core_width_um": 26.22,</a:t>
            </a:r>
          </a:p>
          <a:p>
            <a:pPr algn="l">
              <a:spcAft>
                <a:spcPts val="150"/>
              </a:spcAft>
              <a:buNone/>
            </a:pPr>
            <a:r>
              <a:rPr lang="en-US" sz="1100" b="0" i="0">
                <a:solidFill>
                  <a:srgbClr val="0E2745"/>
                </a:solidFill>
                <a:latin typeface="Courier New"/>
                <a:ea typeface="Courier New"/>
                <a:cs typeface="Courier New"/>
              </a:rPr>
              <a:t>  "strap_width_um": 15.2,</a:t>
            </a:r>
          </a:p>
          <a:p>
            <a:pPr algn="l">
              <a:spcAft>
                <a:spcPts val="150"/>
              </a:spcAft>
              <a:buNone/>
            </a:pPr>
            <a:r>
              <a:rPr lang="en-US" sz="1100" b="0" i="0">
                <a:solidFill>
                  <a:srgbClr val="0E2745"/>
                </a:solidFill>
                <a:latin typeface="Courier New"/>
                <a:ea typeface="Courier New"/>
                <a:cs typeface="Courier New"/>
              </a:rPr>
              <a:t>  "strap_offset_um": 13.6,</a:t>
            </a:r>
          </a:p>
          <a:p>
            <a:pPr algn="l">
              <a:spcAft>
                <a:spcPts val="150"/>
              </a:spcAft>
              <a:buNone/>
            </a:pPr>
            <a:r>
              <a:rPr lang="en-US" sz="1100" b="0" i="0">
                <a:solidFill>
                  <a:srgbClr val="0E2745"/>
                </a:solidFill>
                <a:latin typeface="Courier New"/>
                <a:ea typeface="Courier New"/>
                <a:cs typeface="Courier New"/>
              </a:rPr>
              <a:t>  "fix_hint": "core too narrow:</a:t>
            </a:r>
          </a:p>
          <a:p>
            <a:pPr algn="l">
              <a:spcAft>
                <a:spcPts val="150"/>
              </a:spcAft>
              <a:buNone/>
            </a:pPr>
            <a:r>
              <a:rPr lang="en-US" sz="1100" b="0" i="0">
                <a:solidFill>
                  <a:srgbClr val="0E2745"/>
                </a:solidFill>
                <a:latin typeface="Courier New"/>
                <a:ea typeface="Courier New"/>
                <a:cs typeface="Courier New"/>
              </a:rPr>
              <a:t>     lower CORE_UTILIZATION" }</a:t>
            </a:r>
          </a:p>
        </p:txBody>
      </p:sp>
      <p:sp>
        <p:nvSpPr>
          <p:cNvPr id="27" name="lesson"/>
          <p:cNvSpPr/>
          <p:nvPr/>
        </p:nvSpPr>
        <p:spPr>
          <a:xfrm>
            <a:off x="365760" y="4983480"/>
            <a:ext cx="8412480" cy="1097280"/>
          </a:xfrm>
          <a:prstGeom prst="roundRect">
            <a:avLst>
              <a:gd name="adj" fmla="val 8000"/>
            </a:avLst>
          </a:prstGeom>
          <a:solidFill>
            <a:srgbClr val="FBEAEC"/>
          </a:solidFill>
          <a:ln>
            <a:noFill/>
          </a:ln>
        </p:spPr>
        <p:txBody>
          <a:bodyPr wrap="square" lIns="182880" tIns="182880" rIns="182880" bIns="182880" anchor="ctr">
            <a:normAutofit/>
          </a:bodyPr>
          <a:lstStyle/>
          <a:p>
            <a:pPr algn="l">
              <a:spcAft>
                <a:spcPts val="0"/>
              </a:spcAft>
              <a:buNone/>
            </a:pPr>
            <a:r>
              <a:rPr lang="en-US" sz="1350" b="1" i="0">
                <a:solidFill>
                  <a:srgbClr val="B91F2D"/>
                </a:solidFill>
                <a:latin typeface="Calibri"/>
                <a:ea typeface="Calibri"/>
                <a:cs typeface="Calibri"/>
              </a:rPr>
              <a:t>Real run (p11): </a:t>
            </a:r>
            <a:r>
              <a:rPr lang="en-US" sz="1350" b="0" i="0">
                <a:solidFill>
                  <a:srgbClr val="0E2745"/>
                </a:solidFill>
                <a:latin typeface="Calibri"/>
                <a:ea typeface="Calibri"/>
                <a:cs typeface="Calibri"/>
              </a:rPr>
              <a:t>from the raw log the agent kept raising CORE_MARGIN, up to 50, and never fixed the error. A structured report with the measured widths and a fix hint points straight at CORE_UTILIZATION.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EFA9-2FEC-6C06-0E0C-9A50D70BFAA6}"/>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939E8931-37B0-6C26-7201-5B7220A13813}"/>
              </a:ext>
            </a:extLst>
          </p:cNvPr>
          <p:cNvSpPr>
            <a:spLocks noGrp="1"/>
          </p:cNvSpPr>
          <p:nvPr/>
        </p:nvSpPr>
        <p:spPr>
          <a:xfrm>
            <a:off x="0" y="0"/>
            <a:ext cx="9144000" cy="76200"/>
          </a:xfrm>
          <a:prstGeom prst="rect">
            <a:avLst/>
          </a:prstGeom>
          <a:solidFill>
            <a:srgbClr val="0E2745"/>
          </a:solidFill>
          <a:ln w="0">
            <a:noFill/>
          </a:ln>
        </p:spPr>
        <p:txBody>
          <a:bodyPr/>
          <a:lstStyle/>
          <a:p>
            <a:endParaRPr lang="en-GR"/>
          </a:p>
        </p:txBody>
      </p:sp>
      <p:sp>
        <p:nvSpPr>
          <p:cNvPr id="2" name="Rectangle 1">
            <a:extLst>
              <a:ext uri="{FF2B5EF4-FFF2-40B4-BE49-F238E27FC236}">
                <a16:creationId xmlns:a16="http://schemas.microsoft.com/office/drawing/2014/main" id="{C66413EC-5FDA-FB7D-E879-CFB821EEED35}"/>
              </a:ext>
            </a:extLst>
          </p:cNvPr>
          <p:cNvSpPr>
            <a:spLocks noGrp="1"/>
          </p:cNvSpPr>
          <p:nvPr/>
        </p:nvSpPr>
        <p:spPr>
          <a:xfrm>
            <a:off x="0" y="6724650"/>
            <a:ext cx="9144000" cy="133350"/>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65714052-9C8C-287F-21FC-9C8DD33331EB}"/>
              </a:ext>
            </a:extLst>
          </p:cNvPr>
          <p:cNvSpPr>
            <a:spLocks noGrp="1"/>
          </p:cNvSpPr>
          <p:nvPr/>
        </p:nvSpPr>
        <p:spPr>
          <a:xfrm>
            <a:off x="400050" y="209550"/>
            <a:ext cx="7762875" cy="514350"/>
          </a:xfrm>
          <a:prstGeom prst="rect">
            <a:avLst/>
          </a:prstGeom>
          <a:noFill/>
          <a:ln w="0">
            <a:noFill/>
          </a:ln>
        </p:spPr>
        <p:txBody>
          <a:bodyPr anchor="ctr">
            <a:normAutofit fontScale="96732"/>
          </a:bodyPr>
          <a:lstStyle/>
          <a:p>
            <a:pPr algn="l">
              <a:defRPr sz="2250" b="1">
                <a:solidFill>
                  <a:srgbClr val="17365D"/>
                </a:solidFill>
                <a:latin typeface="Calibri"/>
                <a:ea typeface="Calibri"/>
                <a:cs typeface="Calibri"/>
              </a:defRPr>
            </a:pPr>
            <a:r>
              <a:rPr lang="en-US" sz="2250" b="1">
                <a:solidFill>
                  <a:srgbClr val="17365D"/>
                </a:solidFill>
                <a:latin typeface="Calibri"/>
                <a:ea typeface="Calibri"/>
                <a:cs typeface="Calibri"/>
              </a:rPr>
              <a:t>Open challenges</a:t>
            </a:r>
            <a:endParaRPr sz="2250" b="1">
              <a:solidFill>
                <a:srgbClr val="17365D"/>
              </a:solidFill>
              <a:latin typeface="Calibri"/>
              <a:ea typeface="Calibri"/>
              <a:cs typeface="Calibri"/>
            </a:endParaRPr>
          </a:p>
        </p:txBody>
      </p:sp>
      <p:sp>
        <p:nvSpPr>
          <p:cNvPr id="4" name="Rectangle 3">
            <a:extLst>
              <a:ext uri="{FF2B5EF4-FFF2-40B4-BE49-F238E27FC236}">
                <a16:creationId xmlns:a16="http://schemas.microsoft.com/office/drawing/2014/main" id="{C4DE8464-DBB6-8A1E-D3C9-C84DC3C682B2}"/>
              </a:ext>
            </a:extLst>
          </p:cNvPr>
          <p:cNvSpPr>
            <a:spLocks noGrp="1"/>
          </p:cNvSpPr>
          <p:nvPr/>
        </p:nvSpPr>
        <p:spPr>
          <a:xfrm>
            <a:off x="7964424" y="295275"/>
            <a:ext cx="777240" cy="266700"/>
          </a:xfrm>
          <a:prstGeom prst="rect">
            <a:avLst/>
          </a:prstGeom>
          <a:noFill/>
          <a:ln w="0">
            <a:noFill/>
          </a:ln>
        </p:spPr>
        <p:txBody>
          <a:bodyPr anchor="ctr">
            <a:normAutofit/>
          </a:bodyPr>
          <a:lstStyle/>
          <a:p>
            <a:pPr algn="r">
              <a:defRPr sz="825" b="1">
                <a:solidFill>
                  <a:srgbClr val="B21F2D"/>
                </a:solidFill>
                <a:latin typeface="Calibri"/>
                <a:ea typeface="Calibri"/>
                <a:cs typeface="Calibri"/>
              </a:defRPr>
            </a:pPr>
            <a:r>
              <a:rPr sz="825" b="1">
                <a:solidFill>
                  <a:srgbClr val="B21F2D"/>
                </a:solidFill>
                <a:latin typeface="Calibri"/>
                <a:ea typeface="Calibri"/>
                <a:cs typeface="Calibri"/>
              </a:rPr>
              <a:t>PART 5</a:t>
            </a:r>
          </a:p>
        </p:txBody>
      </p:sp>
      <p:sp>
        <p:nvSpPr>
          <p:cNvPr id="25" name="Rectangle 24">
            <a:extLst>
              <a:ext uri="{FF2B5EF4-FFF2-40B4-BE49-F238E27FC236}">
                <a16:creationId xmlns:a16="http://schemas.microsoft.com/office/drawing/2014/main" id="{C70802E8-E49E-696C-604C-6BCE5C917DA0}"/>
              </a:ext>
            </a:extLst>
          </p:cNvPr>
          <p:cNvSpPr>
            <a:spLocks noGrp="1"/>
          </p:cNvSpPr>
          <p:nvPr/>
        </p:nvSpPr>
        <p:spPr>
          <a:xfrm>
            <a:off x="8477250" y="6448425"/>
            <a:ext cx="285750" cy="190500"/>
          </a:xfrm>
          <a:prstGeom prst="rect">
            <a:avLst/>
          </a:prstGeom>
          <a:noFill/>
          <a:ln w="0">
            <a:noFill/>
          </a:ln>
        </p:spPr>
        <p:txBody>
          <a:bodyPr anchor="ctr">
            <a:normAutofit fontScale="86667" lnSpcReduction="10000"/>
          </a:bodyPr>
          <a:lstStyle/>
          <a:p>
            <a:pPr algn="r">
              <a:defRPr sz="750" b="0">
                <a:solidFill>
                  <a:srgbClr val="5B6573"/>
                </a:solidFill>
                <a:latin typeface="Calibri"/>
                <a:ea typeface="Calibri"/>
                <a:cs typeface="Calibri"/>
              </a:defRPr>
            </a:pPr>
            <a:fld id="{B6F15528-21DE-4FAA-801E-634DDDAF4B2B}" type="slidenum">
              <a:rPr sz="750" b="0" dirty="0">
                <a:solidFill>
                  <a:srgbClr val="5B6573"/>
                </a:solidFill>
                <a:latin typeface="Calibri"/>
                <a:ea typeface="Calibri"/>
                <a:cs typeface="Calibri"/>
              </a:rPr>
              <a:t>94</a:t>
            </a:fld>
            <a:endParaRPr sz="750" b="0">
              <a:solidFill>
                <a:srgbClr val="5B6573"/>
              </a:solidFill>
              <a:latin typeface="Calibri"/>
              <a:ea typeface="Calibri"/>
              <a:cs typeface="Calibri"/>
            </a:endParaRPr>
          </a:p>
        </p:txBody>
      </p:sp>
      <p:sp>
        <p:nvSpPr>
          <p:cNvPr id="1168" name="shape 1168"/>
          <p:cNvSpPr/>
          <p:nvPr/>
        </p:nvSpPr>
        <p:spPr>
          <a:xfrm>
            <a:off x="502920" y="1005840"/>
            <a:ext cx="82296" cy="1234440"/>
          </a:xfrm>
          <a:prstGeom prst="rect">
            <a:avLst/>
          </a:prstGeom>
          <a:solidFill>
            <a:srgbClr val="0E2745"/>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69" name="text 1169"/>
          <p:cNvSpPr txBox="1"/>
          <p:nvPr/>
        </p:nvSpPr>
        <p:spPr>
          <a:xfrm>
            <a:off x="731520" y="100584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IP privacy</a:t>
            </a:r>
          </a:p>
        </p:txBody>
      </p:sp>
      <p:sp>
        <p:nvSpPr>
          <p:cNvPr id="1170" name="text 1170"/>
          <p:cNvSpPr txBox="1"/>
          <p:nvPr/>
        </p:nvSpPr>
        <p:spPr>
          <a:xfrm>
            <a:off x="731520" y="143560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Specs, RTL and PDK data are under NDA. Can they go to a cloud model? Who sees the prompts and the logs?</a:t>
            </a:r>
          </a:p>
        </p:txBody>
      </p:sp>
      <p:sp>
        <p:nvSpPr>
          <p:cNvPr id="1171" name="shape 1171"/>
          <p:cNvSpPr/>
          <p:nvPr/>
        </p:nvSpPr>
        <p:spPr>
          <a:xfrm>
            <a:off x="4663440" y="1005840"/>
            <a:ext cx="82296" cy="1234440"/>
          </a:xfrm>
          <a:prstGeom prst="rect">
            <a:avLst/>
          </a:prstGeom>
          <a:solidFill>
            <a:srgbClr val="2E75B6"/>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72" name="text 1172"/>
          <p:cNvSpPr txBox="1"/>
          <p:nvPr/>
        </p:nvSpPr>
        <p:spPr>
          <a:xfrm>
            <a:off x="4892040" y="100584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Enterprise integration</a:t>
            </a:r>
          </a:p>
        </p:txBody>
      </p:sp>
      <p:sp>
        <p:nvSpPr>
          <p:cNvPr id="1173" name="text 1173"/>
          <p:cNvSpPr txBox="1"/>
          <p:nvPr/>
        </p:nvSpPr>
        <p:spPr>
          <a:xfrm>
            <a:off x="4892040" y="143560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Licensed tools, compute farms, version control and sign-off flows: agents must fit in, with permissions and an audit trail.</a:t>
            </a:r>
          </a:p>
        </p:txBody>
      </p:sp>
      <p:sp>
        <p:nvSpPr>
          <p:cNvPr id="1174" name="shape 1174"/>
          <p:cNvSpPr/>
          <p:nvPr/>
        </p:nvSpPr>
        <p:spPr>
          <a:xfrm>
            <a:off x="502920" y="2468880"/>
            <a:ext cx="82296" cy="1234440"/>
          </a:xfrm>
          <a:prstGeom prst="rect">
            <a:avLst/>
          </a:prstGeom>
          <a:solidFill>
            <a:srgbClr val="B91F2D"/>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75" name="text 1175"/>
          <p:cNvSpPr txBox="1"/>
          <p:nvPr/>
        </p:nvSpPr>
        <p:spPr>
          <a:xfrm>
            <a:off x="731520" y="246888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Air-gapped SLM deployment</a:t>
            </a:r>
          </a:p>
        </p:txBody>
      </p:sp>
      <p:sp>
        <p:nvSpPr>
          <p:cNvPr id="1176" name="text 1176"/>
          <p:cNvSpPr txBox="1"/>
          <p:nvPr/>
        </p:nvSpPr>
        <p:spPr>
          <a:xfrm>
            <a:off x="731520" y="289864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Small models on-premise, no internet. They need sharp prompts and decomposed tasks – what Parts 2–4 practise.</a:t>
            </a:r>
          </a:p>
        </p:txBody>
      </p:sp>
      <p:sp>
        <p:nvSpPr>
          <p:cNvPr id="1177" name="shape 1177"/>
          <p:cNvSpPr/>
          <p:nvPr/>
        </p:nvSpPr>
        <p:spPr>
          <a:xfrm>
            <a:off x="4663440" y="2468880"/>
            <a:ext cx="82296" cy="1234440"/>
          </a:xfrm>
          <a:prstGeom prst="rect">
            <a:avLst/>
          </a:prstGeom>
          <a:solidFill>
            <a:srgbClr val="C27C0E"/>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78" name="text 1178"/>
          <p:cNvSpPr txBox="1"/>
          <p:nvPr/>
        </p:nvSpPr>
        <p:spPr>
          <a:xfrm>
            <a:off x="4892040" y="246888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Code Evolve</a:t>
            </a:r>
          </a:p>
        </p:txBody>
      </p:sp>
      <p:sp>
        <p:nvSpPr>
          <p:cNvPr id="1179" name="text 1179"/>
          <p:cNvSpPr txBox="1"/>
          <p:nvPr/>
        </p:nvSpPr>
        <p:spPr>
          <a:xfrm>
            <a:off x="4892040" y="289864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Evolutionary search with LLMs: generate many variants of RTL, scripts or prompts, score each (like our PPA score), keep the best.</a:t>
            </a:r>
          </a:p>
        </p:txBody>
      </p:sp>
      <p:sp>
        <p:nvSpPr>
          <p:cNvPr id="1180" name="shape 1180"/>
          <p:cNvSpPr/>
          <p:nvPr/>
        </p:nvSpPr>
        <p:spPr>
          <a:xfrm>
            <a:off x="502920" y="3931920"/>
            <a:ext cx="82296" cy="1234440"/>
          </a:xfrm>
          <a:prstGeom prst="rect">
            <a:avLst/>
          </a:prstGeom>
          <a:solidFill>
            <a:srgbClr val="2E7D4F"/>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81" name="text 1181"/>
          <p:cNvSpPr txBox="1"/>
          <p:nvPr/>
        </p:nvSpPr>
        <p:spPr>
          <a:xfrm>
            <a:off x="731520" y="393192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Verification completeness</a:t>
            </a:r>
          </a:p>
        </p:txBody>
      </p:sp>
      <p:sp>
        <p:nvSpPr>
          <p:cNvPr id="1182" name="text 1182"/>
          <p:cNvSpPr txBox="1"/>
          <p:nvPr/>
        </p:nvSpPr>
        <p:spPr>
          <a:xfrm>
            <a:off x="731520" y="436168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An agent's testbench can pass a wrong design (p1, p8). How do we measure coverage and trust the checker?</a:t>
            </a:r>
          </a:p>
        </p:txBody>
      </p:sp>
      <p:sp>
        <p:nvSpPr>
          <p:cNvPr id="1183" name="shape 1183"/>
          <p:cNvSpPr/>
          <p:nvPr/>
        </p:nvSpPr>
        <p:spPr>
          <a:xfrm>
            <a:off x="4663440" y="3931920"/>
            <a:ext cx="82296" cy="1234440"/>
          </a:xfrm>
          <a:prstGeom prst="rect">
            <a:avLst/>
          </a:prstGeom>
          <a:solidFill>
            <a:srgbClr val="E06666"/>
          </a:solidFill>
          <a:ln>
            <a:noFill/>
          </a:ln>
        </p:spPr>
        <p:txBody>
          <a:bodyPr wrap="square" lIns="73152" tIns="73152" rIns="73152" bIns="73152" anchor="t">
            <a:noAutofit/>
          </a:bodyPr>
          <a:lstStyle/>
          <a:p>
            <a:pPr algn="l">
              <a:spcBef>
                <a:spcPts val="0"/>
              </a:spcBef>
              <a:spcAft>
                <a:spcPts val="0"/>
              </a:spcAft>
              <a:buNone/>
            </a:pPr>
            <a:endParaRPr lang="en-US" sz="600"/>
          </a:p>
        </p:txBody>
      </p:sp>
      <p:sp>
        <p:nvSpPr>
          <p:cNvPr id="1184" name="text 1184"/>
          <p:cNvSpPr txBox="1"/>
          <p:nvPr/>
        </p:nvSpPr>
        <p:spPr>
          <a:xfrm>
            <a:off x="4892040" y="3931920"/>
            <a:ext cx="3657600" cy="411480"/>
          </a:xfrm>
          <a:prstGeom prst="rect">
            <a:avLst/>
          </a:prstGeom>
          <a:noFill/>
          <a:ln>
            <a:noFill/>
          </a:ln>
        </p:spPr>
        <p:txBody>
          <a:bodyPr wrap="square" lIns="18288" tIns="18288" rIns="18288" bIns="18288" anchor="ctr">
            <a:noAutofit/>
          </a:bodyPr>
          <a:lstStyle/>
          <a:p>
            <a:pPr algn="l">
              <a:spcBef>
                <a:spcPts val="0"/>
              </a:spcBef>
              <a:spcAft>
                <a:spcPts val="0"/>
              </a:spcAft>
              <a:buNone/>
            </a:pPr>
            <a:r>
              <a:rPr lang="en-US" sz="1500" b="1" i="0">
                <a:solidFill>
                  <a:srgbClr val="0E2745"/>
                </a:solidFill>
                <a:latin typeface="Calibri"/>
                <a:ea typeface="Calibri"/>
                <a:cs typeface="Calibri"/>
              </a:rPr>
              <a:t>ODE4EC agentic API</a:t>
            </a:r>
          </a:p>
        </p:txBody>
      </p:sp>
      <p:sp>
        <p:nvSpPr>
          <p:cNvPr id="1185" name="text 1185"/>
          <p:cNvSpPr txBox="1"/>
          <p:nvPr/>
        </p:nvSpPr>
        <p:spPr>
          <a:xfrm>
            <a:off x="4892040" y="4361688"/>
            <a:ext cx="3657600" cy="822960"/>
          </a:xfrm>
          <a:prstGeom prst="rect">
            <a:avLst/>
          </a:prstGeom>
          <a:noFill/>
          <a:ln>
            <a:noFill/>
          </a:ln>
        </p:spPr>
        <p:txBody>
          <a:bodyPr wrap="square" lIns="18288" tIns="18288" rIns="18288" bIns="18288" anchor="t">
            <a:noAutofit/>
          </a:bodyPr>
          <a:lstStyle/>
          <a:p>
            <a:pPr algn="l">
              <a:lnSpc>
                <a:spcPct val="105000"/>
              </a:lnSpc>
              <a:spcBef>
                <a:spcPts val="0"/>
              </a:spcBef>
              <a:spcAft>
                <a:spcPts val="0"/>
              </a:spcAft>
              <a:buNone/>
            </a:pPr>
            <a:r>
              <a:rPr lang="en-US" sz="1150" b="0" i="0">
                <a:solidFill>
                  <a:srgbClr val="5D6C7B"/>
                </a:solidFill>
                <a:latin typeface="Calibri"/>
                <a:ea typeface="Calibri"/>
                <a:cs typeface="Calibri"/>
              </a:rPr>
              <a:t>Open Design Environment for European Chips (EU, open-source EDA): tools with structured reports agents can call directly.</a:t>
            </a:r>
          </a:p>
        </p:txBody>
      </p:sp>
      <p:sp>
        <p:nvSpPr>
          <p:cNvPr id="1186" name="shape 1186"/>
          <p:cNvSpPr/>
          <p:nvPr/>
        </p:nvSpPr>
        <p:spPr>
          <a:xfrm>
            <a:off x="1618488" y="5577840"/>
            <a:ext cx="5907024" cy="512064"/>
          </a:xfrm>
          <a:prstGeom prst="roundRect">
            <a:avLst>
              <a:gd name="adj" fmla="val 20000"/>
            </a:avLst>
          </a:prstGeom>
          <a:solidFill>
            <a:srgbClr val="0E2745"/>
          </a:solidFill>
          <a:ln>
            <a:noFill/>
          </a:ln>
        </p:spPr>
        <p:txBody>
          <a:bodyPr wrap="square" lIns="73152" tIns="73152" rIns="73152" bIns="73152" anchor="ctr">
            <a:noAutofit/>
          </a:bodyPr>
          <a:lstStyle/>
          <a:p>
            <a:pPr algn="ctr">
              <a:spcBef>
                <a:spcPts val="0"/>
              </a:spcBef>
              <a:spcAft>
                <a:spcPts val="0"/>
              </a:spcAft>
              <a:buNone/>
            </a:pPr>
            <a:r>
              <a:rPr lang="en-US" sz="1300" b="1" i="0">
                <a:solidFill>
                  <a:srgbClr val="FFFFFF"/>
                </a:solidFill>
                <a:latin typeface="Calibri"/>
                <a:ea typeface="Calibri"/>
                <a:cs typeface="Calibri"/>
              </a:rPr>
              <a:t>Any more?</a:t>
            </a:r>
          </a:p>
        </p:txBody>
      </p:sp>
    </p:spTree>
    <p:extLst>
      <p:ext uri="{BB962C8B-B14F-4D97-AF65-F5344CB8AC3E}">
        <p14:creationId xmlns:p14="http://schemas.microsoft.com/office/powerpoint/2010/main" val="36517121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E274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0359BA1-9ACA-41A8-AEDA-412C68456E25}"/>
              </a:ext>
            </a:extLst>
          </p:cNvPr>
          <p:cNvSpPr>
            <a:spLocks noGrp="1"/>
          </p:cNvSpPr>
          <p:nvPr/>
        </p:nvSpPr>
        <p:spPr>
          <a:xfrm>
            <a:off x="0" y="0"/>
            <a:ext cx="9144000" cy="95250"/>
          </a:xfrm>
          <a:prstGeom prst="rect">
            <a:avLst/>
          </a:prstGeom>
          <a:solidFill>
            <a:srgbClr val="B21F2D"/>
          </a:solidFill>
          <a:ln w="0">
            <a:noFill/>
          </a:ln>
        </p:spPr>
        <p:txBody>
          <a:bodyPr/>
          <a:lstStyle/>
          <a:p>
            <a:endParaRPr lang="en-GR"/>
          </a:p>
        </p:txBody>
      </p:sp>
      <p:sp>
        <p:nvSpPr>
          <p:cNvPr id="2" name="Rectangle 1">
            <a:extLst>
              <a:ext uri="{FF2B5EF4-FFF2-40B4-BE49-F238E27FC236}">
                <a16:creationId xmlns:a16="http://schemas.microsoft.com/office/drawing/2014/main" id="{F89FD84F-2002-4EB5-B3EC-60F07B7398A4}"/>
              </a:ext>
            </a:extLst>
          </p:cNvPr>
          <p:cNvSpPr>
            <a:spLocks noGrp="1"/>
          </p:cNvSpPr>
          <p:nvPr/>
        </p:nvSpPr>
        <p:spPr>
          <a:xfrm>
            <a:off x="0" y="6715125"/>
            <a:ext cx="9144000" cy="142875"/>
          </a:xfrm>
          <a:prstGeom prst="rect">
            <a:avLst/>
          </a:prstGeom>
          <a:solidFill>
            <a:srgbClr val="B21F2D"/>
          </a:solidFill>
          <a:ln w="0">
            <a:noFill/>
          </a:ln>
        </p:spPr>
        <p:txBody>
          <a:bodyPr/>
          <a:lstStyle/>
          <a:p>
            <a:endParaRPr lang="en-GR"/>
          </a:p>
        </p:txBody>
      </p:sp>
      <p:sp>
        <p:nvSpPr>
          <p:cNvPr id="3" name="Rectangle 2">
            <a:extLst>
              <a:ext uri="{FF2B5EF4-FFF2-40B4-BE49-F238E27FC236}">
                <a16:creationId xmlns:a16="http://schemas.microsoft.com/office/drawing/2014/main" id="{F12850E2-7FDD-4760-8973-EF8947394DB2}"/>
              </a:ext>
            </a:extLst>
          </p:cNvPr>
          <p:cNvSpPr>
            <a:spLocks noGrp="1"/>
          </p:cNvSpPr>
          <p:nvPr/>
        </p:nvSpPr>
        <p:spPr>
          <a:xfrm>
            <a:off x="523875" y="495300"/>
            <a:ext cx="2381250" cy="495300"/>
          </a:xfrm>
          <a:prstGeom prst="rect">
            <a:avLst/>
          </a:prstGeom>
          <a:noFill/>
          <a:ln w="0">
            <a:noFill/>
          </a:ln>
        </p:spPr>
        <p:txBody>
          <a:bodyPr anchor="ctr">
            <a:normAutofit/>
          </a:bodyPr>
          <a:lstStyle/>
          <a:p>
            <a:pPr algn="l">
              <a:defRPr sz="2325" b="1">
                <a:solidFill>
                  <a:srgbClr val="FFFFFF"/>
                </a:solidFill>
                <a:latin typeface="Calibri"/>
                <a:ea typeface="Calibri"/>
                <a:cs typeface="Calibri"/>
              </a:defRPr>
            </a:pPr>
            <a:r>
              <a:rPr lang="en-US" sz="2325" b="1">
                <a:solidFill>
                  <a:srgbClr val="FFFFFF"/>
                </a:solidFill>
                <a:latin typeface="Calibri"/>
                <a:ea typeface="Calibri"/>
                <a:cs typeface="Calibri"/>
              </a:rPr>
              <a:t>Thank you!</a:t>
            </a:r>
            <a:endParaRPr sz="2325" b="1">
              <a:solidFill>
                <a:srgbClr val="FFFFFF"/>
              </a:solidFill>
              <a:latin typeface="Calibri"/>
              <a:ea typeface="Calibri"/>
              <a:cs typeface="Calibri"/>
            </a:endParaRPr>
          </a:p>
        </p:txBody>
      </p:sp>
      <p:sp>
        <p:nvSpPr>
          <p:cNvPr id="16" name="Rectangle 15">
            <a:extLst>
              <a:ext uri="{FF2B5EF4-FFF2-40B4-BE49-F238E27FC236}">
                <a16:creationId xmlns:a16="http://schemas.microsoft.com/office/drawing/2014/main" id="{E29E81C4-7341-49B0-97C3-AAB1D4EFD0D1}"/>
              </a:ext>
            </a:extLst>
          </p:cNvPr>
          <p:cNvSpPr>
            <a:spLocks noGrp="1"/>
          </p:cNvSpPr>
          <p:nvPr/>
        </p:nvSpPr>
        <p:spPr>
          <a:xfrm>
            <a:off x="233916" y="1562875"/>
            <a:ext cx="8506047" cy="3072920"/>
          </a:xfrm>
          <a:prstGeom prst="rect">
            <a:avLst/>
          </a:prstGeom>
          <a:noFill/>
          <a:ln w="0">
            <a:noFill/>
          </a:ln>
        </p:spPr>
        <p:txBody>
          <a:bodyPr anchor="ctr">
            <a:normAutofit fontScale="98851"/>
          </a:bodyPr>
          <a:lstStyle/>
          <a:p>
            <a:pPr algn="ctr">
              <a:defRPr sz="2175" b="1">
                <a:solidFill>
                  <a:srgbClr val="B21F2D"/>
                </a:solidFill>
                <a:latin typeface="Calibri"/>
                <a:ea typeface="Calibri"/>
                <a:cs typeface="Calibri"/>
              </a:defRPr>
            </a:pPr>
            <a:r>
              <a:rPr sz="4000" dirty="0">
                <a:solidFill>
                  <a:srgbClr val="B21F2D"/>
                </a:solidFill>
                <a:latin typeface="Calibri"/>
                <a:ea typeface="Calibri"/>
                <a:cs typeface="Calibri"/>
              </a:rPr>
              <a:t>Questions</a:t>
            </a:r>
            <a:r>
              <a:rPr lang="en-US" sz="4000" dirty="0">
                <a:solidFill>
                  <a:srgbClr val="B21F2D"/>
                </a:solidFill>
                <a:latin typeface="Calibri"/>
                <a:ea typeface="Calibri"/>
                <a:cs typeface="Calibri"/>
              </a:rPr>
              <a:t>?</a:t>
            </a:r>
          </a:p>
          <a:p>
            <a:pPr algn="ctr">
              <a:defRPr sz="2175" b="1">
                <a:solidFill>
                  <a:srgbClr val="B21F2D"/>
                </a:solidFill>
                <a:latin typeface="Calibri"/>
                <a:ea typeface="Calibri"/>
                <a:cs typeface="Calibri"/>
              </a:defRPr>
            </a:pPr>
            <a:r>
              <a:rPr lang="en-US" sz="4000" b="1" dirty="0">
                <a:solidFill>
                  <a:srgbClr val="00B050"/>
                </a:solidFill>
                <a:latin typeface="Calibri"/>
                <a:ea typeface="Calibri"/>
                <a:cs typeface="Calibri"/>
              </a:rPr>
              <a:t>Support emails:</a:t>
            </a:r>
            <a:br>
              <a:rPr lang="en-US" sz="4000" b="1" dirty="0">
                <a:solidFill>
                  <a:srgbClr val="00B050"/>
                </a:solidFill>
                <a:latin typeface="Calibri"/>
                <a:ea typeface="Calibri"/>
                <a:cs typeface="Calibri"/>
              </a:rPr>
            </a:br>
            <a:r>
              <a:rPr lang="en-US" sz="4000" b="1" dirty="0">
                <a:solidFill>
                  <a:srgbClr val="00B050"/>
                </a:solidFill>
                <a:latin typeface="Courier New" panose="02070309020205020404" pitchFamily="49" charset="0"/>
                <a:ea typeface="Calibri"/>
                <a:cs typeface="Courier New" panose="02070309020205020404" pitchFamily="49" charset="0"/>
              </a:rPr>
              <a:t>zazatisn@gmail.com, kostasvarac@gmail.com</a:t>
            </a:r>
            <a:endParaRPr sz="4000" b="1" dirty="0">
              <a:solidFill>
                <a:srgbClr val="00B050"/>
              </a:solidFill>
              <a:latin typeface="Courier New" panose="02070309020205020404" pitchFamily="49" charset="0"/>
              <a:ea typeface="Calibri"/>
              <a:cs typeface="Courier New" panose="02070309020205020404" pitchFamily="49" charset="0"/>
            </a:endParaRPr>
          </a:p>
        </p:txBody>
      </p:sp>
    </p:spTree>
    <p:extLst>
      <p:ext uri="{BB962C8B-B14F-4D97-AF65-F5344CB8AC3E}">
        <p14:creationId xmlns:p14="http://schemas.microsoft.com/office/powerpoint/2010/main" val="2990100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6.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9.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1.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22.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23.png"/></Relationships>
</file>

<file path=ppt/webextensions/_rels/webextension6.xml.rels><?xml version="1.0" encoding="UTF-8" standalone="yes"?>
<Relationships xmlns="http://schemas.openxmlformats.org/package/2006/relationships"><Relationship Id="rId1" Type="http://schemas.openxmlformats.org/officeDocument/2006/relationships/image" Target="../media/image23.png"/></Relationships>
</file>

<file path=ppt/webextensions/_rels/webextension7.xml.rels><?xml version="1.0" encoding="UTF-8" standalone="yes"?>
<Relationships xmlns="http://schemas.openxmlformats.org/package/2006/relationships"><Relationship Id="rId1" Type="http://schemas.openxmlformats.org/officeDocument/2006/relationships/image" Target="../media/image23.png"/></Relationships>
</file>

<file path=ppt/webextensions/_rels/webextension8.xml.rels><?xml version="1.0" encoding="UTF-8" standalone="yes"?>
<Relationships xmlns="http://schemas.openxmlformats.org/package/2006/relationships"><Relationship Id="rId1" Type="http://schemas.openxmlformats.org/officeDocument/2006/relationships/image" Target="../media/image23.png"/></Relationships>
</file>

<file path=ppt/webextensions/_rels/webextension9.xml.rels><?xml version="1.0" encoding="UTF-8" standalone="yes"?>
<Relationships xmlns="http://schemas.openxmlformats.org/package/2006/relationships"><Relationship Id="rId1" Type="http://schemas.openxmlformats.org/officeDocument/2006/relationships/image" Target="../media/image24.png"/></Relationships>
</file>

<file path=ppt/webextensions/webextension1.xml><?xml version="1.0" encoding="utf-8"?>
<we:webextension xmlns:we="http://schemas.microsoft.com/office/webextensions/webextension/2010/11" id="{2A09FA44-BFFA-41A0-A487-7A128881B40D}">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6"/>
    <we:property name="breaktime.flosim.com_time" value="360"/>
    <we:property name="breaktime.flosim.com_timeFontSize" value="2"/>
    <we:property name="breaktime.flosim.com_titleFontSize" value="1"/>
    <we:property name="breaktime.flosim.com_type" value="&quot;Finishing in&quot;"/>
    <we:property name="time" value="360"/>
    <we:property name="type" value="&quot;Finishing in&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E1F5D986-71EE-4F68-98B0-879B1B98FEF9}">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16"/>
    <we:property name="breaktime.flosim.com_time" value="960"/>
    <we:property name="breaktime.flosim.com_timeFontSize" value="2"/>
    <we:property name="breaktime.flosim.com_titleFontSize" value="1"/>
    <we:property name="breaktime.flosim.com_type" value="&quot;Finishing in&quot;"/>
    <we:property name="time" value="960"/>
    <we:property name="type" value="&quot;Finishing in&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A789CEF2-FDDF-4888-806F-FBD507948B1E}">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4"/>
    <we:property name="breaktime.flosim.com_time" value="240"/>
    <we:property name="breaktime.flosim.com_timeFontSize" value="2"/>
    <we:property name="breaktime.flosim.com_titleFontSize" value="1"/>
    <we:property name="breaktime.flosim.com_type" value="&quot;Finishing in&quot;"/>
    <we:property name="time" value="240"/>
    <we:property name="type" value="&quot;Finishing in&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52CA153A-1B07-4086-BB77-7642374745B6}">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2"/>
    <we:property name="breaktime.flosim.com_time" value="120"/>
    <we:property name="breaktime.flosim.com_timeFontSize" value="2"/>
    <we:property name="breaktime.flosim.com_titleFontSize" value="1"/>
    <we:property name="breaktime.flosim.com_type" value="&quot;Finishing in&quot;"/>
    <we:property name="time" value="120"/>
    <we:property name="type" value="&quot;Finishing in&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60F1DA88-839E-4ACD-865A-1603F0817679}">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7"/>
    <we:property name="breaktime.flosim.com_time" value="420"/>
    <we:property name="breaktime.flosim.com_timeFontSize" value="2"/>
    <we:property name="breaktime.flosim.com_titleFontSize" value="1"/>
    <we:property name="breaktime.flosim.com_type" value="&quot;Finishing in&quot;"/>
    <we:property name="time" value="420"/>
    <we:property name="type" value="&quot;Finishing in&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2589FAE2-8A43-4669-9490-BB2E7C6C9DD6}" frozen="1">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8"/>
    <we:property name="breaktime.flosim.com_time" value="480"/>
    <we:property name="breaktime.flosim.com_timeFontSize" value="2"/>
    <we:property name="breaktime.flosim.com_titleFontSize" value="1"/>
    <we:property name="breaktime.flosim.com_type" value="&quot;Finishing in&quot;"/>
    <we:property name="time" value="480"/>
    <we:property name="type" value="&quot;Finishing in&quot;"/>
  </we:properties>
  <we:bindings/>
  <we:snapshot xmlns:r="http://schemas.openxmlformats.org/officeDocument/2006/relationships" r:embed="rId1"/>
</we:webextension>
</file>

<file path=ppt/webextensions/webextension7.xml><?xml version="1.0" encoding="utf-8"?>
<we:webextension xmlns:we="http://schemas.microsoft.com/office/webextensions/webextension/2010/11" id="{793BBF6B-56C3-423D-951D-703BC33BF6F2}">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3"/>
    <we:property name="breaktime.flosim.com_time" value="180"/>
    <we:property name="breaktime.flosim.com_timeFontSize" value="2"/>
    <we:property name="breaktime.flosim.com_titleFontSize" value="1"/>
    <we:property name="breaktime.flosim.com_type" value="&quot;Finishing in&quot;"/>
    <we:property name="time" value="180"/>
    <we:property name="type" value="&quot;Finishing in&quot;"/>
  </we:properties>
  <we:bindings/>
  <we:snapshot xmlns:r="http://schemas.openxmlformats.org/officeDocument/2006/relationships" r:embed="rId1"/>
</we:webextension>
</file>

<file path=ppt/webextensions/webextension8.xml><?xml version="1.0" encoding="utf-8"?>
<we:webextension xmlns:we="http://schemas.microsoft.com/office/webextensions/webextension/2010/11" id="{B159C7FF-7914-4E6E-A640-C1239131CF4A}">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2"/>
    <we:property name="breaktime.flosim.com_time" value="120"/>
    <we:property name="breaktime.flosim.com_timeFontSize" value="2"/>
    <we:property name="breaktime.flosim.com_titleFontSize" value="1"/>
    <we:property name="breaktime.flosim.com_type" value="&quot;Finishing in&quot;"/>
    <we:property name="time" value="120"/>
    <we:property name="type" value="&quot;Finishing in&quot;"/>
  </we:properties>
  <we:bindings/>
  <we:snapshot xmlns:r="http://schemas.openxmlformats.org/officeDocument/2006/relationships" r:embed="rId1"/>
</we:webextension>
</file>

<file path=ppt/webextensions/webextension9.xml><?xml version="1.0" encoding="utf-8"?>
<we:webextension xmlns:we="http://schemas.microsoft.com/office/webextensions/webextension/2010/11" id="{798AA321-F269-42A3-A92F-B8C8063DD9D4}">
  <we:reference id="wa200001661" version="3.1.2.0" store="en-US" storeType="OMEX"/>
  <we:alternateReferences>
    <we:reference id="WA200001661" version="3.1.2.0" store="" storeType="OMEX"/>
  </we:alternateReferences>
  <we:properties>
    <we:property name="breaktime.flosim.com_fontColour" value="null"/>
    <we:property name="breaktime.flosim.com_pinControlsRunning" value="true"/>
    <we:property name="breaktime.flosim.com_startMinutes" value="8"/>
    <we:property name="breaktime.flosim.com_time" value="480"/>
    <we:property name="breaktime.flosim.com_timeFontSize" value="2"/>
    <we:property name="breaktime.flosim.com_titleFontSize" value="1"/>
    <we:property name="breaktime.flosim.com_type" value="&quot;Finishing in&quot;"/>
    <we:property name="time" value="480"/>
    <we:property name="type" value="&quot;Finishing in&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Dividend</Template>
  <TotalTime>615</TotalTime>
  <Words>21243</Words>
  <Application>Microsoft Office PowerPoint</Application>
  <PresentationFormat>On-screen Show (4:3)</PresentationFormat>
  <Paragraphs>2307</Paragraphs>
  <Slides>95</Slides>
  <Notes>94</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Arial</vt:lpstr>
      <vt:lpstr>Arial Nova</vt:lpstr>
      <vt:lpstr>Calibri</vt:lpstr>
      <vt:lpstr>Courier New</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ΝΙΚΟΛΑΟΣ-ΓΕΡΑΣΙΜΟΣ ΖΑΖΑΤΗΣ</cp:lastModifiedBy>
  <cp:revision>11</cp:revision>
  <dcterms:created xsi:type="dcterms:W3CDTF">2026-09-08T11:54:25Z</dcterms:created>
  <dcterms:modified xsi:type="dcterms:W3CDTF">2026-10-12T07:12:38Z</dcterms:modified>
</cp:coreProperties>
</file>